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457200" cy="457200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C0562B"/>
                </a:solidFill>
                <a:latin typeface="Calibri"/>
              </a:rPr>
              <a:t>RANGAT NATURALS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000" b="1">
                <a:solidFill>
                  <a:srgbClr val="2B2B2B"/>
                </a:solidFill>
                <a:latin typeface="Calibri"/>
              </a:rPr>
              <a:t>SOCIAL MEDIA
OPERATING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5196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Complete practical guide from Day 1 — face-free content system · 30-day day-by-day calendar (20 fields per day) · AI prompt library · Instagram SEO · Stories · UGC &amp; micro-influencers · Meta Ads from zero · sales funnel · 30/60/90 plan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394960"/>
            <a:ext cx="10543032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577840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C0562B"/>
                </a:solidFill>
                <a:latin typeface="Calibri"/>
              </a:rPr>
              <a:t>EXECUTIVE EDITION — the 30 most important actionable points of the full guide (PDF + DOCX = complete detail)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8A7F72"/>
                </a:solidFill>
                <a:latin typeface="Calibri"/>
              </a:rPr>
              <a:t>North star: REAL CUSTOMERS AND SALES (not followers/likes) · Ahmedabad/Gujarat first → West India → India ·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THE RULE THAT RUNS EVERYTHING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North Star + Ground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2713482" cy="86868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64008" cy="868680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26464"/>
            <a:ext cx="253060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C0562B"/>
                </a:solidFill>
                <a:latin typeface="Calibri"/>
              </a:rPr>
              <a:t>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55648"/>
            <a:ext cx="25306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50" b="0">
                <a:solidFill>
                  <a:srgbClr val="2B2B2B"/>
                </a:solidFill>
                <a:latin typeface="Calibri"/>
              </a:rPr>
              <a:t>real orders, not likes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26130" y="1371600"/>
            <a:ext cx="2713482" cy="86868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26130" y="1371600"/>
            <a:ext cx="64008" cy="868680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63290" y="1426464"/>
            <a:ext cx="253060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C0562B"/>
                </a:solidFill>
                <a:latin typeface="Calibri"/>
              </a:rPr>
              <a:t>SALES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3290" y="1755648"/>
            <a:ext cx="25306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50" b="0">
                <a:solidFill>
                  <a:srgbClr val="2B2B2B"/>
                </a:solidFill>
                <a:latin typeface="Calibri"/>
              </a:rPr>
              <a:t>DM "GLOW" → WhatsApp → COD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9340" y="1371600"/>
            <a:ext cx="2713482" cy="86868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49340" y="1371600"/>
            <a:ext cx="64008" cy="868680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6500" y="1426464"/>
            <a:ext cx="253060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C0562B"/>
                </a:solidFill>
                <a:latin typeface="Calibri"/>
              </a:rPr>
              <a:t>REPEAT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6500" y="1755648"/>
            <a:ext cx="25306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50" b="0">
                <a:solidFill>
                  <a:srgbClr val="2B2B2B"/>
                </a:solidFill>
                <a:latin typeface="Calibri"/>
              </a:rPr>
              <a:t>10–15% by Day 60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72550" y="1371600"/>
            <a:ext cx="2713482" cy="86868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72550" y="1371600"/>
            <a:ext cx="64008" cy="868680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09710" y="1426464"/>
            <a:ext cx="253060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C0562B"/>
                </a:solidFill>
                <a:latin typeface="Calibri"/>
              </a:rPr>
              <a:t>PROFIT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9710" y="1755648"/>
            <a:ext cx="25306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50" b="0">
                <a:solidFill>
                  <a:srgbClr val="2B2B2B"/>
                </a:solidFill>
                <a:latin typeface="Calibri"/>
              </a:rPr>
              <a:t>LTV:CAC ≥ 2.5 by Day 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4688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2B2B2B"/>
                </a:solidFill>
                <a:latin typeface="Calibri"/>
              </a:rPr>
              <a:t>Every post must answer: which stranger will this make buy — and how (DM "GLOW" → WhatsApp → COD)? No job in that chain = not posted.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063240"/>
            <a:ext cx="111556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150" b="1">
                <a:solidFill>
                  <a:srgbClr val="C0562B"/>
                </a:solidFill>
                <a:latin typeface="Calibri"/>
              </a:rPr>
              <a:t>▪  </a:t>
            </a:r>
            <a:r>
              <a:rPr sz="1150" b="1">
                <a:solidFill>
                  <a:srgbClr val="2B2B2B"/>
                </a:solidFill>
                <a:latin typeface="Calibri"/>
              </a:rPr>
              <a:t>No fake anything. </a:t>
            </a:r>
            <a:r>
              <a:rPr sz="1150" b="0">
                <a:solidFill>
                  <a:srgbClr val="2B2B2B"/>
                </a:solidFill>
                <a:latin typeface="Calibri"/>
              </a:rPr>
              <a:t>No fake reviews, testimonials, before/after, followers or engagement — ever.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150" b="1">
                <a:solidFill>
                  <a:srgbClr val="C0562B"/>
                </a:solidFill>
                <a:latin typeface="Calibri"/>
              </a:rPr>
              <a:t>▪  </a:t>
            </a:r>
            <a:r>
              <a:rPr sz="1150" b="1">
                <a:solidFill>
                  <a:srgbClr val="2B2B2B"/>
                </a:solidFill>
                <a:latin typeface="Calibri"/>
              </a:rPr>
              <a:t>No impossible claims. </a:t>
            </a:r>
            <a:r>
              <a:rPr sz="1150" b="0">
                <a:solidFill>
                  <a:srgbClr val="2B2B2B"/>
                </a:solidFill>
                <a:latin typeface="Calibri"/>
              </a:rPr>
              <a:t>No guaranteed results, no "cure / remove / permanent / 100%", no medical claims, no unverified claims.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150" b="1">
                <a:solidFill>
                  <a:srgbClr val="C0562B"/>
                </a:solidFill>
                <a:latin typeface="Calibri"/>
              </a:rPr>
              <a:t>▪  </a:t>
            </a:r>
            <a:r>
              <a:rPr sz="1150" b="1">
                <a:solidFill>
                  <a:srgbClr val="2B2B2B"/>
                </a:solidFill>
                <a:latin typeface="Calibri"/>
              </a:rPr>
              <a:t>No copyrighted downloads. </a:t>
            </a:r>
            <a:r>
              <a:rPr sz="1150" b="0">
                <a:solidFill>
                  <a:srgbClr val="2B2B2B"/>
                </a:solidFill>
                <a:latin typeface="Calibri"/>
              </a:rPr>
              <a:t>No IG/TikTok/YouTube content. Free licensed stock only (Pexels/Pixabay/Unsplash) as B-roll, with your own edit + voice + product on top.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150" b="1">
                <a:solidFill>
                  <a:srgbClr val="C0562B"/>
                </a:solidFill>
                <a:latin typeface="Calibri"/>
              </a:rPr>
              <a:t>▪  </a:t>
            </a:r>
            <a:r>
              <a:rPr sz="1150" b="1">
                <a:solidFill>
                  <a:srgbClr val="2B2B2B"/>
                </a:solidFill>
                <a:latin typeface="Calibri"/>
              </a:rPr>
              <a:t>Brand, not manufacturer. </a:t>
            </a:r>
            <a:r>
              <a:rPr sz="1150" b="0">
                <a:solidFill>
                  <a:srgbClr val="2B2B2B"/>
                </a:solidFill>
                <a:latin typeface="Calibri"/>
              </a:rPr>
              <a:t>Products are private-label, third-party made, sold under RANGAT NATURALS — "hum manufacturer nahi hain" is a selling line.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150" b="1">
                <a:solidFill>
                  <a:srgbClr val="C0562B"/>
                </a:solidFill>
                <a:latin typeface="Calibri"/>
              </a:rPr>
              <a:t>▪  </a:t>
            </a:r>
            <a:r>
              <a:rPr sz="1150" b="1">
                <a:solidFill>
                  <a:srgbClr val="2B2B2B"/>
                </a:solidFill>
                <a:latin typeface="Calibri"/>
              </a:rPr>
              <a:t>One focus product at a time. </a:t>
            </a:r>
            <a:r>
              <a:rPr sz="1150" b="0">
                <a:solidFill>
                  <a:srgbClr val="2B2B2B"/>
                </a:solidFill>
                <a:latin typeface="Calibri"/>
              </a:rPr>
              <a:t>VC Serum 10% + Face Wash + Moisturizer first · Sunscreen wave 2 (D45–60) · Night Cream wave 3 (D75–90) · Lip/Hair/Body post-90.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150" b="1">
                <a:solidFill>
                  <a:srgbClr val="C0562B"/>
                </a:solidFill>
                <a:latin typeface="Calibri"/>
              </a:rPr>
              <a:t>▪  </a:t>
            </a:r>
            <a:r>
              <a:rPr sz="1150" b="1">
                <a:solidFill>
                  <a:srgbClr val="2B2B2B"/>
                </a:solidFill>
                <a:latin typeface="Calibri"/>
              </a:rPr>
              <a:t>Founder face optional. </a:t>
            </a:r>
            <a:r>
              <a:rPr sz="1150" b="0">
                <a:solidFill>
                  <a:srgbClr val="2B2B2B"/>
                </a:solidFill>
                <a:latin typeface="Calibri"/>
              </a:rPr>
              <a:t>Voice-over, hands, product, AI creators and UGC creators carry the content — your face is only required in the avatar.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150" b="1">
                <a:solidFill>
                  <a:srgbClr val="C0562B"/>
                </a:solidFill>
                <a:latin typeface="Calibri"/>
              </a:rPr>
              <a:t>▪  </a:t>
            </a:r>
            <a:r>
              <a:rPr sz="1150" b="1">
                <a:solidFill>
                  <a:srgbClr val="2B2B2B"/>
                </a:solidFill>
                <a:latin typeface="Calibri"/>
              </a:rPr>
              <a:t>Gujarat first, India always. </a:t>
            </a:r>
            <a:r>
              <a:rPr sz="1150" b="0">
                <a:solidFill>
                  <a:srgbClr val="2B2B2B"/>
                </a:solidFill>
                <a:latin typeface="Calibri"/>
              </a:rPr>
              <a:t>Name field says "Indian Skincare" from Day 1; the energy starts in Ahmedabad/Gujarat.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EVERY POST IS LABELED WITH ONE OF FIVE WAYS TO MAKE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The Five Production Methods (face-free by default)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118311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659"/>
                <a:gridCol w="2199956"/>
                <a:gridCol w="4766572"/>
                <a:gridCol w="3849923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When it wins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Generated completely with AI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AI video/image B-roll, concept teasers (labeled "AI concept"), carousel backgrounds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Hook-testing (5s/8s), ad statics, teasers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AI + product image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AI B-roll/plates + YOUR real product insert + your voice-over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Education reels, myth flips, routine B-roll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Free stock + simple editing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Pexels/Pixabay/Unsplash hands/texture/scene B-roll + your product + your voice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Problem scenes you can’t shoot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Real product footage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Phone + real products + hands + voice-over — NO face needed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EVERYTHING about the product (hero, texture, how-to, BTS, launch)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Micro-influencer / UGC creator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A real Gujarat creator/customer films in her space; you brief + get ad rights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Proof: testimonials, unboxings, 4-hafte journeys, collabs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617720"/>
            <a:ext cx="111556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70%+ of the month is methods 2–4 (zero human face). </a:t>
            </a:r>
            <a:r>
              <a:rPr sz="1050" b="0">
                <a:solidFill>
                  <a:srgbClr val="2B2B2B"/>
                </a:solidFill>
                <a:latin typeface="Calibri"/>
              </a:rPr>
              <a:t>Method 5 brings real faces that are NOT you (creators/customers, consent + rights). Method 1 is AI-only, always labeled when a person appears.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Your face-free studio (&lt;₹1,500): </a:t>
            </a:r>
            <a:r>
              <a:rPr sz="1050" b="0">
                <a:solidFill>
                  <a:srgbClr val="2B2B2B"/>
                </a:solidFill>
                <a:latin typeface="Calibri"/>
              </a:rPr>
              <a:t>phone · ₹500 tripod · one 2700K lamp · CapCut (free) · Canva (free) · Pexels/Pixabay/Unsplash (free) · AI video/image free tiers · your real voice for every VO.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AI rules: </a:t>
            </a:r>
            <a:r>
              <a:rPr sz="1050" b="0">
                <a:solidFill>
                  <a:srgbClr val="2B2B2B"/>
                </a:solidFill>
                <a:latin typeface="Calibri"/>
              </a:rPr>
              <a:t>no readable brand text (add label + hook + CTA in CapCut) · one consistent character sheet · "natural texture, visible pores, no retouch" in every prompt · real proof = real humans only.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ONE WEEKEND = 7–14 DAYS OF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EASY CONTENT PRODUCTION SYSTEM (batch)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694944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731520"/>
                <a:gridCol w="420624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b="1" sz="930">
                          <a:solidFill>
                            <a:srgbClr val="FFFFFF"/>
                          </a:solidFill>
                          <a:latin typeface="Calibri"/>
                        </a:rPr>
                        <a:t>Block (Sunday)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30">
                          <a:solidFill>
                            <a:srgbClr val="FFFFFF"/>
                          </a:solidFill>
                          <a:latin typeface="Calibri"/>
                        </a:rPr>
                        <a:t>Hours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30">
                          <a:solidFill>
                            <a:srgbClr val="FFFFFF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1 · Hooks + scripts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1 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7 hooks (one/day, never same style twice) + 2 carousel outlines + VO read-through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2 · AI batch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1.5 h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Queue 5–7 AI generations (3–5 takes each); pick best take per day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3 · Shoot session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2.5 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ALL method-4 footage: 8–10 reels + 4 ad cuts + 10–12 story frames + 2 carousel flat-lays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4 · Edit night (editor)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3 h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7 reels cut (hook 0–2s, CTA last 1.5s, real VO) + 2 carousels + 14 story frames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5 · Lock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30 min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Calendar + times + hashtags (12 sets rotated) + alt text + location tags + Sheet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0" y="1325880"/>
            <a:ext cx="38862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Asset multipliers: </a:t>
            </a:r>
            <a:r>
              <a:rPr sz="1000" b="0">
                <a:solidFill>
                  <a:srgbClr val="2B2B2B"/>
                </a:solidFill>
                <a:latin typeface="Calibri"/>
              </a:rPr>
              <a:t>1 long reel = 3 posts (5s/15s/30s) · 1 carousel = 4 assets (carousel + 6 story frames + 45s VO reel + ad static) · 1 packing session = 10 clips · 1 customer = 5 assets.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Buffer rule: </a:t>
            </a:r>
            <a:r>
              <a:rPr sz="1000" b="0">
                <a:solidFill>
                  <a:srgbClr val="2B2B2B"/>
                </a:solidFill>
                <a:latin typeface="Calibri"/>
              </a:rPr>
              <a:t>always 3 weeks ahead — launch week never improvises.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Team &amp; cost: </a:t>
            </a:r>
            <a:r>
              <a:rPr sz="1000" b="0">
                <a:solidFill>
                  <a:srgbClr val="2B2B2B"/>
                </a:solidFill>
                <a:latin typeface="Calibri"/>
              </a:rPr>
              <a:t>founder + 1 part-time editor (₹8–15k/mo) · gear &lt;₹1,500 · 6-tab master Sheet.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44068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2B2B2B"/>
                </a:solidFill>
                <a:latin typeface="Calibri"/>
              </a:rPr>
              <a:t>The 5-step edit (every reel, 15 min): cut every 2–3s (hook in first 2s) → text max 2 sizes (hook biggest, CTA card last 1.5s) → real VO at 0 dB + one ambient track at −20 dB → NO face filters/retouch (skin texture is the brand) → export 1080×1920 (9:16) / 1080×1350 (4:5).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12 READY-TO-COPY PROMPT TEMPLATES — EVERY DAILY IDEA CARRIES ITS OWN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The 12 AI Prompt Categories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1183110" cy="4992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956"/>
                <a:gridCol w="4583242"/>
                <a:gridCol w="4399912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What it generates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Key rule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1 · Instagram post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Flat-lay / product / scene image (1080×1350)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Real product photo inserted after; no readable brand text in AI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2 · Carousels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6 cream backgrounds + slide structure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Slide 1 hook (big type) · slide 6 CTA + real product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3 · Reels (B-roll)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5/8/10/15/20s UGC B-roll (handheld feel)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Real VO + product insert + text in CapCut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4 · AI creator videos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Recurring character (same sheet every time)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Label "AI concept" 3s · real VO · NEVER as customer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5 · Product demonstrations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Macro texture: drop → spread → absorb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Swap in the real bottle before posting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6 · UGC videos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Concept/teaser unboxing (hands only)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Label + CTA; real customer UGC always outranks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7 · Voice-over scripts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Hinglish VO: hook → tension → proof → honest line → CTA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40–60 words · no cure/100% language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8 · Captions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SEO line 1 + 3-line body + one CTA + set tags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Line 1 = the search phrase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9 · Hooks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10 hooks per style, compliance-locked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No fake urgency · start mid-action · name WHO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10 · Story designs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3-frame slots (tip / BTS / CTA) + stickers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Evening slot always ends with DM CTA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11 · Before/after concepts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Background plates ONLY (never faces)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Real tester photos, card in frame, "Results may vary"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12 · Educational content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60-sec script: 2s question hook → 3 facts → honest line → CTA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One everyday analogy (chai, thepla, SG Highway)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DO THIS IN ONE SITTING BEFORE POST 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Day 0 — Create &amp; Manage the Instagram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566928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Account: </a:t>
            </a:r>
            <a:r>
              <a:rPr sz="1050" b="0">
                <a:solidFill>
                  <a:srgbClr val="2B2B2B"/>
                </a:solidFill>
                <a:latin typeface="Calibri"/>
              </a:rPr>
              <a:t>Professional → Business → Beauty &amp; Cosmetics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Username: </a:t>
            </a:r>
            <a:r>
              <a:rPr sz="1050" b="0">
                <a:solidFill>
                  <a:srgbClr val="2B2B2B"/>
                </a:solidFill>
                <a:latin typeface="Calibri"/>
              </a:rPr>
              <a:t>@rangatnaturals (fallbacks .in / india) — identical on WA/FB/YT, never changed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Name field (a SEARCH field): </a:t>
            </a:r>
            <a:r>
              <a:rPr sz="1050" b="0">
                <a:solidFill>
                  <a:srgbClr val="2B2B2B"/>
                </a:solidFill>
                <a:latin typeface="Calibri"/>
              </a:rPr>
              <a:t>"RANGAT Naturals | Indian Skincare" (after sunscreen: "Serum &amp; SPF India")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Bio — exact 4 lines: </a:t>
            </a:r>
            <a:r>
              <a:rPr sz="1050" b="0">
                <a:solidFill>
                  <a:srgbClr val="2B2B2B"/>
                </a:solidFill>
                <a:latin typeface="Calibri"/>
              </a:rPr>
              <a:t>🇮 Indian skincare — Aamee skin, aamno liye · ✨ Vitamin C 10% · Face Wash · SPF — 4–6 hafte honest timeline · 📦 COD · Free shipping (launch) · WhatsApp support · ⬇️ DM "GLOW" ya WhatsApp par order karo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Profile picture: </a:t>
            </a:r>
            <a:r>
              <a:rPr sz="1050" b="0">
                <a:solidFill>
                  <a:srgbClr val="2B2B2B"/>
                </a:solidFill>
                <a:latin typeface="Calibri"/>
              </a:rPr>
              <a:t>founder’s face (the ONE required face) — warm, real, no heavy filters; fallback = bottle on cream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Link: </a:t>
            </a:r>
            <a:r>
              <a:rPr sz="1050" b="0">
                <a:solidFill>
                  <a:srgbClr val="2B2B2B"/>
                </a:solidFill>
                <a:latin typeface="Calibri"/>
              </a:rPr>
              <a:t>Linktree/Stan — 3 items max, WhatsApp click-to-chat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521208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Contact buttons: </a:t>
            </a:r>
            <a:r>
              <a:rPr sz="1050" b="0">
                <a:solidFill>
                  <a:srgbClr val="2B2B2B"/>
                </a:solidFill>
                <a:latin typeface="Calibri"/>
              </a:rPr>
              <a:t>WhatsApp + Email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6 highlights: </a:t>
            </a:r>
            <a:r>
              <a:rPr sz="1050" b="0">
                <a:solidFill>
                  <a:srgbClr val="2B2B2B"/>
                </a:solidFill>
                <a:latin typeface="Calibri"/>
              </a:rPr>
              <a:t>RESULTS (first) · HOW TO USE · REVIEW · FOUNDER · INSIDE · OFFER — cream + terracotta covers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3 pins: </a:t>
            </a:r>
            <a:r>
              <a:rPr sz="1050" b="0">
                <a:solidFill>
                  <a:srgbClr val="2B2B2B"/>
                </a:solidFill>
                <a:latin typeface="Calibri"/>
              </a:rPr>
              <a:t>buy (D8/D21) · trust (D17 B/A) · who (D1/D13)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Quick replies: </a:t>
            </a:r>
            <a:r>
              <a:rPr sz="1050" b="0">
                <a:solidFill>
                  <a:srgbClr val="2B2B2B"/>
                </a:solidFill>
                <a:latin typeface="Calibri"/>
              </a:rPr>
              <a:t>GLOW / COD / PRICE pre-written (price + COD + 15-min promise)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Auto-reply: </a:t>
            </a:r>
            <a:r>
              <a:rPr sz="1050" b="0">
                <a:solidFill>
                  <a:srgbClr val="2B2B2B"/>
                </a:solidFill>
                <a:latin typeface="Calibri"/>
              </a:rPr>
              <a:t>"Namaste! 🙏 RANGAT NATURALS yahan. ‘GLOW’ likhiye… COD hai. Hum insaan hain, bot nahi."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SLAs: </a:t>
            </a:r>
            <a:r>
              <a:rPr sz="1050" b="0">
                <a:solidFill>
                  <a:srgbClr val="2B2B2B"/>
                </a:solidFill>
                <a:latin typeface="Calibri"/>
              </a:rPr>
              <a:t>15-min DM (7 AM–11 PM) · 2-hr comments (launch week 15 min) · WhatsApp Business catalog = VC Serum ₹600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Comments stay ON: </a:t>
            </a:r>
            <a:r>
              <a:rPr sz="1050" b="0">
                <a:solidFill>
                  <a:srgbClr val="2B2B2B"/>
                </a:solidFill>
                <a:latin typeface="Calibri"/>
              </a:rPr>
              <a:t>a zero brand that silences comments looks guilty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THE ZERO-BUDGET CHANNEL THAT COMPOUNDS FOR MONTHS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Instagram SEO — every surface + the keyword banks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54864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</a:tblGrid>
              <a:tr h="356616">
                <a:tc>
                  <a:txBody>
                    <a:bodyPr wrap="square"/>
                    <a:lstStyle/>
                    <a:p>
                      <a:r>
                        <a:rPr b="1" sz="880">
                          <a:solidFill>
                            <a:srgbClr val="FFFFFF"/>
                          </a:solidFill>
                          <a:latin typeface="Calibri"/>
                        </a:rPr>
                        <a:t>Surface (rank order)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80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Username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@rangatnaturals — one brand shelf everywhere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Name field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"RANGAT Naturals | Indian Skincare" — category keyword in the name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Bio keywords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Indian skincare + Vitamin C + Face Wash + SPF + COD + WhatsApp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On-screen keywords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IG OCRs reel text — target keyword in frame-1 text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Caption keywords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line 1 (first ~80 chars) = search phrase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Reel titles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IG reel title + YT Shorts title = the keyword phrase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Alt text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manual, every post: "[Product]… RANGAT NATURALS Indian skincare."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Hashtags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8–15 from 5 sets · never same block twice · never bought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Location keywords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Ahmedabad/Amdavad/Gandhinagar/Gujarat → wave cities → national (only when targeted)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09360" y="1325880"/>
            <a:ext cx="53949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980" b="1">
                <a:solidFill>
                  <a:srgbClr val="C0562B"/>
                </a:solidFill>
                <a:latin typeface="Calibri"/>
              </a:rPr>
              <a:t>▪  </a:t>
            </a:r>
            <a:r>
              <a:rPr sz="980" b="1">
                <a:solidFill>
                  <a:srgbClr val="2B2B2B"/>
                </a:solidFill>
                <a:latin typeface="Calibri"/>
              </a:rPr>
              <a:t>5 keyword types: </a:t>
            </a:r>
            <a:r>
              <a:rPr sz="980" b="0">
                <a:solidFill>
                  <a:srgbClr val="2B2B2B"/>
                </a:solidFill>
                <a:latin typeface="Calibri"/>
              </a:rPr>
              <a:t>PRODUCT (buy-intent: vitamin c serum india · price in india · no white cast…) · PROBLEM (skincare for oily skin · dull skin routine · hard water face problem…) · EDUCATION (vitamin c serum kaise use kare · layering order · patch test…) · LONG-TAIL (best vc serum under 500 · naye brand se order kaise kare safe · ahmedabad skincare brand) · GUJARATI/HINDI (chamak ke liye kya lagaye · gujarati skincare tips · amdaad skincare).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980" b="1">
                <a:solidFill>
                  <a:srgbClr val="C0562B"/>
                </a:solidFill>
                <a:latin typeface="Calibri"/>
              </a:rPr>
              <a:t>▪  </a:t>
            </a:r>
            <a:r>
              <a:rPr sz="980" b="1">
                <a:solidFill>
                  <a:srgbClr val="2B2B2B"/>
                </a:solidFill>
                <a:latin typeface="Calibri"/>
              </a:rPr>
              <a:t>Search intent map: </a:t>
            </a:r>
            <a:r>
              <a:rPr sz="980" b="0">
                <a:solidFill>
                  <a:srgbClr val="2B2B2B"/>
                </a:solidFill>
                <a:latin typeface="Calibri"/>
              </a:rPr>
              <a:t>product → hero posts · problem → hooks · education → carousels/45s reels · long-tail → YT Shorts + monthly keyword Reel · local → location-tagged posts.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980" b="1">
                <a:solidFill>
                  <a:srgbClr val="C0562B"/>
                </a:solidFill>
                <a:latin typeface="Calibri"/>
              </a:rPr>
              <a:t>▪  </a:t>
            </a:r>
            <a:r>
              <a:rPr sz="980" b="1">
                <a:solidFill>
                  <a:srgbClr val="2B2B2B"/>
                </a:solidFill>
                <a:latin typeface="Calibri"/>
              </a:rPr>
              <a:t>Monthly audit (30 min): </a:t>
            </a:r>
            <a:r>
              <a:rPr sz="980" b="0">
                <a:solidFill>
                  <a:srgbClr val="2B2B2B"/>
                </a:solidFill>
                <a:latin typeface="Calibri"/>
              </a:rPr>
              <a:t>"searches that led to profile" → top 10 → 30% of next month’s content from that list.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46320"/>
            <a:ext cx="111556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2B2B2B"/>
                </a:solidFill>
                <a:latin typeface="Calibri"/>
              </a:rPr>
              <a:t>12 ready-made hashtag sets (5-set formula: 1–2 brand + 2–3 product + 2–4 problem + 1–3 location + 2–3 niche = 8–15 tags): 1 Problem (oily/monsoon) · 2 VC education · 3 Hero/offer · 4 Before-after (disclosed) · 5 Founder · 6 Sunscreen · 7 Face Wash/male · 8 Gujarat relatable · 9 Wedding glow · 10 Diwali gifting · 11 Winter/night · 12 Referral/community — full tag lists in the Reference Library (R11). After 10k followers: drop generic niche tags.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THE HEART OF THE PLAN — 20 FIELDS PER DAY (FULL VERSIONS IN THE PDF/DOCX)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30-Day Content Calendar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1183108" cy="5193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01"/>
                <a:gridCol w="1720478"/>
                <a:gridCol w="3345375"/>
                <a:gridCol w="525701"/>
                <a:gridCol w="1720478"/>
                <a:gridCol w="3345375"/>
              </a:tblGrid>
              <a:tr h="324612">
                <a:tc>
                  <a:txBody>
                    <a:bodyPr wrap="square"/>
                    <a:lstStyle/>
                    <a:p>
                      <a:r>
                        <a:rPr b="1" sz="860">
                          <a:solidFill>
                            <a:srgbClr val="FFFFFF"/>
                          </a:solidFill>
                          <a:latin typeface="Calibri"/>
                        </a:rPr>
                        <a:t>Day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6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60">
                          <a:solidFill>
                            <a:srgbClr val="FFFFFF"/>
                          </a:solidFill>
                          <a:latin typeface="Calibri"/>
                        </a:rPr>
                        <a:t>One-line job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60">
                          <a:solidFill>
                            <a:srgbClr val="FFFFFF"/>
                          </a:solidFill>
                          <a:latin typeface="Calibri"/>
                        </a:rPr>
                        <a:t>Day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6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60">
                          <a:solidFill>
                            <a:srgbClr val="FFFFFF"/>
                          </a:solidFill>
                          <a:latin typeface="Calibri"/>
                        </a:rPr>
                        <a:t>One-line job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15s · problem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"40° bahar, 25° andar" — stop the scroll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8s · texture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Macro ASMR — the ad-creative bank roll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10s · problem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Monsoon tired face → 60-second fix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15s · B/A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DAY-28 DROP — pinned, disclosed (THE proof)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Carousel · education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5 daily skin-killers — first save magnet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10s · education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SPF reapply — sunscreen wave tease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12s · myth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Herbal ≠ safe — the honest brand stance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15s · creator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FIRST COLLAB — a second face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15s · relatable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Maa wala skit — THE share machine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12s · BTS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Packing night — launch-eve countdown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15s · founder VO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"Hum manufacturer nahi hain" — positioning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15s · LAUNCH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Founding 100 — the sale begins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20s · Q&amp;A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4 real questions, 4 honest answers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15s · trust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4 darr, 4 jawaab — risk killers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8s · product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"Mila karo. Vitamin C 10%" — hero intro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20s · routine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60-second routine, "try it today"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15s · how-to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5 steps, 40 seconds — most-saved format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15s · UGC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Customer #1 unboxing — real proof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Carousel · education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VC ka 60-sec science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12s · myth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VC = orange? The ₹20 orange prop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10s · problem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Window UV — SPF even at home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15s · testimony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"4 baar delete karke" — THE first ad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12s · proof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Tester Day-14, "abhi shuru hai" honesty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Carousel · sales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Box me kya hai + real seat count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12s · founder VO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Formula 1 rejected — behind-the-brand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12s · night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Night routine — Night Cream waitlist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12s · value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₹600 = 20 chai, 4 hafte — price respect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10s · referral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Do ₹100, lo ₹100 — the loop starts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15s · mistakes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3 skincare mistakes, "stop" hand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15s · recap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30 din ka safar — the pinned journey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NO FIELD SKIPPED — FOR ANY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Every Day = 20 Fields + 2 Creation Tracks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1183108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884"/>
                <a:gridCol w="1881773"/>
                <a:gridCol w="3225897"/>
                <a:gridCol w="483884"/>
                <a:gridCol w="1881773"/>
                <a:gridCol w="3225897"/>
              </a:tblGrid>
              <a:tr h="288036">
                <a:tc>
                  <a:txBody>
                    <a:bodyPr wrap="square"/>
                    <a:lstStyle/>
                    <a:p>
                      <a:r>
                        <a:rPr b="1" sz="869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69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69">
                          <a:solidFill>
                            <a:srgbClr val="FFFFFF"/>
                          </a:solidFill>
                          <a:latin typeface="Calibri"/>
                        </a:rPr>
                        <a:t>What it carries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69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69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69">
                          <a:solidFill>
                            <a:srgbClr val="FFFFFF"/>
                          </a:solidFill>
                          <a:latin typeface="Calibri"/>
                        </a:rPr>
                        <a:t>What it carries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DAY + DATE/PHASE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Day N · Week · launch-minus-X · phase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SALES PURPOSE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the metric job (saves/shares/trust/orders)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IG Reel → FB (+ YT Shorts Fridays)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TARGET CUSTOMER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who this day is for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POST TYPE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format + length + category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HOOK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frame-1 spoken + on-screen (verbatim library)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BEST POSTING TIME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best + 2nd-best (Gujarat IST, per type)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SCRIPT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exact words (VO / live / skit / guided)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LOCATION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Ahmedabad/Gujarat (or tester/creator city)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ON-SCREEN TEXT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every overlay, frame by frame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PRODUCTION METHOD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labeled 1–5 (primary + alt)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CAPTION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line 1 = SEO phrase + full caption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CONTENT IDEA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the full creative concept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CTA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the one action (GLOW / save / share / waitlist)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FULL POST/REEL CONCEPT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cuts, shots, length, setting (+ slides)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SEO KEYWORDS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3 keywords → on-screen + caption + reel title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VISUAL/VIDEO DIRECTION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camera, light, props, mood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HASHTAGS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which of the 12 ready sets (8–15 tags)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metric job + audience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STORY SUPPORT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M/A/E lines for the 3 slots (8 AM / 1 PM / 8 PM)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AI GENERATION PROMPT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ready-to-copy (subject/model/scene/light/camera/text/style/9:16/hook/CTA)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HOW TO CREATE IT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free/low-cost tools + steps + minutes (Option B)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486400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2B2B2B"/>
                </a:solidFill>
                <a:latin typeface="Calibri"/>
              </a:rPr>
              <a:t>How a day works (10 min): read the 6-field meta table → produce with the labeled method → add text + caption + reel title + hashtags + alt text + location → post at the best time → 3 story slots at 8 AM / 1 PM / 8 PM → stay for the first 60 minutes and reply to every comment.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WEEKS 1–2 — BRAND, PROBLEM, PRODUCT, EDUCATION (D1–14)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What each day contains (full detail in the PDF/DOCX)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1183110" cy="4732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575"/>
                <a:gridCol w="3658027"/>
                <a:gridCol w="1672241"/>
                <a:gridCol w="731605"/>
                <a:gridCol w="836120"/>
                <a:gridCol w="3762542"/>
              </a:tblGrid>
              <a:tr h="315468">
                <a:tc>
                  <a:txBody>
                    <a:bodyPr wrap="square"/>
                    <a:lstStyle/>
                    <a:p>
                      <a:r>
                        <a:rPr b="1" sz="810">
                          <a:solidFill>
                            <a:srgbClr val="FFFFFF"/>
                          </a:solidFill>
                          <a:latin typeface="Calibri"/>
                        </a:rPr>
                        <a:t>Day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10">
                          <a:solidFill>
                            <a:srgbClr val="FFFFFF"/>
                          </a:solidFill>
                          <a:latin typeface="Calibri"/>
                        </a:rPr>
                        <a:t>Hook (verbatim)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10">
                          <a:solidFill>
                            <a:srgbClr val="FFFFFF"/>
                          </a:solidFill>
                          <a:latin typeface="Calibri"/>
                        </a:rPr>
                        <a:t>CTA (verbatim)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10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1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10">
                          <a:solidFill>
                            <a:srgbClr val="FFFFFF"/>
                          </a:solidFill>
                          <a:latin typeface="Calibri"/>
                        </a:rPr>
                        <a:t>In one line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"40° bahar, 25° andar — dono skin par alag karte hain."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"DM GLOW" + COD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8 PM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4 / 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Hands at window + product drop; AI B-roll alt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Monsoon tired face → "60-second fix, roz."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"DM GLOW · COD"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8 PM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4 / 3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Mirror + lather close-up + pat-dry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"5 daily skin-killers — #3 aap bhi karti ho."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Save + comment your number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9 PM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2 / 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AI carousel bgs + real close-ups, Canva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"‘100% herbal’ likha hai toh lagao? Yeh sach jano."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"DM GLOW"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8 PM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2 / 3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AI kitchen B-roll + real serum insert + VO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"Gujarati ghar me pehli baar ‘skincare’ shuru ki?"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Share to that friend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8 PM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5 / 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SHOOT IT with a friend (or AI skit, labeled)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"3 mahine humne sirf ek serum dhoondha. Wajah dekho."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"DM GLOW"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8 PM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Your REAL desk, hands + founder VO (no face)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4 real Q&amp;A — "Kitne din me result?" → "4–6 hafte. Fake nahi."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DM your 5th question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8 PM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2 / 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4 answers, one sitting, hands + VO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"Mila karo. Vitamin C 10%."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GLOW = launch list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12:30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HERO macro: tripod + window, 3 clips × 3s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"Vitamin C serum kaise use kare? 5 steps, 40 second."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DM GLOW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12:30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5 takes × 3s + number overlays — most-saved format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"Vitamin C kya karta hai? (60 sec)"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Save karo · DM GLOW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9 PM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2 / 4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Canva + 2 real product photos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"UV window se bhi aata hai — ghar baithe bhi."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DM GLOW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12:30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4 / 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By your real window — the light patch is the point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"Day 1. Day 14. Same light, same angle." (TESTER)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Day-28 update Sunday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8 PM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REAL tester photos, card in frame, consent saved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"Pehla formula? Reject. Yeh kahani suno."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DM GLOW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8 PM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Your real samples + "REJECTED" post-it, warm lamp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"2000 vs 500 — hum ingredient list khol ke batate hain."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DM GLOW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12:30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4 / 3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0">
                          <a:solidFill>
                            <a:srgbClr val="2B2B2B"/>
                          </a:solidFill>
                          <a:latin typeface="Calibri"/>
                        </a:rPr>
                        <a:t>20 chai glasses pushed across + your bottle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WEEKS 3–4 — PROOF, LAUNCH, CONVERSION (D15–30)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What each day contains (full detail in the PDF/DOCX)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1183109" cy="4430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28"/>
                <a:gridCol w="3517692"/>
                <a:gridCol w="1785097"/>
                <a:gridCol w="787543"/>
                <a:gridCol w="787543"/>
                <a:gridCol w="3780206"/>
              </a:tblGrid>
              <a:tr h="260603">
                <a:tc>
                  <a:txBody>
                    <a:bodyPr wrap="square"/>
                    <a:lstStyle/>
                    <a:p>
                      <a:r>
                        <a:rPr b="1" sz="790">
                          <a:solidFill>
                            <a:srgbClr val="FFFFFF"/>
                          </a:solidFill>
                          <a:latin typeface="Calibri"/>
                        </a:rPr>
                        <a:t>Day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790">
                          <a:solidFill>
                            <a:srgbClr val="FFFFFF"/>
                          </a:solidFill>
                          <a:latin typeface="Calibri"/>
                        </a:rPr>
                        <a:t>Hook (verbatim)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790">
                          <a:solidFill>
                            <a:srgbClr val="FFFFFF"/>
                          </a:solidFill>
                          <a:latin typeface="Calibri"/>
                        </a:rPr>
                        <a:t>CTA (verbatim)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790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79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790">
                          <a:solidFill>
                            <a:srgbClr val="FFFFFF"/>
                          </a:solidFill>
                          <a:latin typeface="Calibri"/>
                        </a:rPr>
                        <a:t>In one line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"Chehra din me 4 baar raho — ruko."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DM GLOW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8 PM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4 / 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Do the wrong thing ×3, hand "stop" at end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"Ek drop. Bas itna." (texture)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DM GLOW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12:30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4 / 2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Macro ASMR: dish, spread, cheek — record real sound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"Day 1. Day 28. Same light, same angle. Dekho khud."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GLOW DM (link)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8 PM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REAL tester, 2 card photos + her 5s line — PINNED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"SPF 30+ roz. Bahar = 2–3 ghante me reapply."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Sunscreen waitlist — GLOW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12:30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4 / 2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Mirror + hand + cheek, 3 shots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"Creator se review ya brand se — kya zyada bharosa?"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Collab tag + GLOW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8 PM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Creator films (brief sent); you add overlay + rights form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"Kal. 100 boxes. Aapka number?"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GLOW DM + countdown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9 PM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PACK REAL BOXES tonight + film (lamp, "1/100")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LAUNCH: "Din 21. 100 boxes. Aapke naam."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DM "GLOW" abhi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12:00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Stamp + 4 product frames + box to camera, founder VO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"4 darr, 4 jawaab." (fake? result? time? kaun?)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DM your darr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8 PM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4 answers × 3.5s, batch card visible, sofa VO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"60 second. Roz. Aaj try karo, kal update bhejo."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GLOW DM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12:30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4 / 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Routine ON camera, 5 cuts × 4s — seeds UGC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"Pehli parcel. Pehli aahai. Asli reaction."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DM GLOW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12:30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CUSTOMER #1 films 15s (1-line WhatsApp brief)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"Vitamin C se chehra orange? Yeh myth kyun chalta hai."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DM GLOW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8 PM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4 / 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Real orange ₹20 squeezed over the bottle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"Is aahai ne order karne se 4 baar delete kiya."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Aapki kahani bhi — GLOW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8 PM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Customer clip + chat frame + quote card — THE first ad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"Box me kya hai? (3 clues)"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GLOW — X seat bachi (real)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9 PM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4 / 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Real flat-lay top-down + Canva, real seat count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"Raat ko kya lagana chahiye?"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Night cream waitlist — GLOW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8 PM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4 / 2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Lamp light, 3 shots, one 9 PM sitting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"Do ₹100, lo ₹100."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Code lo + 1 dost ko bhejo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8 PM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4 / 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Two real ₹100 notes, one sitting, 10 seconds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"DIN 1 → DIN 30. Dekho khud."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GLOW DM — mahine 2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9 PM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2B2B2B"/>
                          </a:solidFill>
                          <a:latin typeface="Calibri"/>
                        </a:rPr>
                        <a:t>Montage of the month’s 8 best moments + close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8064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Milestones: D17 first B/A pinned · D19 first collab · D21 LAUNCH (12:00 PM + all 3 story slots) · D29 referral · D30 KPI review — 80–100 orders · 600–1,000 GLOW DMs · DM→order 25–40% · 1–2k followers · COD fail &lt;15%.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WHERE A SMALL ACCOUNT FEELS LIKE A RELATIONSHIP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Story Strategy — 3 slots/day + 30-day calendar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67665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463040"/>
                <a:gridCol w="1828800"/>
                <a:gridCol w="23774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930">
                          <a:solidFill>
                            <a:srgbClr val="FFFFFF"/>
                          </a:solidFill>
                          <a:latin typeface="Calibri"/>
                        </a:rPr>
                        <a:t>Slot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30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30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30">
                          <a:solidFill>
                            <a:srgbClr val="FFFFFF"/>
                          </a:solidFill>
                          <a:latin typeface="Calibri"/>
                        </a:rPr>
                        <a:t>Format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Morning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8:00 AM (7–9 AM)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"Roz ka 1 sach" — value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1 tip/routine shot + question box/poll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Afternoon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1:00 PM (12:30–2:30)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"Peeche ki kahani" — trust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1 BTS frame + poll/quiz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Evening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8:00 PM (7:30–9)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"Aaj ka CTA" — conversion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product/offer/review + DM CTA or link sticker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3657600"/>
            <a:ext cx="67665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0">
                <a:solidFill>
                  <a:srgbClr val="2B2B2B"/>
                </a:solidFill>
                <a:latin typeface="Calibri"/>
              </a:rPr>
              <a:t>3–5 frames per slot max · frame 1 = hook · last frame = poll/question OR CTA.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0">
                <a:solidFill>
                  <a:srgbClr val="2B2B2B"/>
                </a:solidFill>
                <a:latin typeface="Calibri"/>
              </a:rPr>
              <a:t>Evening slot ALWAYS ends with a DM CTA or link sticker — the silent order engine.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0">
                <a:solidFill>
                  <a:srgbClr val="2B2B2B"/>
                </a:solidFill>
                <a:latin typeface="Calibri"/>
              </a:rPr>
              <a:t>Reply to EVERY poll answer within 2 hours — DM conversation = pipeline.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0">
                <a:solidFill>
                  <a:srgbClr val="2B2B2B"/>
                </a:solidFill>
                <a:latin typeface="Calibri"/>
              </a:rPr>
              <a:t>Same 3 slots → WhatsApp Status the same day (zero extra work; Gujarat = heavy WA-Status market).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0">
                <a:solidFill>
                  <a:srgbClr val="2B2B2B"/>
                </a:solidFill>
                <a:latin typeface="Calibri"/>
              </a:rPr>
              <a:t>Daily story ideas SUPPORT each day’s main post — the 30-day M/A/E calendar is in the guide (§8.2 + R7 bank of 30 reusable ideas).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3716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Examples (verbatim from the 30-day calendar)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691640"/>
            <a:ext cx="411480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30" b="0">
                <a:solidFill>
                  <a:srgbClr val="2B2B2B"/>
                </a:solidFill>
                <a:latin typeface="Calibri"/>
              </a:rPr>
              <a:t>D1 · M: "Aaj se yahan roz 1 skin-sach milega. Aapka skin type? (poll)" · E: "30 din ka safar shuru — GLOW likho."
D8 · M: PRODUCT INTRO: texture close-up + "Mila karo" · E: "Launch aane wala. GLOW DM = pehli list."
D17 · M: "4 hafte. 20 aahaiyan. Same light." · A: tester day-1 vs day-28 + disclaimer · E: "Aap bhi 4 hafte baad yahan ho sakti ho."
D21 · M: LAUNCH offer (4 frames) + link · A: "Pehla order aaya! [City]" (real) · E: "GLOW DM = order. 15 min me reply."
D29 · A: referral "Do ₹100, lo ₹100" (3 frames) · E: "Apna code lo + 1 dost ko bhejo aaj."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WHEN TO PRESS "POST" — PER CONTENT TYPE, NOT ONE TIME FOR 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Weekly Rhythm + Daily Posting Times (Gujarat IST)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58521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828800"/>
                <a:gridCol w="32918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880">
                          <a:solidFill>
                            <a:srgbClr val="FFFFFF"/>
                          </a:solidFill>
                          <a:latin typeface="Calibri"/>
                        </a:rPr>
                        <a:t>Day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80">
                          <a:solidFill>
                            <a:srgbClr val="FFFFFF"/>
                          </a:solidFill>
                          <a:latin typeface="Calibri"/>
                        </a:rPr>
                        <a:t>Block (hours)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80">
                          <a:solidFill>
                            <a:srgbClr val="FFFFFF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Mon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Plan (1 h)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7 hooks · 2 carousel outlines · calendar locked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Tue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Shoot #1 (4.5 h)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8–10 reels + 4 ad cuts + 10–12 story frames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Wed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Ads + creators (1 h)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Kill/scale decisions · 2–3 creator DMs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Thu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Shoot #2 (3 h)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2 carousel flat-lays + textures + AI batch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Fri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Repurpose + SEO (1 h)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Top 3 → YT Shorts · hashtag rotation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Sat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KPI + scripts (1.5 h)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KPI review · 10 dead-DM audit · scripts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Sun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Close (1 h)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KPI board · budget · 30-min stranger profile audit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29400" y="1325880"/>
          <a:ext cx="5056631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836"/>
                <a:gridCol w="1838775"/>
                <a:gridCol w="14710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880">
                          <a:solidFill>
                            <a:srgbClr val="FFFFFF"/>
                          </a:solidFill>
                          <a:latin typeface="Calibri"/>
                        </a:rPr>
                        <a:t>Format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80">
                          <a:solidFill>
                            <a:srgbClr val="FFFFFF"/>
                          </a:solidFill>
                          <a:latin typeface="Calibri"/>
                        </a:rPr>
                        <a:t>BEST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80">
                          <a:solidFill>
                            <a:srgbClr val="FFFFFF"/>
                          </a:solidFill>
                          <a:latin typeface="Calibri"/>
                        </a:rPr>
                        <a:t>2ND BEST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Reels (default)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8:00 PM (7:30–9 window)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12:30 PM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Reels (product/launch)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12:30 PM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8:00 PM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Carousels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9:00 PM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12:30 PM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Stories M / A / 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8 AM / 1 PM / 8 PM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7:30 AM / 12:30 PM / 7:30 PM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Saturday / Sunday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Reels 12 PM / 11 AM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stories unchanged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WhatsApp Status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same 3 slots, same day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343400"/>
            <a:ext cx="111556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Be in the first 60 minutes: </a:t>
            </a:r>
            <a:r>
              <a:rPr sz="1050" b="0">
                <a:solidFill>
                  <a:srgbClr val="2B2B2B"/>
                </a:solidFill>
                <a:latin typeface="Calibri"/>
              </a:rPr>
              <a:t>founder replies to every comment in that hour — the single highest-leverage 60 minutes in the system.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Never delete + repost </a:t>
            </a:r>
            <a:r>
              <a:rPr sz="1050" b="0">
                <a:solidFill>
                  <a:srgbClr val="2B2B2B"/>
                </a:solidFill>
                <a:latin typeface="Calibri"/>
              </a:rPr>
              <a:t>to fix a time (resets the engagement window).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After Day 21, swap in YOUR data: </a:t>
            </a:r>
            <a:r>
              <a:rPr sz="1050" b="0">
                <a:solidFill>
                  <a:srgbClr val="2B2B2B"/>
                </a:solidFill>
                <a:latin typeface="Calibri"/>
              </a:rPr>
              <a:t>Insights "when followers are most active" (top cities) ±1h = new anchor · 24-hr reach graph per post type · A/B one hour per week · DM window (7 AM–11 PM) never moves.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MATCH LENGTH TO JOB — ALL FACE-FREE CAPABLE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Reel Formats by Duration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724"/>
                <a:gridCol w="3859658"/>
                <a:gridCol w="3364830"/>
                <a:gridCol w="2177243"/>
                <a:gridCol w="989655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b="1" sz="930">
                          <a:solidFill>
                            <a:srgbClr val="FFFFFF"/>
                          </a:solidFill>
                          <a:latin typeface="Calibri"/>
                        </a:rPr>
                        <a:t>Length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30">
                          <a:solidFill>
                            <a:srgbClr val="FFFFFF"/>
                          </a:solidFill>
                          <a:latin typeface="Calibri"/>
                        </a:rPr>
                        <a:t>Structure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30">
                          <a:solidFill>
                            <a:srgbClr val="FFFFFF"/>
                          </a:solidFill>
                          <a:latin typeface="Calibri"/>
                        </a:rPr>
                        <a:t>Use for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30">
                          <a:solidFill>
                            <a:srgbClr val="FFFFFF"/>
                          </a:solidFill>
                          <a:latin typeface="Calibri"/>
                        </a:rPr>
                        <a:t>Best method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30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5s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Single hook beat — one gesture, one line, one text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Pattern-interrupts, ad variants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1 (AI) or 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10 min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8s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Problem (3s) → product reveal (2s) → promise (3s)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Quick problem→solution, texture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4 (real macro) or 1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15 min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10s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Problem → routine step → payoff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Micro-tutorials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2 (AI + product)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20 min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15s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3 cuts × 5s: hook → proof → CTA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THE workhorse — default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4 or 5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20–30 min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20s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4 cuts: hook → 2 proof beats → CTA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Q&amp;A rapid, 3 mistakes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2 or 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30 min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30s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5–6 cuts, story arc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Founder VO, testimonial, launch, B/A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4 or 5 (real)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40 min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120640"/>
            <a:ext cx="11155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0">
                <a:solidFill>
                  <a:srgbClr val="2B2B2B"/>
                </a:solidFill>
                <a:latin typeface="Calibri"/>
              </a:rPr>
              <a:t>Hard cap: 30–45s product/education · 60s max stories · first 2s = spoken hook + on-screen text + product/hand movement.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0">
                <a:solidFill>
                  <a:srgbClr val="2B2B2B"/>
                </a:solidFill>
                <a:latin typeface="Calibri"/>
              </a:rPr>
              <a:t>The 6 face-free templates: hook cut (7s) · texture (8–10s) · myth flip (10s) · story clip (10–15s) · unboxing (12–15s) · quote card + B-roll (10s).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0">
                <a:solidFill>
                  <a:srgbClr val="2B2B2B"/>
                </a:solidFill>
                <a:latin typeface="Calibri"/>
              </a:rPr>
              <a:t>B/A + testimonial reels: always method 4/5 (real, consented, never AI).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FREE, LEGAL, AND HOW TO NEVER GET A TAKEDOWN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Free Content Sources + Copyright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576072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ONLY free-licensed platforms: </a:t>
            </a:r>
            <a:r>
              <a:rPr sz="1050" b="0">
                <a:solidFill>
                  <a:srgbClr val="2B2B2B"/>
                </a:solidFill>
                <a:latin typeface="Calibri"/>
              </a:rPr>
              <a:t>Pexels · Pixabay · Unsplash (commercial use, no attribution — re-check each clip’s license, 30 seconds).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NEVER download </a:t>
            </a:r>
            <a:r>
              <a:rPr sz="1050" b="0">
                <a:solidFill>
                  <a:srgbClr val="2B2B2B"/>
                </a:solidFill>
                <a:latin typeface="Calibri"/>
              </a:rPr>
              <a:t>from Instagram, TikTok, YouTube or any brand’s content. Watermarked ≠ free. Reposting IG content = BAN risk + takedown.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NEVER present stock as </a:t>
            </a:r>
            <a:r>
              <a:rPr sz="1050" b="0">
                <a:solidFill>
                  <a:srgbClr val="2B2B2B"/>
                </a:solidFill>
                <a:latin typeface="Calibri"/>
              </a:rPr>
              <a:t>your product, your customer or your factory. Stock = B-roll/background only; your bottle + your voice are always real.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ALWAYS add your layer: </a:t>
            </a:r>
            <a:r>
              <a:rPr sz="1050" b="0">
                <a:solidFill>
                  <a:srgbClr val="2B2B2B"/>
                </a:solidFill>
                <a:latin typeface="Calibri"/>
              </a:rPr>
              <a:t>your voice-over + text + product close-ups + edit. Stock + your hook + your product = original. Stock alone = not yours.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Faces: </a:t>
            </a:r>
            <a:r>
              <a:rPr sz="1050" b="0">
                <a:solidFill>
                  <a:srgbClr val="2B2B2B"/>
                </a:solidFill>
                <a:latin typeface="Calibri"/>
              </a:rPr>
              <a:t>prefer hands/texture/objects shots — they blend and avoid uncanny faces next to your product.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AI "customers" forbidden </a:t>
            </a:r>
            <a:r>
              <a:rPr sz="1050" b="0">
                <a:solidFill>
                  <a:srgbClr val="2B2B2B"/>
                </a:solidFill>
                <a:latin typeface="Calibri"/>
              </a:rPr>
              <a:t>— real customer = real person, on camera, written consent.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521208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Search-term bank: </a:t>
            </a:r>
            <a:r>
              <a:rPr sz="1050" b="0">
                <a:solidFill>
                  <a:srgbClr val="2B2B2B"/>
                </a:solidFill>
                <a:latin typeface="Calibri"/>
              </a:rPr>
              <a:t>"woman washing face bathroom" · "sunscreen on hand close up" · "kraft box packing hands" · "chai glass table" · "oil drop slow motion" · "morning routine woman bedroom" · "indian mother daughter kitchen" (B-roll only) · "unboxing hands parcel" (hands only).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Phone studio = a window: </a:t>
            </a:r>
            <a:r>
              <a:rPr sz="1050" b="0">
                <a:solidFill>
                  <a:srgbClr val="2B2B2B"/>
                </a:solidFill>
                <a:latin typeface="Calibri"/>
              </a:rPr>
              <a:t>9–11 AM or 3–5 PM light · ₹500 tripod · eye level · 20–30 cm for B/A · 4 angles (face-level / hands / over-shoulder / top-down) · VO recorded separately in a quiet corner · 3 takes per shot.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Edit in CapCut (free): </a:t>
            </a:r>
            <a:r>
              <a:rPr sz="1050" b="0">
                <a:solidFill>
                  <a:srgbClr val="2B2B2B"/>
                </a:solidFill>
                <a:latin typeface="Calibri"/>
              </a:rPr>
              <a:t>cuts every 2–3s · 2 text sizes max · no face filters · one ambient track at −20 dB · 1080×1920 reels · 1080×1350 carousels.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2 PER WEEK — THE SAVE + SEARCH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Carousel System — 10 Core Blueprints (slides 1–6 + CTA)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1183110" cy="4626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8324"/>
                <a:gridCol w="2383286"/>
                <a:gridCol w="2566615"/>
                <a:gridCol w="3666594"/>
                <a:gridCol w="2108291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b="1" sz="869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69">
                          <a:solidFill>
                            <a:srgbClr val="FFFFFF"/>
                          </a:solidFill>
                          <a:latin typeface="Calibri"/>
                        </a:rPr>
                        <a:t>Blueprint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69">
                          <a:solidFill>
                            <a:srgbClr val="FFFFFF"/>
                          </a:solidFill>
                          <a:latin typeface="Calibri"/>
                        </a:rPr>
                        <a:t>Slide 1 hook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69">
                          <a:solidFill>
                            <a:srgbClr val="FFFFFF"/>
                          </a:solidFill>
                          <a:latin typeface="Calibri"/>
                        </a:rPr>
                        <a:t>Slides 2–5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69">
                          <a:solidFill>
                            <a:srgbClr val="FFFFFF"/>
                          </a:solidFill>
                          <a:latin typeface="Calibri"/>
                        </a:rPr>
                        <a:t>Slide 6 CTA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C1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5 daily skin-killers (D3)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"#3 aap bhi karti ho"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UV window · phone touch · hard water · no SPF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Save karo + comment your number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C2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VC ka 60-sec science (D10)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"Vitamin C kya karta hai?"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bright-look · even tone · 10% kyun · subah+SPF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Save karo · DM GLOW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C3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Box me kya hai (D27)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"3 clues"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serum · free FW mini · 60-sec card · support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X seat bachi (REAL) · DM GLOW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C4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Layering order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"Aapka serum galat order me?"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wash · serum · moisturizer · SPF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Save + 60-sec routine link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C5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4 darr, 4 jawaab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first-time buyer fears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fake→batch card · COD · 4–6 hafte · hum kaun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DM your darr — hum insaan hain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C6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VC = orange? Myth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"Yeh myth kyun chalta hai"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old acid · stable 10% · real test · tester photos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Dekh li? Ab GLOW DM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C7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30 din ka safar (D30)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"DIN 1 → DIN 30"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day-1 photo · 3 moments · real numbers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Mahine 2 me milte hain — GLOW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C8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Hum manufacturer nahi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"Yehi humari taqat hai"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23-version formula · 20 testers · batch card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2 sawaal puchho → DM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C9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COD kaise kaam karta hai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"Paisa aapke paas, jab tak nahi dekhte"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GLOW 1 min · 2–4 din · kholo-dekho-do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Aaj order — GLOW DM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C10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SPF basics (wave 2)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"SPF 30 ya 50?"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math · 2 finger-length · reapply · 40° Gujarat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9">
                          <a:solidFill>
                            <a:srgbClr val="2B2B2B"/>
                          </a:solidFill>
                          <a:latin typeface="Calibri"/>
                        </a:rPr>
                        <a:t>Waitlist — DM GLOW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4008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8A7F72"/>
                </a:solidFill>
                <a:latin typeface="Calibri"/>
              </a:rPr>
              <a:t>+ 20 more carousel ideas in the Reference Library (R6): SPF math, patch test SOP, skin-type 101, monsoon checklist, wedding-glow plan, Diwali guide, FAQ 10, review wall…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NOT EVERY POST IS AN AD — THE MIX IS THE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Content Categories &amp; the Balanced Mix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0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9945"/>
                <a:gridCol w="1466637"/>
                <a:gridCol w="3849923"/>
                <a:gridCol w="3116604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919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19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19">
                          <a:solidFill>
                            <a:srgbClr val="FFFFFF"/>
                          </a:solidFill>
                          <a:latin typeface="Calibri"/>
                        </a:rPr>
                        <a:t>Formats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19">
                          <a:solidFill>
                            <a:srgbClr val="FFFFFF"/>
                          </a:solidFill>
                          <a:latin typeface="Calibri"/>
                        </a:rPr>
                        <a:t>Calendar share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19">
                          <a:solidFill>
                            <a:srgbClr val="2B2B2B"/>
                          </a:solidFill>
                          <a:latin typeface="Calibri"/>
                        </a:rPr>
                        <a:t>Education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>
                          <a:solidFill>
                            <a:srgbClr val="2B2B2B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>
                          <a:solidFill>
                            <a:srgbClr val="2B2B2B"/>
                          </a:solidFill>
                          <a:latin typeface="Calibri"/>
                        </a:rPr>
                        <a:t>carousels, how-to, myth-vs-reality, layering, keyword reels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>
                          <a:solidFill>
                            <a:srgbClr val="2B2B2B"/>
                          </a:solidFill>
                          <a:latin typeface="Calibri"/>
                        </a:rPr>
                        <a:t>D3, D4, D7, D10, D18, D23, D28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19">
                          <a:solidFill>
                            <a:srgbClr val="2B2B2B"/>
                          </a:solidFill>
                          <a:latin typeface="Calibri"/>
                        </a:rPr>
                        <a:t>Problem/solution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>
                          <a:solidFill>
                            <a:srgbClr val="2B2B2B"/>
                          </a:solidFill>
                          <a:latin typeface="Calibri"/>
                        </a:rPr>
                        <a:t>bridge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>
                          <a:solidFill>
                            <a:srgbClr val="2B2B2B"/>
                          </a:solidFill>
                          <a:latin typeface="Calibri"/>
                        </a:rPr>
                        <a:t>problem hooks → 60-sec fixes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>
                          <a:solidFill>
                            <a:srgbClr val="2B2B2B"/>
                          </a:solidFill>
                          <a:latin typeface="Calibri"/>
                        </a:rPr>
                        <a:t>D1, D2, D11, D15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19">
                          <a:solidFill>
                            <a:srgbClr val="2B2B2B"/>
                          </a:solidFill>
                          <a:latin typeface="Calibri"/>
                        </a:rPr>
                        <a:t>Entertainment / relatable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>
                          <a:solidFill>
                            <a:srgbClr val="2B2B2B"/>
                          </a:solidFill>
                          <a:latin typeface="Calibri"/>
                        </a:rPr>
                        <a:t>20% (with curiosity)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>
                          <a:solidFill>
                            <a:srgbClr val="2B2B2B"/>
                          </a:solidFill>
                          <a:latin typeface="Calibri"/>
                        </a:rPr>
                        <a:t>Gujarati skits, share machines, 5s hooks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>
                          <a:solidFill>
                            <a:srgbClr val="2B2B2B"/>
                          </a:solidFill>
                          <a:latin typeface="Calibri"/>
                        </a:rPr>
                        <a:t>D5, D14, D29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19">
                          <a:solidFill>
                            <a:srgbClr val="2B2B2B"/>
                          </a:solidFill>
                          <a:latin typeface="Calibri"/>
                        </a:rPr>
                        <a:t>UGC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>
                          <a:solidFill>
                            <a:srgbClr val="2B2B2B"/>
                          </a:solidFill>
                          <a:latin typeface="Calibri"/>
                        </a:rPr>
                        <a:t>15–20% of feed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>
                          <a:solidFill>
                            <a:srgbClr val="2B2B2B"/>
                          </a:solidFill>
                          <a:latin typeface="Calibri"/>
                        </a:rPr>
                        <a:t>unboxing, testimonials, collabs, 4-hafte journeys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>
                          <a:solidFill>
                            <a:srgbClr val="2B2B2B"/>
                          </a:solidFill>
                          <a:latin typeface="Calibri"/>
                        </a:rPr>
                        <a:t>D19, D24, D26 + creator wave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19">
                          <a:solidFill>
                            <a:srgbClr val="2B2B2B"/>
                          </a:solidFill>
                          <a:latin typeface="Calibri"/>
                        </a:rPr>
                        <a:t>Product education / demo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>
                          <a:solidFill>
                            <a:srgbClr val="2B2B2B"/>
                          </a:solidFill>
                          <a:latin typeface="Calibri"/>
                        </a:rPr>
                        <a:t>inside Trust+Attention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>
                          <a:solidFill>
                            <a:srgbClr val="2B2B2B"/>
                          </a:solidFill>
                          <a:latin typeface="Calibri"/>
                        </a:rPr>
                        <a:t>texture, how-to, "box me kya hai"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>
                          <a:solidFill>
                            <a:srgbClr val="2B2B2B"/>
                          </a:solidFill>
                          <a:latin typeface="Calibri"/>
                        </a:rPr>
                        <a:t>D8, D9, D16, D27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19">
                          <a:solidFill>
                            <a:srgbClr val="2B2B2B"/>
                          </a:solidFill>
                          <a:latin typeface="Calibri"/>
                        </a:rPr>
                        <a:t>Trust (proof/BTS/founder VO)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>
                          <a:solidFill>
                            <a:srgbClr val="2B2B2B"/>
                          </a:solidFill>
                          <a:latin typeface="Calibri"/>
                        </a:rPr>
                        <a:t>30% — biggest bucket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>
                          <a:solidFill>
                            <a:srgbClr val="2B2B2B"/>
                          </a:solidFill>
                          <a:latin typeface="Calibri"/>
                        </a:rPr>
                        <a:t>disclosed B/A, reviews, workspace, "1 fake review nahi"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>
                          <a:solidFill>
                            <a:srgbClr val="2B2B2B"/>
                          </a:solidFill>
                          <a:latin typeface="Calibri"/>
                        </a:rPr>
                        <a:t>D6, D12, D13, D17, D22, D30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19">
                          <a:solidFill>
                            <a:srgbClr val="2B2B2B"/>
                          </a:solidFill>
                          <a:latin typeface="Calibri"/>
                        </a:rPr>
                        <a:t>Community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>
                          <a:solidFill>
                            <a:srgbClr val="2B2B2B"/>
                          </a:solidFill>
                          <a:latin typeface="Calibri"/>
                        </a:rPr>
                        <a:t>inside Sales/Attention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>
                          <a:solidFill>
                            <a:srgbClr val="2B2B2B"/>
                          </a:solidFill>
                          <a:latin typeface="Calibri"/>
                        </a:rPr>
                        <a:t>referral, question boxes, "Amdavad wale", recap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>
                          <a:solidFill>
                            <a:srgbClr val="2B2B2B"/>
                          </a:solidFill>
                          <a:latin typeface="Calibri"/>
                        </a:rPr>
                        <a:t>D29, D30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19">
                          <a:solidFill>
                            <a:srgbClr val="2B2B2B"/>
                          </a:solidFill>
                          <a:latin typeface="Calibri"/>
                        </a:rPr>
                        <a:t>Direct sales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>
                          <a:solidFill>
                            <a:srgbClr val="2B2B2B"/>
                          </a:solidFill>
                          <a:latin typeface="Calibri"/>
                        </a:rPr>
                        <a:t>20% — 1-in-5 after D15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>
                          <a:solidFill>
                            <a:srgbClr val="2B2B2B"/>
                          </a:solidFill>
                          <a:latin typeface="Calibri"/>
                        </a:rPr>
                        <a:t>launch film, offer, COD, seat counts, referral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>
                          <a:solidFill>
                            <a:srgbClr val="2B2B2B"/>
                          </a:solidFill>
                          <a:latin typeface="Calibri"/>
                        </a:rPr>
                        <a:t>D8, D14, D20, D21, D27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617720"/>
            <a:ext cx="11155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C0562B"/>
                </a:solidFill>
                <a:latin typeface="Calibri"/>
              </a:rPr>
              <a:t>The 1-in-5 rule: after Day 15, EXACTLY 1 of every 5 posts is direct-sell (max 3-in-9 in offer windows). Never 2 sell posts in a row — the next post must be Trust or Education.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257800"/>
            <a:ext cx="11155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0">
                <a:solidFill>
                  <a:srgbClr val="2B2B2B"/>
                </a:solidFill>
                <a:latin typeface="Calibri"/>
              </a:rPr>
              <a:t>Tag every post with ONE job before it ships (awareness / education / trust / conversion / retention). If a week drifts, the next post is Trust or Education.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0">
                <a:solidFill>
                  <a:srgbClr val="2B2B2B"/>
                </a:solidFill>
                <a:latin typeface="Calibri"/>
              </a:rPr>
              <a:t>Before/after = genuine only: real testers, disclosed, "Results may vary" — the 8 rules in Section 13 of the guide.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THE HIGHEST-CONVERTING ASSET — AND THE FASTEST WAY TO DIE IF FAKED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Genuine Before/After — 8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100" b="1">
                <a:solidFill>
                  <a:srgbClr val="C0562B"/>
                </a:solidFill>
                <a:latin typeface="Calibri"/>
              </a:rPr>
              <a:t>▪  </a:t>
            </a:r>
            <a:r>
              <a:rPr sz="1100" b="1">
                <a:solidFill>
                  <a:srgbClr val="2B2B2B"/>
                </a:solidFill>
                <a:latin typeface="Calibri"/>
              </a:rPr>
              <a:t>1 · Real testers, real product, real time. </a:t>
            </a:r>
            <a:r>
              <a:rPr sz="1100" b="0">
                <a:solidFill>
                  <a:srgbClr val="2B2B2B"/>
                </a:solidFill>
                <a:latin typeface="Calibri"/>
              </a:rPr>
              <a:t>20-tester × 4-week program before launch. No stock, no AI faces, no actors-as-customers.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100" b="1">
                <a:solidFill>
                  <a:srgbClr val="C0562B"/>
                </a:solidFill>
                <a:latin typeface="Calibri"/>
              </a:rPr>
              <a:t>▪  </a:t>
            </a:r>
            <a:r>
              <a:rPr sz="1100" b="1">
                <a:solidFill>
                  <a:srgbClr val="2B2B2B"/>
                </a:solidFill>
                <a:latin typeface="Calibri"/>
              </a:rPr>
              <a:t>2 · Written consent on file. </a:t>
            </a:r>
            <a:r>
              <a:rPr sz="1100" b="0">
                <a:solidFill>
                  <a:srgbClr val="2B2B2B"/>
                </a:solidFill>
                <a:latin typeface="Calibri"/>
              </a:rPr>
              <a:t>Consent lapses → content comes down.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100" b="1">
                <a:solidFill>
                  <a:srgbClr val="C0562B"/>
                </a:solidFill>
                <a:latin typeface="Calibri"/>
              </a:rPr>
              <a:t>▪  </a:t>
            </a:r>
            <a:r>
              <a:rPr sz="1100" b="1">
                <a:solidFill>
                  <a:srgbClr val="2B2B2B"/>
                </a:solidFill>
                <a:latin typeface="Calibri"/>
              </a:rPr>
              <a:t>3 · Same everything: </a:t>
            </a:r>
            <a:r>
              <a:rPr sz="1100" b="0">
                <a:solidFill>
                  <a:srgbClr val="2B2B2B"/>
                </a:solidFill>
                <a:latin typeface="Calibri"/>
              </a:rPr>
              <a:t>same window light, angle, distance, phone · no filter, no retouch · printed "Day 1 — RANGAT 4-hafte program" card in BOTH frames.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100" b="1">
                <a:solidFill>
                  <a:srgbClr val="C0562B"/>
                </a:solidFill>
                <a:latin typeface="Calibri"/>
              </a:rPr>
              <a:t>▪  </a:t>
            </a:r>
            <a:r>
              <a:rPr sz="1100" b="1">
                <a:solidFill>
                  <a:srgbClr val="2B2B2B"/>
                </a:solidFill>
                <a:latin typeface="Calibri"/>
              </a:rPr>
              <a:t>4 · Disclosed on every frame: </a:t>
            </a:r>
            <a:r>
              <a:rPr sz="1100" b="0">
                <a:solidFill>
                  <a:srgbClr val="2B2B2B"/>
                </a:solidFill>
                <a:latin typeface="Calibri"/>
              </a:rPr>
              <a:t>"Day 1 → Day 28 · 4 hafte · Results may vary" — never cropped in the ad version.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100" b="1">
                <a:solidFill>
                  <a:srgbClr val="C0562B"/>
                </a:solidFill>
                <a:latin typeface="Calibri"/>
              </a:rPr>
              <a:t>▪  </a:t>
            </a:r>
            <a:r>
              <a:rPr sz="1100" b="1">
                <a:solidFill>
                  <a:srgbClr val="2B2B2B"/>
                </a:solidFill>
                <a:latin typeface="Calibri"/>
              </a:rPr>
              <a:t>5 · Show the boring middle: </a:t>
            </a:r>
            <a:r>
              <a:rPr sz="1100" b="0">
                <a:solidFill>
                  <a:srgbClr val="2B2B2B"/>
                </a:solidFill>
                <a:latin typeface="Calibri"/>
              </a:rPr>
              <a:t>the Day-7 "abhi toh shuru hai" frame is REQUIRED.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100" b="1">
                <a:solidFill>
                  <a:srgbClr val="C0562B"/>
                </a:solidFill>
                <a:latin typeface="Calibri"/>
              </a:rPr>
              <a:t>▪  </a:t>
            </a:r>
            <a:r>
              <a:rPr sz="1100" b="1">
                <a:solidFill>
                  <a:srgbClr val="2B2B2B"/>
                </a:solidFill>
                <a:latin typeface="Calibri"/>
              </a:rPr>
              <a:t>6 · 1 honest negative per 3 positives </a:t>
            </a:r>
            <a:r>
              <a:rPr sz="1100" b="0">
                <a:solidFill>
                  <a:srgbClr val="2B2B2B"/>
                </a:solidFill>
                <a:latin typeface="Calibri"/>
              </a:rPr>
              <a:t>("18 continue, 2 nahi — dono ki baat suno").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100" b="1">
                <a:solidFill>
                  <a:srgbClr val="C0562B"/>
                </a:solidFill>
                <a:latin typeface="Calibri"/>
              </a:rPr>
              <a:t>▪  </a:t>
            </a:r>
            <a:r>
              <a:rPr sz="1100" b="1">
                <a:solidFill>
                  <a:srgbClr val="2B2B2B"/>
                </a:solidFill>
                <a:latin typeface="Calibri"/>
              </a:rPr>
              <a:t>7 · Safe language: </a:t>
            </a:r>
            <a:r>
              <a:rPr sz="1100" b="0">
                <a:solidFill>
                  <a:srgbClr val="2B2B2B"/>
                </a:solidFill>
                <a:latin typeface="Calibri"/>
              </a:rPr>
              <a:t>"dikhna kam karta hai" · "help karta hai" · "4–6 hafte ka honest timeline" — never cure/remove/khatam/100%.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100" b="1">
                <a:solidFill>
                  <a:srgbClr val="C0562B"/>
                </a:solidFill>
                <a:latin typeface="Calibri"/>
              </a:rPr>
              <a:t>▪  </a:t>
            </a:r>
            <a:r>
              <a:rPr sz="1100" b="1">
                <a:solidFill>
                  <a:srgbClr val="2B2B2B"/>
                </a:solidFill>
                <a:latin typeface="Calibri"/>
              </a:rPr>
              <a:t>8 · Frequency: </a:t>
            </a:r>
            <a:r>
              <a:rPr sz="1100" b="0">
                <a:solidFill>
                  <a:srgbClr val="2B2B2B"/>
                </a:solidFill>
                <a:latin typeface="Calibri"/>
              </a:rPr>
              <a:t>first B/A = D17 (pinned + ad cut) · then 1–2/week from the real pool.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577840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8A7F72"/>
                </a:solidFill>
                <a:latin typeface="Calibri"/>
              </a:rPr>
              <a:t>4-week documentation SOP: D1 consent + photo · D7 photo + "kuch nahi" (that IS the honesty) · D14 photo + 2 lines · D28 photo + review request. One tester = 4 reels + 1 carousel + 10 story frames.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REAL PEOPLE, REAL WORDS, REAL ROOMS — THE TRUST ENGINE AND THE AD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UGC System (20 scripts + pipeline)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1183108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222"/>
                <a:gridCol w="1863851"/>
                <a:gridCol w="3241481"/>
                <a:gridCol w="486222"/>
                <a:gridCol w="1863851"/>
                <a:gridCol w="3241481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b="1" sz="760">
                          <a:solidFill>
                            <a:srgbClr val="FFFFFF"/>
                          </a:solidFill>
                          <a:latin typeface="Calibri"/>
                        </a:rPr>
                        <a:t>UGC #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760">
                          <a:solidFill>
                            <a:srgbClr val="FFFFFF"/>
                          </a:solidFill>
                          <a:latin typeface="Calibri"/>
                        </a:rPr>
                        <a:t>Creator (profile)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760">
                          <a:solidFill>
                            <a:srgbClr val="FFFFFF"/>
                          </a:solidFill>
                          <a:latin typeface="Calibri"/>
                        </a:rPr>
                        <a:t>Hook (verbatim)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760">
                          <a:solidFill>
                            <a:srgbClr val="FFFFFF"/>
                          </a:solidFill>
                          <a:latin typeface="Calibri"/>
                        </a:rPr>
                        <a:t>UGC #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760">
                          <a:solidFill>
                            <a:srgbClr val="FFFFFF"/>
                          </a:solidFill>
                          <a:latin typeface="Calibri"/>
                        </a:rPr>
                        <a:t>Creator (profile)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760">
                          <a:solidFill>
                            <a:srgbClr val="FFFFFF"/>
                          </a:solidFill>
                          <a:latin typeface="Calibri"/>
                        </a:rPr>
                        <a:t>Hook (verbatim)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Girl, Ahmedabad, 24 (Gujarati)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"Gujarat me monsoon — chehra dull, phir 40 degree. Main kiya? Bas 2 cheezein."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Beauty shelf, 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"Mera shelf 3000 wali products se bharpoor hai — phir bhi 600 wali RANGAT par ruk gayi."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Male professional, 28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"9 baaje jaata, 8 baaje aata — par 2 minute nikalta hoon. Yeh kaise?"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Gen-Z POV, 21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"POV: aapne 500 ke andar serum dhunda — aur mile bhi."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Gen-Z college, 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"Exam season + outdoor classes = tan-look. Pehli baar serum — budget ke andar."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Professional, 26, Surat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"Surat wale hustle jaante hain. 9 se 9, phir bhi 2 minute milte hain."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Working woman, 30, Amdavad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"30 ki umar — skincare ab ‘maintain’ hai. Meri 6:45 routine dekho."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Cultural fest, 20, Vadodara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"Fest 2 hafte baad — ‘glow kar lo’ wala pressure. Bina 10 products ke."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Bilingual, 25 (Gujarati-first)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"Nani ke totke vs aaj ka science — RANGAT ne dono ek saath rakha."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Girl, 24, Rajkot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"Rajkot: garmi me oil, sardiyon me dry. Meri 1 solution dekho."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Skincare niche, 27 (30k+)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"Main 200+ products review karti hoon — is naye brand se 1 cheez pasand aayi."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Educator, 29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"10% Vitamin C — lab kya kehta hai? 45 second ka class."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College girl, 19, Surat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"Diamond city hustle — par mera budget student hai. Pehla serum 600 me."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Comedy, 23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"Girl math: 600 ka serum = roz ka ek chai. Chai 15 min, serum 4 hafte."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Male college, 21, Vadodara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"Bro, face wash actually karta hai? 2 hafte ka test."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ASMR routine, 25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Text-only: "6:45 AM. 3 steps. 2 minutes." → sounds only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New mom, 28, Rajkot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"Baby ke baad skin ‘mujhse’ khaali ho gayi. 2 hafte, 2 cheezein."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Quiz creator, 27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"Aapka skin type — 4 sawaal me. Last answer 90% log galat dete hain."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Couple, 27/29, Amdavad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"Humne ek doosre ke liye skincare gift kiya — ab dono 2 minute roz."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Challenge OPENER, tester 26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>
                          <a:solidFill>
                            <a:srgbClr val="2B2B2B"/>
                          </a:solidFill>
                          <a:latin typeface="Calibri"/>
                        </a:rPr>
                        <a:t>"30 din, roz subah, same light, same angle. Aaj din 1." (the long-tail asset)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617720"/>
            <a:ext cx="111556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980" b="1">
                <a:solidFill>
                  <a:srgbClr val="C0562B"/>
                </a:solidFill>
                <a:latin typeface="Calibri"/>
              </a:rPr>
              <a:t>▪  </a:t>
            </a:r>
            <a:r>
              <a:rPr sz="980" b="1">
                <a:solidFill>
                  <a:srgbClr val="2B2B2B"/>
                </a:solidFill>
                <a:latin typeface="Calibri"/>
              </a:rPr>
              <a:t>Structure (all 20): </a:t>
            </a:r>
            <a:r>
              <a:rPr sz="980" b="0">
                <a:solidFill>
                  <a:srgbClr val="2B2B2B"/>
                </a:solidFill>
                <a:latin typeface="Calibri"/>
              </a:rPr>
              <a:t>hook (her words) → real room/real time → product in routine (real label) → honest update (one small negative) → product shot 3s → CTA "DM GLOW" + COD line.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980" b="1">
                <a:solidFill>
                  <a:srgbClr val="C0562B"/>
                </a:solidFill>
                <a:latin typeface="Calibri"/>
              </a:rPr>
              <a:t>▪  </a:t>
            </a:r>
            <a:r>
              <a:rPr sz="980" b="1">
                <a:solidFill>
                  <a:srgbClr val="2B2B2B"/>
                </a:solidFill>
                <a:latin typeface="Calibri"/>
              </a:rPr>
              <a:t>Ops: </a:t>
            </a:r>
            <a:r>
              <a:rPr sz="980" b="0">
                <a:solidFill>
                  <a:srgbClr val="2B2B2B"/>
                </a:solidFill>
                <a:latin typeface="Calibri"/>
              </a:rPr>
              <a:t>consent + ad-use (₹100/use stated) BEFORE publishing · 4 hard brief rules · 1 shoot = 6 assets · comp: free product + ₹500/₹1,000/₹1,500–2,000 + 20% affiliate (first 20) · bank target 40–60 by D90.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980" b="1">
                <a:solidFill>
                  <a:srgbClr val="C0562B"/>
                </a:solidFill>
                <a:latin typeface="Calibri"/>
              </a:rPr>
              <a:t>▪  </a:t>
            </a:r>
            <a:r>
              <a:rPr sz="980" b="1">
                <a:solidFill>
                  <a:srgbClr val="2B2B2B"/>
                </a:solidFill>
                <a:latin typeface="Calibri"/>
              </a:rPr>
              <a:t>Pipeline: </a:t>
            </a:r>
            <a:r>
              <a:rPr sz="980" b="0">
                <a:solidFill>
                  <a:srgbClr val="2B2B2B"/>
                </a:solidFill>
                <a:latin typeface="Calibri"/>
              </a:rPr>
              <a:t>get content → paper trail → 3 cuts (15s/30s/static) → ad layer (hook text, brand tag, CTA, her real voice) → feed sales campaign → 7-day window, ATC-cost ranking → +30%/48h → promote to retargeting → log.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GUJARAT-FIRST CREATOR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Micro-Influencer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576072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Who: </a:t>
            </a:r>
            <a:r>
              <a:rPr sz="1000" b="0">
                <a:solidFill>
                  <a:srgbClr val="2B2B2B"/>
                </a:solidFill>
                <a:latin typeface="Calibri"/>
              </a:rPr>
              <a:t>5k–50k sweet spot (nano for volume, micro for the engine). Categories: food/lifestyle Gujarati → college/influencer → beauty local → fashion (wedding) → male lifestyle (Face Wash).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Where (2 hrs/week, Wed): </a:t>
            </a:r>
            <a:r>
              <a:rPr sz="1000" b="0">
                <a:solidFill>
                  <a:srgbClr val="2B2B2B"/>
                </a:solidFill>
                <a:latin typeface="Calibri"/>
              </a:rPr>
              <a:t>#Amdavad #Ahmedabad #Gujaraticreator #Amdavadi + explore from 5 known locals + "Ahmedabad vlog" on YT + wedding vendors’ tagged photos + your own 20-tester pool.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Vetting (15 min, sales &gt; followers): </a:t>
            </a:r>
            <a:r>
              <a:rPr sz="1000" b="0">
                <a:solidFill>
                  <a:srgbClr val="2B2B2B"/>
                </a:solidFill>
                <a:latin typeface="Calibri"/>
              </a:rPr>
              <a:t>ER = (likes+comments)÷followers on last 20 posts, target &gt;4% (8k with 450 likes beats 100k with 300) · real Gujarati commenters = real audience · audience location check · DM test (ghosts = deprioritize) · hard no: medical claims, fake giveaways.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Shortlist discipline: </a:t>
            </a:r>
            <a:r>
              <a:rPr sz="1000" b="0">
                <a:solidFill>
                  <a:srgbClr val="2B2B2B"/>
                </a:solidFill>
                <a:latin typeface="Calibri"/>
              </a:rPr>
              <a:t>10 by D10 · 3–5 contacted/week · 3 live by D19 · 6 by D45 · 10+ by D90 (3–5 paid partners).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521208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Barter vs paid ladder: </a:t>
            </a:r>
            <a:r>
              <a:rPr sz="1000" b="0">
                <a:solidFill>
                  <a:srgbClr val="2B2B2B"/>
                </a:solidFill>
                <a:latin typeface="Calibri"/>
              </a:rPr>
              <a:t>barter (product-only) → gifting (no obligation) → paid collab (₹500/₹1,000/₹1,500–2,000 + 20% affiliate first 20 + ₹100/ad-use) → affiliate-only (20%/sale, no posting duty) → UGC-only (paid clip, no her-audience duty).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Sample strategy: </a:t>
            </a:r>
            <a:r>
              <a:rPr sz="1000" b="0">
                <a:solidFill>
                  <a:srgbClr val="2B2B2B"/>
                </a:solidFill>
                <a:latin typeface="Calibri"/>
              </a:rPr>
              <a:t>real product always first + 4-hafte program access (her Day 1/14/28 updates are real content).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Outreach (copy-paste): </a:t>
            </a:r>
            <a:r>
              <a:rPr sz="1000" b="0">
                <a:solidFill>
                  <a:srgbClr val="2B2B2B"/>
                </a:solidFill>
                <a:latin typeface="Calibri"/>
              </a:rPr>
              <a:t>"Hi [Name]! [specific post reference]… Aapko hamara Vitamin C Serum bhejna chahte hain — bilkul free, koi script nahi. Aapki honest baat (achhi bhi, kami bhi)…" + 48h follow-up (once, polite).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Tracking: </a:t>
            </a:r>
            <a:r>
              <a:rPr sz="1000" b="0">
                <a:solidFill>
                  <a:srgbClr val="2B2B2B"/>
                </a:solidFill>
                <a:latin typeface="Calibri"/>
              </a:rPr>
              <a:t>Creators sheet — name/city/followers/ER/stage/terms/code/performance/consent · Sunday: contacted/live/code sales/creator-ROAS vs brand (≈2×)/cost per asset &lt;₹800.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Unique codes: </a:t>
            </a:r>
            <a:r>
              <a:rPr sz="1000" b="0">
                <a:solidFill>
                  <a:srgbClr val="2B2B2B"/>
                </a:solidFill>
                <a:latin typeface="Calibri"/>
              </a:rPr>
              <a:t>creator "NAAM10" (20%, first 20 sales) · customer "GLOW+name" (₹100/₹100).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Long-term partners: </a:t>
            </a:r>
            <a:r>
              <a:rPr sz="1000" b="0">
                <a:solidFill>
                  <a:srgbClr val="2B2B2B"/>
                </a:solidFill>
                <a:latin typeface="Calibri"/>
              </a:rPr>
              <a:t>after 2 good posts → 90-day partnership (2 reels/mah, monthly payout, first wave access, highlight spot, IC-20 "90 Din Update" — your strongest proof asset).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ADS ON DAY 1? NO. — HERE IS EXACTLY WHEN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Meta Ads From Zero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80" b="1">
                <a:solidFill>
                  <a:srgbClr val="C0562B"/>
                </a:solidFill>
                <a:latin typeface="Calibri"/>
              </a:rPr>
              <a:t>▪  </a:t>
            </a:r>
            <a:r>
              <a:rPr sz="1080" b="1">
                <a:solidFill>
                  <a:srgbClr val="2B2B2B"/>
                </a:solidFill>
                <a:latin typeface="Calibri"/>
              </a:rPr>
              <a:t>Why not Day 1: </a:t>
            </a:r>
            <a:r>
              <a:rPr sz="1080" b="0">
                <a:solidFill>
                  <a:srgbClr val="2B2B2B"/>
                </a:solidFill>
                <a:latin typeface="Calibri"/>
              </a:rPr>
              <a:t>zero reviews + zero content history = paying ₹150–300 per "hmm, who is this?" (India skincare CPMs already ₹100–260; Meta has no relevance data to optimize toward).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80" b="1">
                <a:solidFill>
                  <a:srgbClr val="C0562B"/>
                </a:solidFill>
                <a:latin typeface="Calibri"/>
              </a:rPr>
              <a:t>▪  </a:t>
            </a:r>
            <a:r>
              <a:rPr sz="1080" b="1">
                <a:solidFill>
                  <a:srgbClr val="2B2B2B"/>
                </a:solidFill>
                <a:latin typeface="Calibri"/>
              </a:rPr>
              <a:t>What must be organic first (D1–14): </a:t>
            </a:r>
            <a:r>
              <a:rPr sz="1080" b="0">
                <a:solidFill>
                  <a:srgbClr val="2B2B2B"/>
                </a:solidFill>
                <a:latin typeface="Calibri"/>
              </a:rPr>
              <a:t>the trust layer — 14 posts, stories, first 100–200 followers, 20–40 GLOW DMs, and ONE reel with (saves+shares)/reach &gt; 8% (the only reel you boost).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80" b="1">
                <a:solidFill>
                  <a:srgbClr val="C0562B"/>
                </a:solidFill>
                <a:latin typeface="Calibri"/>
              </a:rPr>
              <a:t>▪  </a:t>
            </a:r>
            <a:r>
              <a:rPr sz="1080" b="1">
                <a:solidFill>
                  <a:srgbClr val="2B2B2B"/>
                </a:solidFill>
                <a:latin typeface="Calibri"/>
              </a:rPr>
              <a:t>The switch: </a:t>
            </a:r>
            <a:r>
              <a:rPr sz="1080" b="0">
                <a:solidFill>
                  <a:srgbClr val="2B2B2B"/>
                </a:solidFill>
                <a:latin typeface="Calibri"/>
              </a:rPr>
              <a:t>D15–20 optional ₹200/day boost (cap ₹300) on that ONE validated reel → full ads from D21 (LAUNCH) at ₹500/day.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3794760"/>
          <a:ext cx="11183109" cy="2578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626"/>
                <a:gridCol w="2199956"/>
                <a:gridCol w="2199956"/>
                <a:gridCol w="2016626"/>
                <a:gridCol w="2749945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b="1" sz="880">
                          <a:solidFill>
                            <a:srgbClr val="FFFFFF"/>
                          </a:solidFill>
                          <a:latin typeface="Calibri"/>
                        </a:rPr>
                        <a:t>Campaign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80">
                          <a:solidFill>
                            <a:srgbClr val="FFFFFF"/>
                          </a:solidFill>
                          <a:latin typeface="Calibri"/>
                        </a:rPr>
                        <a:t>Live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80">
                          <a:solidFill>
                            <a:srgbClr val="FFFFFF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80">
                          <a:solidFill>
                            <a:srgbClr val="FFFFFF"/>
                          </a:solidFill>
                          <a:latin typeface="Calibri"/>
                        </a:rPr>
                        <a:t>Budget start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80">
                          <a:solidFill>
                            <a:srgbClr val="FFFFFF"/>
                          </a:solidFill>
                          <a:latin typeface="Calibri"/>
                        </a:rPr>
                        <a:t>Core job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1 · AWARENESS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D15–20, then 10–15% of budget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Reach / Video Views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₹300 (window)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Reach + audience building; 3s CTR &gt;25%, CPM ≤₹260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2 · ENGAGEMENT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D21+ (10–15% of budget)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Video Views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₹100–200/day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Grow the retargeting pool; cost/view ≤₹4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3 · TRAFFIC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D30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WhatsApp clicks (website if live)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₹100–300/day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COD explainer → chats; CPC ≤₹15, opens &gt;50%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4 · SALES / CONVERSION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D21 (LAUNCH)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Sales → WhatsApp Messages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₹500/day (A ₹300 + B ₹200)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THE engine; CPA ≤₹300 M2 → ≤₹250 D90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5 · RETARGETING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D25 (+LAL D35)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Sales → WhatsApp (retarget)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₹200–300 (15–25% of total)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Profit engine; CPA ≤₹150, ROAS 2.8–4.5×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EVERY CAMPAIGN: AUDIENCE, GEO, AGE, GENDER, CREATIVE, HOOK, TEST, SCALE, STOP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The 5 Campaigns — Full Specs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1183110" cy="5376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257"/>
                <a:gridCol w="2970514"/>
                <a:gridCol w="2795777"/>
                <a:gridCol w="1747361"/>
                <a:gridCol w="2184201"/>
              </a:tblGrid>
              <a:tr h="896112">
                <a:tc>
                  <a:txBody>
                    <a:bodyPr wrap="square"/>
                    <a:lstStyle/>
                    <a:p>
                      <a:r>
                        <a:rPr b="1" sz="780">
                          <a:solidFill>
                            <a:srgbClr val="FFFFFF"/>
                          </a:solidFill>
                          <a:latin typeface="Calibri"/>
                        </a:rPr>
                        <a:t>Campaign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780">
                          <a:solidFill>
                            <a:srgbClr val="FFFFFF"/>
                          </a:solidFill>
                          <a:latin typeface="Calibri"/>
                        </a:rPr>
                        <a:t>Audience · Location · Age/Gender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780">
                          <a:solidFill>
                            <a:srgbClr val="FFFFFF"/>
                          </a:solidFill>
                          <a:latin typeface="Calibri"/>
                        </a:rPr>
                        <a:t>Creative + hook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780">
                          <a:solidFill>
                            <a:srgbClr val="FFFFFF"/>
                          </a:solidFill>
                          <a:latin typeface="Calibri"/>
                        </a:rPr>
                        <a:t>Test plan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780">
                          <a:solidFill>
                            <a:srgbClr val="FFFFFF"/>
                          </a:solidFill>
                          <a:latin typeface="Calibri"/>
                        </a:rPr>
                        <a:t>Scale when / Stop when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r>
                        <a:rPr sz="780">
                          <a:solidFill>
                            <a:srgbClr val="2B2B2B"/>
                          </a:solidFill>
                          <a:latin typeface="Calibri"/>
                        </a:rPr>
                        <a:t>1 AWARENESS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>
                          <a:solidFill>
                            <a:srgbClr val="2B2B2B"/>
                          </a:solidFill>
                          <a:latin typeface="Calibri"/>
                        </a:rPr>
                        <a:t>Broad 18–40, no interests · Ahmedabad+60km (incl. Gandhinagar) → city waves · 18–40 / all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>
                          <a:solidFill>
                            <a:srgbClr val="2B2B2B"/>
                          </a:solidFill>
                          <a:latin typeface="Calibri"/>
                        </a:rPr>
                        <a:t>The validated reel (7s+15s) · "40° bahar, 25° andar — skin beech me."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>
                          <a:solidFill>
                            <a:srgbClr val="2B2B2B"/>
                          </a:solidFill>
                          <a:latin typeface="Calibri"/>
                        </a:rPr>
                        <a:t>2 reels × 2 lengths, 5 days, 3s hook rate + CPM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>
                          <a:solidFill>
                            <a:srgbClr val="2B2B2B"/>
                          </a:solidFill>
                          <a:latin typeface="Calibri"/>
                        </a:rPr>
                        <a:t>CPM stable → +20 km radius / CPM &gt;₹300 ×3 days → stop at D20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r>
                        <a:rPr sz="780">
                          <a:solidFill>
                            <a:srgbClr val="2B2B2B"/>
                          </a:solidFill>
                          <a:latin typeface="Calibri"/>
                        </a:rPr>
                        <a:t>2 ENGAGEMENT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>
                          <a:solidFill>
                            <a:srgbClr val="2B2B2B"/>
                          </a:solidFill>
                          <a:latin typeface="Calibri"/>
                        </a:rPr>
                        <a:t>Broad Gujarat + (D35) 1% LAL of engagers · Amdavad+Gandhinagar → waves · 18–35 / women 80%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>
                          <a:solidFill>
                            <a:srgbClr val="2B2B2B"/>
                          </a:solidFill>
                          <a:latin typeface="Calibri"/>
                        </a:rPr>
                        <a:t>Education + relatable (5 skin-killers, layering, maa skit) · "5 daily skin-killers — #3 aap bhi karti ho."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>
                          <a:solidFill>
                            <a:srgbClr val="2B2B2B"/>
                          </a:solidFill>
                          <a:latin typeface="Calibri"/>
                        </a:rPr>
                        <a:t>3 education + 1 relatable, 7 days, (saves+shares)/view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>
                          <a:solidFill>
                            <a:srgbClr val="2B2B2B"/>
                          </a:solidFill>
                          <a:latin typeface="Calibri"/>
                        </a:rPr>
                        <a:t>winner +30%/48h / cost-view &gt;₹8 ×5 days → stop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r>
                        <a:rPr sz="780">
                          <a:solidFill>
                            <a:srgbClr val="2B2B2B"/>
                          </a:solidFill>
                          <a:latin typeface="Calibri"/>
                        </a:rPr>
                        <a:t>3 TRAFFIC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>
                          <a:solidFill>
                            <a:srgbClr val="2B2B2B"/>
                          </a:solidFill>
                          <a:latin typeface="Calibri"/>
                        </a:rPr>
                        <a:t>Interest stack (skincare, beauty, VC, D2C) + broad · Gujarat (Amdavad, Gandhinagar, Surat, Vadodara, Rajkot) · 18–35 / women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>
                          <a:solidFill>
                            <a:srgbClr val="2B2B2B"/>
                          </a:solidFill>
                          <a:latin typeface="Calibri"/>
                        </a:rPr>
                        <a:t>COD explainer + box contents (hands, no face) · "Pehle dekho, phir paisa do. COD."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>
                          <a:solidFill>
                            <a:srgbClr val="2B2B2B"/>
                          </a:solidFill>
                          <a:latin typeface="Calibri"/>
                        </a:rPr>
                        <a:t>2 creatives × 2 primary texts, 7 days, CPC + chat opens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>
                          <a:solidFill>
                            <a:srgbClr val="2B2B2B"/>
                          </a:solidFill>
                          <a:latin typeface="Calibri"/>
                        </a:rPr>
                        <a:t>CPC ≤₹12 + script converting → +30% / chat→DM &lt;20% → fix funnel, stop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r>
                        <a:rPr sz="780">
                          <a:solidFill>
                            <a:srgbClr val="2B2B2B"/>
                          </a:solidFill>
                          <a:latin typeface="Calibri"/>
                        </a:rPr>
                        <a:t>4 SALES (GLOW PROSPECT)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>
                          <a:solidFill>
                            <a:srgbClr val="2B2B2B"/>
                          </a:solidFill>
                          <a:latin typeface="Calibri"/>
                        </a:rPr>
                        <a:t>A: BROAD Amdavad+radius 18–45 · B: INTEREST Gujarat+West 18–35 women · city waves + 6 India cities D90+ (kill &gt;1.3× Gujarat CPA)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>
                          <a:solidFill>
                            <a:srgbClr val="2B2B2B"/>
                          </a:solidFill>
                          <a:latin typeface="Calibri"/>
                        </a:rPr>
                        <a:t>4 live: testimonial / 4-hafte B-A / launch film / texture 8s (UGC bank feeds #5–8) · "4 baar delete kiya. Phir bhi order kiya. Kyunki COD tha."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>
                          <a:solidFill>
                            <a:srgbClr val="2B2B2B"/>
                          </a:solidFill>
                          <a:latin typeface="Calibri"/>
                        </a:rPr>
                        <a:t>4–8 creatives, 7-day window, rank by ATC cost → CPA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>
                          <a:solidFill>
                            <a:srgbClr val="2B2B2B"/>
                          </a:solidFill>
                          <a:latin typeface="Calibri"/>
                        </a:rPr>
                        <a:t>winners +30%/48h while CPA ≤1.2× target / fatigue (CPM+30%, CTR−25%, CPA+50%) → rotate; never stop campaign under target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r>
                        <a:rPr sz="780">
                          <a:solidFill>
                            <a:srgbClr val="2B2B2B"/>
                          </a:solidFill>
                          <a:latin typeface="Calibri"/>
                        </a:rPr>
                        <a:t>5 RETARGETING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>
                          <a:solidFill>
                            <a:srgbClr val="2B2B2B"/>
                          </a:solidFill>
                          <a:latin typeface="Calibri"/>
                        </a:rPr>
                        <a:t>R1 engagers · R2 viewers · R3 video 50% · R4 WA leads no-buy · R5 ATC · R7 bio visits · (D35) 1% LAL purchasers · same geo · 18–40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>
                          <a:solidFill>
                            <a:srgbClr val="2B2B2B"/>
                          </a:solidFill>
                          <a:latin typeface="Calibri"/>
                        </a:rPr>
                        <a:t>Proof (B/A, reviews) + REAL seat counts + wave-2 for purchasers · "X seat bachi — batch 1. (real number)"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>
                          <a:solidFill>
                            <a:srgbClr val="2B2B2B"/>
                          </a:solidFill>
                          <a:latin typeface="Calibri"/>
                        </a:rPr>
                        <a:t>3 audiences × 2 creatives, 7 days, CPA ≤₹150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>
                          <a:solidFill>
                            <a:srgbClr val="2B2B2B"/>
                          </a:solidFill>
                          <a:latin typeface="Calibri"/>
                        </a:rPr>
                        <a:t>winners +30% to 25% cap / freq &gt;4.5/wk or CTR &lt;0.8% → rotate; never fully stop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THE EXACT WORDS IN THE AD ACCOUNT — AND THE 4 BUDGET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Ad Copy (verbatim) + Budget Plans (₹/day)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1183111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4972"/>
                <a:gridCol w="5499891"/>
                <a:gridCol w="2474951"/>
                <a:gridCol w="1833297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b="1" sz="819">
                          <a:solidFill>
                            <a:srgbClr val="FFFFFF"/>
                          </a:solidFill>
                          <a:latin typeface="Calibri"/>
                        </a:rPr>
                        <a:t>Campaign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19">
                          <a:solidFill>
                            <a:srgbClr val="FFFFFF"/>
                          </a:solidFill>
                          <a:latin typeface="Calibri"/>
                        </a:rPr>
                        <a:t>PRIMARY TEXT (verbatim)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19">
                          <a:solidFill>
                            <a:srgbClr val="FFFFFF"/>
                          </a:solidFill>
                          <a:latin typeface="Calibri"/>
                        </a:rPr>
                        <a:t>HEADLINE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19">
                          <a:solidFill>
                            <a:srgbClr val="FFFFFF"/>
                          </a:solidFill>
                          <a:latin typeface="Calibri"/>
                        </a:rPr>
                        <a:t>CTA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1 AWARENESS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"Gujarat ki garmi, AC, dhool — aapki skin roz 2 kaam karti hai. Humara jawab: 60 second ka routine. RANGAT NATURALS — Indian skincare, COD hai."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"Aamee skin, aamno liye."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Watch More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2 ENGAGEMENT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"Aapki skin ko kharab karne wale 5 chhote habits. #2 sabse common hai. Save karo, baad me padhna. — RANGAT NATURALS"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"Save karo — roz kaam aayega"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Watch More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3 TRAFFIC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"Naye brand se darr? RANGAT NATURALS me COD hai — parcel pehle aata hai, dekh kar paisa do. Vitamin C Serum 10% + launch me free Face Wash mini + free shipping. WhatsApp karo: ‘GLOW’."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"COD · Free shipping (launch) · 2–4 din (Gujarat)"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Send WhatsApp Message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4 SALES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"4 baar delete kiya. Phir bhi order kiya. Kyunki COD tha aur 4 hafte ka honest promise tha. RANGAT NATURALS — Vitamin C 10%, ₹600 (launch me free FW mini + free shipping). DM ‘GLOW’."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"Vitamin C 10% — COD, Gujarat me 2–4 din"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Send WhatsApp Message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5 RETARGETING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"Aapne dekha, aapne socha — ab batch 1 me X seat bachi. COD hai, free Face Wash mini + free shipping (launch). GLOW likho, 15 min me reply."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"Batch 1: X seat left (real count)"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Send WhatsApp Message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4681728"/>
          <a:ext cx="11183111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4983"/>
                <a:gridCol w="3024940"/>
                <a:gridCol w="7333188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b="1" sz="860">
                          <a:solidFill>
                            <a:srgbClr val="FFFFFF"/>
                          </a:solidFill>
                          <a:latin typeface="Calibri"/>
                        </a:rPr>
                        <a:t>Plan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60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60">
                          <a:solidFill>
                            <a:srgbClr val="FFFFFF"/>
                          </a:solidFill>
                          <a:latin typeface="Calibri"/>
                        </a:rPr>
                        <a:t>Allocation (per day)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₹300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D15–20 boost window (default ₹200, cap ₹300) / post-launch lean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boost: 1 validated reel, 3-day windows · lean: C4 ₹200 + C5 ₹50 + C3 ₹50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₹500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D21 launch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C4: broad ₹300 + interest ₹200 · 4 creatives · WhatsApp objective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₹1,000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D35–59 proof phase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C4 ₹500 + C5 ₹300 + C3 ₹100 + C2 ₹50 + C1 ₹50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₹2,000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D60+ scale (seasonal peak ₹5,000 only after 2 weeks CPA ≤₹300)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C4 SCALE ₹1,000 + C5 ₹400 + C2-LAL ₹300 + C3 ₹200 + awareness/engagement ₹100 (retargeting 20%)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8A7F72"/>
                </a:solidFill>
                <a:latin typeface="Calibri"/>
              </a:rPr>
              <a:t>Scale in +30% steps every 48–72h while CPA ≤1.2× target · retargeting ≤25% of total · never double in one jump.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PRODUCIBLE WITH AI — NO FOUNDER 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4 AI/Face-Free Ad Creatives + City Geo (Gujarat → India)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6035038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1717"/>
                <a:gridCol w="1746985"/>
                <a:gridCol w="1746985"/>
                <a:gridCol w="1429351"/>
              </a:tblGrid>
              <a:tr h="749808">
                <a:tc>
                  <a:txBody>
                    <a:bodyPr wrap="square"/>
                    <a:lstStyle/>
                    <a:p>
                      <a:r>
                        <a:rPr b="1" sz="819">
                          <a:solidFill>
                            <a:srgbClr val="FFFFFF"/>
                          </a:solidFill>
                          <a:latin typeface="Calibri"/>
                        </a:rPr>
                        <a:t>Ad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19">
                          <a:solidFill>
                            <a:srgbClr val="FFFFFF"/>
                          </a:solidFill>
                          <a:latin typeface="Calibri"/>
                        </a:rPr>
                        <a:t>Format (method)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19">
                          <a:solidFill>
                            <a:srgbClr val="FFFFFF"/>
                          </a:solidFill>
                          <a:latin typeface="Calibri"/>
                        </a:rPr>
                        <a:t>Creative line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19">
                          <a:solidFill>
                            <a:srgbClr val="FFFFFF"/>
                          </a:solidFill>
                          <a:latin typeface="Calibri"/>
                        </a:rPr>
                        <a:t>Headline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A · Texture Promise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8s macro AI + real bottle insert (2)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drop → spread → absorb + "4–6 hafte ka honest timeline" + CTA card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VC 10% · COD · 2–4 din (Gujarat)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B · Myth Flip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12s AI creator, labeled "AI concept" + real insert (2)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"100% herbal likha hai toh lagao? Yeh sach jano." → haldi vs serum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20 testers · 4 hafte · disclosed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C · COD Explainer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15s real hands + box (4)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3 steps: GLOW 1 min → parcel 2–4 din → kholo-dekho-paisa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Pehle dekho, phir paisa 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D · 4 Hafte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real tester cards + her 5s line (4/5)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Day-1 → Day-28, card in frame, "Results may vary" always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Real results · disclosed · consent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12280" y="1325880"/>
          <a:ext cx="487375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7222"/>
                <a:gridCol w="773611"/>
                <a:gridCol w="850972"/>
                <a:gridCol w="1701945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b="1" sz="840">
                          <a:solidFill>
                            <a:srgbClr val="FFFFFF"/>
                          </a:solidFill>
                          <a:latin typeface="Calibri"/>
                        </a:rPr>
                        <a:t>City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40">
                          <a:solidFill>
                            <a:srgbClr val="FFFFFF"/>
                          </a:solidFill>
                          <a:latin typeface="Calibri"/>
                        </a:rPr>
                        <a:t>Wave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40">
                          <a:solidFill>
                            <a:srgbClr val="FFFFFF"/>
                          </a:solidFill>
                          <a:latin typeface="Calibri"/>
                        </a:rPr>
                        <a:t>Ads from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40">
                          <a:solidFill>
                            <a:srgbClr val="FFFFFF"/>
                          </a:solidFill>
                          <a:latin typeface="Calibri"/>
                        </a:rPr>
                        <a:t>Local angle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840">
                          <a:solidFill>
                            <a:srgbClr val="2B2B2B"/>
                          </a:solidFill>
                          <a:latin typeface="Calibri"/>
                        </a:rPr>
                        <a:t>Ahmedabad + Gandhinagar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>
                          <a:solidFill>
                            <a:srgbClr val="2B2B2B"/>
                          </a:solidFill>
                          <a:latin typeface="Calibri"/>
                        </a:rPr>
                        <a:t>Home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>
                          <a:solidFill>
                            <a:srgbClr val="2B2B2B"/>
                          </a:solidFill>
                          <a:latin typeface="Calibri"/>
                        </a:rPr>
                        <a:t>D21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>
                          <a:solidFill>
                            <a:srgbClr val="2B2B2B"/>
                          </a:solidFill>
                          <a:latin typeface="Calibri"/>
                        </a:rPr>
                        <a:t>hard water · 40° · chai+thepla · college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840">
                          <a:solidFill>
                            <a:srgbClr val="2B2B2B"/>
                          </a:solidFill>
                          <a:latin typeface="Calibri"/>
                        </a:rPr>
                        <a:t>Surat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>
                          <a:solidFill>
                            <a:srgbClr val="2B2B2B"/>
                          </a:solidFill>
                          <a:latin typeface="Calibri"/>
                        </a:rPr>
                        <a:t>Wave 2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>
                          <a:solidFill>
                            <a:srgbClr val="2B2B2B"/>
                          </a:solidFill>
                          <a:latin typeface="Calibri"/>
                        </a:rPr>
                        <a:t>W4–6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>
                          <a:solidFill>
                            <a:srgbClr val="2B2B2B"/>
                          </a:solidFill>
                          <a:latin typeface="Calibri"/>
                        </a:rPr>
                        <a:t>"diamond city hustle" · student budget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840">
                          <a:solidFill>
                            <a:srgbClr val="2B2B2B"/>
                          </a:solidFill>
                          <a:latin typeface="Calibri"/>
                        </a:rPr>
                        <a:t>Vadodara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>
                          <a:solidFill>
                            <a:srgbClr val="2B2B2B"/>
                          </a:solidFill>
                          <a:latin typeface="Calibri"/>
                        </a:rPr>
                        <a:t>Wave 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>
                          <a:solidFill>
                            <a:srgbClr val="2B2B2B"/>
                          </a:solidFill>
                          <a:latin typeface="Calibri"/>
                        </a:rPr>
                        <a:t>W6–8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>
                          <a:solidFill>
                            <a:srgbClr val="2B2B2B"/>
                          </a:solidFill>
                          <a:latin typeface="Calibri"/>
                        </a:rPr>
                        <a:t>wedding glow · colleges · light "Vadu" humor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840">
                          <a:solidFill>
                            <a:srgbClr val="2B2B2B"/>
                          </a:solidFill>
                          <a:latin typeface="Calibri"/>
                        </a:rPr>
                        <a:t>Rajkot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>
                          <a:solidFill>
                            <a:srgbClr val="2B2B2B"/>
                          </a:solidFill>
                          <a:latin typeface="Calibri"/>
                        </a:rPr>
                        <a:t>Wave 3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>
                          <a:solidFill>
                            <a:srgbClr val="2B2B2B"/>
                          </a:solidFill>
                          <a:latin typeface="Calibri"/>
                        </a:rPr>
                        <a:t>W8+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>
                          <a:solidFill>
                            <a:srgbClr val="2B2B2B"/>
                          </a:solidFill>
                          <a:latin typeface="Calibri"/>
                        </a:rPr>
                        <a:t>dry winters · family gifting · "Rajkot walo"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840">
                          <a:solidFill>
                            <a:srgbClr val="2B2B2B"/>
                          </a:solidFill>
                          <a:latin typeface="Calibri"/>
                        </a:rPr>
                        <a:t>Top-6 India cities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>
                          <a:solidFill>
                            <a:srgbClr val="2B2B2B"/>
                          </a:solidFill>
                          <a:latin typeface="Calibri"/>
                        </a:rPr>
                        <a:t>National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>
                          <a:solidFill>
                            <a:srgbClr val="2B2B2B"/>
                          </a:solidFill>
                          <a:latin typeface="Calibri"/>
                        </a:rPr>
                        <a:t>D90+ (C4)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>
                          <a:solidFill>
                            <a:srgbClr val="2B2B2B"/>
                          </a:solidFill>
                          <a:latin typeface="Calibri"/>
                        </a:rPr>
                        <a:t>"Indian skin" creative — NEVER "Gujarat only"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846320"/>
            <a:ext cx="11155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City kill rule: </a:t>
            </a:r>
            <a:r>
              <a:rPr sz="1050" b="0">
                <a:solidFill>
                  <a:srgbClr val="2B2B2B"/>
                </a:solidFill>
                <a:latin typeface="Calibri"/>
              </a:rPr>
              <a:t>any city &gt;1.3× Gujarat CPA → pause (1 week to recover); 2× worse → out.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India expansion = winning content × winning product: </a:t>
            </a:r>
            <a:r>
              <a:rPr sz="1050" b="0">
                <a:solidFill>
                  <a:srgbClr val="2B2B2B"/>
                </a:solidFill>
                <a:latin typeface="Calibri"/>
              </a:rPr>
              <a:t>top-3 CTR/ROAS creatives + VC→Sunscreen get the Advantage+ budget; geo unlocks city-by-city; the proof story travels — "Gujarat me 20 testers, 100 pehli customers — ab India ke saath" is a stronger national story.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WHERE EACH STAGE LIVES + THE SCRIPT THAT CLOSES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Complete Sales Funnel + GLOW DM 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C0562B"/>
                </a:solidFill>
                <a:latin typeface="Calibri"/>
              </a:rPr>
              <a:t>REEL/POST → PROFILE → TRUST → PRODUCT → WEBSITE/WHATSAPP → PURCHASE → REVIEW → REPEAT PURCHASE → REFERRAL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783080"/>
          <a:ext cx="11183110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632"/>
                <a:gridCol w="5683220"/>
                <a:gridCol w="3758258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b="1" sz="860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60">
                          <a:solidFill>
                            <a:srgbClr val="FFFFFF"/>
                          </a:solidFill>
                          <a:latin typeface="Calibri"/>
                        </a:rPr>
                        <a:t>Content that does the job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60">
                          <a:solidFill>
                            <a:srgbClr val="FFFFFF"/>
                          </a:solidFill>
                          <a:latin typeface="Calibri"/>
                        </a:rPr>
                        <a:t>KPI target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→ Profile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problem/relatable reels + keyword on-screen text · bio + 3 pins (buy/trust/who) + RESULTS highlight first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profile visits = 10–15% of top-reel reach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Trust → Product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disclosed B/A + reviews (RESULTS) · "4 darr, 4 jawaab" · batch card · hero pin + texture/how-to reels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saves + product interest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Product → WhatsApp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COD explainer (C9) · "GLOW" quick reply · 15-min SLA auto-reply · bio link (3 items, WhatsApp first)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link clicks = 25–40% of profile visits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Purchase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GLOW 5-step script + one proof asset in the 2nd DM + TRUE scarcity (real seat count)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DM→order 25–40% → 35–45% · COD fail &lt;15%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Review → Repeat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D1/7/14/28 WhatsApp sequence + review request · wave-2 offer to purchasers (retargeting)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review 25–35% · repeat 10–15% by D60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Referral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D29: do ₹100, lo ₹100 (codes: GLOW+name)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10–20% of orders by D60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663440"/>
            <a:ext cx="11155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GLOW 5-step (15-min SLA): </a:t>
            </a:r>
            <a:r>
              <a:rPr sz="1000" b="0">
                <a:solidFill>
                  <a:srgbClr val="2B2B2B"/>
                </a:solidFill>
                <a:latin typeface="Calibri"/>
              </a:rPr>
              <a:t>① greet + question first ("aapka skin type?") · ② kill the #1 fear (batch card + COD + 4–6 hafte) + one proof asset · ③ close ("naam + city + WhatsApp number?") + written confirmation · ④ same-day WhatsApp care card · ⑤ D1 "khol diya?" → D7 "koi redness?" → D14 "kya dikh raha hai?" → D28 "photo + 1 line".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Reviews = the product of the funnel: </a:t>
            </a:r>
            <a:r>
              <a:rPr sz="1000" b="0">
                <a:solidFill>
                  <a:srgbClr val="2B2B2B"/>
                </a:solidFill>
                <a:latin typeface="Calibri"/>
              </a:rPr>
              <a:t>every review → quote card (story + highlight) + testimonial reel (ad creative) + retargeting asset. The 20-tester program is the pre-launch version of the same machine.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SUNDAY, 45 MIN — 3 DECISIONS MAX (SCALE / KILL / FIX)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Analytics + the 6 Diagnostic Playbooks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1183111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3286"/>
                <a:gridCol w="8799825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840">
                          <a:solidFill>
                            <a:srgbClr val="FFFFFF"/>
                          </a:solidFill>
                          <a:latin typeface="Calibri"/>
                        </a:rPr>
                        <a:t>Symptom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40">
                          <a:solidFill>
                            <a:srgbClr val="FFFFFF"/>
                          </a:solidFill>
                          <a:latin typeface="Calibri"/>
                        </a:rPr>
                        <a:t>Exact action (first 3 moves)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840">
                          <a:solidFill>
                            <a:srgbClr val="2B2B2B"/>
                          </a:solidFill>
                          <a:latin typeface="Calibri"/>
                        </a:rPr>
                        <a:t>LOW VIEWS (3+ reels &lt;500 reach)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>
                          <a:solidFill>
                            <a:srgbClr val="2B2B2B"/>
                          </a:solidFill>
                          <a:latin typeface="Calibri"/>
                        </a:rPr>
                        <a:t>1. check 3s-hook (spoken + text + movement?) → rewrite, different style · 2. watch time: &lt;3s = hook dead; 6–12s drop = dead middle (interrupt at 2–5s) · 3. posting time inside best window? then rotate format; after 3 failed rewrites kill the topic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840">
                          <a:solidFill>
                            <a:srgbClr val="2B2B2B"/>
                          </a:solidFill>
                          <a:latin typeface="Calibri"/>
                        </a:rPr>
                        <a:t>HIGH VIEWS, NO SALES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>
                          <a:solidFill>
                            <a:srgbClr val="2B2B2B"/>
                          </a:solidFill>
                          <a:latin typeface="Calibri"/>
                        </a:rPr>
                        <a:t>1. does the reel say WHAT + PRICE + COD + ONE action? add a 2s bridge ("DM GLOW, COD hai") · 2. re-run the 3-second profile test · 3. DM line alive in the viral hour? OFFER highlight current? · verdict: awareness spend — fine 2/week, 4+ → shift mix to Trust+Conversion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840">
                          <a:solidFill>
                            <a:srgbClr val="2B2B2B"/>
                          </a:solidFill>
                          <a:latin typeface="Calibri"/>
                        </a:rPr>
                        <a:t>HIGH SAVES (&gt;8%)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>
                          <a:solidFill>
                            <a:srgbClr val="2B2B2B"/>
                          </a:solidFill>
                          <a:latin typeface="Calibri"/>
                        </a:rPr>
                        <a:t>1. turn each high-save carousel into a 45s VO reel · 2. name the series ("Skin 101 #8") — search shelf compounds · 3. saved topics → next month’s keyword Reels; retarget savers with proof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840">
                          <a:solidFill>
                            <a:srgbClr val="2B2B2B"/>
                          </a:solidFill>
                          <a:latin typeface="Calibri"/>
                        </a:rPr>
                        <a:t>HIGH SHARES (&gt;3%)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>
                          <a:solidFill>
                            <a:srgbClr val="2B2B2B"/>
                          </a:solidFill>
                          <a:latin typeface="Calibri"/>
                        </a:rPr>
                        <a:t>1. double the relatable format 2 weeks · 2. every 3rd relatable ends with a 1-line product bridge · 3. check who shares (Gujarat circle vs outside → C4 city selection)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840">
                          <a:solidFill>
                            <a:srgbClr val="2B2B2B"/>
                          </a:solidFill>
                          <a:latin typeface="Calibri"/>
                        </a:rPr>
                        <a:t>HIGH PROFILE VISITS, LOW CLICKS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>
                          <a:solidFill>
                            <a:srgbClr val="2B2B2B"/>
                          </a:solidFill>
                          <a:latin typeface="Calibri"/>
                        </a:rPr>
                        <a:t>1. sit on your own profile 30s as a stranger · 2. fix ONE thing/week: bio → highlights (RESULTS first) → pins → link (WhatsApp first) · 3. pinned profile story "Naya yahan? Yeh 3 pehle dekho"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840">
                          <a:solidFill>
                            <a:srgbClr val="2B2B2B"/>
                          </a:solidFill>
                          <a:latin typeface="Calibri"/>
                        </a:rPr>
                        <a:t>HIGH CLICKS, NO PURCHASES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>
                          <a:solidFill>
                            <a:srgbClr val="2B2B2B"/>
                          </a:solidFill>
                          <a:latin typeface="Calibri"/>
                        </a:rPr>
                        <a:t>1. re-read 10 dead chats — find the stall (price/trust/timing/fear) · 2. price → "20 chai, 4 hafte" + COD-first; trust → batch card + B/A link in 2nd DM · 3. "soch lu" → one soft-close with TRUE urgency; &lt;25% DM→order = script not followed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3977639"/>
            <a:ext cx="111556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2B2B2B"/>
                </a:solidFill>
                <a:latin typeface="Calibri"/>
              </a:rPr>
              <a:t>Weekly KPI board: followers (100 D7 / 500 D21 / 1,000 D45 / 5,000 D120) · non-follower reach &gt;50% · saves &gt;8% education, shares &gt;3% relatable · profile visits 10–15% · link→chat 25–40% · GLOW DMs 600–1,000 by D30 · DM→order 25–40% → 35–45% · orders 80–100 / 400–500 / 900–1,200 (D30/60/90) · COD fail &lt;15% · review 25–35% · repeat 10–15% D60 · referral 10–20% · CPM ₹100–260 · CTR 1.2–2.5% · CPA ≤₹300 M2 → ≤₹250 D90 · ROAS ≥3x D90 · UGC +5/wk (40–60 by D90).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THE MACHINE, VERIFIED AT EVERY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30 / 60 / 90-Day Growth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27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118310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104"/>
                <a:gridCol w="1919489"/>
                <a:gridCol w="1001472"/>
                <a:gridCol w="834560"/>
                <a:gridCol w="2086401"/>
                <a:gridCol w="1752577"/>
                <a:gridCol w="2837506"/>
              </a:tblGrid>
              <a:tr h="822960">
                <a:tc>
                  <a:txBody>
                    <a:bodyPr wrap="square"/>
                    <a:lstStyle/>
                    <a:p>
                      <a:r>
                        <a:rPr b="1" sz="819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19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19">
                          <a:solidFill>
                            <a:srgbClr val="FFFFFF"/>
                          </a:solidFill>
                          <a:latin typeface="Calibri"/>
                        </a:rPr>
                        <a:t>Orders (cum.)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19">
                          <a:solidFill>
                            <a:srgbClr val="FFFFFF"/>
                          </a:solidFill>
                          <a:latin typeface="Calibri"/>
                        </a:rPr>
                        <a:t>Followers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19">
                          <a:solidFill>
                            <a:srgbClr val="FFFFFF"/>
                          </a:solidFill>
                          <a:latin typeface="Calibri"/>
                        </a:rPr>
                        <a:t>Ads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19">
                          <a:solidFill>
                            <a:srgbClr val="FFFFFF"/>
                          </a:solidFill>
                          <a:latin typeface="Calibri"/>
                        </a:rPr>
                        <a:t>Wave / cities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19">
                          <a:solidFill>
                            <a:srgbClr val="FFFFFF"/>
                          </a:solidFill>
                          <a:latin typeface="Calibri"/>
                        </a:rPr>
                        <a:t>Other KPIs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D1–30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"THE 100" — prove the machine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80–100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1–2k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C4 from D21 (₹500) · C5 D25 · C3 D30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VC + FW + Moisturizer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Amdavad + Gandhinagar · 600–1,000 GLOW DMs · DM→order 25–40% · 15 UGC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D31–60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"THE 500" — second engine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400–500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3,000+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C2-LAL D35 · C4 SCALE D60 · ₹1,000–2,000/day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Sunscreen (D45–60)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+Surat (W4–6), Vadodara (W6–8) · CPA ≤₹300 · repeat 10% · 30 UGC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D61–90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"THE MACHINE" — scale + Diwali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900–1,200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5–8k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full engine ₹2,000–5,000/day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Night Cream (D75–90) + Diwali boxes 100+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+Rajkot (W8) + 6 India cities · ROAS ≥3x · CPA ≤₹250 · LTV:CAC ≥2.5 · 40–60 UGC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434840"/>
            <a:ext cx="111556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Posting (all phases): </a:t>
            </a:r>
            <a:r>
              <a:rPr sz="1000" b="0">
                <a:solidFill>
                  <a:srgbClr val="2B2B2B"/>
                </a:solidFill>
                <a:latin typeface="Calibri"/>
              </a:rPr>
              <a:t>Reels 8 PM (product days 12:30 PM) · carousels 9 PM · stories 8 AM/1 PM/8 PM · first-60-minutes duty · from D21 your own Insights data replaces the defaults.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Creators (all phases): </a:t>
            </a:r>
            <a:r>
              <a:rPr sz="1000" b="0">
                <a:solidFill>
                  <a:srgbClr val="2B2B2B"/>
                </a:solidFill>
                <a:latin typeface="Calibri"/>
              </a:rPr>
              <a:t>3 live by D19 → 6 by D45 → 10+ by D90 (3–5 paid partners) · 60/40 Gujarat-rest from D60 · UGC pipeline feeding ads every 2 weeks.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SEO (all phases): </a:t>
            </a:r>
            <a:r>
              <a:rPr sz="1000" b="0">
                <a:solidFill>
                  <a:srgbClr val="2B2B2B"/>
                </a:solidFill>
                <a:latin typeface="Calibri"/>
              </a:rPr>
              <a:t>name field + bio + on-screen keywords + reel titles + alt text + location tags from Day 1 · monthly audit from real search data after D30 · keyword Reel per product per month.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Day-90 verdict (written, 1 h): </a:t>
            </a:r>
            <a:r>
              <a:rPr sz="1000" b="0">
                <a:solidFill>
                  <a:srgbClr val="2B2B2B"/>
                </a:solidFill>
                <a:latin typeface="Calibri"/>
              </a:rPr>
              <a:t>4 of 5 (orders / CPA / UGC / repeat / referral) → scale budget one step + full-time editor · ≤3 → fix the leaking stage first, no budget step.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EVERYTHING REUSABLE, IN ONE PLACE (END OF THE PDF/DOCX)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The 13-Item Reference Library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28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118311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231"/>
                <a:gridCol w="3313514"/>
                <a:gridCol w="7363365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b="1" sz="88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80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80">
                          <a:solidFill>
                            <a:srgbClr val="FFFFFF"/>
                          </a:solidFill>
                          <a:latin typeface="Calibri"/>
                        </a:rPr>
                        <a:t>What it contains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R1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30-Day content calendar (at a glance)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day · type · one-line job · best time · production method (all 30)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R2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Weekly posting schedule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Mon–Sun blocks, hours, outputs — the 12–15 hr week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R3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Daily posting times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per-content-type best + 2nd-best (Gujarat IST) + WhatsApp Status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R4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100 hooks for RANGAT NATURALS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16 styles: curiosity, problem, fear/loss, B/A (real only), mistakes, myths, facts, questions, controversy-adjacent, relatable-Gujarati, founder VO, demo/challenge, social proof, comparison + 10 offer/trust hooks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R5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50 reel ideas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30 calendar days + 20 wave-bank ideas (hook + format + method each)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R6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30 carousel ideas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10 core blueprints (slides 1–6 + CTA) + 20 more (SPF math, patch test, wedding glow, Diwali guide, FAQ, review wall…)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R7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30 story ideas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reusable bank: polls, quiz reveals, countdowns, UGC reposts, quote cards, seat counts, parcel maps, texture frames…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R8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20 UGC ideas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creator profile + verbatim hook for each (Gujarat first, 1–30k nano → 30k+ niche)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R9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20 micro-influencer content ideas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IC-1..10 established concepts + 10 more (7-Din Challenge, Shelf Reset, City Spotlight, 90 Din Update…)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R10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Meta Ads launch plan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D0→D90 day-by-day: no ads D1–14 → boost D15–20 → C4 D21 → C5 D25 → C3 D30 → C2-LAL D35 → SCALE D60 → peak D90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R11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Instagram SEO checklist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account-level + per-post 12 points + the 12 ready hashtag sets (full tags) + monthly audit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R12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Daily execution checklist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the 10 items you tick before closing the phone (incl. the CEO question)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R13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30/60/90 growth plan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KPI board: orders, followers, DMs, conversion, CPA, ROAS, LTV:CAC, UGC bank, product + city waves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10 MINUTES, EVERY DAY, BEFORE YOU CLOSE THE PHONE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Daily Execution Checklist + The 8 Red 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29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557784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[  </a:t>
            </a:r>
            <a:r>
              <a:rPr sz="1050" b="0">
                <a:solidFill>
                  <a:srgbClr val="2B2B2B"/>
                </a:solidFill>
                <a:latin typeface="Calibri"/>
              </a:rPr>
              <a:t>1 reel posted at its best time — hook: spoken + text + product/hand movement in 2s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[  </a:t>
            </a:r>
            <a:r>
              <a:rPr sz="1050" b="0">
                <a:solidFill>
                  <a:srgbClr val="2B2B2B"/>
                </a:solidFill>
                <a:latin typeface="Calibri"/>
              </a:rPr>
              <a:t>3 story slots posted (8 AM / 1 PM / 8 PM) — evening ends with a DM CTA / link sticker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[  </a:t>
            </a:r>
            <a:r>
              <a:rPr sz="1050" b="0">
                <a:solidFill>
                  <a:srgbClr val="2B2B2B"/>
                </a:solidFill>
                <a:latin typeface="Calibri"/>
              </a:rPr>
              <a:t>First 60 minutes: every comment replied; 2–3 genuine comment prompts seeded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[  </a:t>
            </a:r>
            <a:r>
              <a:rPr sz="1050" b="0">
                <a:solidFill>
                  <a:srgbClr val="2B2B2B"/>
                </a:solidFill>
                <a:latin typeface="Calibri"/>
              </a:rPr>
              <a:t>Every GLOW answered in 15 min (7 AM–11 PM); dead chats → Saturday audit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[  </a:t>
            </a:r>
            <a:r>
              <a:rPr sz="1050" b="0">
                <a:solidFill>
                  <a:srgbClr val="2B2B2B"/>
                </a:solidFill>
                <a:latin typeface="Calibri"/>
              </a:rPr>
              <a:t>WhatsApp Status mirrored (3 slots, same day)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[  </a:t>
            </a:r>
            <a:r>
              <a:rPr sz="1050" b="0">
                <a:solidFill>
                  <a:srgbClr val="2B2B2B"/>
                </a:solidFill>
                <a:latin typeface="Calibri"/>
              </a:rPr>
              <a:t>Alt text + location tag + reel title + 8–15 rotated hashtags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[  </a:t>
            </a:r>
            <a:r>
              <a:rPr sz="1050" b="0">
                <a:solidFill>
                  <a:srgbClr val="2B2B2B"/>
                </a:solidFill>
                <a:latin typeface="Calibri"/>
              </a:rPr>
              <a:t>1 production block done (Mon plan / Tue shoot / Wed ads+creators / Thu shoot 2 / Fri repurpose / Sat KPI / Sun close)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[  </a:t>
            </a:r>
            <a:r>
              <a:rPr sz="1050" b="0">
                <a:solidFill>
                  <a:srgbClr val="2B2B2B"/>
                </a:solidFill>
                <a:latin typeface="Calibri"/>
              </a:rPr>
              <a:t>Sheet updated (5 min) · 1 forward action for tomorrow written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[  </a:t>
            </a:r>
            <a:r>
              <a:rPr sz="1050" b="0">
                <a:solidFill>
                  <a:srgbClr val="2B2B2B"/>
                </a:solidFill>
                <a:latin typeface="Calibri"/>
              </a:rPr>
              <a:t>The CEO question: which stranger buys tomorrow because of what I post today?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C0562B"/>
                </a:solidFill>
                <a:latin typeface="Calibri"/>
              </a:rPr>
              <a:t>The 8 red lines (never crossed)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30352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0">
                <a:solidFill>
                  <a:srgbClr val="2B2B2B"/>
                </a:solidFill>
                <a:latin typeface="Calibri"/>
              </a:rPr>
              <a:t>No fake reviews / testimonials / results — ever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0">
                <a:solidFill>
                  <a:srgbClr val="2B2B2B"/>
                </a:solidFill>
                <a:latin typeface="Calibri"/>
              </a:rPr>
              <a:t>No fake before/after — only disclosed Day-1→28, "Results may vary"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0">
                <a:solidFill>
                  <a:srgbClr val="2B2B2B"/>
                </a:solidFill>
                <a:latin typeface="Calibri"/>
              </a:rPr>
              <a:t>No fake followers or engagement — no buying, no pods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0">
                <a:solidFill>
                  <a:srgbClr val="2B2B2B"/>
                </a:solidFill>
                <a:latin typeface="Calibri"/>
              </a:rPr>
              <a:t>No guaranteed results · no cure/remove/permanent/100% · no medical claims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0">
                <a:solidFill>
                  <a:srgbClr val="2B2B2B"/>
                </a:solidFill>
                <a:latin typeface="Calibri"/>
              </a:rPr>
              <a:t>No unverified claims — if it’s not on the formula sheet, it’s not on the label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0">
                <a:solidFill>
                  <a:srgbClr val="2B2B2B"/>
                </a:solidFill>
                <a:latin typeface="Calibri"/>
              </a:rPr>
              <a:t>No copyrighted downloads — Pexels/Pixabay/Unsplash B-roll only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0">
                <a:solidFill>
                  <a:srgbClr val="2B2B2B"/>
                </a:solidFill>
                <a:latin typeface="Calibri"/>
              </a:rPr>
              <a:t>No misleading ingredient/price claims ("10%" = the formula’s 10%)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0">
                <a:solidFill>
                  <a:srgbClr val="2B2B2B"/>
                </a:solidFill>
                <a:latin typeface="Calibri"/>
              </a:rPr>
              <a:t>AI labeled; AI never impersonates a customer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3504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2B2B2B"/>
                </a:solidFill>
                <a:latin typeface="Calibri"/>
              </a:rPr>
              <a:t>When in doubt: show the receipt (batch card, consent file, tester photo) — or don’t post it.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463040"/>
            <a:ext cx="457200" cy="457200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C0562B"/>
                </a:solidFill>
                <a:latin typeface="Calibri"/>
              </a:rPr>
              <a:t>THE CEO’S VERDICT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This is not a marketing plan. It is an operating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104241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200" b="1">
                <a:solidFill>
                  <a:srgbClr val="C0562B"/>
                </a:solidFill>
                <a:latin typeface="Calibri"/>
              </a:rPr>
              <a:t>▪  </a:t>
            </a:r>
            <a:r>
              <a:rPr sz="1200" b="1">
                <a:solidFill>
                  <a:srgbClr val="2B2B2B"/>
                </a:solidFill>
                <a:latin typeface="Calibri"/>
              </a:rPr>
              <a:t>Start today: </a:t>
            </a:r>
            <a:r>
              <a:rPr sz="1200" b="0">
                <a:solidFill>
                  <a:srgbClr val="2B2B2B"/>
                </a:solidFill>
                <a:latin typeface="Calibri"/>
              </a:rPr>
              <a:t>Day 0 setup (2 h) + the 20-tester program is already running + the Sunday batch produces the first 7 days.</a:t>
            </a:r>
          </a:p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200" b="1">
                <a:solidFill>
                  <a:srgbClr val="C0562B"/>
                </a:solidFill>
                <a:latin typeface="Calibri"/>
              </a:rPr>
              <a:t>▪  </a:t>
            </a:r>
            <a:r>
              <a:rPr sz="1200" b="1">
                <a:solidFill>
                  <a:srgbClr val="2B2B2B"/>
                </a:solidFill>
                <a:latin typeface="Calibri"/>
              </a:rPr>
              <a:t>The sequence never changes: </a:t>
            </a:r>
            <a:r>
              <a:rPr sz="1200" b="0">
                <a:solidFill>
                  <a:srgbClr val="2B2B2B"/>
                </a:solidFill>
                <a:latin typeface="Calibri"/>
              </a:rPr>
              <a:t>Reel → Profile → Trust → Product → WhatsApp → Purchase → Review → Repeat → Referral.</a:t>
            </a:r>
          </a:p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200" b="1">
                <a:solidFill>
                  <a:srgbClr val="C0562B"/>
                </a:solidFill>
                <a:latin typeface="Calibri"/>
              </a:rPr>
              <a:t>▪  </a:t>
            </a:r>
            <a:r>
              <a:rPr sz="1200" b="1">
                <a:solidFill>
                  <a:srgbClr val="2B2B2B"/>
                </a:solidFill>
                <a:latin typeface="Calibri"/>
              </a:rPr>
              <a:t>The money follows the discipline: </a:t>
            </a:r>
            <a:r>
              <a:rPr sz="1200" b="0">
                <a:solidFill>
                  <a:srgbClr val="2B2B2B"/>
                </a:solidFill>
                <a:latin typeface="Calibri"/>
              </a:rPr>
              <a:t>₹0 ads until D14 · ₹500/day at launch · ₹2,000/day at scale · every rupee CPA-gated.</a:t>
            </a:r>
          </a:p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200" b="1">
                <a:solidFill>
                  <a:srgbClr val="C0562B"/>
                </a:solidFill>
                <a:latin typeface="Calibri"/>
              </a:rPr>
              <a:t>▪  </a:t>
            </a:r>
            <a:r>
              <a:rPr sz="1200" b="1">
                <a:solidFill>
                  <a:srgbClr val="2B2B2B"/>
                </a:solidFill>
                <a:latin typeface="Calibri"/>
              </a:rPr>
              <a:t>The proof is the moat: </a:t>
            </a:r>
            <a:r>
              <a:rPr sz="1200" b="0">
                <a:solidFill>
                  <a:srgbClr val="2B2B2B"/>
                </a:solidFill>
                <a:latin typeface="Calibri"/>
              </a:rPr>
              <a:t>20 real testers, 100 real first customers, 0 fake reviews — "Gujarat me 20 testers, 100 pehli customers — ab India ke saath."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C0562B"/>
                </a:solidFill>
                <a:latin typeface="Calibri"/>
              </a:rPr>
              <a:t>RANGAT NATURALS — Aamee skin, aamno liye. · North star: REAL CUSTOMERS AND SALES.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