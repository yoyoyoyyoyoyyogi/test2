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28016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44A2E"/>
                </a:solidFill>
                <a:latin typeface="Calibri"/>
              </a:rPr>
              <a:t>MASTER GROWTH PLAN  ·  30-SLIDE EXECUTIVE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8F3A22"/>
                </a:solidFill>
                <a:latin typeface="Georgia"/>
              </a:rPr>
              <a:t>RANGAT NATURALS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2999232"/>
            <a:ext cx="2286000" cy="27432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A2622"/>
                </a:solidFill>
                <a:latin typeface="Calibri"/>
              </a:rPr>
              <a:t>SOCIAL MEDIA + CONTENT + META ADS + SALES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7504A"/>
                </a:solidFill>
                <a:latin typeface="Calibri"/>
              </a:rPr>
              <a:t>From zero followers to 1,000+ customers — the complete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B44A2E"/>
                </a:solidFill>
                <a:latin typeface="Georgia"/>
              </a:rPr>
              <a:t>Asli skin. Asli result.  —  From zero. Gujarat first. India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7504A"/>
                </a:solidFill>
                <a:latin typeface="Calibri"/>
              </a:rPr>
              <a:t>Prepared September 2026  ·  All 30 strategy sections distilled  ·  Private-label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A2622"/>
                </a:solidFill>
                <a:latin typeface="Calibri"/>
              </a:rPr>
              <a:t>ATTENTION → TRUST → CUSTOMERS → SALES → REPEAT → PROFIT → BRAND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From Zero to Customers — The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Mission  —  </a:t>
            </a:r>
            <a:r>
              <a:rPr sz="1400">
                <a:solidFill>
                  <a:srgbClr val="2A2622"/>
                </a:solidFill>
                <a:latin typeface="Calibri"/>
              </a:rPr>
              <a:t>ATTENTION → TRUST → CUSTOMERS → SALES → REPEAT → PROFIT → BRAND GROWTH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Starting point  —  </a:t>
            </a:r>
            <a:r>
              <a:rPr sz="1400">
                <a:solidFill>
                  <a:srgbClr val="2A2622"/>
                </a:solidFill>
                <a:latin typeface="Calibri"/>
              </a:rPr>
              <a:t>0 followers, 0 customers, 0 awareness, small budget — private-label brand (we are NOT a manufacturer; the brand is the business)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Timing = a gift  —  </a:t>
            </a:r>
            <a:r>
              <a:rPr sz="1400">
                <a:solidFill>
                  <a:srgbClr val="2A2622"/>
                </a:solidFill>
                <a:latin typeface="Calibri"/>
              </a:rPr>
              <a:t>Mid-Sept launch → 4-week proof build → Day-21 launch lands before Gujarat wedding season + Diwali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North star  —  </a:t>
            </a:r>
            <a:r>
              <a:rPr sz="1400">
                <a:solidFill>
                  <a:srgbClr val="2A2622"/>
                </a:solidFill>
                <a:latin typeface="Calibri"/>
              </a:rPr>
              <a:t>ORDERS + REPEAT RATE — never followers or likes. “Followers are only counted if they DM.”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rule  —  </a:t>
            </a:r>
            <a:r>
              <a:rPr sz="1400">
                <a:solidFill>
                  <a:srgbClr val="2A2622"/>
                </a:solidFill>
                <a:latin typeface="Calibri"/>
              </a:rPr>
              <a:t>No generic content, no fake proof, no medical claims — every post must move a stranger one step closer to a first COD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01/30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Market Context — Why This Plan Is Built This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8336"/>
                <a:gridCol w="4480560"/>
                <a:gridCol w="4032504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Numbers (2025–26)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RANGAT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India skincare market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$2.98B (2026) → $5.1B (2032) · ~9.4% CAGR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Growing pie; facial care ≈ 85% of it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Vitamin C serum (10–20%)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~60% segment share · ~9.2% CAGR · top-5 ≈ 50%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Hero rides the dominant, still-fragmented segment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Sun care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~12.5% CAGR — fastest category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Month-2 Sunscreen, timed before summer + wedding season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Indian D2C Meta ads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CPM ₹100–260 · CTR 1.2–2.5% · prospecting ROAS 1.8–3.2x · retargeting 2.8–4.5x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Small budgets work if CPA is gated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Structural reality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COD is mandatory for unknown brands; fake-product fear is real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Funnel = WhatsApp + COD; trust content attacks the fear directly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02/30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10 CEO Decisions (the whole plan in 10 lines)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4709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84"/>
                <a:gridCol w="2240280"/>
                <a:gridCol w="8289036"/>
              </a:tblGrid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Choice (one line)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Hero product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Vitamin C Serum (10%); Face Wash = low-ticket entry, Moisturizer completes the kit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First customer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Women 20–35 — Ahmedabad first, then Surat / Vadodara / Rajkot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First platform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Instagram (Reels = attention engine); WhatsApp Business = the actual sales engine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Posting cadence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5–7 Reels/wk + 3–5 Stories/day + 2 Carousels/wk — batch-shot on 2 days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50% Hinglish · 30% Gujarati · 20% English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Ads start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NO ads before Day 21; optional ₹200/day boost (Day 15–20); ads start ₹500/day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“Founding 100”: launch price + free Face Wash mini + free shipping + COD + featured review, 100-unit cap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Proof policy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Only REAL results: 4-week testers, real customer photos (written permission), “results may vary” always on screen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Funnel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Reel → Profile → DM “GLOW” → WhatsApp → COD → D1/7/14/28 sequence → review → referral → repeat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2811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North-star metric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Orders + Repeat rate — NOT followers or likes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03/30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One Hero. A Ladder — Nothing Else for 60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₹599–799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hero price 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1584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1584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₹249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6448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face-wash entry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0248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0248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5112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Vitamin C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1"/>
            <a:ext cx="11201400" cy="2125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Hero  —  </a:t>
            </a:r>
            <a:r>
              <a:rPr sz="1250">
                <a:solidFill>
                  <a:srgbClr val="2A2622"/>
                </a:solidFill>
                <a:latin typeface="Calibri"/>
              </a:rPr>
              <a:t>Vitamin C Serum 10% — strongest visual story (glow), cleanest honest 4–6-week timeline, biggest search demand, right price point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Entry ticket  —  </a:t>
            </a:r>
            <a:r>
              <a:rPr sz="1250">
                <a:solidFill>
                  <a:srgbClr val="2A2622"/>
                </a:solidFill>
                <a:latin typeface="Calibri"/>
              </a:rPr>
              <a:t>Face Wash ₹249 — launches alongside; also the FREE mini inside the launch box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Kit-completer  —  </a:t>
            </a:r>
            <a:r>
              <a:rPr sz="1250">
                <a:solidFill>
                  <a:srgbClr val="2A2622"/>
                </a:solidFill>
                <a:latin typeface="Calibri"/>
              </a:rPr>
              <a:t>Moisturizer — Day 31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Wave 2  —  </a:t>
            </a:r>
            <a:r>
              <a:rPr sz="1250">
                <a:solidFill>
                  <a:srgbClr val="2A2622"/>
                </a:solidFill>
                <a:latin typeface="Calibri"/>
              </a:rPr>
              <a:t>Sunscreen — Day 45–60 (waitlist from Day 18); fastest-growing category (~12.5% CAGR), timed before Gujarat summer + wedding season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Wave 3  —  </a:t>
            </a:r>
            <a:r>
              <a:rPr sz="1250">
                <a:solidFill>
                  <a:srgbClr val="2A2622"/>
                </a:solidFill>
                <a:latin typeface="Calibri"/>
              </a:rPr>
              <a:t>Night Cream — Day 75–90; gifting boxes Oct–Dec (Diwali wave)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The rule  —  </a:t>
            </a:r>
            <a:r>
              <a:rPr sz="1250">
                <a:solidFill>
                  <a:srgbClr val="2A2622"/>
                </a:solidFill>
                <a:latin typeface="Calibri"/>
              </a:rPr>
              <a:t>Every rupee of attention in Month 1 goes to ONE serum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04/30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First 1,000 Customers: One Clear Woman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2125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Who  —  </a:t>
            </a:r>
            <a:r>
              <a:rPr sz="1250">
                <a:solidFill>
                  <a:srgbClr val="2A2622"/>
                </a:solidFill>
                <a:latin typeface="Calibri"/>
              </a:rPr>
              <a:t>Women 20–35 — Ahmedabad first, then Surat · Vadodara · Rajkot; urban/semi-urban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Skin concerns  —  </a:t>
            </a:r>
            <a:r>
              <a:rPr sz="1250">
                <a:solidFill>
                  <a:srgbClr val="2A2622"/>
                </a:solidFill>
                <a:latin typeface="Calibri"/>
              </a:rPr>
              <a:t>Tan-look, dullness, oily/monsoon skin — the 3 problems the content calendar attacks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Money  —  </a:t>
            </a:r>
            <a:r>
              <a:rPr sz="1250">
                <a:solidFill>
                  <a:srgbClr val="2A2622"/>
                </a:solidFill>
                <a:latin typeface="Calibri"/>
              </a:rPr>
              <a:t>Will pay ₹399–799 for honest products — “aam daam + zyada value”, never a discount circus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Where she buys  —  </a:t>
            </a:r>
            <a:r>
              <a:rPr sz="1250">
                <a:solidFill>
                  <a:srgbClr val="2A2622"/>
                </a:solidFill>
                <a:latin typeface="Calibri"/>
              </a:rPr>
              <a:t>Instagram + WhatsApp · COD-first · family-influenced decisions (daughter orders, mother approves)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How we win her  —  </a:t>
            </a:r>
            <a:r>
              <a:rPr sz="1250">
                <a:solidFill>
                  <a:srgbClr val="2A2622"/>
                </a:solidFill>
                <a:latin typeface="Calibri"/>
              </a:rPr>
              <a:t>15-minute human DM reply · batch-card anti-fake proof · honest 4–6-week timeline · reviews featured on page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Not yet  —  </a:t>
            </a:r>
            <a:r>
              <a:rPr sz="1250">
                <a:solidFill>
                  <a:srgbClr val="2A2622"/>
                </a:solidFill>
                <a:latin typeface="Calibri"/>
              </a:rPr>
              <a:t>Men (face wash/sunscreen) = Month 3+ side stream — never the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05/30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Platforms Ranked — Do NOT Manage Them Equally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8336"/>
                <a:gridCol w="1008126"/>
                <a:gridCol w="3360420"/>
                <a:gridCol w="4144518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Instagram (Reels)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Attention engine — all hero content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Where the ICP scrolls; Reel + Profile = top of funnel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WhatsApp Business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THE actual sales engine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CTWA ads · catalog · GLOW DM → COD close · 15-min human reply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Broadcast + retargeting reach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Family influence layer + ad inventory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YouTube (Shorts)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Repurpose only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3 reels/wk re-cut with SEO titles — zero native effort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Pinterest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Excluded for 90 days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Wrong audience for D2C COD skincare right now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06/30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Positioning, Voice &amp; the Proof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24498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Positioning  —  </a:t>
            </a:r>
            <a:r>
              <a:rPr sz="1250">
                <a:solidFill>
                  <a:srgbClr val="2A2622"/>
                </a:solidFill>
                <a:latin typeface="Calibri"/>
              </a:rPr>
              <a:t>“Skincare that understands Indian skin” — totke ki samajh + science ka formula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Tagline  —  </a:t>
            </a:r>
            <a:r>
              <a:rPr sz="1250">
                <a:solidFill>
                  <a:srgbClr val="2A2622"/>
                </a:solidFill>
                <a:latin typeface="Calibri"/>
              </a:rPr>
              <a:t>“Aamee skin, aamno liye” — real skin, for normal people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The honest frame  —  </a:t>
            </a:r>
            <a:r>
              <a:rPr sz="1250">
                <a:solidFill>
                  <a:srgbClr val="2A2622"/>
                </a:solidFill>
                <a:latin typeface="Calibri"/>
              </a:rPr>
              <a:t>“Hum manufacturer nahi hain — we are RANGAT NATURALS, a private-label brand: formula chuna, concentration test ki, 4 hafte 20 aahaiyon par test kiya”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Proof policy  —  </a:t>
            </a:r>
            <a:r>
              <a:rPr sz="1250">
                <a:solidFill>
                  <a:srgbClr val="2A2622"/>
                </a:solidFill>
                <a:latin typeface="Calibri"/>
              </a:rPr>
              <a:t>Only real results — 4-week testers, real photos with written permission, “Results may vary” always on screen; 1 honest negative per 3 positives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Language  —  </a:t>
            </a:r>
            <a:r>
              <a:rPr sz="1250">
                <a:solidFill>
                  <a:srgbClr val="2A2622"/>
                </a:solidFill>
                <a:latin typeface="Calibri"/>
              </a:rPr>
              <a:t>50% Hinglish / 30% Gujarati / 20% English — how Gujarat actually talks on social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Profile = shopfront  —  </a:t>
            </a:r>
            <a:r>
              <a:rPr sz="1250">
                <a:solidFill>
                  <a:srgbClr val="2A2622"/>
                </a:solidFill>
                <a:latin typeface="Calibri"/>
              </a:rPr>
              <a:t>Name field “RANGAT Naturals | Indian Skincare” · RESULTS-first highlights · 3 pins (buy / trust / who) · DM SLA 15 min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CTA signature  —  </a:t>
            </a:r>
            <a:r>
              <a:rPr sz="1250">
                <a:solidFill>
                  <a:srgbClr val="2A2622"/>
                </a:solidFill>
                <a:latin typeface="Calibri"/>
              </a:rPr>
              <a:t>DM “GLOW” — one keyword, one action, on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07/30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7 Content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0560"/>
                <a:gridCol w="2912364"/>
                <a:gridCol w="3808476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Signature format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1 · Problem (Indian skin, Indian problems)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Attention + comment fuel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40°/monsoon problem reel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2 · Education (1 Reel, 1 Fact)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Saves + authority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Myth vs reality · “why 10%”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3 · Product (see it, then buy it)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Desire + clarity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Texture ASMR · box content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4 · Proof (B/A + UGC)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Trust flywheel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Disclosed Day-1 → Day-28 serial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5 · Founder (the founder IS the history)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Fastest trust shortcut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40% of content for 90 days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6 · Brand story / teaser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Narrative + anticipation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“3 mahine sirf ek serum dhoondha”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7 · Relatable / Gujarati (share machine)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Shareability + local identity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Maa skit · “Gujarati ghar” reel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08/30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CONTENT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Cadence + Batch Production (survives busy weeks)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4308"/>
                <a:gridCol w="3808476"/>
                <a:gridCol w="4928616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Reels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5–7 / week (8–10 per shoot)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Hook in 2 sec · one idea per reel · CTA in last 3 sec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Stories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3–5 / day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M / A / E slots — polls + question boxes + DM bait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Carousels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2 / week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6-slide save-bait education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Shoot day (Tue)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4.5 hrs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1 shoot = 6 assets: 8–10 reels + 4 ad cuts + 10–12 story frames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Edit day (Thu)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3 hrs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Cut same/next day — 3-week content buffer always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Team &amp; cost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Founder + 1 editor (₹8–15k/mo) · gear &lt; ₹10k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Master sheet, 6 tabs: ideas / shoots / publish / UGC / ads / KPIs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09/30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CONTENT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Reels That Launch the Brand (verbatim hooks)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8126"/>
                <a:gridCol w="4256532"/>
                <a:gridCol w="593674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D5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Maa vs skincare skit (Relatable)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“Gujarati ghar me pehli baar ‘skincare’ shuru ki? Watch this.”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D14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Price-respect / girl math (Education)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“₹600 = 20 chai, 4 hafte chalta hai — sasta nahi, value hai”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D17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BEFORE/AFTER — live + PINNED (Proof)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“4 hafte. 20 aahaiyan. Same light, same angle.”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D19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Creator collab — both grids (Trust)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Collab post; creator video saved to UGC bank (ad rights signed)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D21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LAUNCH — Founding 100 (Sales)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“100 seats. Free Face Wash mini. Free shipping. COD.”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D22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Objection killer (Trust)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“4 baar delete karke order kiya — yeh kahani hai”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D24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Unboxing (Proof)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Real box: serum + FW mini + usage card + WhatsApp support card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D26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Story testimonial (Sales)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“Naya brand? 4 baar delete karke order kiya — yeh kahani hai.”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10/30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Hook System — 3-Second Rule + Copy-Paste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8305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The rule  —  </a:t>
            </a:r>
            <a:r>
              <a:rPr sz="1250">
                <a:solidFill>
                  <a:srgbClr val="2A2622"/>
                </a:solidFill>
                <a:latin typeface="Calibri"/>
              </a:rPr>
              <a:t>Hook in 2 seconds · one idea per reel · last 3 seconds = CTA (follow / save / DM GLOW)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Library  —  </a:t>
            </a:r>
            <a:r>
              <a:rPr sz="1250">
                <a:solidFill>
                  <a:srgbClr val="2A2622"/>
                </a:solidFill>
                <a:latin typeface="Calibri"/>
              </a:rPr>
              <a:t>60+ hooks by style &amp; segment in the master plan — the 6 that carry the launch: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458212"/>
          <a:ext cx="112014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85148"/>
                <a:gridCol w="201625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“40 degree bahar, 25 degree andar — dono aapki skin par alag se alag karte hain”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“Gujarati ghar me pehli baar ‘skincare’ shuru ki? Watch this.”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Relatable / share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“‘100% herbal’ likha hai toh lagao? Yeh sach jano.”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Myth vs reality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“4 hafte. 20 aahaiyan. Same light, same angle.”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“Naya brand? 4 baar delete karke order kiya — yeh kahani hai.”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Testimonial / ad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“Vitamin C kya karta hai? 60 sec me, bina jargon ke.”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47716"/>
            <a:ext cx="11201400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Format  —  </a:t>
            </a:r>
            <a:r>
              <a:rPr sz="1250">
                <a:solidFill>
                  <a:srgbClr val="2A2622"/>
                </a:solidFill>
                <a:latin typeface="Calibri"/>
              </a:rPr>
              <a:t>3–5 sec + 3 shorts per idea; every launch hook re-tested in ads after D21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11/30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Day 0 → Day 30 — The Exact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6182"/>
                <a:gridCol w="9745218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Milestones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D0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Profile built (bio, name field, 5 highlights, 3 pins) · WhatsApp Business (catalog, quick replies) · 20-tester list · 10-creator shortlist · batch-shoot D1–7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D1–7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50+ warm followers (no buys) · tester photos Day 1 + Day 7 · 30+ “GLOW” DMs by D7 · NO ads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D8–14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20+ comments → “pain point bank” · product in WA catalog · D14: 3-mistakes CTR check (≥1.5%) + girl-math price reel · 300+ GLOW waitlist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D15–20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Optional ₹200/day boost on 1–2 best reels only · D17: B/A live + PINNED + 30-sec ad cut · D19: collab live · D20: waitlist broadcast #1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D21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LAUNCH — Founding 100 + Campaign 1 live at ₹500/day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D25–30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D25: retargeting C3 live · D29: referral program (₹100/₹100) · D30: 8-KPI scoreboard review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12/30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Founding 100 — The Launch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units — hard cap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1584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1584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6448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Face Wash mini in every 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0248" y="1572768"/>
            <a:ext cx="3624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0248" y="1664208"/>
            <a:ext cx="362407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5112" y="2139696"/>
            <a:ext cx="3514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shipping + COD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1"/>
            <a:ext cx="11201400" cy="1633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offer  —  </a:t>
            </a:r>
            <a:r>
              <a:rPr sz="1400">
                <a:solidFill>
                  <a:srgbClr val="2A2622"/>
                </a:solidFill>
                <a:latin typeface="Calibri"/>
              </a:rPr>
              <a:t>Launch price + free Face Wash mini + free shipping + COD + your review featured on the page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Why it works  —  </a:t>
            </a:r>
            <a:r>
              <a:rPr sz="1400">
                <a:solidFill>
                  <a:srgbClr val="2A2622"/>
                </a:solidFill>
                <a:latin typeface="Calibri"/>
              </a:rPr>
              <a:t>Free item (tangible) beats fake “% OFF” · “X/100 seats bachi” = real urgency · featured review = next customer’s proof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Box = 5 touches  —  </a:t>
            </a:r>
            <a:r>
              <a:rPr sz="1400">
                <a:solidFill>
                  <a:srgbClr val="2A2622"/>
                </a:solidFill>
                <a:latin typeface="Calibri"/>
              </a:rPr>
              <a:t>Thank-you card · usage guide · D7 WhatsApp · D14 review ask · D28 result + refill seed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Gate  —  </a:t>
            </a:r>
            <a:r>
              <a:rPr sz="1400">
                <a:solidFill>
                  <a:srgbClr val="2A2622"/>
                </a:solidFill>
                <a:latin typeface="Calibri"/>
              </a:rPr>
              <a:t>Ads start only when offer + proof exist — never sell before believable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13/30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Before/After + UGC — Real Proof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B/A rules  —  </a:t>
            </a:r>
            <a:r>
              <a:rPr sz="1400">
                <a:solidFill>
                  <a:srgbClr val="2A2622"/>
                </a:solidFill>
                <a:latin typeface="Calibri"/>
              </a:rPr>
              <a:t>Real 4-week testers only · disclosed in-frame: “Day 1 → Day 28 · 4 hafte · Results may vary” · show Day-7 “kuch nahi aaya” honestly · 1 honest negative per 3 positives · same light/angle, logged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Tester program  —  </a:t>
            </a:r>
            <a:r>
              <a:rPr sz="1400">
                <a:solidFill>
                  <a:srgbClr val="2A2622"/>
                </a:solidFill>
                <a:latin typeface="Calibri"/>
              </a:rPr>
              <a:t>20 testers (friends/college, Ahmedabad, women 20–40, mixed skin types) — starts Day 1 with the actual product batch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UGC machine  —  </a:t>
            </a:r>
            <a:r>
              <a:rPr sz="1400">
                <a:solidFill>
                  <a:srgbClr val="2A2622"/>
                </a:solidFill>
                <a:latin typeface="Calibri"/>
              </a:rPr>
              <a:t>20 ready scripts · comp = free product + ₹500–2,000 + 20% affiliate (first 20 sales) + ₹100 per ad use · 1 shoot = 6 assets · 40–60 assets in bank by D90 · UGC #20 = 30-day serial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Creators  —  </a:t>
            </a:r>
            <a:r>
              <a:rPr sz="1400">
                <a:solidFill>
                  <a:srgbClr val="2A2622"/>
                </a:solidFill>
                <a:latin typeface="Calibri"/>
              </a:rPr>
              <a:t>10 shortlisted (5k–50k, Gujarat) · 3 live by D19 · consent + ad-use rights signed in writing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AI UGC  —  </a:t>
            </a:r>
            <a:r>
              <a:rPr sz="1400">
                <a:solidFill>
                  <a:srgbClr val="2A2622"/>
                </a:solidFill>
                <a:latin typeface="Calibri"/>
              </a:rPr>
              <a:t>Concept/teaser frames only — clearly labeled, never passed off as a customer, real voice-over, locked character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14/30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SALES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9-Stage Sales Machine (1 DM → 1 COD)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chain  —  </a:t>
            </a:r>
            <a:r>
              <a:rPr sz="1400">
                <a:solidFill>
                  <a:srgbClr val="2A2622"/>
                </a:solidFill>
                <a:latin typeface="Calibri"/>
              </a:rPr>
              <a:t>Reel → Profile (3-sec test) → Trust (proof) → Product clarity → DM “GLOW” → WhatsApp close (15-min human reply) → COD → Review → Repeat → Referral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GLOW = a machine  —  </a:t>
            </a:r>
            <a:r>
              <a:rPr sz="1400">
                <a:solidFill>
                  <a:srgbClr val="2A2622"/>
                </a:solidFill>
                <a:latin typeface="Calibri"/>
              </a:rPr>
              <a:t>5-step DM script · auto-reply outside 7 AM–11 PM · labels (NEW / ORDER / D7 / D14 / BUYER) · broadcast lists · status = your Stories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close  —  </a:t>
            </a:r>
            <a:r>
              <a:rPr sz="1400">
                <a:solidFill>
                  <a:srgbClr val="2A2622"/>
                </a:solidFill>
                <a:latin typeface="Calibri"/>
              </a:rPr>
              <a:t>Human, fast, COD — “the Indian first order is a phone conversation, not a checkout flow”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After the sale  —  </a:t>
            </a:r>
            <a:r>
              <a:rPr sz="1400">
                <a:solidFill>
                  <a:srgbClr val="2A2622"/>
                </a:solidFill>
                <a:latin typeface="Calibri"/>
              </a:rPr>
              <a:t>WhatsApp D1 usage guide → D7 “kya badla?” → D14 review ask → D28 result + refill → D45/60 cross-sell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Fulfillment = marketing  —  </a:t>
            </a:r>
            <a:r>
              <a:rPr sz="1400">
                <a:solidFill>
                  <a:srgbClr val="2A2622"/>
                </a:solidFill>
                <a:latin typeface="Calibri"/>
              </a:rPr>
              <a:t>5 box touches + “photo of your box” + tracking updates — every order feeds the next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15/30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SALES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Funnel KPI Targets (managed daily)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2364"/>
                <a:gridCol w="4480560"/>
                <a:gridCol w="3808476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Profile → DM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GLOW DMs collected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600–1,000 by Day 30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DM → order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Conversion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35–45% (warm 40%+)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COD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Failure rate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&lt; 15%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Reply speed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DM / WhatsApp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&lt; 15 min (7 AM–11 PM)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Rate of buyers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25–35%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Rate by Day 60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10–15%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Rate (from D29)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10–20% — ₹100 give / ₹100 get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16/30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META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4 Campaigns — Each with a Job, a Day, a Kill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896112"/>
                <a:gridCol w="3808476"/>
                <a:gridCol w="1568196"/>
                <a:gridCol w="2688336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Audience &amp; structure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Kill / scale rule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C1 · GLOW PROSPECT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D21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Broad Ahmedabad + interest Gujarat · 4 creatives · Click-to-WhatsApp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Rank by ATC cost; scale winners +30%/48h while CPA ≤ 1.2×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C3 · RECOVER (retarget)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D25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R1–R7: viewers · engagers · ATC · checkout (purchasers excluded)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₹200–300/day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CPA ≤ ₹150 — else cut frequency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C2 · PROOF &amp; LAL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D35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1% purchasers lookalike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Kill at CPA &gt; 1.3×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C4 · SCALE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D60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Advantage+ + 6 India cities (national test)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₹1,000 → 2,500/day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Kill cities &gt; 1.3× CPA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17/30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META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Budget Path + Creative Testing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2125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Budget path  —  </a:t>
            </a:r>
            <a:r>
              <a:rPr sz="1250">
                <a:solidFill>
                  <a:srgbClr val="2A2622"/>
                </a:solidFill>
                <a:latin typeface="Calibri"/>
              </a:rPr>
              <a:t>₹500 → ₹1,000 → ₹2,000 → ₹3,000/day by D90 — every step CPA-gated, never date-based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Targets  —  </a:t>
            </a:r>
            <a:r>
              <a:rPr sz="1250">
                <a:solidFill>
                  <a:srgbClr val="2A2622"/>
                </a:solidFill>
                <a:latin typeface="Calibri"/>
              </a:rPr>
              <a:t>CPA ≤ ₹300 Month 2 · ≤ ₹250 by D90 · ROAS ≥ 3× by D90 · LTV math makes CAC ₹300 viable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Retargeting  —  </a:t>
            </a:r>
            <a:r>
              <a:rPr sz="1250">
                <a:solidFill>
                  <a:srgbClr val="2A2622"/>
                </a:solidFill>
                <a:latin typeface="Calibri"/>
              </a:rPr>
              <a:t>15–25% of total spend · frequency ≤ 3–4/week · retargeting ROAS 2.8–4.5×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Testing system  —  </a:t>
            </a:r>
            <a:r>
              <a:rPr sz="1250">
                <a:solidFill>
                  <a:srgbClr val="2A2622"/>
                </a:solidFill>
                <a:latin typeface="Calibri"/>
              </a:rPr>
              <a:t>4–8 creatives · 7-day window · rank by ATC cost (priority: ATC &gt; CPA &gt; CTR &gt; ROAS) · scale +30%/48h while CPA ≤ 1.2×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Fatigue triggers  —  </a:t>
            </a:r>
            <a:r>
              <a:rPr sz="1250">
                <a:solidFill>
                  <a:srgbClr val="2A2622"/>
                </a:solidFill>
                <a:latin typeface="Calibri"/>
              </a:rPr>
              <a:t>CPM +30% · CTR −25% · CPA +50% → swap the creative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Guardrail  —  </a:t>
            </a:r>
            <a:r>
              <a:rPr sz="1250">
                <a:solidFill>
                  <a:srgbClr val="2A2622"/>
                </a:solidFill>
                <a:latin typeface="Calibri"/>
              </a:rPr>
              <a:t>Lawyer review of ad copy BEFORE ₹2k+/day and before Diwali — ₹5–15k, the cheapest insurance in this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18/30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META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Ad Creative — 10/10/10/10 Library + UGC ≈ 2×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Library  —  </a:t>
            </a:r>
            <a:r>
              <a:rPr sz="1400">
                <a:solidFill>
                  <a:srgbClr val="2A2622"/>
                </a:solidFill>
                <a:latin typeface="Calibri"/>
              </a:rPr>
              <a:t>10 hooks + 10 primary texts + 10 headlines + 10 CTAs — ready to paste · 3 fully assembled ads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First ad  —  </a:t>
            </a:r>
            <a:r>
              <a:rPr sz="1400">
                <a:solidFill>
                  <a:srgbClr val="2A2622"/>
                </a:solidFill>
                <a:latin typeface="Calibri"/>
              </a:rPr>
              <a:t>“The Story Testimonial” — “Naya brand? 4 baar delete karke order kiya — yeh kahani hai.” (D26 UGC cut)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Why UGC wins  —  </a:t>
            </a:r>
            <a:r>
              <a:rPr sz="1400">
                <a:solidFill>
                  <a:srgbClr val="2A2622"/>
                </a:solidFill>
                <a:latin typeface="Calibri"/>
              </a:rPr>
              <a:t>Indian D2C data: UGC video ≈ 2× brand creative on ROAS — authenticity beats polish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Formats  —  </a:t>
            </a:r>
            <a:r>
              <a:rPr sz="1400">
                <a:solidFill>
                  <a:srgbClr val="2A2622"/>
                </a:solidFill>
                <a:latin typeface="Calibri"/>
              </a:rPr>
              <a:t>30-sec B/A cut · story-testimonial · unboxing · texture + offer-card statics · box-content carousel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Creative bank by D20  —  </a:t>
            </a:r>
            <a:r>
              <a:rPr sz="1400">
                <a:solidFill>
                  <a:srgbClr val="2A2622"/>
                </a:solidFill>
                <a:latin typeface="Calibri"/>
              </a:rPr>
              <a:t>6 videos (D17 B/A · D19 creator · D21 launch · D22 objection · D24 unboxing · D26 testimonial) + 3 statics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19/30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Gujarat First → India Next (a wave plan, not a limit)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2224"/>
                <a:gridCol w="4256532"/>
                <a:gridCol w="5152644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Week 1–3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Ahmedabad (founder’s city)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Launch — all content + ads land here first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Week 4–6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+ Surat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Ahmedabad CPA at target + content buffer ≥ 3 weeks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Week 6–8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+ Vadodara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Same gate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Week 8+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+ Rajkot → C4: +6 national cities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Advantage+ test; kill anything &gt; 1.3× CPA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57600"/>
            <a:ext cx="11201400" cy="11544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Brand framing  —  </a:t>
            </a:r>
            <a:r>
              <a:rPr sz="1250">
                <a:solidFill>
                  <a:srgbClr val="2A2622"/>
                </a:solidFill>
                <a:latin typeface="Calibri"/>
              </a:rPr>
              <a:t>Language stays 50/30/20 · local culture used naturally — the brand is Indian, not “a Gujarat brand”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Creators  —  </a:t>
            </a:r>
            <a:r>
              <a:rPr sz="1250">
                <a:solidFill>
                  <a:srgbClr val="2A2622"/>
                </a:solidFill>
                <a:latin typeface="Calibri"/>
              </a:rPr>
              <a:t>5k–50k Gujarat micro-creators first · 1 established national collab by D90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Season  —  </a:t>
            </a:r>
            <a:r>
              <a:rPr sz="1250">
                <a:solidFill>
                  <a:srgbClr val="2A2622"/>
                </a:solidFill>
                <a:latin typeface="Calibri"/>
              </a:rPr>
              <a:t>Diwali = gifting wave Oct–Dec (100+ boxes in The Machine)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20/30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Day-30 Scoreboard — Pass or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80–100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3668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3668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600–1,000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8532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GLOW DMs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4418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4418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25–40%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282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DM →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5167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5167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1–2k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0030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followers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≥ 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79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COD 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6665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6665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≤ ₹400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1529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CPA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7414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7414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2278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UGC assets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8163" y="1572768"/>
            <a:ext cx="125615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8163" y="1664208"/>
            <a:ext cx="1256157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3027" y="2139696"/>
            <a:ext cx="114642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reels &gt; 10k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770632"/>
            <a:ext cx="11201400" cy="545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If a KPI fails  —  </a:t>
            </a:r>
            <a:r>
              <a:rPr sz="1400">
                <a:solidFill>
                  <a:srgbClr val="2A2622"/>
                </a:solidFill>
                <a:latin typeface="Calibri"/>
              </a:rPr>
              <a:t>find the broken funnel stage — the next 30 days of content goes there (not more of everything)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21/30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Days 1–30: THE 100 — Believable Brand, 100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633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Objective  —  </a:t>
            </a:r>
            <a:r>
              <a:rPr sz="1400">
                <a:solidFill>
                  <a:srgbClr val="2A2622"/>
                </a:solidFill>
                <a:latin typeface="Calibri"/>
              </a:rPr>
              <a:t>Believable brand · 100 customers · proof bank — “trust before scale”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Content  —  </a:t>
            </a:r>
            <a:r>
              <a:rPr sz="1400">
                <a:solidFill>
                  <a:srgbClr val="2A2622"/>
                </a:solidFill>
                <a:latin typeface="Calibri"/>
              </a:rPr>
              <a:t>30-day calendar · founder 40% · 1 creator · tester program D1 → D28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Ads  —  </a:t>
            </a:r>
            <a:r>
              <a:rPr sz="1400">
                <a:solidFill>
                  <a:srgbClr val="2A2622"/>
                </a:solidFill>
                <a:latin typeface="Calibri"/>
              </a:rPr>
              <a:t>D15–20: optional ₹200 boost → D21: C1 ₹500 → D25: C3 ₹200 → D35: C2 ₹500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Gates to Phase 2  —  </a:t>
            </a:r>
            <a:r>
              <a:rPr sz="1400">
                <a:solidFill>
                  <a:srgbClr val="2A2622"/>
                </a:solidFill>
                <a:latin typeface="Calibri"/>
              </a:rPr>
              <a:t>100 orders · CPA ≤ ₹400 · 15 UGC assets · 1–1.5k followers · 3 reels &gt; 10k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22/30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Days 31–60: THE 500 — Convert Trust Into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Objective  —  </a:t>
            </a:r>
            <a:r>
              <a:rPr sz="1400">
                <a:solidFill>
                  <a:srgbClr val="2A2622"/>
                </a:solidFill>
                <a:latin typeface="Calibri"/>
              </a:rPr>
              <a:t>400–500 cumulative orders · kit 35% (AOV ₹800+) · sunscreen 80–120 units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Product wave  —  </a:t>
            </a:r>
            <a:r>
              <a:rPr sz="1400">
                <a:solidFill>
                  <a:srgbClr val="2A2622"/>
                </a:solidFill>
                <a:latin typeface="Calibri"/>
              </a:rPr>
              <a:t>Sunscreen launch (waitlist from D18) · “Wedding Glow 6-Hafte” campaign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Ads  —  </a:t>
            </a:r>
            <a:r>
              <a:rPr sz="1400">
                <a:solidFill>
                  <a:srgbClr val="2A2622"/>
                </a:solidFill>
                <a:latin typeface="Calibri"/>
              </a:rPr>
              <a:t>C4 prep · scale winners + Surat/Vadodara · sunscreen takes 40% of creative from D50 · Diwali creative test D55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Creators  —  </a:t>
            </a:r>
            <a:r>
              <a:rPr sz="1400">
                <a:solidFill>
                  <a:srgbClr val="2A2622"/>
                </a:solidFill>
                <a:latin typeface="Calibri"/>
              </a:rPr>
              <a:t>5 new (3 Gujarat / 2 national) + 1 beauty-page collab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Gates  —  </a:t>
            </a:r>
            <a:r>
              <a:rPr sz="1400">
                <a:solidFill>
                  <a:srgbClr val="2A2622"/>
                </a:solidFill>
                <a:latin typeface="Calibri"/>
              </a:rPr>
              <a:t>CPA ≤ ₹300 · ROAS ≥ 2.5× · 40 photo reviews · repeat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23/30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Days 61–90: THE MACHINE — System, Scale, Diwali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Objective  —  </a:t>
            </a:r>
            <a:r>
              <a:rPr sz="1400">
                <a:solidFill>
                  <a:srgbClr val="2A2622"/>
                </a:solidFill>
                <a:latin typeface="Calibri"/>
              </a:rPr>
              <a:t>900–1,200 cumulative orders · AOV ₹850–950 · repeat 12–15% · Diwali boxes 100+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Product wave  —  </a:t>
            </a:r>
            <a:r>
              <a:rPr sz="1400">
                <a:solidFill>
                  <a:srgbClr val="2A2622"/>
                </a:solidFill>
                <a:latin typeface="Calibri"/>
              </a:rPr>
              <a:t>Night Cream D75–90 · Diwali gifting wave (Oct–Dec)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Ads  —  </a:t>
            </a:r>
            <a:r>
              <a:rPr sz="1400">
                <a:solidFill>
                  <a:srgbClr val="2A2622"/>
                </a:solidFill>
                <a:latin typeface="Calibri"/>
              </a:rPr>
              <a:t>C4 live D60 (Advantage+ + 6 national cities) · total ₹2,000–3,000/day · kill &gt; 1.3× CPA · retargeting +50% Diwali week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Creators  —  </a:t>
            </a:r>
            <a:r>
              <a:rPr sz="1400">
                <a:solidFill>
                  <a:srgbClr val="2A2622"/>
                </a:solidFill>
                <a:latin typeface="Calibri"/>
              </a:rPr>
              <a:t>10–15 total · affiliate formalized · 1 established-account collab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Gates  —  </a:t>
            </a:r>
            <a:r>
              <a:rPr sz="1400">
                <a:solidFill>
                  <a:srgbClr val="2A2622"/>
                </a:solidFill>
                <a:latin typeface="Calibri"/>
              </a:rPr>
              <a:t>ROAS ≥ 3× · CPA ≤ ₹250 · LTV:CAC ≥ 2.5 · 5k–8k followers · contribution margin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24/30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Follower Curve + Where the First 100 Come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10860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210860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39696"/>
            <a:ext cx="199887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Day 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6118" y="1572768"/>
            <a:ext cx="210860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6118" y="1664208"/>
            <a:ext cx="210860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0982" y="2139696"/>
            <a:ext cx="199887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Day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9316" y="1572768"/>
            <a:ext cx="210860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9316" y="1664208"/>
            <a:ext cx="210860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4180" y="2139696"/>
            <a:ext cx="199887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Day 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2515" y="1572768"/>
            <a:ext cx="210860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2515" y="1664208"/>
            <a:ext cx="210860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7379" y="2139696"/>
            <a:ext cx="199887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Day 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95713" y="1572768"/>
            <a:ext cx="210860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95713" y="1664208"/>
            <a:ext cx="210860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F3A22"/>
                </a:solidFill>
                <a:latin typeface="Georgia"/>
              </a:rPr>
              <a:t>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0577" y="2139696"/>
            <a:ext cx="199887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57504A"/>
                </a:solidFill>
                <a:latin typeface="Calibri"/>
              </a:rPr>
              <a:t>Day 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9191"/>
            <a:ext cx="11201400" cy="1271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First 100 customers (by D30–45)  —  </a:t>
            </a:r>
            <a:r>
              <a:rPr sz="1400">
                <a:solidFill>
                  <a:srgbClr val="2A2622"/>
                </a:solidFill>
                <a:latin typeface="Calibri"/>
              </a:rPr>
              <a:t>60–70% warm DMs (network + waitlist) · 15–25% creators · 30–50% ads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Follower math  —  </a:t>
            </a:r>
            <a:r>
              <a:rPr sz="1400">
                <a:solidFill>
                  <a:srgbClr val="2A2622"/>
                </a:solidFill>
                <a:latin typeface="Calibri"/>
              </a:rPr>
              <a:t>Followers only matter as DM-senders — the KPI is GLOW DMs, not follower count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Community  —  </a:t>
            </a:r>
            <a:r>
              <a:rPr sz="1400">
                <a:solidFill>
                  <a:srgbClr val="2A2622"/>
                </a:solidFill>
                <a:latin typeface="Calibri"/>
              </a:rPr>
              <a:t>Daily Stories · 15-min DM SLA · referral from D29 (₹100/₹100) · “girl math” + girl-talk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25/30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STRATEGY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Content→Sales Balance + The Buyer Forces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8476"/>
                <a:gridCol w="1120140"/>
                <a:gridCol w="1120140"/>
                <a:gridCol w="5152644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counts in it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Awareness (stranger-stoppers)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Mistake reels · maa skit · “girl math”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Education (saves, authority)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Myth vs reality · ingredient science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Trust (proof, people)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Disclosed B/A · testers · collabs · founder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Sales (direct)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Offer · X-seats-left · referral · launch/close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200400"/>
            <a:ext cx="11201400" cy="8305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Explicit sell  —  </a:t>
            </a:r>
            <a:r>
              <a:rPr sz="1250">
                <a:solidFill>
                  <a:srgbClr val="2A2622"/>
                </a:solidFill>
                <a:latin typeface="Calibri"/>
              </a:rPr>
              <a:t>1 in 5 posts — and only after Day 15 (when proof exists); seasonal max 3-in-9, never above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Top buyer forces  —  </a:t>
            </a:r>
            <a:r>
              <a:rPr sz="1250">
                <a:solidFill>
                  <a:srgbClr val="2A2622"/>
                </a:solidFill>
                <a:latin typeface="Calibri"/>
              </a:rPr>
              <a:t>Fakery fear = #1 silent blocker (batch card + “verify on website” + COD) · COD+WhatsApp convenience · family purchase (daughter orders, mother approves) · “aam daam” value math (₹600 = 20 chai, 4 hafte chalta hai)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26/30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Non-Negotiables — 8 Lines We Never Cross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6672"/>
                <a:gridCol w="5824728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Instead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Medical / cure claims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“Tan-look ko fresh dikhane me help karta hai” — help-look language only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100% / permanent / instant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Honest 4–6-week timeline, always on screen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Fake before/after or filtered “results”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Real + disclosed + “Results may vary”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Fake reviews / testimonials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Every review = real buyer, permission in writing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Fake urgency / scarcity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“X/100 seats bachi” must be TRUE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Fake discounting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Free items — never “90% OFF” off a never-sold MRP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Unsupported ingredient claims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Label says everything — “label padho saath me”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8F3A22"/>
                          </a:solidFill>
                          <a:latin typeface="Calibri"/>
                        </a:rPr>
                        <a:t>Dermatologist / doctor claims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A2622"/>
                          </a:solidFill>
                          <a:latin typeface="Calibri"/>
                        </a:rPr>
                        <a:t>Only if true + documented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66944"/>
            <a:ext cx="11201400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250" b="1">
                <a:solidFill>
                  <a:srgbClr val="8F3A22"/>
                </a:solidFill>
                <a:latin typeface="Calibri"/>
              </a:rPr>
              <a:t>Lawyer  —  </a:t>
            </a:r>
            <a:r>
              <a:rPr sz="1250">
                <a:solidFill>
                  <a:srgbClr val="2A2622"/>
                </a:solidFill>
                <a:latin typeface="Calibri"/>
              </a:rPr>
              <a:t>Review final ad copy + website claims before ₹2k+/day and before Diwali — ₹5–15k, against Drugs &amp; Cosmetics Rules + ASCI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27/30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CEO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The Final Verdict — If I Owned RANGAT NATURALS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201400" cy="199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Mistake #1 that kills brands  —  </a:t>
            </a:r>
            <a:r>
              <a:rPr sz="1400">
                <a:solidFill>
                  <a:srgbClr val="2A2622"/>
                </a:solidFill>
                <a:latin typeface="Calibri"/>
              </a:rPr>
              <a:t>Selling before you are believable — no ads, no hard sell before D21; build the proof first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Mistake #2 that kills them slowly  —  </a:t>
            </a:r>
            <a:r>
              <a:rPr sz="1400">
                <a:solidFill>
                  <a:srgbClr val="2A2622"/>
                </a:solidFill>
                <a:latin typeface="Calibri"/>
              </a:rPr>
              <a:t>Chasing likes instead of DMs — a reel with 1M views and 0 GLOW DMs is a failure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focus rule  —  </a:t>
            </a:r>
            <a:r>
              <a:rPr sz="1400">
                <a:solidFill>
                  <a:srgbClr val="2A2622"/>
                </a:solidFill>
                <a:latin typeface="Calibri"/>
              </a:rPr>
              <a:t>1 hero serum · 1 ICP (women 20–35, Ahmedabad) · 1 funnel (DM GLOW → COD) · 1 metric (orders + repeat)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CEO’s week  —  </a:t>
            </a:r>
            <a:r>
              <a:rPr sz="1400">
                <a:solidFill>
                  <a:srgbClr val="2A2622"/>
                </a:solidFill>
                <a:latin typeface="Calibri"/>
              </a:rPr>
              <a:t>the 5-hour-week cadence (Mon plan · Tue shoot · Wed ads · Thu shoot · Fri repurpose · Sat DM audit · Sun formal KPI + budget) — ~12–15 hrs/week content ops total with 1 part-time helper</a:t>
            </a:r>
          </a:p>
          <a:p>
            <a:pPr marL="228600" indent="-228600">
              <a:lnSpc>
                <a:spcPct val="114000"/>
              </a:lnSpc>
              <a:spcAft>
                <a:spcPts val="700"/>
              </a:spcAft>
              <a:buClr>
                <a:srgbClr val="B44A2E"/>
              </a:buClr>
              <a:buSzPct val="75000"/>
              <a:buChar char="▪"/>
            </a:pPr>
            <a:r>
              <a:rPr sz="1400" b="1">
                <a:solidFill>
                  <a:srgbClr val="8F3A22"/>
                </a:solidFill>
                <a:latin typeface="Calibri"/>
              </a:rPr>
              <a:t>The daily prayer  —  </a:t>
            </a:r>
            <a:r>
              <a:rPr sz="1400">
                <a:solidFill>
                  <a:srgbClr val="2A2622"/>
                </a:solidFill>
                <a:latin typeface="Calibri"/>
              </a:rPr>
              <a:t>“Hum likes ke liye nahi, orders ke liye post karte hain. Har DM = 15 minute me jawaab, insaan wala.”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28/30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4A2E"/>
                </a:solidFill>
                <a:latin typeface="Calibri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603504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A2622"/>
                </a:solidFill>
                <a:latin typeface="Georgia"/>
              </a:rPr>
              <a:t>Start Today — 5 Actions (Day 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234440" cy="25603"/>
          </a:xfrm>
          <a:prstGeom prst="rect">
            <a:avLst/>
          </a:prstGeom>
          <a:solidFill>
            <a:srgbClr val="B4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84"/>
                <a:gridCol w="3360420"/>
                <a:gridCol w="7168896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41148" marB="41148" anchor="t">
                    <a:solidFill>
                      <a:srgbClr val="B44A2E"/>
                    </a:solidFill>
                    <a:lnB w="19050" cap="flat">
                      <a:solidFill>
                        <a:srgbClr val="8F3A2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Build the profile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Bio (4 lines) · name field “RANGAT Naturals | Indian Skincare” · 5 highlights · 3 pins (buy / trust / who)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Set up WhatsApp Business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Catalog (3 products) · quick replies · labels · greeting message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Assemble the 20-tester list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Friends/family/college · Ahmedabad · women 20–40 · mixed skin types — program starts Day 1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Shortlist 10 micro-creators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5k–50k, Gujarat · email/DM template ready</a:t>
                      </a:r>
                    </a:p>
                  </a:txBody>
                  <a:tcPr marL="73152" marR="73152" marT="41148" marB="41148" anchor="t">
                    <a:solidFill>
                      <a:srgbClr val="F6F1E7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8F3A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Batch-shoot Day 1–7 content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A2622"/>
                          </a:solidFill>
                          <a:latin typeface="Calibri"/>
                        </a:rPr>
                        <a:t>One 4-hour session — the production system runs from here</a:t>
                      </a:r>
                    </a:p>
                  </a:txBody>
                  <a:tcPr marL="73152" marR="73152" marT="41148" marB="41148" anchor="t">
                    <a:solidFill>
                      <a:srgbClr val="FFFFFF"/>
                    </a:solidFill>
                    <a:lnB w="6350" cap="flat">
                      <a:solidFill>
                        <a:srgbClr val="D8CF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98848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1">
                <a:solidFill>
                  <a:srgbClr val="B44A2E"/>
                </a:solidFill>
                <a:latin typeface="Georgia"/>
              </a:rPr>
              <a:t>Asli skin. Asli result.  —  From zero. Gujarat first. India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RANGAT NATURALS  ·  SOCIAL MEDIA + META ADS + SALES GROWTH MASTER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7504A"/>
                </a:solidFill>
                <a:latin typeface="Calibri"/>
              </a:rPr>
              <a:t>Asli skin. Asli result.  ·  29/30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RANGAT NATURALS — Master Growth Plan (30-Slide Executive Deck)</dc:title>
  <dc:subject>Complete social media, content, Meta Ads and sales strategy — executive edition</dc:subject>
  <dc:creator>RANGAT NATURALS Strategy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