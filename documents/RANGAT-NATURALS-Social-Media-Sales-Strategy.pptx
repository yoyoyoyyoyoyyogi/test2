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 id="637" r:id="rId388"/>
    <p:sldId id="638" r:id="rId389"/>
    <p:sldId id="639" r:id="rId390"/>
    <p:sldId id="640" r:id="rId391"/>
    <p:sldId id="641" r:id="rId39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 Id="rId388" Type="http://schemas.openxmlformats.org/officeDocument/2006/relationships/slide" Target="slides/slide382.xml"/><Relationship Id="rId389" Type="http://schemas.openxmlformats.org/officeDocument/2006/relationships/slide" Target="slides/slide383.xml"/><Relationship Id="rId390" Type="http://schemas.openxmlformats.org/officeDocument/2006/relationships/slide" Target="slides/slide384.xml"/><Relationship Id="rId391" Type="http://schemas.openxmlformats.org/officeDocument/2006/relationships/slide" Target="slides/slide385.xml"/><Relationship Id="rId392" Type="http://schemas.openxmlformats.org/officeDocument/2006/relationships/slide" Target="slides/slide38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224528"/>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97135" cy="1280160"/>
          </a:xfrm>
          <a:prstGeom prst="rect">
            <a:avLst/>
          </a:prstGeom>
          <a:noFill/>
        </p:spPr>
        <p:txBody>
          <a:bodyPr wrap="square">
            <a:spAutoFit/>
          </a:bodyPr>
          <a:lstStyle/>
          <a:p>
            <a:pPr algn="ctr"/>
            <a:r>
              <a:rPr sz="5400" b="1">
                <a:solidFill>
                  <a:srgbClr val="8F3A22"/>
                </a:solidFill>
                <a:latin typeface="Calibri"/>
              </a:rPr>
              <a:t>RANGAT NATURALS</a:t>
            </a:r>
          </a:p>
        </p:txBody>
      </p:sp>
      <p:sp>
        <p:nvSpPr>
          <p:cNvPr id="4" name="TextBox 3"/>
          <p:cNvSpPr txBox="1"/>
          <p:nvPr/>
        </p:nvSpPr>
        <p:spPr>
          <a:xfrm>
            <a:off x="1097280" y="3200400"/>
            <a:ext cx="9997135" cy="914400"/>
          </a:xfrm>
          <a:prstGeom prst="rect">
            <a:avLst/>
          </a:prstGeom>
          <a:noFill/>
        </p:spPr>
        <p:txBody>
          <a:bodyPr wrap="square">
            <a:spAutoFit/>
          </a:bodyPr>
          <a:lstStyle/>
          <a:p>
            <a:pPr algn="ctr"/>
            <a:r>
              <a:rPr sz="2000" b="1">
                <a:solidFill>
                  <a:srgbClr val="2A2622"/>
                </a:solidFill>
                <a:latin typeface="Calibri"/>
              </a:rPr>
              <a:t>SOCIAL MEDIA + CONTENT + META ADS + SALES GROWTH MASTER PLAN</a:t>
            </a:r>
          </a:p>
        </p:txBody>
      </p:sp>
      <p:sp>
        <p:nvSpPr>
          <p:cNvPr id="5" name="TextBox 4"/>
          <p:cNvSpPr txBox="1"/>
          <p:nvPr/>
        </p:nvSpPr>
        <p:spPr>
          <a:xfrm>
            <a:off x="1097280" y="4526280"/>
            <a:ext cx="9997135" cy="1463040"/>
          </a:xfrm>
          <a:prstGeom prst="rect">
            <a:avLst/>
          </a:prstGeom>
          <a:noFill/>
        </p:spPr>
        <p:txBody>
          <a:bodyPr wrap="square">
            <a:spAutoFit/>
          </a:bodyPr>
          <a:lstStyle/>
          <a:p>
            <a:pPr algn="ctr"/>
            <a:r>
              <a:rPr sz="1500" i="1">
                <a:solidFill>
                  <a:srgbClr val="B44A2E"/>
                </a:solidFill>
                <a:latin typeface="Calibri"/>
              </a:rPr>
              <a:t>Asli skin. Asli result. — From zero. Gujarat first. India next.</a:t>
            </a:r>
          </a:p>
          <a:p>
            <a:pPr algn="ctr"/>
            <a:r>
              <a:rPr sz="1100">
                <a:solidFill>
                  <a:srgbClr val="57504A"/>
                </a:solidFill>
                <a:latin typeface="Calibri"/>
              </a:rPr>
              <a:t>Prepared September 2026  ·  Complete strategy document  ·  All 30 strategy sections preserved in full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TABLE OF CONTENTS</a:t>
            </a:r>
          </a:p>
          <a:p>
            <a:r>
              <a:rPr sz="1200" i="1">
                <a:solidFill>
                  <a:srgbClr val="57504A"/>
                </a:solidFill>
                <a:latin typeface="Calibri"/>
              </a:rPr>
              <a:t>24 parts — complete strategy, nothing omitted</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5455767" cy="5120640"/>
          </a:xfrm>
          <a:prstGeom prst="rect">
            <a:avLst/>
          </a:prstGeom>
          <a:noFill/>
        </p:spPr>
        <p:txBody>
          <a:bodyPr wrap="square">
            <a:spAutoFit/>
          </a:bodyPr>
          <a:lstStyle/>
          <a:p>
            <a:pPr>
              <a:spcAft>
                <a:spcPts val="500"/>
              </a:spcAft>
            </a:pPr>
            <a:r>
              <a:rPr sz="1300" b="1">
                <a:solidFill>
                  <a:srgbClr val="8F3A22"/>
                </a:solidFill>
                <a:latin typeface="Calibri"/>
              </a:rPr>
              <a:t>PART 1 — </a:t>
            </a:r>
            <a:r>
              <a:rPr sz="1300">
                <a:solidFill>
                  <a:srgbClr val="2A2622"/>
                </a:solidFill>
                <a:latin typeface="Calibri"/>
              </a:rPr>
              <a:t>Executive Summary &amp; The 10 Key Decisions</a:t>
            </a:r>
          </a:p>
          <a:p>
            <a:pPr>
              <a:spcAft>
                <a:spcPts val="500"/>
              </a:spcAft>
            </a:pPr>
            <a:r>
              <a:rPr sz="1300" b="1">
                <a:solidFill>
                  <a:srgbClr val="8F3A22"/>
                </a:solidFill>
                <a:latin typeface="Calibri"/>
              </a:rPr>
              <a:t>PART 2 — </a:t>
            </a:r>
            <a:r>
              <a:rPr sz="1300">
                <a:solidFill>
                  <a:srgbClr val="2A2622"/>
                </a:solidFill>
                <a:latin typeface="Calibri"/>
              </a:rPr>
              <a:t>Platform Strategy + Brand Positioning</a:t>
            </a:r>
          </a:p>
          <a:p>
            <a:pPr>
              <a:spcAft>
                <a:spcPts val="500"/>
              </a:spcAft>
            </a:pPr>
            <a:r>
              <a:rPr sz="1300" b="1">
                <a:solidFill>
                  <a:srgbClr val="8F3A22"/>
                </a:solidFill>
                <a:latin typeface="Calibri"/>
              </a:rPr>
              <a:t>PART 3 — </a:t>
            </a:r>
            <a:r>
              <a:rPr sz="1300">
                <a:solidFill>
                  <a:srgbClr val="2A2622"/>
                </a:solidFill>
                <a:latin typeface="Calibri"/>
              </a:rPr>
              <a:t>Content Pillars</a:t>
            </a:r>
          </a:p>
          <a:p>
            <a:pPr>
              <a:spcAft>
                <a:spcPts val="500"/>
              </a:spcAft>
            </a:pPr>
            <a:r>
              <a:rPr sz="1300" b="1">
                <a:solidFill>
                  <a:srgbClr val="8F3A22"/>
                </a:solidFill>
                <a:latin typeface="Calibri"/>
              </a:rPr>
              <a:t>PART 4 — </a:t>
            </a:r>
            <a:r>
              <a:rPr sz="1300">
                <a:solidFill>
                  <a:srgbClr val="2A2622"/>
                </a:solidFill>
                <a:latin typeface="Calibri"/>
              </a:rPr>
              <a:t>New Account Launch Strategy (Day 1 → Week 4)</a:t>
            </a:r>
          </a:p>
          <a:p>
            <a:pPr>
              <a:spcAft>
                <a:spcPts val="500"/>
              </a:spcAft>
            </a:pPr>
            <a:r>
              <a:rPr sz="1300" b="1">
                <a:solidFill>
                  <a:srgbClr val="8F3A22"/>
                </a:solidFill>
                <a:latin typeface="Calibri"/>
              </a:rPr>
              <a:t>PART 5 — </a:t>
            </a:r>
            <a:r>
              <a:rPr sz="1300">
                <a:solidFill>
                  <a:srgbClr val="2A2622"/>
                </a:solidFill>
                <a:latin typeface="Calibri"/>
              </a:rPr>
              <a:t>30-Day Daily Content Calendar (Days 1–10)</a:t>
            </a:r>
          </a:p>
          <a:p>
            <a:pPr>
              <a:spcAft>
                <a:spcPts val="500"/>
              </a:spcAft>
            </a:pPr>
            <a:r>
              <a:rPr sz="1300" b="1">
                <a:solidFill>
                  <a:srgbClr val="8F3A22"/>
                </a:solidFill>
                <a:latin typeface="Calibri"/>
              </a:rPr>
              <a:t>PART 6 — </a:t>
            </a:r>
            <a:r>
              <a:rPr sz="1300">
                <a:solidFill>
                  <a:srgbClr val="2A2622"/>
                </a:solidFill>
                <a:latin typeface="Calibri"/>
              </a:rPr>
              <a:t>30-Day Daily Content Calendar (Days 11–20)</a:t>
            </a:r>
          </a:p>
          <a:p>
            <a:pPr>
              <a:spcAft>
                <a:spcPts val="500"/>
              </a:spcAft>
            </a:pPr>
            <a:r>
              <a:rPr sz="1300" b="1">
                <a:solidFill>
                  <a:srgbClr val="8F3A22"/>
                </a:solidFill>
                <a:latin typeface="Calibri"/>
              </a:rPr>
              <a:t>PART 7 — </a:t>
            </a:r>
            <a:r>
              <a:rPr sz="1300">
                <a:solidFill>
                  <a:srgbClr val="2A2622"/>
                </a:solidFill>
                <a:latin typeface="Calibri"/>
              </a:rPr>
              <a:t>30-Day Daily Content Calendar (Days 21–30)</a:t>
            </a:r>
          </a:p>
          <a:p>
            <a:pPr>
              <a:spcAft>
                <a:spcPts val="500"/>
              </a:spcAft>
            </a:pPr>
            <a:r>
              <a:rPr sz="1300" b="1">
                <a:solidFill>
                  <a:srgbClr val="8F3A22"/>
                </a:solidFill>
                <a:latin typeface="Calibri"/>
              </a:rPr>
              <a:t>PART 8 — </a:t>
            </a:r>
            <a:r>
              <a:rPr sz="1300">
                <a:solidFill>
                  <a:srgbClr val="2A2622"/>
                </a:solidFill>
                <a:latin typeface="Calibri"/>
              </a:rPr>
              <a:t>Hook Strategy + Hook Library</a:t>
            </a:r>
          </a:p>
          <a:p>
            <a:pPr>
              <a:spcAft>
                <a:spcPts val="500"/>
              </a:spcAft>
            </a:pPr>
            <a:r>
              <a:rPr sz="1300" b="1">
                <a:solidFill>
                  <a:srgbClr val="8F3A22"/>
                </a:solidFill>
                <a:latin typeface="Calibri"/>
              </a:rPr>
              <a:t>PART 9 — </a:t>
            </a:r>
            <a:r>
              <a:rPr sz="1300">
                <a:solidFill>
                  <a:srgbClr val="2A2622"/>
                </a:solidFill>
                <a:latin typeface="Calibri"/>
              </a:rPr>
              <a:t>Safe Before/After + UGC Strategy (20 Reels)</a:t>
            </a:r>
          </a:p>
          <a:p>
            <a:pPr>
              <a:spcAft>
                <a:spcPts val="500"/>
              </a:spcAft>
            </a:pPr>
            <a:r>
              <a:rPr sz="1300" b="1">
                <a:solidFill>
                  <a:srgbClr val="8F3A22"/>
                </a:solidFill>
                <a:latin typeface="Calibri"/>
              </a:rPr>
              <a:t>PART 10 — </a:t>
            </a:r>
            <a:r>
              <a:rPr sz="1300">
                <a:solidFill>
                  <a:srgbClr val="2A2622"/>
                </a:solidFill>
                <a:latin typeface="Calibri"/>
              </a:rPr>
              <a:t>AI UGC Images + Video Prompts</a:t>
            </a:r>
          </a:p>
          <a:p>
            <a:pPr>
              <a:spcAft>
                <a:spcPts val="500"/>
              </a:spcAft>
            </a:pPr>
            <a:r>
              <a:rPr sz="1300" b="1">
                <a:solidFill>
                  <a:srgbClr val="8F3A22"/>
                </a:solidFill>
                <a:latin typeface="Calibri"/>
              </a:rPr>
              <a:t>PART 11 — </a:t>
            </a:r>
            <a:r>
              <a:rPr sz="1300">
                <a:solidFill>
                  <a:srgbClr val="2A2622"/>
                </a:solidFill>
                <a:latin typeface="Calibri"/>
              </a:rPr>
              <a:t>Product-Specific Content — Hero 4</a:t>
            </a:r>
          </a:p>
          <a:p>
            <a:pPr>
              <a:spcAft>
                <a:spcPts val="500"/>
              </a:spcAft>
            </a:pPr>
            <a:r>
              <a:rPr sz="1300" b="1">
                <a:solidFill>
                  <a:srgbClr val="8F3A22"/>
                </a:solidFill>
                <a:latin typeface="Calibri"/>
              </a:rPr>
              <a:t>PART 12 — </a:t>
            </a:r>
            <a:r>
              <a:rPr sz="1300">
                <a:solidFill>
                  <a:srgbClr val="2A2622"/>
                </a:solidFill>
                <a:latin typeface="Calibri"/>
              </a:rPr>
              <a:t>Product-Specific Content — Secondary 6</a:t>
            </a:r>
          </a:p>
        </p:txBody>
      </p:sp>
      <p:sp>
        <p:nvSpPr>
          <p:cNvPr id="5" name="TextBox 4"/>
          <p:cNvSpPr txBox="1"/>
          <p:nvPr/>
        </p:nvSpPr>
        <p:spPr>
          <a:xfrm>
            <a:off x="6095847" y="1371600"/>
            <a:ext cx="5455767" cy="5120640"/>
          </a:xfrm>
          <a:prstGeom prst="rect">
            <a:avLst/>
          </a:prstGeom>
          <a:noFill/>
        </p:spPr>
        <p:txBody>
          <a:bodyPr wrap="square">
            <a:spAutoFit/>
          </a:bodyPr>
          <a:lstStyle/>
          <a:p>
            <a:pPr>
              <a:spcAft>
                <a:spcPts val="500"/>
              </a:spcAft>
            </a:pPr>
            <a:r>
              <a:rPr sz="1300" b="1">
                <a:solidFill>
                  <a:srgbClr val="8F3A22"/>
                </a:solidFill>
                <a:latin typeface="Calibri"/>
              </a:rPr>
              <a:t>PART 13 — </a:t>
            </a:r>
            <a:r>
              <a:rPr sz="1300">
                <a:solidFill>
                  <a:srgbClr val="2A2622"/>
                </a:solidFill>
                <a:latin typeface="Calibri"/>
              </a:rPr>
              <a:t>Gujarat-First Strategy</a:t>
            </a:r>
          </a:p>
          <a:p>
            <a:pPr>
              <a:spcAft>
                <a:spcPts val="500"/>
              </a:spcAft>
            </a:pPr>
            <a:r>
              <a:rPr sz="1300" b="1">
                <a:solidFill>
                  <a:srgbClr val="8F3A22"/>
                </a:solidFill>
                <a:latin typeface="Calibri"/>
              </a:rPr>
              <a:t>PART 14 — </a:t>
            </a:r>
            <a:r>
              <a:rPr sz="1300">
                <a:solidFill>
                  <a:srgbClr val="2A2622"/>
                </a:solidFill>
                <a:latin typeface="Calibri"/>
              </a:rPr>
              <a:t>Instagram Stories (30-Day) + Profile Build</a:t>
            </a:r>
          </a:p>
          <a:p>
            <a:pPr>
              <a:spcAft>
                <a:spcPts val="500"/>
              </a:spcAft>
            </a:pPr>
            <a:r>
              <a:rPr sz="1300" b="1">
                <a:solidFill>
                  <a:srgbClr val="8F3A22"/>
                </a:solidFill>
                <a:latin typeface="Calibri"/>
              </a:rPr>
              <a:t>PART 15 — </a:t>
            </a:r>
            <a:r>
              <a:rPr sz="1300">
                <a:solidFill>
                  <a:srgbClr val="2A2622"/>
                </a:solidFill>
                <a:latin typeface="Calibri"/>
              </a:rPr>
              <a:t>Social Media SEO + Hashtag Framework</a:t>
            </a:r>
          </a:p>
          <a:p>
            <a:pPr>
              <a:spcAft>
                <a:spcPts val="500"/>
              </a:spcAft>
            </a:pPr>
            <a:r>
              <a:rPr sz="1300" b="1">
                <a:solidFill>
                  <a:srgbClr val="8F3A22"/>
                </a:solidFill>
                <a:latin typeface="Calibri"/>
              </a:rPr>
              <a:t>PART 16 — </a:t>
            </a:r>
            <a:r>
              <a:rPr sz="1300">
                <a:solidFill>
                  <a:srgbClr val="2A2622"/>
                </a:solidFill>
                <a:latin typeface="Calibri"/>
              </a:rPr>
              <a:t>Meta Ads: 4 Campaigns + Budget Strategy</a:t>
            </a:r>
          </a:p>
          <a:p>
            <a:pPr>
              <a:spcAft>
                <a:spcPts val="500"/>
              </a:spcAft>
            </a:pPr>
            <a:r>
              <a:rPr sz="1300" b="1">
                <a:solidFill>
                  <a:srgbClr val="8F3A22"/>
                </a:solidFill>
                <a:latin typeface="Calibri"/>
              </a:rPr>
              <a:t>PART 17 — </a:t>
            </a:r>
            <a:r>
              <a:rPr sz="1300">
                <a:solidFill>
                  <a:srgbClr val="2A2622"/>
                </a:solidFill>
                <a:latin typeface="Calibri"/>
              </a:rPr>
              <a:t>Creative Testing System + Retargeting Sequence</a:t>
            </a:r>
          </a:p>
          <a:p>
            <a:pPr>
              <a:spcAft>
                <a:spcPts val="500"/>
              </a:spcAft>
            </a:pPr>
            <a:r>
              <a:rPr sz="1300" b="1">
                <a:solidFill>
                  <a:srgbClr val="8F3A22"/>
                </a:solidFill>
                <a:latin typeface="Calibri"/>
              </a:rPr>
              <a:t>PART 18 — </a:t>
            </a:r>
            <a:r>
              <a:rPr sz="1300">
                <a:solidFill>
                  <a:srgbClr val="2A2622"/>
                </a:solidFill>
                <a:latin typeface="Calibri"/>
              </a:rPr>
              <a:t>Sales Ads Library (Hooks / Texts / Headlines / CTAs)</a:t>
            </a:r>
          </a:p>
          <a:p>
            <a:pPr>
              <a:spcAft>
                <a:spcPts val="500"/>
              </a:spcAft>
            </a:pPr>
            <a:r>
              <a:rPr sz="1300" b="1">
                <a:solidFill>
                  <a:srgbClr val="8F3A22"/>
                </a:solidFill>
                <a:latin typeface="Calibri"/>
              </a:rPr>
              <a:t>PART 19 — </a:t>
            </a:r>
            <a:r>
              <a:rPr sz="1300">
                <a:solidFill>
                  <a:srgbClr val="2A2622"/>
                </a:solidFill>
                <a:latin typeface="Calibri"/>
              </a:rPr>
              <a:t>Content→Sales Funnel + Viral vs Sales + Buyer Psychology</a:t>
            </a:r>
          </a:p>
          <a:p>
            <a:pPr>
              <a:spcAft>
                <a:spcPts val="500"/>
              </a:spcAft>
            </a:pPr>
            <a:r>
              <a:rPr sz="1300" b="1">
                <a:solidFill>
                  <a:srgbClr val="8F3A22"/>
                </a:solidFill>
                <a:latin typeface="Calibri"/>
              </a:rPr>
              <a:t>PART 20 — </a:t>
            </a:r>
            <a:r>
              <a:rPr sz="1300">
                <a:solidFill>
                  <a:srgbClr val="2A2622"/>
                </a:solidFill>
                <a:latin typeface="Calibri"/>
              </a:rPr>
              <a:t>First 1,000 Followers + First 100 Customers</a:t>
            </a:r>
          </a:p>
          <a:p>
            <a:pPr>
              <a:spcAft>
                <a:spcPts val="500"/>
              </a:spcAft>
            </a:pPr>
            <a:r>
              <a:rPr sz="1300" b="1">
                <a:solidFill>
                  <a:srgbClr val="8F3A22"/>
                </a:solidFill>
                <a:latin typeface="Calibri"/>
              </a:rPr>
              <a:t>PART 21 — </a:t>
            </a:r>
            <a:r>
              <a:rPr sz="1300">
                <a:solidFill>
                  <a:srgbClr val="2A2622"/>
                </a:solidFill>
                <a:latin typeface="Calibri"/>
              </a:rPr>
              <a:t>90-Day Social Media + Sales Master Plan</a:t>
            </a:r>
          </a:p>
          <a:p>
            <a:pPr>
              <a:spcAft>
                <a:spcPts val="500"/>
              </a:spcAft>
            </a:pPr>
            <a:r>
              <a:rPr sz="1300" b="1">
                <a:solidFill>
                  <a:srgbClr val="8F3A22"/>
                </a:solidFill>
                <a:latin typeface="Calibri"/>
              </a:rPr>
              <a:t>PART 22 — </a:t>
            </a:r>
            <a:r>
              <a:rPr sz="1300">
                <a:solidFill>
                  <a:srgbClr val="2A2622"/>
                </a:solidFill>
                <a:latin typeface="Calibri"/>
              </a:rPr>
              <a:t>Content Production System (Batch Workflow)</a:t>
            </a:r>
          </a:p>
          <a:p>
            <a:pPr>
              <a:spcAft>
                <a:spcPts val="500"/>
              </a:spcAft>
            </a:pPr>
            <a:r>
              <a:rPr sz="1300" b="1">
                <a:solidFill>
                  <a:srgbClr val="8F3A22"/>
                </a:solidFill>
                <a:latin typeface="Calibri"/>
              </a:rPr>
              <a:t>PART 23 — </a:t>
            </a:r>
            <a:r>
              <a:rPr sz="1300">
                <a:solidFill>
                  <a:srgbClr val="2A2622"/>
                </a:solidFill>
                <a:latin typeface="Calibri"/>
              </a:rPr>
              <a:t>Compliance Rules + CEO Final Verdict</a:t>
            </a:r>
          </a:p>
          <a:p>
            <a:r>
              <a:rPr sz="1300" b="1">
                <a:solidFill>
                  <a:srgbClr val="2A2622"/>
                </a:solidFill>
                <a:latin typeface="Calibri"/>
              </a:rPr>
              <a:t>PART 24 — Master Action Checklists (compiled from the plan)</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1</a:t>
            </a:r>
          </a:p>
        </p:txBody>
      </p:sp>
      <p:sp>
        <p:nvSpPr>
          <p:cNvPr id="4" name="TextBox 3"/>
          <p:cNvSpPr txBox="1"/>
          <p:nvPr/>
        </p:nvSpPr>
        <p:spPr>
          <a:xfrm>
            <a:off x="914400" y="2377440"/>
            <a:ext cx="10362895" cy="1645920"/>
          </a:xfrm>
          <a:prstGeom prst="rect">
            <a:avLst/>
          </a:prstGeom>
          <a:noFill/>
        </p:spPr>
        <p:txBody>
          <a:bodyPr wrap="square">
            <a:spAutoFit/>
          </a:bodyPr>
          <a:lstStyle/>
          <a:p>
            <a:r>
              <a:rPr sz="2400" b="1">
                <a:solidFill>
                  <a:srgbClr val="8F3A22"/>
                </a:solidFill>
                <a:latin typeface="Calibri"/>
              </a:rPr>
              <a:t>RANGAT NATURALS — Complete Social Media → Sales Strategy (From Zero)</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Executive Summary &amp; The 10 Key Decisions</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Executive Summary &amp; The 10 Key Decisions</a:t>
            </a:r>
          </a:p>
          <a:p>
            <a:r>
              <a:rPr sz="1200" i="1">
                <a:solidFill>
                  <a:srgbClr val="57504A"/>
                </a:solidFill>
                <a:latin typeface="Calibri"/>
              </a:rPr>
              <a:t>PART 1 — Executive Summary &amp; The 10 Key Decisions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600"/>
              </a:spcBef>
              <a:spcAft>
                <a:spcPts val="600"/>
              </a:spcAft>
            </a:pPr>
            <a:r>
              <a:rPr sz="1250" b="0" i="1">
                <a:solidFill>
                  <a:srgbClr val="57504A"/>
                </a:solidFill>
                <a:latin typeface="Calibri"/>
              </a:rPr>
              <a:t>“</a:t>
            </a:r>
            <a:r>
              <a:rPr sz="1250" b="1" i="1">
                <a:solidFill>
                  <a:srgbClr val="57504A"/>
                </a:solidFill>
                <a:latin typeface="Calibri"/>
              </a:rPr>
              <a:t>Mission:</a:t>
            </a:r>
            <a:r>
              <a:rPr sz="1250" b="0" i="1">
                <a:solidFill>
                  <a:srgbClr val="57504A"/>
                </a:solidFill>
                <a:latin typeface="Calibri"/>
              </a:rPr>
              <a:t> ATTENTION → TRUST → CUSTOMERS → SALES → REPEAT PURCHASES → BRAND GROWTH.
</a:t>
            </a:r>
            <a:r>
              <a:rPr sz="1250" b="1" i="1">
                <a:solidFill>
                  <a:srgbClr val="57504A"/>
                </a:solidFill>
                <a:latin typeface="Calibri"/>
              </a:rPr>
              <a:t>Starting point:</a:t>
            </a:r>
            <a:r>
              <a:rPr sz="1250" b="0" i="1">
                <a:solidFill>
                  <a:srgbClr val="57504A"/>
                </a:solidFill>
                <a:latin typeface="Calibri"/>
              </a:rPr>
              <a:t> 0 followers, 0 customers, 0 awareness, small budget. Gujarat first → India next.
</a:t>
            </a:r>
            <a:r>
              <a:rPr sz="1250" b="1" i="1">
                <a:solidFill>
                  <a:srgbClr val="57504A"/>
                </a:solidFill>
                <a:latin typeface="Calibri"/>
              </a:rPr>
              <a:t>Prepared by:</a:t>
            </a:r>
            <a:r>
              <a:rPr sz="1250" b="0" i="1">
                <a:solidFill>
                  <a:srgbClr val="57504A"/>
                </a:solidFill>
                <a:latin typeface="Calibri"/>
              </a:rPr>
              <a:t> CEO / CSO / Growth Strategist / Content Director / SEO / Meta Ads — one brain, one plan.
</a:t>
            </a:r>
            <a:r>
              <a:rPr sz="1250" b="1" i="1">
                <a:solidFill>
                  <a:srgbClr val="57504A"/>
                </a:solidFill>
                <a:latin typeface="Calibri"/>
              </a:rPr>
              <a:t>Date:</a:t>
            </a:r>
            <a:r>
              <a:rPr sz="1250" b="0" i="1">
                <a:solidFill>
                  <a:srgbClr val="57504A"/>
                </a:solidFill>
                <a:latin typeface="Calibri"/>
              </a:rPr>
              <a:t> September 2026 (launch window = late monsoon → wedding/Diwali season. This timing is a gift — see 90-Day Plan).”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10 DECISIONS THAT DEFINE THIS ENTIRE PLAN</a:t>
            </a:r>
          </a:p>
          <a:p>
            <a:r>
              <a:rPr sz="1200" i="1">
                <a:solidFill>
                  <a:srgbClr val="57504A"/>
                </a:solidFill>
                <a:latin typeface="Calibri"/>
              </a:rPr>
              <a:t>PART 1 — Executive Summary &amp; The 10 Key Decisions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Read these first. Every other document in this folder is an execution of these decisions.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10 DECISIONS THAT DEFINE THIS ENTIRE PLAN</a:t>
            </a:r>
          </a:p>
          <a:p>
            <a:r>
              <a:rPr sz="1200" i="1">
                <a:solidFill>
                  <a:srgbClr val="57504A"/>
                </a:solidFill>
                <a:latin typeface="Calibri"/>
              </a:rPr>
              <a:t>PART 1 — Executive Summary &amp; The 10 Key Decisions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3" cy="5029200"/>
        </p:xfrm>
        <a:graphic>
          <a:graphicData uri="http://schemas.openxmlformats.org/drawingml/2006/table">
            <a:tbl>
              <a:tblPr firstRow="1" bandRow="1">
                <a:tableStyleId>{5C22544A-7EE6-4342-B048-85BDC9FD1C3A}</a:tableStyleId>
              </a:tblPr>
              <a:tblGrid>
                <a:gridCol w="166210"/>
                <a:gridCol w="1412787"/>
                <a:gridCol w="4986308"/>
                <a:gridCol w="4986308"/>
              </a:tblGrid>
              <a:tr h="457200">
                <a:tc>
                  <a:txBody>
                    <a:bodyPr wrap="square"/>
                    <a:lstStyle/>
                    <a:p>
                      <a:r>
                        <a:rPr sz="1050" b="1" i="0">
                          <a:solidFill>
                            <a:srgbClr val="FFFFFF"/>
                          </a:solidFill>
                          <a:latin typeface="Calibri"/>
                        </a:rPr>
                        <a:t>#</a:t>
                      </a:r>
                    </a:p>
                  </a:txBody>
                  <a:tcPr marL="45720" marR="45720" marT="18288" marB="18288" anchor="t">
                    <a:solidFill>
                      <a:srgbClr val="B44A2E"/>
                    </a:solidFill>
                  </a:tcPr>
                </a:tc>
                <a:tc>
                  <a:txBody>
                    <a:bodyPr wrap="square"/>
                    <a:lstStyle/>
                    <a:p>
                      <a:r>
                        <a:rPr sz="1050" b="1" i="0">
                          <a:solidFill>
                            <a:srgbClr val="FFFFFF"/>
                          </a:solidFill>
                          <a:latin typeface="Calibri"/>
                        </a:rPr>
                        <a:t>Decision</a:t>
                      </a:r>
                    </a:p>
                  </a:txBody>
                  <a:tcPr marL="45720" marR="45720" marT="18288" marB="18288" anchor="t">
                    <a:solidFill>
                      <a:srgbClr val="B44A2E"/>
                    </a:solidFill>
                  </a:tcPr>
                </a:tc>
                <a:tc>
                  <a:txBody>
                    <a:bodyPr wrap="square"/>
                    <a:lstStyle/>
                    <a:p>
                      <a:r>
                        <a:rPr sz="1050" b="1" i="0">
                          <a:solidFill>
                            <a:srgbClr val="FFFFFF"/>
                          </a:solidFill>
                          <a:latin typeface="Calibri"/>
                        </a:rPr>
                        <a:t>Choice</a:t>
                      </a:r>
                    </a:p>
                  </a:txBody>
                  <a:tcPr marL="45720" marR="45720" marT="18288" marB="18288" anchor="t">
                    <a:solidFill>
                      <a:srgbClr val="B44A2E"/>
                    </a:solidFill>
                  </a:tcPr>
                </a:tc>
                <a:tc>
                  <a:txBody>
                    <a:bodyPr wrap="square"/>
                    <a:lstStyle/>
                    <a:p>
                      <a:r>
                        <a:rPr sz="1050" b="1" i="0">
                          <a:solidFill>
                            <a:srgbClr val="FFFFFF"/>
                          </a:solidFill>
                          <a:latin typeface="Calibri"/>
                        </a:rPr>
                        <a:t>Why (one line)</a:t>
                      </a:r>
                    </a:p>
                  </a:txBody>
                  <a:tcPr marL="45720" marR="45720" marT="18288" marB="18288" anchor="t">
                    <a:solidFill>
                      <a:srgbClr val="B44A2E"/>
                    </a:solidFill>
                  </a:tcPr>
                </a:tc>
              </a:tr>
              <a:tr h="457200">
                <a:tc>
                  <a:txBody>
                    <a:bodyPr wrap="square"/>
                    <a:lstStyle/>
                    <a:p>
                      <a:r>
                        <a:rPr sz="1050" b="0" i="0">
                          <a:solidFill>
                            <a:srgbClr val="2A2622"/>
                          </a:solidFill>
                          <a:latin typeface="Calibri"/>
                        </a:rPr>
                        <a:t>1</a:t>
                      </a:r>
                    </a:p>
                  </a:txBody>
                  <a:tcPr marL="45720" marR="45720" marT="18288" marB="18288" anchor="t">
                    <a:solidFill>
                      <a:srgbClr val="FFFFFF"/>
                    </a:solidFill>
                  </a:tcPr>
                </a:tc>
                <a:tc>
                  <a:txBody>
                    <a:bodyPr wrap="square"/>
                    <a:lstStyle/>
                    <a:p>
                      <a:r>
                        <a:rPr sz="1050" b="1" i="0">
                          <a:solidFill>
                            <a:srgbClr val="2A2622"/>
                          </a:solidFill>
                          <a:latin typeface="Calibri"/>
                        </a:rPr>
                        <a:t>Hero product</a:t>
                      </a:r>
                    </a:p>
                  </a:txBody>
                  <a:tcPr marL="45720" marR="45720" marT="18288" marB="18288" anchor="t">
                    <a:solidFill>
                      <a:srgbClr val="FFFFFF"/>
                    </a:solidFill>
                  </a:tcPr>
                </a:tc>
                <a:tc>
                  <a:txBody>
                    <a:bodyPr wrap="square"/>
                    <a:lstStyle/>
                    <a:p>
                      <a:r>
                        <a:rPr sz="1050" b="1" i="0">
                          <a:solidFill>
                            <a:srgbClr val="2A2622"/>
                          </a:solidFill>
                          <a:latin typeface="Calibri"/>
                        </a:rPr>
                        <a:t>Vitamin C Serum (10%)</a:t>
                      </a:r>
                      <a:r>
                        <a:rPr sz="1050" b="0" i="0">
                          <a:solidFill>
                            <a:srgbClr val="2A2622"/>
                          </a:solidFill>
                          <a:latin typeface="Calibri"/>
                        </a:rPr>
                        <a:t> — launch with </a:t>
                      </a:r>
                      <a:r>
                        <a:rPr sz="1050" b="1" i="0">
                          <a:solidFill>
                            <a:srgbClr val="2A2622"/>
                          </a:solidFill>
                          <a:latin typeface="Calibri"/>
                        </a:rPr>
                        <a:t>Face Wash</a:t>
                      </a:r>
                      <a:r>
                        <a:rPr sz="1050" b="0" i="0">
                          <a:solidFill>
                            <a:srgbClr val="2A2622"/>
                          </a:solidFill>
                          <a:latin typeface="Calibri"/>
                        </a:rPr>
                        <a:t> as low-ticket entry, </a:t>
                      </a:r>
                      <a:r>
                        <a:rPr sz="1050" b="1" i="0">
                          <a:solidFill>
                            <a:srgbClr val="2A2622"/>
                          </a:solidFill>
                          <a:latin typeface="Calibri"/>
                        </a:rPr>
                        <a:t>Moisturizer</a:t>
                      </a:r>
                      <a:r>
                        <a:rPr sz="1050" b="0" i="0">
                          <a:solidFill>
                            <a:srgbClr val="2A2622"/>
                          </a:solidFill>
                          <a:latin typeface="Calibri"/>
                        </a:rPr>
                        <a:t> as the "complete the routine" item. Launch NOTHING else for 60 days.</a:t>
                      </a:r>
                    </a:p>
                  </a:txBody>
                  <a:tcPr marL="45720" marR="45720" marT="18288" marB="18288" anchor="t">
                    <a:solidFill>
                      <a:srgbClr val="FFFFFF"/>
                    </a:solidFill>
                  </a:tcPr>
                </a:tc>
                <a:tc>
                  <a:txBody>
                    <a:bodyPr wrap="square"/>
                    <a:lstStyle/>
                    <a:p>
                      <a:r>
                        <a:rPr sz="1050" b="0" i="0">
                          <a:solidFill>
                            <a:srgbClr val="2A2622"/>
                          </a:solidFill>
                          <a:latin typeface="Calibri"/>
                        </a:rPr>
                        <a:t>Serum = visible "glow" results in 2–4 weeks, strong search demand, UGC-friendly, ideal price point.</a:t>
                      </a:r>
                    </a:p>
                  </a:txBody>
                  <a:tcPr marL="45720" marR="45720" marT="18288" marB="18288" anchor="t">
                    <a:solidFill>
                      <a:srgbClr val="FFFFFF"/>
                    </a:solidFill>
                  </a:tcPr>
                </a:tc>
              </a:tr>
              <a:tr h="457200">
                <a:tc>
                  <a:txBody>
                    <a:bodyPr wrap="square"/>
                    <a:lstStyle/>
                    <a:p>
                      <a:r>
                        <a:rPr sz="1050" b="0" i="0">
                          <a:solidFill>
                            <a:srgbClr val="2A2622"/>
                          </a:solidFill>
                          <a:latin typeface="Calibri"/>
                        </a:rPr>
                        <a:t>2</a:t>
                      </a:r>
                    </a:p>
                  </a:txBody>
                  <a:tcPr marL="45720" marR="45720" marT="18288" marB="18288" anchor="t">
                    <a:solidFill>
                      <a:srgbClr val="F6F1E7"/>
                    </a:solidFill>
                  </a:tcPr>
                </a:tc>
                <a:tc>
                  <a:txBody>
                    <a:bodyPr wrap="square"/>
                    <a:lstStyle/>
                    <a:p>
                      <a:r>
                        <a:rPr sz="1050" b="1" i="0">
                          <a:solidFill>
                            <a:srgbClr val="2A2622"/>
                          </a:solidFill>
                          <a:latin typeface="Calibri"/>
                        </a:rPr>
                        <a:t>First customer</a:t>
                      </a:r>
                    </a:p>
                  </a:txBody>
                  <a:tcPr marL="45720" marR="45720" marT="18288" marB="18288" anchor="t">
                    <a:solidFill>
                      <a:srgbClr val="F6F1E7"/>
                    </a:solidFill>
                  </a:tcPr>
                </a:tc>
                <a:tc>
                  <a:txBody>
                    <a:bodyPr wrap="square"/>
                    <a:lstStyle/>
                    <a:p>
                      <a:r>
                        <a:rPr sz="1050" b="1" i="0">
                          <a:solidFill>
                            <a:srgbClr val="2A2622"/>
                          </a:solidFill>
                          <a:latin typeface="Calibri"/>
                        </a:rPr>
                        <a:t>Women 20–35, Ahmedabad first</a:t>
                      </a:r>
                      <a:r>
                        <a:rPr sz="1050" b="0" i="0">
                          <a:solidFill>
                            <a:srgbClr val="2A2622"/>
                          </a:solidFill>
                          <a:latin typeface="Calibri"/>
                        </a:rPr>
                        <a:t>, then Surat/Vadodara/Rajkot. Concerns: sun tan look, dullness, oily/monsoon skin, pigmentation. Willing to pay ₹399–₹799 for honest products.</a:t>
                      </a:r>
                    </a:p>
                  </a:txBody>
                  <a:tcPr marL="45720" marR="45720" marT="18288" marB="18288" anchor="t">
                    <a:solidFill>
                      <a:srgbClr val="F6F1E7"/>
                    </a:solidFill>
                  </a:tcPr>
                </a:tc>
                <a:tc>
                  <a:txBody>
                    <a:bodyPr wrap="square"/>
                    <a:lstStyle/>
                    <a:p>
                      <a:r>
                        <a:rPr sz="1050" b="0" i="0">
                          <a:solidFill>
                            <a:srgbClr val="2A2622"/>
                          </a:solidFill>
                          <a:latin typeface="Calibri"/>
                        </a:rPr>
                        <a:t>Concentrated geographic + demographic = faster word of mouth, creator density, cheap local proof.</a:t>
                      </a:r>
                    </a:p>
                  </a:txBody>
                  <a:tcPr marL="45720" marR="45720" marT="18288" marB="18288" anchor="t">
                    <a:solidFill>
                      <a:srgbClr val="F6F1E7"/>
                    </a:solidFill>
                  </a:tcPr>
                </a:tc>
              </a:tr>
              <a:tr h="457200">
                <a:tc>
                  <a:txBody>
                    <a:bodyPr wrap="square"/>
                    <a:lstStyle/>
                    <a:p>
                      <a:r>
                        <a:rPr sz="1050" b="0" i="0">
                          <a:solidFill>
                            <a:srgbClr val="2A2622"/>
                          </a:solidFill>
                          <a:latin typeface="Calibri"/>
                        </a:rPr>
                        <a:t>3</a:t>
                      </a:r>
                    </a:p>
                  </a:txBody>
                  <a:tcPr marL="45720" marR="45720" marT="18288" marB="18288" anchor="t">
                    <a:solidFill>
                      <a:srgbClr val="FFFFFF"/>
                    </a:solidFill>
                  </a:tcPr>
                </a:tc>
                <a:tc>
                  <a:txBody>
                    <a:bodyPr wrap="square"/>
                    <a:lstStyle/>
                    <a:p>
                      <a:r>
                        <a:rPr sz="1050" b="1" i="0">
                          <a:solidFill>
                            <a:srgbClr val="2A2622"/>
                          </a:solidFill>
                          <a:latin typeface="Calibri"/>
                        </a:rPr>
                        <a:t>First platform</a:t>
                      </a:r>
                    </a:p>
                  </a:txBody>
                  <a:tcPr marL="45720" marR="45720" marT="18288" marB="18288" anchor="t">
                    <a:solidFill>
                      <a:srgbClr val="FFFFFF"/>
                    </a:solidFill>
                  </a:tcPr>
                </a:tc>
                <a:tc>
                  <a:txBody>
                    <a:bodyPr wrap="square"/>
                    <a:lstStyle/>
                    <a:p>
                      <a:r>
                        <a:rPr sz="1050" b="1" i="0">
                          <a:solidFill>
                            <a:srgbClr val="2A2622"/>
                          </a:solidFill>
                          <a:latin typeface="Calibri"/>
                        </a:rPr>
                        <a:t>Instagram (Reels = attention engine)</a:t>
                      </a:r>
                      <a:r>
                        <a:rPr sz="1050" b="0" i="0">
                          <a:solidFill>
                            <a:srgbClr val="2A2622"/>
                          </a:solidFill>
                          <a:latin typeface="Calibri"/>
                        </a:rPr>
                        <a:t>. WhatsApp Business = the </a:t>
                      </a:r>
                      <a:r>
                        <a:rPr sz="1050" b="1" i="0">
                          <a:solidFill>
                            <a:srgbClr val="2A2622"/>
                          </a:solidFill>
                          <a:latin typeface="Calibri"/>
                        </a:rPr>
                        <a:t>actual sales engine</a:t>
                      </a:r>
                      <a:r>
                        <a:rPr sz="1050" b="0" i="0">
                          <a:solidFill>
                            <a:srgbClr val="2A2622"/>
                          </a:solidFill>
                          <a:latin typeface="Calibri"/>
                        </a:rPr>
                        <a:t>. Not equal weight — different jobs.</a:t>
                      </a:r>
                    </a:p>
                  </a:txBody>
                  <a:tcPr marL="45720" marR="45720" marT="18288" marB="18288" anchor="t">
                    <a:solidFill>
                      <a:srgbClr val="FFFFFF"/>
                    </a:solidFill>
                  </a:tcPr>
                </a:tc>
                <a:tc>
                  <a:txBody>
                    <a:bodyPr wrap="square"/>
                    <a:lstStyle/>
                    <a:p>
                      <a:r>
                        <a:rPr sz="1050" b="0" i="0">
                          <a:solidFill>
                            <a:srgbClr val="2A2622"/>
                          </a:solidFill>
                          <a:latin typeface="Calibri"/>
                        </a:rPr>
                        <a:t>IG creates desire + trust at scale; WhatsApp closes Indian orders (COD, human chat, family trust).</a:t>
                      </a:r>
                    </a:p>
                  </a:txBody>
                  <a:tcPr marL="45720" marR="45720" marT="18288" marB="18288" anchor="t">
                    <a:solidFill>
                      <a:srgbClr val="FFFFFF"/>
                    </a:solidFill>
                  </a:tcPr>
                </a:tc>
              </a:tr>
              <a:tr h="457200">
                <a:tc>
                  <a:txBody>
                    <a:bodyPr wrap="square"/>
                    <a:lstStyle/>
                    <a:p>
                      <a:r>
                        <a:rPr sz="1050" b="0" i="0">
                          <a:solidFill>
                            <a:srgbClr val="2A2622"/>
                          </a:solidFill>
                          <a:latin typeface="Calibri"/>
                        </a:rPr>
                        <a:t>4</a:t>
                      </a:r>
                    </a:p>
                  </a:txBody>
                  <a:tcPr marL="45720" marR="45720" marT="18288" marB="18288" anchor="t">
                    <a:solidFill>
                      <a:srgbClr val="F6F1E7"/>
                    </a:solidFill>
                  </a:tcPr>
                </a:tc>
                <a:tc>
                  <a:txBody>
                    <a:bodyPr wrap="square"/>
                    <a:lstStyle/>
                    <a:p>
                      <a:r>
                        <a:rPr sz="1050" b="1" i="0">
                          <a:solidFill>
                            <a:srgbClr val="2A2622"/>
                          </a:solidFill>
                          <a:latin typeface="Calibri"/>
                        </a:rPr>
                        <a:t>Posting cadence</a:t>
                      </a:r>
                    </a:p>
                  </a:txBody>
                  <a:tcPr marL="45720" marR="45720" marT="18288" marB="18288" anchor="t">
                    <a:solidFill>
                      <a:srgbClr val="F6F1E7"/>
                    </a:solidFill>
                  </a:tcPr>
                </a:tc>
                <a:tc>
                  <a:txBody>
                    <a:bodyPr wrap="square"/>
                    <a:lstStyle/>
                    <a:p>
                      <a:r>
                        <a:rPr sz="1050" b="0" i="0">
                          <a:solidFill>
                            <a:srgbClr val="2A2622"/>
                          </a:solidFill>
                          <a:latin typeface="Calibri"/>
                        </a:rPr>
                        <a:t>5–7 Reels/week + 3–5 Stories/day + 2 Carousels/week. Batch-shot on 2 days.</a:t>
                      </a:r>
                    </a:p>
                  </a:txBody>
                  <a:tcPr marL="45720" marR="45720" marT="18288" marB="18288" anchor="t">
                    <a:solidFill>
                      <a:srgbClr val="F6F1E7"/>
                    </a:solidFill>
                  </a:tcPr>
                </a:tc>
                <a:tc>
                  <a:txBody>
                    <a:bodyPr wrap="square"/>
                    <a:lstStyle/>
                    <a:p>
                      <a:r>
                        <a:rPr sz="1050" b="0" i="0">
                          <a:solidFill>
                            <a:srgbClr val="2A2622"/>
                          </a:solidFill>
                          <a:latin typeface="Calibri"/>
                        </a:rPr>
                        <a:t>Consistency without burning out a 1–3 person team.</a:t>
                      </a:r>
                    </a:p>
                  </a:txBody>
                  <a:tcPr marL="45720" marR="45720" marT="18288" marB="18288" anchor="t">
                    <a:solidFill>
                      <a:srgbClr val="F6F1E7"/>
                    </a:solidFill>
                  </a:tcPr>
                </a:tc>
              </a:tr>
              <a:tr h="457200">
                <a:tc>
                  <a:txBody>
                    <a:bodyPr wrap="square"/>
                    <a:lstStyle/>
                    <a:p>
                      <a:r>
                        <a:rPr sz="1050" b="0" i="0">
                          <a:solidFill>
                            <a:srgbClr val="2A2622"/>
                          </a:solidFill>
                          <a:latin typeface="Calibri"/>
                        </a:rPr>
                        <a:t>5</a:t>
                      </a:r>
                    </a:p>
                  </a:txBody>
                  <a:tcPr marL="45720" marR="45720" marT="18288" marB="18288" anchor="t">
                    <a:solidFill>
                      <a:srgbClr val="FFFFFF"/>
                    </a:solidFill>
                  </a:tcPr>
                </a:tc>
                <a:tc>
                  <a:txBody>
                    <a:bodyPr wrap="square"/>
                    <a:lstStyle/>
                    <a:p>
                      <a:r>
                        <a:rPr sz="1050" b="1" i="0">
                          <a:solidFill>
                            <a:srgbClr val="2A2622"/>
                          </a:solidFill>
                          <a:latin typeface="Calibri"/>
                        </a:rPr>
                        <a:t>Language</a:t>
                      </a:r>
                    </a:p>
                  </a:txBody>
                  <a:tcPr marL="45720" marR="45720" marT="18288" marB="18288" anchor="t">
                    <a:solidFill>
                      <a:srgbClr val="FFFFFF"/>
                    </a:solidFill>
                  </a:tcPr>
                </a:tc>
                <a:tc>
                  <a:txBody>
                    <a:bodyPr wrap="square"/>
                    <a:lstStyle/>
                    <a:p>
                      <a:r>
                        <a:rPr sz="1050" b="0" i="0">
                          <a:solidFill>
                            <a:srgbClr val="2A2622"/>
                          </a:solidFill>
                          <a:latin typeface="Calibri"/>
                        </a:rPr>
                        <a:t>50% Hinglish, 30% Gujarati, 20% English (per post varies).</a:t>
                      </a:r>
                    </a:p>
                  </a:txBody>
                  <a:tcPr marL="45720" marR="45720" marT="18288" marB="18288" anchor="t">
                    <a:solidFill>
                      <a:srgbClr val="FFFFFF"/>
                    </a:solidFill>
                  </a:tcPr>
                </a:tc>
                <a:tc>
                  <a:txBody>
                    <a:bodyPr wrap="square"/>
                    <a:lstStyle/>
                    <a:p>
                      <a:r>
                        <a:rPr sz="1050" b="0" i="0">
                          <a:solidFill>
                            <a:srgbClr val="2A2622"/>
                          </a:solidFill>
                          <a:latin typeface="Calibri"/>
                        </a:rPr>
                        <a:t>Matches how Gujarat/India actually talks on social media.</a:t>
                      </a:r>
                    </a:p>
                  </a:txBody>
                  <a:tcPr marL="45720" marR="45720" marT="18288" marB="18288" anchor="t">
                    <a:solidFill>
                      <a:srgbClr val="FFFFFF"/>
                    </a:solidFill>
                  </a:tcPr>
                </a:tc>
              </a:tr>
              <a:tr h="457200">
                <a:tc>
                  <a:txBody>
                    <a:bodyPr wrap="square"/>
                    <a:lstStyle/>
                    <a:p>
                      <a:r>
                        <a:rPr sz="1050" b="0" i="0">
                          <a:solidFill>
                            <a:srgbClr val="2A2622"/>
                          </a:solidFill>
                          <a:latin typeface="Calibri"/>
                        </a:rPr>
                        <a:t>6</a:t>
                      </a:r>
                    </a:p>
                  </a:txBody>
                  <a:tcPr marL="45720" marR="45720" marT="18288" marB="18288" anchor="t">
                    <a:solidFill>
                      <a:srgbClr val="F6F1E7"/>
                    </a:solidFill>
                  </a:tcPr>
                </a:tc>
                <a:tc>
                  <a:txBody>
                    <a:bodyPr wrap="square"/>
                    <a:lstStyle/>
                    <a:p>
                      <a:r>
                        <a:rPr sz="1050" b="1" i="0">
                          <a:solidFill>
                            <a:srgbClr val="2A2622"/>
                          </a:solidFill>
                          <a:latin typeface="Calibri"/>
                        </a:rPr>
                        <a:t>Ads start</a:t>
                      </a:r>
                    </a:p>
                  </a:txBody>
                  <a:tcPr marL="45720" marR="45720" marT="18288" marB="18288" anchor="t">
                    <a:solidFill>
                      <a:srgbClr val="F6F1E7"/>
                    </a:solidFill>
                  </a:tcPr>
                </a:tc>
                <a:tc>
                  <a:txBody>
                    <a:bodyPr wrap="square"/>
                    <a:lstStyle/>
                    <a:p>
                      <a:r>
                        <a:rPr sz="1050" b="1" i="0">
                          <a:solidFill>
                            <a:srgbClr val="2A2622"/>
                          </a:solidFill>
                          <a:latin typeface="Calibri"/>
                        </a:rPr>
                        <a:t>NO ads before launch (Day 21).</a:t>
                      </a:r>
                      <a:r>
                        <a:rPr sz="1050" b="0" i="0">
                          <a:solidFill>
                            <a:srgbClr val="2A2622"/>
                          </a:solidFill>
                          <a:latin typeface="Calibri"/>
                        </a:rPr>
                        <a:t> Optional ₹200/day boost on 1–2 best organic Reels from Day 15. Ads start at launch with ₹500/day prospecting.</a:t>
                      </a:r>
                    </a:p>
                  </a:txBody>
                  <a:tcPr marL="45720" marR="45720" marT="18288" marB="18288" anchor="t">
                    <a:solidFill>
                      <a:srgbClr val="F6F1E7"/>
                    </a:solidFill>
                  </a:tcPr>
                </a:tc>
                <a:tc>
                  <a:txBody>
                    <a:bodyPr wrap="square"/>
                    <a:lstStyle/>
                    <a:p>
                      <a:r>
                        <a:rPr sz="1050" b="0" i="0">
                          <a:solidFill>
                            <a:srgbClr val="2A2622"/>
                          </a:solidFill>
                          <a:latin typeface="Calibri"/>
                        </a:rPr>
                        <a:t>Ads without social proof = expensive failure. Proof first, spend second.</a:t>
                      </a:r>
                    </a:p>
                  </a:txBody>
                  <a:tcPr marL="45720" marR="45720" marT="18288" marB="18288" anchor="t">
                    <a:solidFill>
                      <a:srgbClr val="F6F1E7"/>
                    </a:solidFill>
                  </a:tcPr>
                </a:tc>
              </a:tr>
              <a:tr h="457200">
                <a:tc>
                  <a:txBody>
                    <a:bodyPr wrap="square"/>
                    <a:lstStyle/>
                    <a:p>
                      <a:r>
                        <a:rPr sz="1050" b="0" i="0">
                          <a:solidFill>
                            <a:srgbClr val="2A2622"/>
                          </a:solidFill>
                          <a:latin typeface="Calibri"/>
                        </a:rPr>
                        <a:t>7</a:t>
                      </a:r>
                    </a:p>
                  </a:txBody>
                  <a:tcPr marL="45720" marR="45720" marT="18288" marB="18288" anchor="t">
                    <a:solidFill>
                      <a:srgbClr val="FFFFFF"/>
                    </a:solidFill>
                  </a:tcPr>
                </a:tc>
                <a:tc>
                  <a:txBody>
                    <a:bodyPr wrap="square"/>
                    <a:lstStyle/>
                    <a:p>
                      <a:r>
                        <a:rPr sz="1050" b="1" i="0">
                          <a:solidFill>
                            <a:srgbClr val="2A2622"/>
                          </a:solidFill>
                          <a:latin typeface="Calibri"/>
                        </a:rPr>
                        <a:t>Offer</a:t>
                      </a:r>
                    </a:p>
                  </a:txBody>
                  <a:tcPr marL="45720" marR="45720" marT="18288" marB="18288" anchor="t">
                    <a:solidFill>
                      <a:srgbClr val="FFFFFF"/>
                    </a:solidFill>
                  </a:tcPr>
                </a:tc>
                <a:tc>
                  <a:txBody>
                    <a:bodyPr wrap="square"/>
                    <a:lstStyle/>
                    <a:p>
                      <a:r>
                        <a:rPr sz="1050" b="1" i="0">
                          <a:solidFill>
                            <a:srgbClr val="2A2622"/>
                          </a:solidFill>
                          <a:latin typeface="Calibri"/>
                        </a:rPr>
                        <a:t>"Founding 100" launch offer:</a:t>
                      </a:r>
                      <a:r>
                        <a:rPr sz="1050" b="0" i="0">
                          <a:solidFill>
                            <a:srgbClr val="2A2622"/>
                          </a:solidFill>
                          <a:latin typeface="Calibri"/>
                        </a:rPr>
                        <a:t> launch price + FREE Face Wash mini + FREE shipping + COD + your review featured on the page. Hard limit: 100 units.</a:t>
                      </a:r>
                    </a:p>
                  </a:txBody>
                  <a:tcPr marL="45720" marR="45720" marT="18288" marB="18288" anchor="t">
                    <a:solidFill>
                      <a:srgbClr val="FFFFFF"/>
                    </a:solidFill>
                  </a:tcPr>
                </a:tc>
                <a:tc>
                  <a:txBody>
                    <a:bodyPr wrap="square"/>
                    <a:lstStyle/>
                    <a:p>
                      <a:r>
                        <a:rPr sz="1050" b="0" i="0">
                          <a:solidFill>
                            <a:srgbClr val="2A2622"/>
                          </a:solidFill>
                          <a:latin typeface="Calibri"/>
                        </a:rPr>
                        <a:t>Real urgency, no fake discount games, builds the review flywheel from order #1.</a:t>
                      </a:r>
                    </a:p>
                  </a:txBody>
                  <a:tcPr marL="45720" marR="45720" marT="18288" marB="18288" anchor="t">
                    <a:solidFill>
                      <a:srgbClr val="FFFFFF"/>
                    </a:solidFill>
                  </a:tcPr>
                </a:tc>
              </a:tr>
              <a:tr h="457200">
                <a:tc>
                  <a:txBody>
                    <a:bodyPr wrap="square"/>
                    <a:lstStyle/>
                    <a:p>
                      <a:r>
                        <a:rPr sz="1050" b="0" i="0">
                          <a:solidFill>
                            <a:srgbClr val="2A2622"/>
                          </a:solidFill>
                          <a:latin typeface="Calibri"/>
                        </a:rPr>
                        <a:t>8</a:t>
                      </a:r>
                    </a:p>
                  </a:txBody>
                  <a:tcPr marL="45720" marR="45720" marT="18288" marB="18288" anchor="t">
                    <a:solidFill>
                      <a:srgbClr val="F6F1E7"/>
                    </a:solidFill>
                  </a:tcPr>
                </a:tc>
                <a:tc>
                  <a:txBody>
                    <a:bodyPr wrap="square"/>
                    <a:lstStyle/>
                    <a:p>
                      <a:r>
                        <a:rPr sz="1050" b="1" i="0">
                          <a:solidFill>
                            <a:srgbClr val="2A2622"/>
                          </a:solidFill>
                          <a:latin typeface="Calibri"/>
                        </a:rPr>
                        <a:t>Proof policy</a:t>
                      </a:r>
                    </a:p>
                  </a:txBody>
                  <a:tcPr marL="45720" marR="45720" marT="18288" marB="18288" anchor="t">
                    <a:solidFill>
                      <a:srgbClr val="F6F1E7"/>
                    </a:solidFill>
                  </a:tcPr>
                </a:tc>
                <a:tc>
                  <a:txBody>
                    <a:bodyPr wrap="square"/>
                    <a:lstStyle/>
                    <a:p>
                      <a:r>
                        <a:rPr sz="1050" b="0" i="0">
                          <a:solidFill>
                            <a:srgbClr val="2A2622"/>
                          </a:solidFill>
                          <a:latin typeface="Calibri"/>
                        </a:rPr>
                        <a:t>Only REAL results: 4-week tester program, real customer photos (written permission), "results may vary" always on screen. No fake before/after, no fake reviews, ever.</a:t>
                      </a:r>
                    </a:p>
                  </a:txBody>
                  <a:tcPr marL="45720" marR="45720" marT="18288" marB="18288" anchor="t">
                    <a:solidFill>
                      <a:srgbClr val="F6F1E7"/>
                    </a:solidFill>
                  </a:tcPr>
                </a:tc>
                <a:tc>
                  <a:txBody>
                    <a:bodyPr wrap="square"/>
                    <a:lstStyle/>
                    <a:p>
                      <a:r>
                        <a:rPr sz="1050" b="0" i="0">
                          <a:solidFill>
                            <a:srgbClr val="2A2622"/>
                          </a:solidFill>
                          <a:latin typeface="Calibri"/>
                        </a:rPr>
                        <a:t>One fake photo found = brand dead + ASCI/legal risk. Trust is the whole business.</a:t>
                      </a:r>
                    </a:p>
                  </a:txBody>
                  <a:tcPr marL="45720" marR="45720" marT="18288" marB="18288" anchor="t">
                    <a:solidFill>
                      <a:srgbClr val="F6F1E7"/>
                    </a:solidFill>
                  </a:tcPr>
                </a:tc>
              </a:tr>
              <a:tr h="457200">
                <a:tc>
                  <a:txBody>
                    <a:bodyPr wrap="square"/>
                    <a:lstStyle/>
                    <a:p>
                      <a:r>
                        <a:rPr sz="1050" b="0" i="0">
                          <a:solidFill>
                            <a:srgbClr val="2A2622"/>
                          </a:solidFill>
                          <a:latin typeface="Calibri"/>
                        </a:rPr>
                        <a:t>9</a:t>
                      </a:r>
                    </a:p>
                  </a:txBody>
                  <a:tcPr marL="45720" marR="45720" marT="18288" marB="18288" anchor="t">
                    <a:solidFill>
                      <a:srgbClr val="FFFFFF"/>
                    </a:solidFill>
                  </a:tcPr>
                </a:tc>
                <a:tc>
                  <a:txBody>
                    <a:bodyPr wrap="square"/>
                    <a:lstStyle/>
                    <a:p>
                      <a:r>
                        <a:rPr sz="1050" b="1" i="0">
                          <a:solidFill>
                            <a:srgbClr val="2A2622"/>
                          </a:solidFill>
                          <a:latin typeface="Calibri"/>
                        </a:rPr>
                        <a:t>Funnel</a:t>
                      </a:r>
                    </a:p>
                  </a:txBody>
                  <a:tcPr marL="45720" marR="45720" marT="18288" marB="18288" anchor="t">
                    <a:solidFill>
                      <a:srgbClr val="FFFFFF"/>
                    </a:solidFill>
                  </a:tcPr>
                </a:tc>
                <a:tc>
                  <a:txBody>
                    <a:bodyPr wrap="square"/>
                    <a:lstStyle/>
                    <a:p>
                      <a:r>
                        <a:rPr sz="1050" b="0" i="0">
                          <a:solidFill>
                            <a:srgbClr val="2A2622"/>
                          </a:solidFill>
                          <a:latin typeface="Calibri"/>
                        </a:rPr>
                        <a:t>Reel → Profile → DM keyword ("GLOW") → WhatsApp → COD order → Day 1/7/14/28 WhatsApp sequence → Review → Referral (₹100 give/₹100 get) → Repeat.</a:t>
                      </a:r>
                    </a:p>
                  </a:txBody>
                  <a:tcPr marL="45720" marR="45720" marT="18288" marB="18288" anchor="t">
                    <a:solidFill>
                      <a:srgbClr val="FFFFFF"/>
                    </a:solidFill>
                  </a:tcPr>
                </a:tc>
                <a:tc>
                  <a:txBody>
                    <a:bodyPr wrap="square"/>
                    <a:lstStyle/>
                    <a:p>
                      <a:r>
                        <a:rPr sz="1050" b="0" i="0">
                          <a:solidFill>
                            <a:srgbClr val="2A2622"/>
                          </a:solidFill>
                          <a:latin typeface="Calibri"/>
                        </a:rPr>
                        <a:t>Every reel is an entry point into a machine, not a vanity post.</a:t>
                      </a:r>
                    </a:p>
                  </a:txBody>
                  <a:tcPr marL="45720" marR="45720" marT="18288" marB="18288" anchor="t">
                    <a:solidFill>
                      <a:srgbClr val="FFFFFF"/>
                    </a:solidFill>
                  </a:tcPr>
                </a:tc>
              </a:tr>
              <a:tr h="457200">
                <a:tc>
                  <a:txBody>
                    <a:bodyPr wrap="square"/>
                    <a:lstStyle/>
                    <a:p>
                      <a:r>
                        <a:rPr sz="1050" b="0" i="0">
                          <a:solidFill>
                            <a:srgbClr val="2A2622"/>
                          </a:solidFill>
                          <a:latin typeface="Calibri"/>
                        </a:rPr>
                        <a:t>10</a:t>
                      </a:r>
                    </a:p>
                  </a:txBody>
                  <a:tcPr marL="45720" marR="45720" marT="18288" marB="18288" anchor="t">
                    <a:solidFill>
                      <a:srgbClr val="F6F1E7"/>
                    </a:solidFill>
                  </a:tcPr>
                </a:tc>
                <a:tc>
                  <a:txBody>
                    <a:bodyPr wrap="square"/>
                    <a:lstStyle/>
                    <a:p>
                      <a:r>
                        <a:rPr sz="1050" b="1" i="0">
                          <a:solidFill>
                            <a:srgbClr val="2A2622"/>
                          </a:solidFill>
                          <a:latin typeface="Calibri"/>
                        </a:rPr>
                        <a:t>North-star metric</a:t>
                      </a:r>
                    </a:p>
                  </a:txBody>
                  <a:tcPr marL="45720" marR="45720" marT="18288" marB="18288" anchor="t">
                    <a:solidFill>
                      <a:srgbClr val="F6F1E7"/>
                    </a:solidFill>
                  </a:tcPr>
                </a:tc>
                <a:tc>
                  <a:txBody>
                    <a:bodyPr wrap="square"/>
                    <a:lstStyle/>
                    <a:p>
                      <a:r>
                        <a:rPr sz="1050" b="1" i="0">
                          <a:solidFill>
                            <a:srgbClr val="2A2622"/>
                          </a:solidFill>
                          <a:latin typeface="Calibri"/>
                        </a:rPr>
                        <a:t>Orders + Repeat rate</a:t>
                      </a:r>
                      <a:r>
                        <a:rPr sz="1050" b="0" i="0">
                          <a:solidFill>
                            <a:srgbClr val="2A2622"/>
                          </a:solidFill>
                          <a:latin typeface="Calibri"/>
                        </a:rPr>
                        <a:t>, NOT followers or likes. Followers are only counted if they DM.</a:t>
                      </a:r>
                    </a:p>
                  </a:txBody>
                  <a:tcPr marL="45720" marR="45720" marT="18288" marB="18288" anchor="t">
                    <a:solidFill>
                      <a:srgbClr val="F6F1E7"/>
                    </a:solidFill>
                  </a:tcPr>
                </a:tc>
                <a:tc>
                  <a:txBody>
                    <a:bodyPr wrap="square"/>
                    <a:lstStyle/>
                    <a:p>
                      <a:r>
                        <a:rPr sz="1050" b="0" i="0">
                          <a:solidFill>
                            <a:srgbClr val="2A2622"/>
                          </a:solidFill>
                          <a:latin typeface="Calibri"/>
                        </a:rPr>
                        <a:t>You run a business, not a content channel.</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MARKET CONTEXT (why this plan is built this way)</a:t>
            </a:r>
          </a:p>
          <a:p>
            <a:r>
              <a:rPr sz="1200" i="1">
                <a:solidFill>
                  <a:srgbClr val="57504A"/>
                </a:solidFill>
                <a:latin typeface="Calibri"/>
              </a:rPr>
              <a:t>PART 1 — Executive Summary &amp; The 10 Key Decisions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India's skincare market ≈ </a:t>
            </a:r>
            <a:r>
              <a:rPr sz="1350" b="1" i="0">
                <a:solidFill>
                  <a:srgbClr val="2A2622"/>
                </a:solidFill>
                <a:latin typeface="Calibri"/>
              </a:rPr>
              <a:t>$2.98B (2026) → $5.1B by 2032, ~9.4% CAGR</a:t>
            </a:r>
            <a:r>
              <a:rPr sz="1350" b="0" i="0">
                <a:solidFill>
                  <a:srgbClr val="2A2622"/>
                </a:solidFill>
                <a:latin typeface="Calibri"/>
              </a:rPr>
              <a:t> (Vyansa Intelligence, 2026). Facial care = ~85% of it.</a:t>
            </a:r>
          </a:p>
          <a:p>
            <a:pPr>
              <a:spcAft>
                <a:spcPts val="400"/>
              </a:spcAft>
            </a:pPr>
            <a:r>
              <a:rPr sz="1350">
                <a:solidFill>
                  <a:srgbClr val="B44A2E"/>
                </a:solidFill>
                <a:latin typeface="Calibri"/>
              </a:rPr>
              <a:t>•  </a:t>
            </a:r>
            <a:r>
              <a:rPr sz="1350" b="1" i="0">
                <a:solidFill>
                  <a:srgbClr val="2A2622"/>
                </a:solidFill>
                <a:latin typeface="Calibri"/>
              </a:rPr>
              <a:t>Vitamin C serum</a:t>
            </a:r>
            <a:r>
              <a:rPr sz="1350" b="0" i="0">
                <a:solidFill>
                  <a:srgbClr val="2A2622"/>
                </a:solidFill>
                <a:latin typeface="Calibri"/>
              </a:rPr>
              <a:t> sub-segment: 10–20% concentration dominates ~60% share; category growing ~9.2% CAGR (MarkNtel Advisors, 2026).</a:t>
            </a:r>
          </a:p>
          <a:p>
            <a:pPr>
              <a:spcAft>
                <a:spcPts val="400"/>
              </a:spcAft>
            </a:pPr>
            <a:r>
              <a:rPr sz="1350">
                <a:solidFill>
                  <a:srgbClr val="B44A2E"/>
                </a:solidFill>
                <a:latin typeface="Calibri"/>
              </a:rPr>
              <a:t>•  </a:t>
            </a:r>
            <a:r>
              <a:rPr sz="1350" b="1" i="0">
                <a:solidFill>
                  <a:srgbClr val="2A2622"/>
                </a:solidFill>
                <a:latin typeface="Calibri"/>
              </a:rPr>
              <a:t>Sun care</a:t>
            </a:r>
            <a:r>
              <a:rPr sz="1350" b="0" i="0">
                <a:solidFill>
                  <a:srgbClr val="2A2622"/>
                </a:solidFill>
                <a:latin typeface="Calibri"/>
              </a:rPr>
              <a:t> is the fastest-growing category (~12.5% CAGR) — this is RANGAT's Month 2 product, timed before Gujarat's summer and wedding season.</a:t>
            </a:r>
          </a:p>
          <a:p>
            <a:pPr>
              <a:spcAft>
                <a:spcPts val="400"/>
              </a:spcAft>
            </a:pPr>
            <a:r>
              <a:rPr sz="1350">
                <a:solidFill>
                  <a:srgbClr val="B44A2E"/>
                </a:solidFill>
                <a:latin typeface="Calibri"/>
              </a:rPr>
              <a:t>•  </a:t>
            </a:r>
            <a:r>
              <a:rPr sz="1350" b="0" i="0">
                <a:solidFill>
                  <a:srgbClr val="2A2622"/>
                </a:solidFill>
                <a:latin typeface="Calibri"/>
              </a:rPr>
              <a:t>Indian D2C skincare ad benchmarks (2025–26 data): CPM ₹100–260, CTR 1.2–2.5%, prospecting ROAS 1.8–3.2x, retargeting ROAS 2.8–4.5x, UGC video outperforms brand creative ~2x. Plan targets in </a:t>
            </a:r>
            <a:r>
              <a:rPr sz="1200" b="0" i="0">
                <a:solidFill>
                  <a:srgbClr val="8F3A22"/>
                </a:solidFill>
                <a:latin typeface="Consolas"/>
              </a:rPr>
              <a:t>15-meta-ads</a:t>
            </a:r>
            <a:r>
              <a:rPr sz="1350" b="0" i="0">
                <a:solidFill>
                  <a:srgbClr val="2A2622"/>
                </a:solidFill>
                <a:latin typeface="Calibri"/>
              </a:rPr>
              <a:t> are derived from these.</a:t>
            </a:r>
          </a:p>
          <a:p>
            <a:pPr>
              <a:spcAft>
                <a:spcPts val="400"/>
              </a:spcAft>
            </a:pPr>
            <a:r>
              <a:rPr sz="1350">
                <a:solidFill>
                  <a:srgbClr val="B44A2E"/>
                </a:solidFill>
                <a:latin typeface="Calibri"/>
              </a:rPr>
              <a:t>•  </a:t>
            </a:r>
            <a:r>
              <a:rPr sz="1350" b="0" i="0">
                <a:solidFill>
                  <a:srgbClr val="2A2622"/>
                </a:solidFill>
                <a:latin typeface="Calibri"/>
              </a:rPr>
              <a:t>Structural realities we exploit: </a:t>
            </a:r>
            <a:r>
              <a:rPr sz="1350" b="1" i="0">
                <a:solidFill>
                  <a:srgbClr val="2A2622"/>
                </a:solidFill>
                <a:latin typeface="Calibri"/>
              </a:rPr>
              <a:t>COD is mandatory</a:t>
            </a:r>
            <a:r>
              <a:rPr sz="1350" b="0" i="0">
                <a:solidFill>
                  <a:srgbClr val="2A2622"/>
                </a:solidFill>
                <a:latin typeface="Calibri"/>
              </a:rPr>
              <a:t> in India for an unknown brand; </a:t>
            </a:r>
            <a:r>
              <a:rPr sz="1350" b="1" i="0">
                <a:solidFill>
                  <a:srgbClr val="2A2622"/>
                </a:solidFill>
                <a:latin typeface="Calibri"/>
              </a:rPr>
              <a:t>fake-product fear</a:t>
            </a:r>
            <a:r>
              <a:rPr sz="1350" b="0" i="0">
                <a:solidFill>
                  <a:srgbClr val="2A2622"/>
                </a:solidFill>
                <a:latin typeface="Calibri"/>
              </a:rPr>
              <a:t> is real (our trust content attacks it directly); </a:t>
            </a:r>
            <a:r>
              <a:rPr sz="1350" b="1" i="0">
                <a:solidFill>
                  <a:srgbClr val="2A2622"/>
                </a:solidFill>
                <a:latin typeface="Calibri"/>
              </a:rPr>
              <a:t>Gujarat is value-conscious but business-culture-driven</a:t>
            </a:r>
            <a:r>
              <a:rPr sz="1350" b="0" i="0">
                <a:solidFill>
                  <a:srgbClr val="2A2622"/>
                </a:solidFill>
                <a:latin typeface="Calibri"/>
              </a:rPr>
              <a:t> (respect for honest trade, family recommendations, "aamno che" pride).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FILE MAP — READ IN THIS ORDER</a:t>
            </a:r>
          </a:p>
          <a:p>
            <a:r>
              <a:rPr sz="1200" i="1">
                <a:solidFill>
                  <a:srgbClr val="57504A"/>
                </a:solidFill>
                <a:latin typeface="Calibri"/>
              </a:rPr>
              <a:t>PART 1 — Executive Summary &amp; The 10 Key Decisions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3251565"/>
                <a:gridCol w="5134051"/>
                <a:gridCol w="3165998"/>
              </a:tblGrid>
              <a:tr h="239485">
                <a:tc>
                  <a:txBody>
                    <a:bodyPr wrap="square"/>
                    <a:lstStyle/>
                    <a:p>
                      <a:r>
                        <a:rPr sz="900" b="1" i="0">
                          <a:solidFill>
                            <a:srgbClr val="FFFFFF"/>
                          </a:solidFill>
                          <a:latin typeface="Calibri"/>
                        </a:rPr>
                        <a:t>File</a:t>
                      </a:r>
                    </a:p>
                  </a:txBody>
                  <a:tcPr marL="45720" marR="45720" marT="18288" marB="18288" anchor="t">
                    <a:solidFill>
                      <a:srgbClr val="B44A2E"/>
                    </a:solidFill>
                  </a:tcPr>
                </a:tc>
                <a:tc>
                  <a:txBody>
                    <a:bodyPr wrap="square"/>
                    <a:lstStyle/>
                    <a:p>
                      <a:r>
                        <a:rPr sz="900" b="1" i="0">
                          <a:solidFill>
                            <a:srgbClr val="FFFFFF"/>
                          </a:solidFill>
                          <a:latin typeface="Calibri"/>
                        </a:rPr>
                        <a:t>Covers your request</a:t>
                      </a:r>
                    </a:p>
                  </a:txBody>
                  <a:tcPr marL="45720" marR="45720" marT="18288" marB="18288" anchor="t">
                    <a:solidFill>
                      <a:srgbClr val="B44A2E"/>
                    </a:solidFill>
                  </a:tcPr>
                </a:tc>
                <a:tc>
                  <a:txBody>
                    <a:bodyPr wrap="square"/>
                    <a:lstStyle/>
                    <a:p>
                      <a:r>
                        <a:rPr sz="900" b="1" i="0">
                          <a:solidFill>
                            <a:srgbClr val="FFFFFF"/>
                          </a:solidFill>
                          <a:latin typeface="Calibri"/>
                        </a:rPr>
                        <a:t>Read when</a:t>
                      </a:r>
                    </a:p>
                  </a:txBody>
                  <a:tcPr marL="45720" marR="45720" marT="18288" marB="18288" anchor="t">
                    <a:solidFill>
                      <a:srgbClr val="B44A2E"/>
                    </a:solidFill>
                  </a:tcPr>
                </a:tc>
              </a:tr>
              <a:tr h="239485">
                <a:tc>
                  <a:txBody>
                    <a:bodyPr wrap="square"/>
                    <a:lstStyle/>
                    <a:p>
                      <a:r>
                        <a:rPr sz="800" b="0" i="0">
                          <a:solidFill>
                            <a:srgbClr val="8F3A22"/>
                          </a:solidFill>
                          <a:latin typeface="Consolas"/>
                        </a:rPr>
                        <a:t>01-platforms-and-positioning.md</a:t>
                      </a:r>
                    </a:p>
                  </a:txBody>
                  <a:tcPr marL="45720" marR="45720" marT="18288" marB="18288" anchor="t">
                    <a:solidFill>
                      <a:srgbClr val="FFFFFF"/>
                    </a:solidFill>
                  </a:tcPr>
                </a:tc>
                <a:tc>
                  <a:txBody>
                    <a:bodyPr wrap="square"/>
                    <a:lstStyle/>
                    <a:p>
                      <a:r>
                        <a:rPr sz="900" b="0" i="0">
                          <a:solidFill>
                            <a:srgbClr val="2A2622"/>
                          </a:solidFill>
                          <a:latin typeface="Calibri"/>
                        </a:rPr>
                        <a:t>§1 Platforms ranked + §2 Brand positioning</a:t>
                      </a:r>
                    </a:p>
                  </a:txBody>
                  <a:tcPr marL="45720" marR="45720" marT="18288" marB="18288" anchor="t">
                    <a:solidFill>
                      <a:srgbClr val="FFFFFF"/>
                    </a:solidFill>
                  </a:tcPr>
                </a:tc>
                <a:tc>
                  <a:txBody>
                    <a:bodyPr wrap="square"/>
                    <a:lstStyle/>
                    <a:p>
                      <a:r>
                        <a:rPr sz="900" b="0" i="0">
                          <a:solidFill>
                            <a:srgbClr val="2A2622"/>
                          </a:solidFill>
                          <a:latin typeface="Calibri"/>
                        </a:rPr>
                        <a:t>Day 1, before anything else</a:t>
                      </a:r>
                    </a:p>
                  </a:txBody>
                  <a:tcPr marL="45720" marR="45720" marT="18288" marB="18288" anchor="t">
                    <a:solidFill>
                      <a:srgbClr val="FFFFFF"/>
                    </a:solidFill>
                  </a:tcPr>
                </a:tc>
              </a:tr>
              <a:tr h="239485">
                <a:tc>
                  <a:txBody>
                    <a:bodyPr wrap="square"/>
                    <a:lstStyle/>
                    <a:p>
                      <a:r>
                        <a:rPr sz="800" b="0" i="0">
                          <a:solidFill>
                            <a:srgbClr val="8F3A22"/>
                          </a:solidFill>
                          <a:latin typeface="Consolas"/>
                        </a:rPr>
                        <a:t>02-content-pillars.md</a:t>
                      </a:r>
                    </a:p>
                  </a:txBody>
                  <a:tcPr marL="45720" marR="45720" marT="18288" marB="18288" anchor="t">
                    <a:solidFill>
                      <a:srgbClr val="F6F1E7"/>
                    </a:solidFill>
                  </a:tcPr>
                </a:tc>
                <a:tc>
                  <a:txBody>
                    <a:bodyPr wrap="square"/>
                    <a:lstStyle/>
                    <a:p>
                      <a:r>
                        <a:rPr sz="900" b="0" i="0">
                          <a:solidFill>
                            <a:srgbClr val="2A2622"/>
                          </a:solidFill>
                          <a:latin typeface="Calibri"/>
                        </a:rPr>
                        <a:t>§3 The 7 content pillars</a:t>
                      </a:r>
                    </a:p>
                  </a:txBody>
                  <a:tcPr marL="45720" marR="45720" marT="18288" marB="18288" anchor="t">
                    <a:solidFill>
                      <a:srgbClr val="F6F1E7"/>
                    </a:solidFill>
                  </a:tcPr>
                </a:tc>
                <a:tc>
                  <a:txBody>
                    <a:bodyPr wrap="square"/>
                    <a:lstStyle/>
                    <a:p>
                      <a:r>
                        <a:rPr sz="900" b="0" i="0">
                          <a:solidFill>
                            <a:srgbClr val="2A2622"/>
                          </a:solidFill>
                          <a:latin typeface="Calibri"/>
                        </a:rPr>
                        <a:t>Day 1</a:t>
                      </a:r>
                    </a:p>
                  </a:txBody>
                  <a:tcPr marL="45720" marR="45720" marT="18288" marB="18288" anchor="t">
                    <a:solidFill>
                      <a:srgbClr val="F6F1E7"/>
                    </a:solidFill>
                  </a:tcPr>
                </a:tc>
              </a:tr>
              <a:tr h="239485">
                <a:tc>
                  <a:txBody>
                    <a:bodyPr wrap="square"/>
                    <a:lstStyle/>
                    <a:p>
                      <a:r>
                        <a:rPr sz="800" b="0" i="0">
                          <a:solidFill>
                            <a:srgbClr val="8F3A22"/>
                          </a:solidFill>
                          <a:latin typeface="Consolas"/>
                        </a:rPr>
                        <a:t>03-launch-4-weeks.md</a:t>
                      </a:r>
                    </a:p>
                  </a:txBody>
                  <a:tcPr marL="45720" marR="45720" marT="18288" marB="18288" anchor="t">
                    <a:solidFill>
                      <a:srgbClr val="FFFFFF"/>
                    </a:solidFill>
                  </a:tcPr>
                </a:tc>
                <a:tc>
                  <a:txBody>
                    <a:bodyPr wrap="square"/>
                    <a:lstStyle/>
                    <a:p>
                      <a:r>
                        <a:rPr sz="900" b="0" i="0">
                          <a:solidFill>
                            <a:srgbClr val="2A2622"/>
                          </a:solidFill>
                          <a:latin typeface="Calibri"/>
                        </a:rPr>
                        <a:t>§4 Day 1–7 + Weeks 2–4 exact plan</a:t>
                      </a:r>
                    </a:p>
                  </a:txBody>
                  <a:tcPr marL="45720" marR="45720" marT="18288" marB="18288" anchor="t">
                    <a:solidFill>
                      <a:srgbClr val="FFFFFF"/>
                    </a:solidFill>
                  </a:tcPr>
                </a:tc>
                <a:tc>
                  <a:txBody>
                    <a:bodyPr wrap="square"/>
                    <a:lstStyle/>
                    <a:p>
                      <a:r>
                        <a:rPr sz="900" b="0" i="0">
                          <a:solidFill>
                            <a:srgbClr val="2A2622"/>
                          </a:solidFill>
                          <a:latin typeface="Calibri"/>
                        </a:rPr>
                        <a:t>Day 1</a:t>
                      </a:r>
                    </a:p>
                  </a:txBody>
                  <a:tcPr marL="45720" marR="45720" marT="18288" marB="18288" anchor="t">
                    <a:solidFill>
                      <a:srgbClr val="FFFFFF"/>
                    </a:solidFill>
                  </a:tcPr>
                </a:tc>
              </a:tr>
              <a:tr h="239485">
                <a:tc>
                  <a:txBody>
                    <a:bodyPr wrap="square"/>
                    <a:lstStyle/>
                    <a:p>
                      <a:r>
                        <a:rPr sz="800" b="0" i="0">
                          <a:solidFill>
                            <a:srgbClr val="8F3A22"/>
                          </a:solidFill>
                          <a:latin typeface="Consolas"/>
                        </a:rPr>
                        <a:t>04-calendar-days-01-10.md</a:t>
                      </a:r>
                    </a:p>
                  </a:txBody>
                  <a:tcPr marL="45720" marR="45720" marT="18288" marB="18288" anchor="t">
                    <a:solidFill>
                      <a:srgbClr val="F6F1E7"/>
                    </a:solidFill>
                  </a:tcPr>
                </a:tc>
                <a:tc>
                  <a:txBody>
                    <a:bodyPr wrap="square"/>
                    <a:lstStyle/>
                    <a:p>
                      <a:r>
                        <a:rPr sz="900" b="0" i="0">
                          <a:solidFill>
                            <a:srgbClr val="2A2622"/>
                          </a:solidFill>
                          <a:latin typeface="Calibri"/>
                        </a:rPr>
                        <a:t>§5 30-day calendar, Days 1–10 (full scripts)</a:t>
                      </a:r>
                    </a:p>
                  </a:txBody>
                  <a:tcPr marL="45720" marR="45720" marT="18288" marB="18288" anchor="t">
                    <a:solidFill>
                      <a:srgbClr val="F6F1E7"/>
                    </a:solidFill>
                  </a:tcPr>
                </a:tc>
                <a:tc>
                  <a:txBody>
                    <a:bodyPr wrap="square"/>
                    <a:lstStyle/>
                    <a:p>
                      <a:r>
                        <a:rPr sz="900" b="0" i="0">
                          <a:solidFill>
                            <a:srgbClr val="2A2622"/>
                          </a:solidFill>
                          <a:latin typeface="Calibri"/>
                        </a:rPr>
                        <a:t>Week 1</a:t>
                      </a:r>
                    </a:p>
                  </a:txBody>
                  <a:tcPr marL="45720" marR="45720" marT="18288" marB="18288" anchor="t">
                    <a:solidFill>
                      <a:srgbClr val="F6F1E7"/>
                    </a:solidFill>
                  </a:tcPr>
                </a:tc>
              </a:tr>
              <a:tr h="239485">
                <a:tc>
                  <a:txBody>
                    <a:bodyPr wrap="square"/>
                    <a:lstStyle/>
                    <a:p>
                      <a:r>
                        <a:rPr sz="800" b="0" i="0">
                          <a:solidFill>
                            <a:srgbClr val="8F3A22"/>
                          </a:solidFill>
                          <a:latin typeface="Consolas"/>
                        </a:rPr>
                        <a:t>05-calendar-days-11-20.md</a:t>
                      </a:r>
                    </a:p>
                  </a:txBody>
                  <a:tcPr marL="45720" marR="45720" marT="18288" marB="18288" anchor="t">
                    <a:solidFill>
                      <a:srgbClr val="FFFFFF"/>
                    </a:solidFill>
                  </a:tcPr>
                </a:tc>
                <a:tc>
                  <a:txBody>
                    <a:bodyPr wrap="square"/>
                    <a:lstStyle/>
                    <a:p>
                      <a:r>
                        <a:rPr sz="900" b="0" i="0">
                          <a:solidFill>
                            <a:srgbClr val="2A2622"/>
                          </a:solidFill>
                          <a:latin typeface="Calibri"/>
                        </a:rPr>
                        <a:t>§5 Days 11–20 (full scripts)</a:t>
                      </a:r>
                    </a:p>
                  </a:txBody>
                  <a:tcPr marL="45720" marR="45720" marT="18288" marB="18288" anchor="t">
                    <a:solidFill>
                      <a:srgbClr val="FFFFFF"/>
                    </a:solidFill>
                  </a:tcPr>
                </a:tc>
                <a:tc>
                  <a:txBody>
                    <a:bodyPr wrap="square"/>
                    <a:lstStyle/>
                    <a:p>
                      <a:r>
                        <a:rPr sz="900" b="0" i="0">
                          <a:solidFill>
                            <a:srgbClr val="2A2622"/>
                          </a:solidFill>
                          <a:latin typeface="Calibri"/>
                        </a:rPr>
                        <a:t>Week 2</a:t>
                      </a:r>
                    </a:p>
                  </a:txBody>
                  <a:tcPr marL="45720" marR="45720" marT="18288" marB="18288" anchor="t">
                    <a:solidFill>
                      <a:srgbClr val="FFFFFF"/>
                    </a:solidFill>
                  </a:tcPr>
                </a:tc>
              </a:tr>
              <a:tr h="239485">
                <a:tc>
                  <a:txBody>
                    <a:bodyPr wrap="square"/>
                    <a:lstStyle/>
                    <a:p>
                      <a:r>
                        <a:rPr sz="800" b="0" i="0">
                          <a:solidFill>
                            <a:srgbClr val="8F3A22"/>
                          </a:solidFill>
                          <a:latin typeface="Consolas"/>
                        </a:rPr>
                        <a:t>06-calendar-days-21-30.md</a:t>
                      </a:r>
                    </a:p>
                  </a:txBody>
                  <a:tcPr marL="45720" marR="45720" marT="18288" marB="18288" anchor="t">
                    <a:solidFill>
                      <a:srgbClr val="F6F1E7"/>
                    </a:solidFill>
                  </a:tcPr>
                </a:tc>
                <a:tc>
                  <a:txBody>
                    <a:bodyPr wrap="square"/>
                    <a:lstStyle/>
                    <a:p>
                      <a:r>
                        <a:rPr sz="900" b="0" i="0">
                          <a:solidFill>
                            <a:srgbClr val="2A2622"/>
                          </a:solidFill>
                          <a:latin typeface="Calibri"/>
                        </a:rPr>
                        <a:t>§5 Days 21–30 (full scripts)</a:t>
                      </a:r>
                    </a:p>
                  </a:txBody>
                  <a:tcPr marL="45720" marR="45720" marT="18288" marB="18288" anchor="t">
                    <a:solidFill>
                      <a:srgbClr val="F6F1E7"/>
                    </a:solidFill>
                  </a:tcPr>
                </a:tc>
                <a:tc>
                  <a:txBody>
                    <a:bodyPr wrap="square"/>
                    <a:lstStyle/>
                    <a:p>
                      <a:r>
                        <a:rPr sz="900" b="0" i="0">
                          <a:solidFill>
                            <a:srgbClr val="2A2622"/>
                          </a:solidFill>
                          <a:latin typeface="Calibri"/>
                        </a:rPr>
                        <a:t>Week 3</a:t>
                      </a:r>
                    </a:p>
                  </a:txBody>
                  <a:tcPr marL="45720" marR="45720" marT="18288" marB="18288" anchor="t">
                    <a:solidFill>
                      <a:srgbClr val="F6F1E7"/>
                    </a:solidFill>
                  </a:tcPr>
                </a:tc>
              </a:tr>
              <a:tr h="239485">
                <a:tc>
                  <a:txBody>
                    <a:bodyPr wrap="square"/>
                    <a:lstStyle/>
                    <a:p>
                      <a:r>
                        <a:rPr sz="800" b="0" i="0">
                          <a:solidFill>
                            <a:srgbClr val="8F3A22"/>
                          </a:solidFill>
                          <a:latin typeface="Consolas"/>
                        </a:rPr>
                        <a:t>07-hooks-library.md</a:t>
                      </a:r>
                    </a:p>
                  </a:txBody>
                  <a:tcPr marL="45720" marR="45720" marT="18288" marB="18288" anchor="t">
                    <a:solidFill>
                      <a:srgbClr val="FFFFFF"/>
                    </a:solidFill>
                  </a:tcPr>
                </a:tc>
                <a:tc>
                  <a:txBody>
                    <a:bodyPr wrap="square"/>
                    <a:lstStyle/>
                    <a:p>
                      <a:r>
                        <a:rPr sz="900" b="0" i="0">
                          <a:solidFill>
                            <a:srgbClr val="2A2622"/>
                          </a:solidFill>
                          <a:latin typeface="Calibri"/>
                        </a:rPr>
                        <a:t>§6 60+ hooks by style &amp; segment</a:t>
                      </a:r>
                    </a:p>
                  </a:txBody>
                  <a:tcPr marL="45720" marR="45720" marT="18288" marB="18288" anchor="t">
                    <a:solidFill>
                      <a:srgbClr val="FFFFFF"/>
                    </a:solidFill>
                  </a:tcPr>
                </a:tc>
                <a:tc>
                  <a:txBody>
                    <a:bodyPr wrap="square"/>
                    <a:lstStyle/>
                    <a:p>
                      <a:r>
                        <a:rPr sz="900" b="0" i="0">
                          <a:solidFill>
                            <a:srgbClr val="2A2622"/>
                          </a:solidFill>
                          <a:latin typeface="Calibri"/>
                        </a:rPr>
                        <a:t>Always (copy-paste bank)</a:t>
                      </a:r>
                    </a:p>
                  </a:txBody>
                  <a:tcPr marL="45720" marR="45720" marT="18288" marB="18288" anchor="t">
                    <a:solidFill>
                      <a:srgbClr val="FFFFFF"/>
                    </a:solidFill>
                  </a:tcPr>
                </a:tc>
              </a:tr>
              <a:tr h="239485">
                <a:tc>
                  <a:txBody>
                    <a:bodyPr wrap="square"/>
                    <a:lstStyle/>
                    <a:p>
                      <a:r>
                        <a:rPr sz="800" b="0" i="0">
                          <a:solidFill>
                            <a:srgbClr val="8F3A22"/>
                          </a:solidFill>
                          <a:latin typeface="Consolas"/>
                        </a:rPr>
                        <a:t>08-before-after-and-ugc.md</a:t>
                      </a:r>
                    </a:p>
                  </a:txBody>
                  <a:tcPr marL="45720" marR="45720" marT="18288" marB="18288" anchor="t">
                    <a:solidFill>
                      <a:srgbClr val="F6F1E7"/>
                    </a:solidFill>
                  </a:tcPr>
                </a:tc>
                <a:tc>
                  <a:txBody>
                    <a:bodyPr wrap="square"/>
                    <a:lstStyle/>
                    <a:p>
                      <a:r>
                        <a:rPr sz="900" b="0" i="0">
                          <a:solidFill>
                            <a:srgbClr val="2A2622"/>
                          </a:solidFill>
                          <a:latin typeface="Calibri"/>
                        </a:rPr>
                        <a:t>§7 Safe before/after + §8 20 UGC Reels (full scenes)</a:t>
                      </a:r>
                    </a:p>
                  </a:txBody>
                  <a:tcPr marL="45720" marR="45720" marT="18288" marB="18288" anchor="t">
                    <a:solidFill>
                      <a:srgbClr val="F6F1E7"/>
                    </a:solidFill>
                  </a:tcPr>
                </a:tc>
                <a:tc>
                  <a:txBody>
                    <a:bodyPr wrap="square"/>
                    <a:lstStyle/>
                    <a:p>
                      <a:r>
                        <a:rPr sz="900" b="0" i="0">
                          <a:solidFill>
                            <a:srgbClr val="2A2622"/>
                          </a:solidFill>
                          <a:latin typeface="Calibri"/>
                        </a:rPr>
                        <a:t>Week 1 setup, always</a:t>
                      </a:r>
                    </a:p>
                  </a:txBody>
                  <a:tcPr marL="45720" marR="45720" marT="18288" marB="18288" anchor="t">
                    <a:solidFill>
                      <a:srgbClr val="F6F1E7"/>
                    </a:solidFill>
                  </a:tcPr>
                </a:tc>
              </a:tr>
              <a:tr h="239485">
                <a:tc>
                  <a:txBody>
                    <a:bodyPr wrap="square"/>
                    <a:lstStyle/>
                    <a:p>
                      <a:r>
                        <a:rPr sz="800" b="0" i="0">
                          <a:solidFill>
                            <a:srgbClr val="8F3A22"/>
                          </a:solidFill>
                          <a:latin typeface="Consolas"/>
                        </a:rPr>
                        <a:t>09-ai-video-prompts.md</a:t>
                      </a:r>
                    </a:p>
                  </a:txBody>
                  <a:tcPr marL="45720" marR="45720" marT="18288" marB="18288" anchor="t">
                    <a:solidFill>
                      <a:srgbClr val="FFFFFF"/>
                    </a:solidFill>
                  </a:tcPr>
                </a:tc>
                <a:tc>
                  <a:txBody>
                    <a:bodyPr wrap="square"/>
                    <a:lstStyle/>
                    <a:p>
                      <a:r>
                        <a:rPr sz="900" b="0" i="0">
                          <a:solidFill>
                            <a:srgbClr val="2A2622"/>
                          </a:solidFill>
                          <a:latin typeface="Calibri"/>
                        </a:rPr>
                        <a:t>§9 AI UGC video prompts (5/8/10/15s)</a:t>
                      </a:r>
                    </a:p>
                  </a:txBody>
                  <a:tcPr marL="45720" marR="45720" marT="18288" marB="18288" anchor="t">
                    <a:solidFill>
                      <a:srgbClr val="FFFFFF"/>
                    </a:solidFill>
                  </a:tcPr>
                </a:tc>
                <a:tc>
                  <a:txBody>
                    <a:bodyPr wrap="square"/>
                    <a:lstStyle/>
                    <a:p>
                      <a:r>
                        <a:rPr sz="900" b="0" i="0">
                          <a:solidFill>
                            <a:srgbClr val="2A2622"/>
                          </a:solidFill>
                          <a:latin typeface="Calibri"/>
                        </a:rPr>
                        <a:t>When generating AI UGC</a:t>
                      </a:r>
                    </a:p>
                  </a:txBody>
                  <a:tcPr marL="45720" marR="45720" marT="18288" marB="18288" anchor="t">
                    <a:solidFill>
                      <a:srgbClr val="FFFFFF"/>
                    </a:solidFill>
                  </a:tcPr>
                </a:tc>
              </a:tr>
              <a:tr h="239485">
                <a:tc>
                  <a:txBody>
                    <a:bodyPr wrap="square"/>
                    <a:lstStyle/>
                    <a:p>
                      <a:r>
                        <a:rPr sz="800" b="0" i="0">
                          <a:solidFill>
                            <a:srgbClr val="8F3A22"/>
                          </a:solidFill>
                          <a:latin typeface="Consolas"/>
                        </a:rPr>
                        <a:t>10-product-content-hero.md</a:t>
                      </a:r>
                    </a:p>
                  </a:txBody>
                  <a:tcPr marL="45720" marR="45720" marT="18288" marB="18288" anchor="t">
                    <a:solidFill>
                      <a:srgbClr val="F6F1E7"/>
                    </a:solidFill>
                  </a:tcPr>
                </a:tc>
                <a:tc>
                  <a:txBody>
                    <a:bodyPr wrap="square"/>
                    <a:lstStyle/>
                    <a:p>
                      <a:r>
                        <a:rPr sz="900" b="0" i="0">
                          <a:solidFill>
                            <a:srgbClr val="2A2622"/>
                          </a:solidFill>
                          <a:latin typeface="Calibri"/>
                        </a:rPr>
                        <a:t>§10 Hero products: Face Wash, Vitamin C Serum, Moisturizer, Sunscreen (10 Reels + 5 carousels + 5 stories + 5 sales posts each)</a:t>
                      </a:r>
                    </a:p>
                  </a:txBody>
                  <a:tcPr marL="45720" marR="45720" marT="18288" marB="18288" anchor="t">
                    <a:solidFill>
                      <a:srgbClr val="F6F1E7"/>
                    </a:solidFill>
                  </a:tcPr>
                </a:tc>
                <a:tc>
                  <a:txBody>
                    <a:bodyPr wrap="square"/>
                    <a:lstStyle/>
                    <a:p>
                      <a:r>
                        <a:rPr sz="900" b="0" i="0">
                          <a:solidFill>
                            <a:srgbClr val="2A2622"/>
                          </a:solidFill>
                          <a:latin typeface="Calibri"/>
                        </a:rPr>
                        <a:t>Per product launch</a:t>
                      </a:r>
                    </a:p>
                  </a:txBody>
                  <a:tcPr marL="45720" marR="45720" marT="18288" marB="18288" anchor="t">
                    <a:solidFill>
                      <a:srgbClr val="F6F1E7"/>
                    </a:solidFill>
                  </a:tcPr>
                </a:tc>
              </a:tr>
              <a:tr h="239485">
                <a:tc>
                  <a:txBody>
                    <a:bodyPr wrap="square"/>
                    <a:lstStyle/>
                    <a:p>
                      <a:r>
                        <a:rPr sz="800" b="0" i="0">
                          <a:solidFill>
                            <a:srgbClr val="8F3A22"/>
                          </a:solidFill>
                          <a:latin typeface="Consolas"/>
                        </a:rPr>
                        <a:t>11-product-content-secondary.md</a:t>
                      </a:r>
                    </a:p>
                  </a:txBody>
                  <a:tcPr marL="45720" marR="45720" marT="18288" marB="18288" anchor="t">
                    <a:solidFill>
                      <a:srgbClr val="FFFFFF"/>
                    </a:solidFill>
                  </a:tcPr>
                </a:tc>
                <a:tc>
                  <a:txBody>
                    <a:bodyPr wrap="square"/>
                    <a:lstStyle/>
                    <a:p>
                      <a:r>
                        <a:rPr sz="900" b="0" i="0">
                          <a:solidFill>
                            <a:srgbClr val="2A2622"/>
                          </a:solidFill>
                          <a:latin typeface="Calibri"/>
                        </a:rPr>
                        <a:t>§10 Night Cream, Day Cream, Face Cream, Lip Care, Hair Care, Body Care (same format)</a:t>
                      </a:r>
                    </a:p>
                  </a:txBody>
                  <a:tcPr marL="45720" marR="45720" marT="18288" marB="18288" anchor="t">
                    <a:solidFill>
                      <a:srgbClr val="FFFFFF"/>
                    </a:solidFill>
                  </a:tcPr>
                </a:tc>
                <a:tc>
                  <a:txBody>
                    <a:bodyPr wrap="square"/>
                    <a:lstStyle/>
                    <a:p>
                      <a:r>
                        <a:rPr sz="900" b="0" i="0">
                          <a:solidFill>
                            <a:srgbClr val="2A2622"/>
                          </a:solidFill>
                          <a:latin typeface="Calibri"/>
                        </a:rPr>
                        <a:t>Month 2+</a:t>
                      </a:r>
                    </a:p>
                  </a:txBody>
                  <a:tcPr marL="45720" marR="45720" marT="18288" marB="18288" anchor="t">
                    <a:solidFill>
                      <a:srgbClr val="FFFFFF"/>
                    </a:solidFill>
                  </a:tcPr>
                </a:tc>
              </a:tr>
              <a:tr h="239485">
                <a:tc>
                  <a:txBody>
                    <a:bodyPr wrap="square"/>
                    <a:lstStyle/>
                    <a:p>
                      <a:r>
                        <a:rPr sz="800" b="0" i="0">
                          <a:solidFill>
                            <a:srgbClr val="8F3A22"/>
                          </a:solidFill>
                          <a:latin typeface="Consolas"/>
                        </a:rPr>
                        <a:t>12-gujarat-first.md</a:t>
                      </a:r>
                    </a:p>
                  </a:txBody>
                  <a:tcPr marL="45720" marR="45720" marT="18288" marB="18288" anchor="t">
                    <a:solidFill>
                      <a:srgbClr val="F6F1E7"/>
                    </a:solidFill>
                  </a:tcPr>
                </a:tc>
                <a:tc>
                  <a:txBody>
                    <a:bodyPr wrap="square"/>
                    <a:lstStyle/>
                    <a:p>
                      <a:r>
                        <a:rPr sz="900" b="0" i="0">
                          <a:solidFill>
                            <a:srgbClr val="2A2622"/>
                          </a:solidFill>
                          <a:latin typeface="Calibri"/>
                        </a:rPr>
                        <a:t>§11 Gujarat-first strategy (language, cities, culture, creators)</a:t>
                      </a:r>
                    </a:p>
                  </a:txBody>
                  <a:tcPr marL="45720" marR="45720" marT="18288" marB="18288" anchor="t">
                    <a:solidFill>
                      <a:srgbClr val="F6F1E7"/>
                    </a:solidFill>
                  </a:tcPr>
                </a:tc>
                <a:tc>
                  <a:txBody>
                    <a:bodyPr wrap="square"/>
                    <a:lstStyle/>
                    <a:p>
                      <a:r>
                        <a:rPr sz="900" b="0" i="0">
                          <a:solidFill>
                            <a:srgbClr val="2A2622"/>
                          </a:solidFill>
                          <a:latin typeface="Calibri"/>
                        </a:rPr>
                        <a:t>Week 1, then ongoing</a:t>
                      </a:r>
                    </a:p>
                  </a:txBody>
                  <a:tcPr marL="45720" marR="45720" marT="18288" marB="18288" anchor="t">
                    <a:solidFill>
                      <a:srgbClr val="F6F1E7"/>
                    </a:solidFill>
                  </a:tcPr>
                </a:tc>
              </a:tr>
              <a:tr h="239485">
                <a:tc>
                  <a:txBody>
                    <a:bodyPr wrap="square"/>
                    <a:lstStyle/>
                    <a:p>
                      <a:r>
                        <a:rPr sz="800" b="0" i="0">
                          <a:solidFill>
                            <a:srgbClr val="8F3A22"/>
                          </a:solidFill>
                          <a:latin typeface="Consolas"/>
                        </a:rPr>
                        <a:t>13-stories-and-profile.md</a:t>
                      </a:r>
                    </a:p>
                  </a:txBody>
                  <a:tcPr marL="45720" marR="45720" marT="18288" marB="18288" anchor="t">
                    <a:solidFill>
                      <a:srgbClr val="FFFFFF"/>
                    </a:solidFill>
                  </a:tcPr>
                </a:tc>
                <a:tc>
                  <a:txBody>
                    <a:bodyPr wrap="square"/>
                    <a:lstStyle/>
                    <a:p>
                      <a:r>
                        <a:rPr sz="900" b="0" i="0">
                          <a:solidFill>
                            <a:srgbClr val="2A2622"/>
                          </a:solidFill>
                          <a:latin typeface="Calibri"/>
                        </a:rPr>
                        <a:t>§12 30-day Story calendar + daily story formula + §13 Full profile build (bio, name field, highlights, pinned)</a:t>
                      </a:r>
                    </a:p>
                  </a:txBody>
                  <a:tcPr marL="45720" marR="45720" marT="18288" marB="18288" anchor="t">
                    <a:solidFill>
                      <a:srgbClr val="FFFFFF"/>
                    </a:solidFill>
                  </a:tcPr>
                </a:tc>
                <a:tc>
                  <a:txBody>
                    <a:bodyPr wrap="square"/>
                    <a:lstStyle/>
                    <a:p>
                      <a:r>
                        <a:rPr sz="900" b="0" i="0">
                          <a:solidFill>
                            <a:srgbClr val="2A2622"/>
                          </a:solidFill>
                          <a:latin typeface="Calibri"/>
                        </a:rPr>
                        <a:t>Day 1</a:t>
                      </a:r>
                    </a:p>
                  </a:txBody>
                  <a:tcPr marL="45720" marR="45720" marT="18288" marB="18288" anchor="t">
                    <a:solidFill>
                      <a:srgbClr val="FFFFFF"/>
                    </a:solidFill>
                  </a:tcPr>
                </a:tc>
              </a:tr>
              <a:tr h="239485">
                <a:tc>
                  <a:txBody>
                    <a:bodyPr wrap="square"/>
                    <a:lstStyle/>
                    <a:p>
                      <a:r>
                        <a:rPr sz="800" b="0" i="0">
                          <a:solidFill>
                            <a:srgbClr val="8F3A22"/>
                          </a:solidFill>
                          <a:latin typeface="Consolas"/>
                        </a:rPr>
                        <a:t>14-seo-and-hashtags.md</a:t>
                      </a:r>
                    </a:p>
                  </a:txBody>
                  <a:tcPr marL="45720" marR="45720" marT="18288" marB="18288" anchor="t">
                    <a:solidFill>
                      <a:srgbClr val="F6F1E7"/>
                    </a:solidFill>
                  </a:tcPr>
                </a:tc>
                <a:tc>
                  <a:txBody>
                    <a:bodyPr wrap="square"/>
                    <a:lstStyle/>
                    <a:p>
                      <a:r>
                        <a:rPr sz="900" b="0" i="0">
                          <a:solidFill>
                            <a:srgbClr val="2A2622"/>
                          </a:solidFill>
                          <a:latin typeface="Calibri"/>
                        </a:rPr>
                        <a:t>§14 Social SEO keyword system + §15 Hashtag framework</a:t>
                      </a:r>
                    </a:p>
                  </a:txBody>
                  <a:tcPr marL="45720" marR="45720" marT="18288" marB="18288" anchor="t">
                    <a:solidFill>
                      <a:srgbClr val="F6F1E7"/>
                    </a:solidFill>
                  </a:tcPr>
                </a:tc>
                <a:tc>
                  <a:txBody>
                    <a:bodyPr wrap="square"/>
                    <a:lstStyle/>
                    <a:p>
                      <a:r>
                        <a:rPr sz="900" b="0" i="0">
                          <a:solidFill>
                            <a:srgbClr val="2A2622"/>
                          </a:solidFill>
                          <a:latin typeface="Calibri"/>
                        </a:rPr>
                        <a:t>Day 1, then per post</a:t>
                      </a:r>
                    </a:p>
                  </a:txBody>
                  <a:tcPr marL="45720" marR="45720" marT="18288" marB="18288" anchor="t">
                    <a:solidFill>
                      <a:srgbClr val="F6F1E7"/>
                    </a:solidFill>
                  </a:tcPr>
                </a:tc>
              </a:tr>
              <a:tr h="239485">
                <a:tc>
                  <a:txBody>
                    <a:bodyPr wrap="square"/>
                    <a:lstStyle/>
                    <a:p>
                      <a:r>
                        <a:rPr sz="800" b="0" i="0">
                          <a:solidFill>
                            <a:srgbClr val="8F3A22"/>
                          </a:solidFill>
                          <a:latin typeface="Consolas"/>
                        </a:rPr>
                        <a:t>15-meta-ads-campaigns-budgets.md</a:t>
                      </a:r>
                    </a:p>
                  </a:txBody>
                  <a:tcPr marL="45720" marR="45720" marT="18288" marB="18288" anchor="t">
                    <a:solidFill>
                      <a:srgbClr val="FFFFFF"/>
                    </a:solidFill>
                  </a:tcPr>
                </a:tc>
                <a:tc>
                  <a:txBody>
                    <a:bodyPr wrap="square"/>
                    <a:lstStyle/>
                    <a:p>
                      <a:r>
                        <a:rPr sz="900" b="0" i="0">
                          <a:solidFill>
                            <a:srgbClr val="2A2622"/>
                          </a:solidFill>
                          <a:latin typeface="Calibri"/>
                        </a:rPr>
                        <a:t>§16 4 campaigns + §17 budgets (₹300/500/1000/2000/5000)</a:t>
                      </a:r>
                    </a:p>
                  </a:txBody>
                  <a:tcPr marL="45720" marR="45720" marT="18288" marB="18288" anchor="t">
                    <a:solidFill>
                      <a:srgbClr val="FFFFFF"/>
                    </a:solidFill>
                  </a:tcPr>
                </a:tc>
                <a:tc>
                  <a:txBody>
                    <a:bodyPr wrap="square"/>
                    <a:lstStyle/>
                    <a:p>
                      <a:r>
                        <a:rPr sz="900" b="0" i="0">
                          <a:solidFill>
                            <a:srgbClr val="2A2622"/>
                          </a:solidFill>
                          <a:latin typeface="Calibri"/>
                        </a:rPr>
                        <a:t>From Day 15</a:t>
                      </a:r>
                    </a:p>
                  </a:txBody>
                  <a:tcPr marL="45720" marR="45720" marT="18288" marB="18288" anchor="t">
                    <a:solidFill>
                      <a:srgbClr val="FFFFFF"/>
                    </a:solidFill>
                  </a:tcPr>
                </a:tc>
              </a:tr>
              <a:tr h="239485">
                <a:tc>
                  <a:txBody>
                    <a:bodyPr wrap="square"/>
                    <a:lstStyle/>
                    <a:p>
                      <a:r>
                        <a:rPr sz="800" b="0" i="0">
                          <a:solidFill>
                            <a:srgbClr val="8F3A22"/>
                          </a:solidFill>
                          <a:latin typeface="Consolas"/>
                        </a:rPr>
                        <a:t>16-creative-testing-and-retargeting.md</a:t>
                      </a:r>
                    </a:p>
                  </a:txBody>
                  <a:tcPr marL="45720" marR="45720" marT="18288" marB="18288" anchor="t">
                    <a:solidFill>
                      <a:srgbClr val="F6F1E7"/>
                    </a:solidFill>
                  </a:tcPr>
                </a:tc>
                <a:tc>
                  <a:txBody>
                    <a:bodyPr wrap="square"/>
                    <a:lstStyle/>
                    <a:p>
                      <a:r>
                        <a:rPr sz="900" b="0" i="0">
                          <a:solidFill>
                            <a:srgbClr val="2A2622"/>
                          </a:solidFill>
                          <a:latin typeface="Calibri"/>
                        </a:rPr>
                        <a:t>§18 Creative testing system + metric definitions + §20 Retargeting sequence</a:t>
                      </a:r>
                    </a:p>
                  </a:txBody>
                  <a:tcPr marL="45720" marR="45720" marT="18288" marB="18288" anchor="t">
                    <a:solidFill>
                      <a:srgbClr val="F6F1E7"/>
                    </a:solidFill>
                  </a:tcPr>
                </a:tc>
                <a:tc>
                  <a:txBody>
                    <a:bodyPr wrap="square"/>
                    <a:lstStyle/>
                    <a:p>
                      <a:r>
                        <a:rPr sz="900" b="0" i="0">
                          <a:solidFill>
                            <a:srgbClr val="2A2622"/>
                          </a:solidFill>
                          <a:latin typeface="Calibri"/>
                        </a:rPr>
                        <a:t>From Day 21</a:t>
                      </a:r>
                    </a:p>
                  </a:txBody>
                  <a:tcPr marL="45720" marR="45720" marT="18288" marB="18288" anchor="t">
                    <a:solidFill>
                      <a:srgbClr val="F6F1E7"/>
                    </a:solidFill>
                  </a:tcPr>
                </a:tc>
              </a:tr>
              <a:tr h="239485">
                <a:tc>
                  <a:txBody>
                    <a:bodyPr wrap="square"/>
                    <a:lstStyle/>
                    <a:p>
                      <a:r>
                        <a:rPr sz="800" b="0" i="0">
                          <a:solidFill>
                            <a:srgbClr val="8F3A22"/>
                          </a:solidFill>
                          <a:latin typeface="Consolas"/>
                        </a:rPr>
                        <a:t>17-sales-ads-library.md</a:t>
                      </a:r>
                    </a:p>
                  </a:txBody>
                  <a:tcPr marL="45720" marR="45720" marT="18288" marB="18288" anchor="t">
                    <a:solidFill>
                      <a:srgbClr val="FFFFFF"/>
                    </a:solidFill>
                  </a:tcPr>
                </a:tc>
                <a:tc>
                  <a:txBody>
                    <a:bodyPr wrap="square"/>
                    <a:lstStyle/>
                    <a:p>
                      <a:r>
                        <a:rPr sz="900" b="0" i="0">
                          <a:solidFill>
                            <a:srgbClr val="2A2622"/>
                          </a:solidFill>
                          <a:latin typeface="Calibri"/>
                        </a:rPr>
                        <a:t>§19 10 hooks + 10 primary texts + 10 headlines + 10 CTAs (ready to paste)</a:t>
                      </a:r>
                    </a:p>
                  </a:txBody>
                  <a:tcPr marL="45720" marR="45720" marT="18288" marB="18288" anchor="t">
                    <a:solidFill>
                      <a:srgbClr val="FFFFFF"/>
                    </a:solidFill>
                  </a:tcPr>
                </a:tc>
                <a:tc>
                  <a:txBody>
                    <a:bodyPr wrap="square"/>
                    <a:lstStyle/>
                    <a:p>
                      <a:r>
                        <a:rPr sz="900" b="0" i="0">
                          <a:solidFill>
                            <a:srgbClr val="2A2622"/>
                          </a:solidFill>
                          <a:latin typeface="Calibri"/>
                        </a:rPr>
                        <a:t>Ad launch</a:t>
                      </a:r>
                    </a:p>
                  </a:txBody>
                  <a:tcPr marL="45720" marR="45720" marT="18288" marB="18288" anchor="t">
                    <a:solidFill>
                      <a:srgbClr val="FFFFFF"/>
                    </a:solidFill>
                  </a:tcPr>
                </a:tc>
              </a:tr>
              <a:tr h="239485">
                <a:tc>
                  <a:txBody>
                    <a:bodyPr wrap="square"/>
                    <a:lstStyle/>
                    <a:p>
                      <a:r>
                        <a:rPr sz="800" b="0" i="0">
                          <a:solidFill>
                            <a:srgbClr val="8F3A22"/>
                          </a:solidFill>
                          <a:latin typeface="Consolas"/>
                        </a:rPr>
                        <a:t>18-funnel-psychology-ratio.md</a:t>
                      </a:r>
                    </a:p>
                  </a:txBody>
                  <a:tcPr marL="45720" marR="45720" marT="18288" marB="18288" anchor="t">
                    <a:solidFill>
                      <a:srgbClr val="F6F1E7"/>
                    </a:solidFill>
                  </a:tcPr>
                </a:tc>
                <a:tc>
                  <a:txBody>
                    <a:bodyPr wrap="square"/>
                    <a:lstStyle/>
                    <a:p>
                      <a:r>
                        <a:rPr sz="900" b="0" i="0">
                          <a:solidFill>
                            <a:srgbClr val="2A2622"/>
                          </a:solidFill>
                          <a:latin typeface="Calibri"/>
                        </a:rPr>
                        <a:t>§21 Content→Sales funnel map + §22 Viral vs sales ratio + §23 Indian buyer psychology</a:t>
                      </a:r>
                    </a:p>
                  </a:txBody>
                  <a:tcPr marL="45720" marR="45720" marT="18288" marB="18288" anchor="t">
                    <a:solidFill>
                      <a:srgbClr val="F6F1E7"/>
                    </a:solidFill>
                  </a:tcPr>
                </a:tc>
                <a:tc>
                  <a:txBody>
                    <a:bodyPr wrap="square"/>
                    <a:lstStyle/>
                    <a:p>
                      <a:r>
                        <a:rPr sz="900" b="0" i="0">
                          <a:solidFill>
                            <a:srgbClr val="2A2622"/>
                          </a:solidFill>
                          <a:latin typeface="Calibri"/>
                        </a:rPr>
                        <a:t>Week 1, then monthly review</a:t>
                      </a:r>
                    </a:p>
                  </a:txBody>
                  <a:tcPr marL="45720" marR="45720" marT="18288" marB="18288" anchor="t">
                    <a:solidFill>
                      <a:srgbClr val="F6F1E7"/>
                    </a:solidFill>
                  </a:tcPr>
                </a:tc>
              </a:tr>
              <a:tr h="239485">
                <a:tc>
                  <a:txBody>
                    <a:bodyPr wrap="square"/>
                    <a:lstStyle/>
                    <a:p>
                      <a:r>
                        <a:rPr sz="800" b="0" i="0">
                          <a:solidFill>
                            <a:srgbClr val="8F3A22"/>
                          </a:solidFill>
                          <a:latin typeface="Consolas"/>
                        </a:rPr>
                        <a:t>19-first-followers-customers.md</a:t>
                      </a:r>
                    </a:p>
                  </a:txBody>
                  <a:tcPr marL="45720" marR="45720" marT="18288" marB="18288" anchor="t">
                    <a:solidFill>
                      <a:srgbClr val="FFFFFF"/>
                    </a:solidFill>
                  </a:tcPr>
                </a:tc>
                <a:tc>
                  <a:txBody>
                    <a:bodyPr wrap="square"/>
                    <a:lstStyle/>
                    <a:p>
                      <a:r>
                        <a:rPr sz="900" b="0" i="0">
                          <a:solidFill>
                            <a:srgbClr val="2A2622"/>
                          </a:solidFill>
                          <a:latin typeface="Calibri"/>
                        </a:rPr>
                        <a:t>§24 First 100/500/1000/5000/10000 followers + §25 First 100 customers plan</a:t>
                      </a:r>
                    </a:p>
                  </a:txBody>
                  <a:tcPr marL="45720" marR="45720" marT="18288" marB="18288" anchor="t">
                    <a:solidFill>
                      <a:srgbClr val="FFFFFF"/>
                    </a:solidFill>
                  </a:tcPr>
                </a:tc>
                <a:tc>
                  <a:txBody>
                    <a:bodyPr wrap="square"/>
                    <a:lstStyle/>
                    <a:p>
                      <a:r>
                        <a:rPr sz="900" b="0" i="0">
                          <a:solidFill>
                            <a:srgbClr val="2A2622"/>
                          </a:solidFill>
                          <a:latin typeface="Calibri"/>
                        </a:rPr>
                        <a:t>Day 1</a:t>
                      </a:r>
                    </a:p>
                  </a:txBody>
                  <a:tcPr marL="45720" marR="45720" marT="18288" marB="18288" anchor="t">
                    <a:solidFill>
                      <a:srgbClr val="FFFFFF"/>
                    </a:solidFill>
                  </a:tcPr>
                </a:tc>
              </a:tr>
              <a:tr h="239500">
                <a:tc>
                  <a:txBody>
                    <a:bodyPr wrap="square"/>
                    <a:lstStyle/>
                    <a:p>
                      <a:r>
                        <a:rPr sz="800" b="0" i="0">
                          <a:solidFill>
                            <a:srgbClr val="8F3A22"/>
                          </a:solidFill>
                          <a:latin typeface="Consolas"/>
                        </a:rPr>
                        <a:t>20-90-day-master-plan.md</a:t>
                      </a:r>
                    </a:p>
                  </a:txBody>
                  <a:tcPr marL="45720" marR="45720" marT="18288" marB="18288" anchor="t">
                    <a:solidFill>
                      <a:srgbClr val="F6F1E7"/>
                    </a:solidFill>
                  </a:tcPr>
                </a:tc>
                <a:tc>
                  <a:txBody>
                    <a:bodyPr wrap="square"/>
                    <a:lstStyle/>
                    <a:p>
                      <a:r>
                        <a:rPr sz="900" b="0" i="0">
                          <a:solidFill>
                            <a:srgbClr val="2A2622"/>
                          </a:solidFill>
                          <a:latin typeface="Calibri"/>
                        </a:rPr>
                        <a:t>§26 The 90-Day Social Media + Sales Master Plan</a:t>
                      </a:r>
                    </a:p>
                  </a:txBody>
                  <a:tcPr marL="45720" marR="45720" marT="18288" marB="18288" anchor="t">
                    <a:solidFill>
                      <a:srgbClr val="F6F1E7"/>
                    </a:solidFill>
                  </a:tcPr>
                </a:tc>
                <a:tc>
                  <a:txBody>
                    <a:bodyPr wrap="square"/>
                    <a:lstStyle/>
                    <a:p>
                      <a:r>
                        <a:rPr sz="900" b="0" i="0">
                          <a:solidFill>
                            <a:srgbClr val="2A2622"/>
                          </a:solidFill>
                          <a:latin typeface="Calibri"/>
                        </a:rPr>
                        <a:t>Day 1 (strategy layer), weekly (KPIs)</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FILE MAP — READ IN THIS ORDER  (cont. rows 21–40)</a:t>
            </a:r>
          </a:p>
          <a:p>
            <a:r>
              <a:rPr sz="1200" i="1">
                <a:solidFill>
                  <a:srgbClr val="57504A"/>
                </a:solidFill>
                <a:latin typeface="Calibri"/>
              </a:rPr>
              <a:t>PART 1 — Executive Summary &amp; The 10 Key Decisions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2291229"/>
                <a:gridCol w="5728073"/>
                <a:gridCol w="3532312"/>
              </a:tblGrid>
              <a:tr h="1676400">
                <a:tc>
                  <a:txBody>
                    <a:bodyPr wrap="square"/>
                    <a:lstStyle/>
                    <a:p>
                      <a:r>
                        <a:rPr sz="1050" b="1" i="0">
                          <a:solidFill>
                            <a:srgbClr val="8F3A22"/>
                          </a:solidFill>
                          <a:latin typeface="Consolas"/>
                        </a:rPr>
                        <a:t>20-90-day-master-plan.md</a:t>
                      </a:r>
                    </a:p>
                  </a:txBody>
                  <a:tcPr marL="45720" marR="45720" marT="18288" marB="18288" anchor="t">
                    <a:solidFill>
                      <a:srgbClr val="B44A2E"/>
                    </a:solidFill>
                  </a:tcPr>
                </a:tc>
                <a:tc>
                  <a:txBody>
                    <a:bodyPr wrap="square"/>
                    <a:lstStyle/>
                    <a:p>
                      <a:r>
                        <a:rPr sz="1200" b="1" i="0">
                          <a:solidFill>
                            <a:srgbClr val="FFFFFF"/>
                          </a:solidFill>
                          <a:latin typeface="Calibri"/>
                        </a:rPr>
                        <a:t>§26 The 90-Day Social Media + Sales Master Plan</a:t>
                      </a:r>
                    </a:p>
                  </a:txBody>
                  <a:tcPr marL="45720" marR="45720" marT="18288" marB="18288" anchor="t">
                    <a:solidFill>
                      <a:srgbClr val="B44A2E"/>
                    </a:solidFill>
                  </a:tcPr>
                </a:tc>
                <a:tc>
                  <a:txBody>
                    <a:bodyPr wrap="square"/>
                    <a:lstStyle/>
                    <a:p>
                      <a:r>
                        <a:rPr sz="1200" b="1" i="0">
                          <a:solidFill>
                            <a:srgbClr val="FFFFFF"/>
                          </a:solidFill>
                          <a:latin typeface="Calibri"/>
                        </a:rPr>
                        <a:t>Day 1 (strategy layer), weekly (KPIs)</a:t>
                      </a:r>
                    </a:p>
                  </a:txBody>
                  <a:tcPr marL="45720" marR="45720" marT="18288" marB="18288" anchor="t">
                    <a:solidFill>
                      <a:srgbClr val="B44A2E"/>
                    </a:solidFill>
                  </a:tcPr>
                </a:tc>
              </a:tr>
              <a:tr h="1676400">
                <a:tc>
                  <a:txBody>
                    <a:bodyPr wrap="square"/>
                    <a:lstStyle/>
                    <a:p>
                      <a:r>
                        <a:rPr sz="1050" b="0" i="0">
                          <a:solidFill>
                            <a:srgbClr val="8F3A22"/>
                          </a:solidFill>
                          <a:latin typeface="Consolas"/>
                        </a:rPr>
                        <a:t>21-production-system.md</a:t>
                      </a:r>
                    </a:p>
                  </a:txBody>
                  <a:tcPr marL="45720" marR="45720" marT="18288" marB="18288" anchor="t">
                    <a:solidFill>
                      <a:srgbClr val="FFFFFF"/>
                    </a:solidFill>
                  </a:tcPr>
                </a:tc>
                <a:tc>
                  <a:txBody>
                    <a:bodyPr wrap="square"/>
                    <a:lstStyle/>
                    <a:p>
                      <a:r>
                        <a:rPr sz="1200" b="0" i="0">
                          <a:solidFill>
                            <a:srgbClr val="2A2622"/>
                          </a:solidFill>
                          <a:latin typeface="Calibri"/>
                        </a:rPr>
                        <a:t>§27 Batch production system + weekly workflow</a:t>
                      </a:r>
                    </a:p>
                  </a:txBody>
                  <a:tcPr marL="45720" marR="45720" marT="18288" marB="18288" anchor="t">
                    <a:solidFill>
                      <a:srgbClr val="FFFFFF"/>
                    </a:solidFill>
                  </a:tcPr>
                </a:tc>
                <a:tc>
                  <a:txBody>
                    <a:bodyPr wrap="square"/>
                    <a:lstStyle/>
                    <a:p>
                      <a:r>
                        <a:rPr sz="1200" b="0" i="0">
                          <a:solidFill>
                            <a:srgbClr val="2A2622"/>
                          </a:solidFill>
                          <a:latin typeface="Calibri"/>
                        </a:rPr>
                        <a:t>Before first shoot day</a:t>
                      </a:r>
                    </a:p>
                  </a:txBody>
                  <a:tcPr marL="45720" marR="45720" marT="18288" marB="18288" anchor="t">
                    <a:solidFill>
                      <a:srgbClr val="FFFFFF"/>
                    </a:solidFill>
                  </a:tcPr>
                </a:tc>
              </a:tr>
              <a:tr h="1676400">
                <a:tc>
                  <a:txBody>
                    <a:bodyPr wrap="square"/>
                    <a:lstStyle/>
                    <a:p>
                      <a:r>
                        <a:rPr sz="1050" b="0" i="0">
                          <a:solidFill>
                            <a:srgbClr val="8F3A22"/>
                          </a:solidFill>
                          <a:latin typeface="Consolas"/>
                        </a:rPr>
                        <a:t>22-ceo-final-verdict.md</a:t>
                      </a:r>
                    </a:p>
                  </a:txBody>
                  <a:tcPr marL="45720" marR="45720" marT="18288" marB="18288" anchor="t">
                    <a:solidFill>
                      <a:srgbClr val="F6F1E7"/>
                    </a:solidFill>
                  </a:tcPr>
                </a:tc>
                <a:tc>
                  <a:txBody>
                    <a:bodyPr wrap="square"/>
                    <a:lstStyle/>
                    <a:p>
                      <a:r>
                        <a:rPr sz="1200" b="0" i="0">
                          <a:solidFill>
                            <a:srgbClr val="2A2622"/>
                          </a:solidFill>
                          <a:latin typeface="Calibri"/>
                        </a:rPr>
                        <a:t>§29 Compliance rules (safe/unsafe claims) + §30 CEO final verdict</a:t>
                      </a:r>
                    </a:p>
                  </a:txBody>
                  <a:tcPr marL="45720" marR="45720" marT="18288" marB="18288" anchor="t">
                    <a:solidFill>
                      <a:srgbClr val="F6F1E7"/>
                    </a:solidFill>
                  </a:tcPr>
                </a:tc>
                <a:tc>
                  <a:txBody>
                    <a:bodyPr wrap="square"/>
                    <a:lstStyle/>
                    <a:p>
                      <a:r>
                        <a:rPr sz="1200" b="0" i="0">
                          <a:solidFill>
                            <a:srgbClr val="2A2622"/>
                          </a:solidFill>
                          <a:latin typeface="Calibri"/>
                        </a:rPr>
                        <a:t>Day 1 + pin to wall</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COMPLIANCE — NON-NEGOTIABLES (applies to every file)</a:t>
            </a:r>
          </a:p>
          <a:p>
            <a:r>
              <a:rPr sz="1200" i="1">
                <a:solidFill>
                  <a:srgbClr val="57504A"/>
                </a:solidFill>
                <a:latin typeface="Calibri"/>
              </a:rPr>
              <a:t>PART 1 — Executive Summary &amp; The 10 Key Decisions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  </a:t>
            </a:r>
            <a:r>
              <a:rPr sz="1350" b="1" i="0">
                <a:solidFill>
                  <a:srgbClr val="2A2622"/>
                </a:solidFill>
                <a:latin typeface="Calibri"/>
              </a:rPr>
              <a:t>No fake before/after, fake testimonials, fake reviews — ever.</a:t>
            </a:r>
            <a:r>
              <a:rPr sz="1350" b="0" i="0">
                <a:solidFill>
                  <a:srgbClr val="2A2622"/>
                </a:solidFill>
                <a:latin typeface="Calibri"/>
              </a:rPr>
              <a:t> Only real customers, with written photo consent.</a:t>
            </a:r>
          </a:p>
          <a:p>
            <a:pPr>
              <a:spcAft>
                <a:spcPts val="400"/>
              </a:spcAft>
            </a:pPr>
            <a:r>
              <a:rPr sz="1350" b="1">
                <a:solidFill>
                  <a:srgbClr val="8F3A22"/>
                </a:solidFill>
                <a:latin typeface="Calibri"/>
              </a:rPr>
              <a:t>2.  </a:t>
            </a:r>
            <a:r>
              <a:rPr sz="1350" b="1" i="0">
                <a:solidFill>
                  <a:srgbClr val="2A2622"/>
                </a:solidFill>
                <a:latin typeface="Calibri"/>
              </a:rPr>
              <a:t>No medical claims.</a:t>
            </a:r>
            <a:r>
              <a:rPr sz="1350" b="0" i="0">
                <a:solidFill>
                  <a:srgbClr val="2A2622"/>
                </a:solidFill>
                <a:latin typeface="Calibri"/>
              </a:rPr>
              <a:t> No "cures," no "100% removes tan," no "permanent," no "dermatologist recommended" unless a dermatologist actually recommends it.</a:t>
            </a:r>
          </a:p>
          <a:p>
            <a:pPr>
              <a:spcAft>
                <a:spcPts val="400"/>
              </a:spcAft>
            </a:pPr>
            <a:r>
              <a:rPr sz="1350" b="1">
                <a:solidFill>
                  <a:srgbClr val="8F3A22"/>
                </a:solidFill>
                <a:latin typeface="Calibri"/>
              </a:rPr>
              <a:t>3.  </a:t>
            </a:r>
            <a:r>
              <a:rPr sz="1350" b="1" i="0">
                <a:solidFill>
                  <a:srgbClr val="2A2622"/>
                </a:solidFill>
                <a:latin typeface="Calibri"/>
              </a:rPr>
              <a:t>Safe language bank</a:t>
            </a:r>
            <a:r>
              <a:rPr sz="1350" b="0" i="0">
                <a:solidFill>
                  <a:srgbClr val="2A2622"/>
                </a:solidFill>
                <a:latin typeface="Calibri"/>
              </a:rPr>
              <a:t> (full table in </a:t>
            </a:r>
            <a:r>
              <a:rPr sz="1200" b="0" i="0">
                <a:solidFill>
                  <a:srgbClr val="8F3A22"/>
                </a:solidFill>
                <a:latin typeface="Consolas"/>
              </a:rPr>
              <a:t>22-ceo-final-verdict.md</a:t>
            </a:r>
            <a:r>
              <a:rPr sz="1350" b="0" i="0">
                <a:solidFill>
                  <a:srgbClr val="2A2622"/>
                </a:solidFill>
                <a:latin typeface="Calibri"/>
              </a:rPr>
              <a:t>): "helps brighten the look of skin," "may reduce the appearance of dark spots over consistent use," "formulated for Indian skin," "results may vary."</a:t>
            </a:r>
          </a:p>
          <a:p>
            <a:pPr>
              <a:spcAft>
                <a:spcPts val="400"/>
              </a:spcAft>
            </a:pPr>
            <a:r>
              <a:rPr sz="1350" b="1">
                <a:solidFill>
                  <a:srgbClr val="8F3A22"/>
                </a:solidFill>
                <a:latin typeface="Calibri"/>
              </a:rPr>
              <a:t>4.  </a:t>
            </a:r>
            <a:r>
              <a:rPr sz="1350" b="0" i="0">
                <a:solidFill>
                  <a:srgbClr val="2A2622"/>
                </a:solidFill>
                <a:latin typeface="Calibri"/>
              </a:rPr>
              <a:t>Before/after always on-screen: </a:t>
            </a:r>
            <a:r>
              <a:rPr sz="1350" b="1" i="0">
                <a:solidFill>
                  <a:srgbClr val="2A2622"/>
                </a:solidFill>
                <a:latin typeface="Calibri"/>
              </a:rPr>
              <a:t>"4 weeks of daily use · Results may vary · Individual experiences differ."</a:t>
            </a:r>
          </a:p>
          <a:p>
            <a:pPr>
              <a:spcAft>
                <a:spcPts val="400"/>
              </a:spcAft>
            </a:pPr>
            <a:r>
              <a:rPr sz="1350" b="1">
                <a:solidFill>
                  <a:srgbClr val="8F3A22"/>
                </a:solidFill>
                <a:latin typeface="Calibri"/>
              </a:rPr>
              <a:t>5.  </a:t>
            </a:r>
            <a:r>
              <a:rPr sz="1350" b="0" i="0">
                <a:solidFill>
                  <a:srgbClr val="2A2622"/>
                </a:solidFill>
                <a:latin typeface="Calibri"/>
              </a:rPr>
              <a:t>We are a </a:t>
            </a:r>
            <a:r>
              <a:rPr sz="1350" b="1" i="0">
                <a:solidFill>
                  <a:srgbClr val="2A2622"/>
                </a:solidFill>
                <a:latin typeface="Calibri"/>
              </a:rPr>
              <a:t>brand, not a manufacturer.</a:t>
            </a:r>
            <a:r>
              <a:rPr sz="1350" b="0" i="0">
                <a:solidFill>
                  <a:srgbClr val="2A2622"/>
                </a:solidFill>
                <a:latin typeface="Calibri"/>
              </a:rPr>
              <a:t> Language: "crafted with certified Indian manufacturers," "we formulate &amp; test, expert Indian facilities manufacture."</a:t>
            </a:r>
          </a:p>
          <a:p>
            <a:pPr>
              <a:spcAft>
                <a:spcPts val="400"/>
              </a:spcAft>
            </a:pPr>
            <a:r>
              <a:rPr sz="1350" b="1">
                <a:solidFill>
                  <a:srgbClr val="8F3A22"/>
                </a:solidFill>
                <a:latin typeface="Calibri"/>
              </a:rPr>
              <a:t>6.  </a:t>
            </a:r>
            <a:r>
              <a:rPr sz="1350" b="0" i="0">
                <a:solidFill>
                  <a:srgbClr val="2A2622"/>
                </a:solidFill>
                <a:latin typeface="Calibri"/>
              </a:rPr>
              <a:t>Any "test/clinical" claim must be true and documentable. When unsure → don't say it.</a:t>
            </a:r>
          </a:p>
          <a:p>
            <a:pPr>
              <a:spcAft>
                <a:spcPts val="400"/>
              </a:spcAft>
            </a:pPr>
            <a:r>
              <a:rPr sz="1350" b="1">
                <a:solidFill>
                  <a:srgbClr val="8F3A22"/>
                </a:solidFill>
                <a:latin typeface="Calibri"/>
              </a:rPr>
              <a:t>7.  </a:t>
            </a:r>
            <a:r>
              <a:rPr sz="1350" b="0" i="0">
                <a:solidFill>
                  <a:srgbClr val="2A2622"/>
                </a:solidFill>
                <a:latin typeface="Calibri"/>
              </a:rPr>
              <a:t>This plan is business strategy, not legal advice. Have your final ad copy checked against the Drugs &amp; Cosmetics Act / ASCI code once you scale.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2</a:t>
            </a:r>
          </a:p>
        </p:txBody>
      </p:sp>
      <p:sp>
        <p:nvSpPr>
          <p:cNvPr id="4" name="TextBox 3"/>
          <p:cNvSpPr txBox="1"/>
          <p:nvPr/>
        </p:nvSpPr>
        <p:spPr>
          <a:xfrm>
            <a:off x="914400" y="2377440"/>
            <a:ext cx="10362895" cy="1645920"/>
          </a:xfrm>
          <a:prstGeom prst="rect">
            <a:avLst/>
          </a:prstGeom>
          <a:noFill/>
        </p:spPr>
        <p:txBody>
          <a:bodyPr wrap="square">
            <a:spAutoFit/>
          </a:bodyPr>
          <a:lstStyle/>
          <a:p>
            <a:r>
              <a:rPr sz="2400" b="1">
                <a:solidFill>
                  <a:srgbClr val="8F3A22"/>
                </a:solidFill>
                <a:latin typeface="Calibri"/>
              </a:rPr>
              <a:t>§1 PLATFORM STRATEGY + §2 BRAND POSITIONING — RANGAT NATURALS</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Platform Strategy + Brand Positioning</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PLATFORM RANKING (do NOT manage all equally)</a:t>
            </a:r>
          </a:p>
          <a:p>
            <a:r>
              <a:rPr sz="1200" i="1">
                <a:solidFill>
                  <a:srgbClr val="57504A"/>
                </a:solidFill>
                <a:latin typeface="Calibri"/>
              </a:rPr>
              <a:t>PART 2 — Platform Strategy + Brand Positioning</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The ranking</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PLATFORM RANKING (do NOT manage all equally)</a:t>
            </a:r>
          </a:p>
          <a:p>
            <a:r>
              <a:rPr sz="1200" i="1">
                <a:solidFill>
                  <a:srgbClr val="57504A"/>
                </a:solidFill>
                <a:latin typeface="Calibri"/>
              </a:rPr>
              <a:t>PART 2 — Platform Strategy + Brand Positioning</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394927"/>
                <a:gridCol w="4146733"/>
                <a:gridCol w="5923905"/>
                <a:gridCol w="1086049"/>
              </a:tblGrid>
              <a:tr h="838200">
                <a:tc>
                  <a:txBody>
                    <a:bodyPr wrap="square"/>
                    <a:lstStyle/>
                    <a:p>
                      <a:r>
                        <a:rPr sz="1200" b="1" i="0">
                          <a:solidFill>
                            <a:srgbClr val="FFFFFF"/>
                          </a:solidFill>
                          <a:latin typeface="Calibri"/>
                        </a:rPr>
                        <a:t>Rank</a:t>
                      </a:r>
                    </a:p>
                  </a:txBody>
                  <a:tcPr marL="45720" marR="45720" marT="18288" marB="18288" anchor="t">
                    <a:solidFill>
                      <a:srgbClr val="B44A2E"/>
                    </a:solidFill>
                  </a:tcPr>
                </a:tc>
                <a:tc>
                  <a:txBody>
                    <a:bodyPr wrap="square"/>
                    <a:lstStyle/>
                    <a:p>
                      <a:r>
                        <a:rPr sz="1200" b="1" i="0">
                          <a:solidFill>
                            <a:srgbClr val="FFFFFF"/>
                          </a:solidFill>
                          <a:latin typeface="Calibri"/>
                        </a:rPr>
                        <a:t>Platform</a:t>
                      </a:r>
                    </a:p>
                  </a:txBody>
                  <a:tcPr marL="45720" marR="45720" marT="18288" marB="18288" anchor="t">
                    <a:solidFill>
                      <a:srgbClr val="B44A2E"/>
                    </a:solidFill>
                  </a:tcPr>
                </a:tc>
                <a:tc>
                  <a:txBody>
                    <a:bodyPr wrap="square"/>
                    <a:lstStyle/>
                    <a:p>
                      <a:r>
                        <a:rPr sz="1200" b="1" i="0">
                          <a:solidFill>
                            <a:srgbClr val="FFFFFF"/>
                          </a:solidFill>
                          <a:latin typeface="Calibri"/>
                        </a:rPr>
                        <a:t>Role in the machine</a:t>
                      </a:r>
                    </a:p>
                  </a:txBody>
                  <a:tcPr marL="45720" marR="45720" marT="18288" marB="18288" anchor="t">
                    <a:solidFill>
                      <a:srgbClr val="B44A2E"/>
                    </a:solidFill>
                  </a:tcPr>
                </a:tc>
                <a:tc>
                  <a:txBody>
                    <a:bodyPr wrap="square"/>
                    <a:lstStyle/>
                    <a:p>
                      <a:r>
                        <a:rPr sz="1200" b="1" i="0">
                          <a:solidFill>
                            <a:srgbClr val="FFFFFF"/>
                          </a:solidFill>
                          <a:latin typeface="Calibri"/>
                        </a:rPr>
                        <a:t>% of effort</a:t>
                      </a:r>
                    </a:p>
                  </a:txBody>
                  <a:tcPr marL="45720" marR="45720" marT="18288" marB="18288" anchor="t">
                    <a:solidFill>
                      <a:srgbClr val="B44A2E"/>
                    </a:solidFill>
                  </a:tcPr>
                </a:tc>
              </a:tr>
              <a:tr h="838200">
                <a:tc>
                  <a:txBody>
                    <a:bodyPr wrap="square"/>
                    <a:lstStyle/>
                    <a:p>
                      <a:r>
                        <a:rPr sz="1200" b="1" i="0">
                          <a:solidFill>
                            <a:srgbClr val="2A2622"/>
                          </a:solidFill>
                          <a:latin typeface="Calibri"/>
                        </a:rPr>
                        <a:t>#1</a:t>
                      </a:r>
                    </a:p>
                  </a:txBody>
                  <a:tcPr marL="45720" marR="45720" marT="18288" marB="18288" anchor="t">
                    <a:solidFill>
                      <a:srgbClr val="FFFFFF"/>
                    </a:solidFill>
                  </a:tcPr>
                </a:tc>
                <a:tc>
                  <a:txBody>
                    <a:bodyPr wrap="square"/>
                    <a:lstStyle/>
                    <a:p>
                      <a:r>
                        <a:rPr sz="1200" b="1" i="0">
                          <a:solidFill>
                            <a:srgbClr val="2A2622"/>
                          </a:solidFill>
                          <a:latin typeface="Calibri"/>
                        </a:rPr>
                        <a:t>Instagram</a:t>
                      </a:r>
                      <a:r>
                        <a:rPr sz="1200" b="0" i="0">
                          <a:solidFill>
                            <a:srgbClr val="2A2622"/>
                          </a:solidFill>
                          <a:latin typeface="Calibri"/>
                        </a:rPr>
                        <a:t> (Reels + Profile + Stories + DM)</a:t>
                      </a:r>
                    </a:p>
                  </a:txBody>
                  <a:tcPr marL="45720" marR="45720" marT="18288" marB="18288" anchor="t">
                    <a:solidFill>
                      <a:srgbClr val="FFFFFF"/>
                    </a:solidFill>
                  </a:tcPr>
                </a:tc>
                <a:tc>
                  <a:txBody>
                    <a:bodyPr wrap="square"/>
                    <a:lstStyle/>
                    <a:p>
                      <a:r>
                        <a:rPr sz="1200" b="1" i="0">
                          <a:solidFill>
                            <a:srgbClr val="2A2622"/>
                          </a:solidFill>
                          <a:latin typeface="Calibri"/>
                        </a:rPr>
                        <a:t>Attention + Trust + Funnel entry.</a:t>
                      </a:r>
                      <a:r>
                        <a:rPr sz="1200" b="0" i="0">
                          <a:solidFill>
                            <a:srgbClr val="2A2622"/>
                          </a:solidFill>
                          <a:latin typeface="Calibri"/>
                        </a:rPr>
                        <a:t> Where an unknown Indian skincare brand gets discovered, judged in 3 seconds, and converted into a DM conversation.</a:t>
                      </a:r>
                    </a:p>
                  </a:txBody>
                  <a:tcPr marL="45720" marR="45720" marT="18288" marB="18288" anchor="t">
                    <a:solidFill>
                      <a:srgbClr val="FFFFFF"/>
                    </a:solidFill>
                  </a:tcPr>
                </a:tc>
                <a:tc>
                  <a:txBody>
                    <a:bodyPr wrap="square"/>
                    <a:lstStyle/>
                    <a:p>
                      <a:r>
                        <a:rPr sz="1200" b="1" i="0">
                          <a:solidFill>
                            <a:srgbClr val="2A2622"/>
                          </a:solidFill>
                          <a:latin typeface="Calibri"/>
                        </a:rPr>
                        <a:t>60%</a:t>
                      </a:r>
                    </a:p>
                  </a:txBody>
                  <a:tcPr marL="45720" marR="45720" marT="18288" marB="18288" anchor="t">
                    <a:solidFill>
                      <a:srgbClr val="FFFFFF"/>
                    </a:solidFill>
                  </a:tcPr>
                </a:tc>
              </a:tr>
              <a:tr h="838200">
                <a:tc>
                  <a:txBody>
                    <a:bodyPr wrap="square"/>
                    <a:lstStyle/>
                    <a:p>
                      <a:r>
                        <a:rPr sz="1200" b="1" i="0">
                          <a:solidFill>
                            <a:srgbClr val="2A2622"/>
                          </a:solidFill>
                          <a:latin typeface="Calibri"/>
                        </a:rPr>
                        <a:t>#2</a:t>
                      </a:r>
                    </a:p>
                  </a:txBody>
                  <a:tcPr marL="45720" marR="45720" marT="18288" marB="18288" anchor="t">
                    <a:solidFill>
                      <a:srgbClr val="F6F1E7"/>
                    </a:solidFill>
                  </a:tcPr>
                </a:tc>
                <a:tc>
                  <a:txBody>
                    <a:bodyPr wrap="square"/>
                    <a:lstStyle/>
                    <a:p>
                      <a:r>
                        <a:rPr sz="1200" b="1" i="0">
                          <a:solidFill>
                            <a:srgbClr val="2A2622"/>
                          </a:solidFill>
                          <a:latin typeface="Calibri"/>
                        </a:rPr>
                        <a:t>WhatsApp Business</a:t>
                      </a:r>
                    </a:p>
                  </a:txBody>
                  <a:tcPr marL="45720" marR="45720" marT="18288" marB="18288" anchor="t">
                    <a:solidFill>
                      <a:srgbClr val="F6F1E7"/>
                    </a:solidFill>
                  </a:tcPr>
                </a:tc>
                <a:tc>
                  <a:txBody>
                    <a:bodyPr wrap="square"/>
                    <a:lstStyle/>
                    <a:p>
                      <a:r>
                        <a:rPr sz="1200" b="1" i="0">
                          <a:solidFill>
                            <a:srgbClr val="2A2622"/>
                          </a:solidFill>
                          <a:latin typeface="Calibri"/>
                        </a:rPr>
                        <a:t>The sales engine.</a:t>
                      </a:r>
                      <a:r>
                        <a:rPr sz="1200" b="0" i="0">
                          <a:solidFill>
                            <a:srgbClr val="2A2622"/>
                          </a:solidFill>
                          <a:latin typeface="Calibri"/>
                        </a:rPr>
                        <a:t> Where Indian customers actually close: COD, family-trust channel, human support, broadcast, post-purchase relationship. Zero ad cost, highest intent.</a:t>
                      </a:r>
                    </a:p>
                  </a:txBody>
                  <a:tcPr marL="45720" marR="45720" marT="18288" marB="18288" anchor="t">
                    <a:solidFill>
                      <a:srgbClr val="F6F1E7"/>
                    </a:solidFill>
                  </a:tcPr>
                </a:tc>
                <a:tc>
                  <a:txBody>
                    <a:bodyPr wrap="square"/>
                    <a:lstStyle/>
                    <a:p>
                      <a:r>
                        <a:rPr sz="1200" b="1" i="0">
                          <a:solidFill>
                            <a:srgbClr val="2A2622"/>
                          </a:solidFill>
                          <a:latin typeface="Calibri"/>
                        </a:rPr>
                        <a:t>25%</a:t>
                      </a:r>
                    </a:p>
                  </a:txBody>
                  <a:tcPr marL="45720" marR="45720" marT="18288" marB="18288" anchor="t">
                    <a:solidFill>
                      <a:srgbClr val="F6F1E7"/>
                    </a:solidFill>
                  </a:tcPr>
                </a:tc>
              </a:tr>
              <a:tr h="838200">
                <a:tc>
                  <a:txBody>
                    <a:bodyPr wrap="square"/>
                    <a:lstStyle/>
                    <a:p>
                      <a:r>
                        <a:rPr sz="1200" b="1" i="0">
                          <a:solidFill>
                            <a:srgbClr val="2A2622"/>
                          </a:solidFill>
                          <a:latin typeface="Calibri"/>
                        </a:rPr>
                        <a:t>#3</a:t>
                      </a:r>
                    </a:p>
                  </a:txBody>
                  <a:tcPr marL="45720" marR="45720" marT="18288" marB="18288" anchor="t">
                    <a:solidFill>
                      <a:srgbClr val="FFFFFF"/>
                    </a:solidFill>
                  </a:tcPr>
                </a:tc>
                <a:tc>
                  <a:txBody>
                    <a:bodyPr wrap="square"/>
                    <a:lstStyle/>
                    <a:p>
                      <a:r>
                        <a:rPr sz="1200" b="1" i="0">
                          <a:solidFill>
                            <a:srgbClr val="2A2622"/>
                          </a:solidFill>
                          <a:latin typeface="Calibri"/>
                        </a:rPr>
                        <a:t>Facebook</a:t>
                      </a:r>
                    </a:p>
                  </a:txBody>
                  <a:tcPr marL="45720" marR="45720" marT="18288" marB="18288" anchor="t">
                    <a:solidFill>
                      <a:srgbClr val="FFFFFF"/>
                    </a:solidFill>
                  </a:tcPr>
                </a:tc>
                <a:tc>
                  <a:txBody>
                    <a:bodyPr wrap="square"/>
                    <a:lstStyle/>
                    <a:p>
                      <a:r>
                        <a:rPr sz="1200" b="1" i="0">
                          <a:solidFill>
                            <a:srgbClr val="2A2622"/>
                          </a:solidFill>
                          <a:latin typeface="Calibri"/>
                        </a:rPr>
                        <a:t>Cheap reach + older audience (25–50, mothers, tier-2/3).</a:t>
                      </a:r>
                      <a:r>
                        <a:rPr sz="1200" b="0" i="0">
                          <a:solidFill>
                            <a:srgbClr val="2A2622"/>
                          </a:solidFill>
                          <a:latin typeface="Calibri"/>
                        </a:rPr>
                        <a:t> Crosspost everything; run the same Meta ads here (same ad account — no extra work).</a:t>
                      </a:r>
                    </a:p>
                  </a:txBody>
                  <a:tcPr marL="45720" marR="45720" marT="18288" marB="18288" anchor="t">
                    <a:solidFill>
                      <a:srgbClr val="FFFFFF"/>
                    </a:solidFill>
                  </a:tcPr>
                </a:tc>
                <a:tc>
                  <a:txBody>
                    <a:bodyPr wrap="square"/>
                    <a:lstStyle/>
                    <a:p>
                      <a:r>
                        <a:rPr sz="1200" b="1" i="0">
                          <a:solidFill>
                            <a:srgbClr val="2A2622"/>
                          </a:solidFill>
                          <a:latin typeface="Calibri"/>
                        </a:rPr>
                        <a:t>10%</a:t>
                      </a:r>
                    </a:p>
                  </a:txBody>
                  <a:tcPr marL="45720" marR="45720" marT="18288" marB="18288" anchor="t">
                    <a:solidFill>
                      <a:srgbClr val="FFFFFF"/>
                    </a:solidFill>
                  </a:tcPr>
                </a:tc>
              </a:tr>
              <a:tr h="838200">
                <a:tc>
                  <a:txBody>
                    <a:bodyPr wrap="square"/>
                    <a:lstStyle/>
                    <a:p>
                      <a:r>
                        <a:rPr sz="1200" b="1" i="0">
                          <a:solidFill>
                            <a:srgbClr val="2A2622"/>
                          </a:solidFill>
                          <a:latin typeface="Calibri"/>
                        </a:rPr>
                        <a:t>#4</a:t>
                      </a:r>
                    </a:p>
                  </a:txBody>
                  <a:tcPr marL="45720" marR="45720" marT="18288" marB="18288" anchor="t">
                    <a:solidFill>
                      <a:srgbClr val="F6F1E7"/>
                    </a:solidFill>
                  </a:tcPr>
                </a:tc>
                <a:tc>
                  <a:txBody>
                    <a:bodyPr wrap="square"/>
                    <a:lstStyle/>
                    <a:p>
                      <a:r>
                        <a:rPr sz="1200" b="1" i="0">
                          <a:solidFill>
                            <a:srgbClr val="2A2622"/>
                          </a:solidFill>
                          <a:latin typeface="Calibri"/>
                        </a:rPr>
                        <a:t>YouTube Shorts</a:t>
                      </a:r>
                    </a:p>
                  </a:txBody>
                  <a:tcPr marL="45720" marR="45720" marT="18288" marB="18288" anchor="t">
                    <a:solidFill>
                      <a:srgbClr val="F6F1E7"/>
                    </a:solidFill>
                  </a:tcPr>
                </a:tc>
                <a:tc>
                  <a:txBody>
                    <a:bodyPr wrap="square"/>
                    <a:lstStyle/>
                    <a:p>
                      <a:r>
                        <a:rPr sz="1200" b="1" i="0">
                          <a:solidFill>
                            <a:srgbClr val="2A2622"/>
                          </a:solidFill>
                          <a:latin typeface="Calibri"/>
                        </a:rPr>
                        <a:t>Search longevity.</a:t>
                      </a:r>
                      <a:r>
                        <a:rPr sz="1200" b="0" i="0">
                          <a:solidFill>
                            <a:srgbClr val="2A2622"/>
                          </a:solidFill>
                          <a:latin typeface="Calibri"/>
                        </a:rPr>
                        <a:t> A Short titled "Vitamin C serum kaise use kare" is found by search for months. Repurpose your top 3 Reels/week — near-zero extra cost.</a:t>
                      </a:r>
                    </a:p>
                  </a:txBody>
                  <a:tcPr marL="45720" marR="45720" marT="18288" marB="18288" anchor="t">
                    <a:solidFill>
                      <a:srgbClr val="F6F1E7"/>
                    </a:solidFill>
                  </a:tcPr>
                </a:tc>
                <a:tc>
                  <a:txBody>
                    <a:bodyPr wrap="square"/>
                    <a:lstStyle/>
                    <a:p>
                      <a:r>
                        <a:rPr sz="1200" b="1" i="0">
                          <a:solidFill>
                            <a:srgbClr val="2A2622"/>
                          </a:solidFill>
                          <a:latin typeface="Calibri"/>
                        </a:rPr>
                        <a:t>5%</a:t>
                      </a:r>
                    </a:p>
                  </a:txBody>
                  <a:tcPr marL="45720" marR="45720" marT="18288" marB="18288" anchor="t">
                    <a:solidFill>
                      <a:srgbClr val="F6F1E7"/>
                    </a:solidFill>
                  </a:tcPr>
                </a:tc>
              </a:tr>
              <a:tr h="838200">
                <a:tc>
                  <a:txBody>
                    <a:bodyPr wrap="square"/>
                    <a:lstStyle/>
                    <a:p>
                      <a:r>
                        <a:rPr sz="1200" b="1" i="0">
                          <a:solidFill>
                            <a:srgbClr val="2A2622"/>
                          </a:solidFill>
                          <a:latin typeface="Calibri"/>
                        </a:rPr>
                        <a:t>#5</a:t>
                      </a:r>
                    </a:p>
                  </a:txBody>
                  <a:tcPr marL="45720" marR="45720" marT="18288" marB="18288" anchor="t">
                    <a:solidFill>
                      <a:srgbClr val="FFFFFF"/>
                    </a:solidFill>
                  </a:tcPr>
                </a:tc>
                <a:tc>
                  <a:txBody>
                    <a:bodyPr wrap="square"/>
                    <a:lstStyle/>
                    <a:p>
                      <a:r>
                        <a:rPr sz="1200" b="1" i="0">
                          <a:solidFill>
                            <a:srgbClr val="2A2622"/>
                          </a:solidFill>
                          <a:latin typeface="Calibri"/>
                        </a:rPr>
                        <a:t>Pinterest</a:t>
                      </a:r>
                    </a:p>
                  </a:txBody>
                  <a:tcPr marL="45720" marR="45720" marT="18288" marB="18288" anchor="t">
                    <a:solidFill>
                      <a:srgbClr val="FFFFFF"/>
                    </a:solidFill>
                  </a:tcPr>
                </a:tc>
                <a:tc>
                  <a:txBody>
                    <a:bodyPr wrap="square"/>
                    <a:lstStyle/>
                    <a:p>
                      <a:r>
                        <a:rPr sz="1200" b="1" i="0">
                          <a:solidFill>
                            <a:srgbClr val="2A2622"/>
                          </a:solidFill>
                          <a:latin typeface="Calibri"/>
                        </a:rPr>
                        <a:t>Skip for now.</a:t>
                      </a:r>
                      <a:r>
                        <a:rPr sz="1200" b="0" i="0">
                          <a:solidFill>
                            <a:srgbClr val="2A2622"/>
                          </a:solidFill>
                          <a:latin typeface="Calibri"/>
                        </a:rPr>
                        <a:t> Pinterest's beauty traffic in India is thin vs. the effort. Revisit at 10k followers + 100+ images. (Keep it on the map for 6–12 months later.)</a:t>
                      </a:r>
                    </a:p>
                  </a:txBody>
                  <a:tcPr marL="45720" marR="45720" marT="18288" marB="18288" anchor="t">
                    <a:solidFill>
                      <a:srgbClr val="FFFFFF"/>
                    </a:solidFill>
                  </a:tcPr>
                </a:tc>
                <a:tc>
                  <a:txBody>
                    <a:bodyPr wrap="square"/>
                    <a:lstStyle/>
                    <a:p>
                      <a:r>
                        <a:rPr sz="1200" b="1" i="0">
                          <a:solidFill>
                            <a:srgbClr val="2A2622"/>
                          </a:solidFill>
                          <a:latin typeface="Calibri"/>
                        </a:rPr>
                        <a:t>0%</a:t>
                      </a:r>
                    </a:p>
                  </a:txBody>
                  <a:tcPr marL="45720" marR="45720" marT="18288" marB="18288" anchor="t">
                    <a:solidFill>
                      <a:srgbClr val="FFFFFF"/>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PLATFORM RANKING (do NOT manage all equally)</a:t>
            </a:r>
          </a:p>
          <a:p>
            <a:r>
              <a:rPr sz="1200" i="1">
                <a:solidFill>
                  <a:srgbClr val="57504A"/>
                </a:solidFill>
                <a:latin typeface="Calibri"/>
              </a:rPr>
              <a:t>PART 2 — Platform Strategy + Brand Positioning</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WHY this ranking (the reasoning, so you can defend it)</a:t>
            </a:r>
          </a:p>
          <a:p>
            <a:pPr>
              <a:spcAft>
                <a:spcPts val="400"/>
              </a:spcAft>
            </a:pPr>
            <a:r>
              <a:rPr sz="1350" b="1">
                <a:solidFill>
                  <a:srgbClr val="8F3A22"/>
                </a:solidFill>
                <a:latin typeface="Calibri"/>
              </a:rPr>
              <a:t>1.  </a:t>
            </a:r>
            <a:r>
              <a:rPr sz="1350" b="1" i="0">
                <a:solidFill>
                  <a:srgbClr val="2A2622"/>
                </a:solidFill>
                <a:latin typeface="Calibri"/>
              </a:rPr>
              <a:t>Instagram is the only platform where all 5 funnel jobs happen in one place</a:t>
            </a:r>
            <a:r>
              <a:rPr sz="1350" b="0" i="0">
                <a:solidFill>
                  <a:srgbClr val="2A2622"/>
                </a:solidFill>
                <a:latin typeface="Calibri"/>
              </a:rPr>
              <a:t> for your target (women 20–35, Gujarat): discovery (Reels feed + Explore), judgment (profile in 3 seconds), trust (highlights, pinned posts, comments), intent capture (DM/WhatsApp link), and community (Stories). No other platform does discovery + trust + DM commerce this efficiently for D2C skincare in India.</a:t>
            </a:r>
          </a:p>
          <a:p>
            <a:pPr>
              <a:spcAft>
                <a:spcPts val="400"/>
              </a:spcAft>
            </a:pPr>
            <a:r>
              <a:rPr sz="1350" b="1">
                <a:solidFill>
                  <a:srgbClr val="8F3A22"/>
                </a:solidFill>
                <a:latin typeface="Calibri"/>
              </a:rPr>
              <a:t>2.  </a:t>
            </a:r>
            <a:r>
              <a:rPr sz="1350" b="1" i="0">
                <a:solidFill>
                  <a:srgbClr val="2A2622"/>
                </a:solidFill>
                <a:latin typeface="Calibri"/>
              </a:rPr>
              <a:t>WhatsApp Business is where India closes.</a:t>
            </a:r>
            <a:r>
              <a:rPr sz="1350" b="0" i="0">
                <a:solidFill>
                  <a:srgbClr val="2A2622"/>
                </a:solidFill>
                <a:latin typeface="Calibri"/>
              </a:rPr>
              <a:t> Your buyer is price-sensitive (unknown brand → trust gap), wants to ask questions ("COD chalega?", "4 hafte me dikhega?"), and in Gujarat the household decision often involves family. WhatsApp is where that conversation happens. Meta ads also have a native </a:t>
            </a:r>
            <a:r>
              <a:rPr sz="1350" b="1" i="0">
                <a:solidFill>
                  <a:srgbClr val="2A2622"/>
                </a:solidFill>
                <a:latin typeface="Calibri"/>
              </a:rPr>
              <a:t>Click-to-WhatsApp</a:t>
            </a:r>
            <a:r>
              <a:rPr sz="1350" b="0" i="0">
                <a:solidFill>
                  <a:srgbClr val="2A2622"/>
                </a:solidFill>
                <a:latin typeface="Calibri"/>
              </a:rPr>
              <a:t> objective — ads can deliver customers straight into your chat. This combination (Meta ads → WhatsApp → COD) is the highest-converting path for a new Indian cosmetics brand and almost none of your competitors use it well.</a:t>
            </a:r>
          </a:p>
          <a:p>
            <a:pPr>
              <a:spcAft>
                <a:spcPts val="400"/>
              </a:spcAft>
            </a:pPr>
            <a:r>
              <a:rPr sz="1350" b="1">
                <a:solidFill>
                  <a:srgbClr val="8F3A22"/>
                </a:solidFill>
                <a:latin typeface="Calibri"/>
              </a:rPr>
              <a:t>3.  </a:t>
            </a:r>
            <a:r>
              <a:rPr sz="1350" b="1" i="0">
                <a:solidFill>
                  <a:srgbClr val="2A2622"/>
                </a:solidFill>
                <a:latin typeface="Calibri"/>
              </a:rPr>
              <a:t>Facebook is free reach, not a workload.</a:t>
            </a:r>
            <a:r>
              <a:rPr sz="1350" b="0" i="0">
                <a:solidFill>
                  <a:srgbClr val="2A2622"/>
                </a:solidFill>
                <a:latin typeface="Calibri"/>
              </a:rPr>
              <a:t> You post to a Meta Business Suite that publishes to FB + IG simultaneously. Your 25–40 audience (and their mothers/aunts — high purchase power for family gifting in Gujarat) lives there. No separate content.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PLATFORM RANKING (do NOT manage all equally)</a:t>
            </a:r>
          </a:p>
          <a:p>
            <a:r>
              <a:rPr sz="1200" i="1">
                <a:solidFill>
                  <a:srgbClr val="57504A"/>
                </a:solidFill>
                <a:latin typeface="Calibri"/>
              </a:rPr>
              <a:t>PART 2 — Platform Strategy + Brand Positioning</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4.  </a:t>
            </a:r>
            <a:r>
              <a:rPr sz="1350" b="1" i="0">
                <a:solidFill>
                  <a:srgbClr val="2A2622"/>
                </a:solidFill>
                <a:latin typeface="Calibri"/>
              </a:rPr>
              <a:t>YouTube Shorts = compounding search.</a:t>
            </a:r>
            <a:r>
              <a:rPr sz="1350" b="0" i="0">
                <a:solidFill>
                  <a:srgbClr val="2A2622"/>
                </a:solidFill>
                <a:latin typeface="Calibri"/>
              </a:rPr>
              <a:t> Reels die in 48 hours; a Short with a search-optimized title ("Best sunscreen for oily skin India") keeps delivering for months. Cost = 10 min/day of uploading.</a:t>
            </a:r>
          </a:p>
          <a:p>
            <a:pPr>
              <a:spcAft>
                <a:spcPts val="400"/>
              </a:spcAft>
            </a:pPr>
            <a:r>
              <a:rPr sz="1350" b="1">
                <a:solidFill>
                  <a:srgbClr val="8F3A22"/>
                </a:solidFill>
                <a:latin typeface="Calibri"/>
              </a:rPr>
              <a:t>5.  </a:t>
            </a:r>
            <a:r>
              <a:rPr sz="1350" b="1" i="0">
                <a:solidFill>
                  <a:srgbClr val="2A2622"/>
                </a:solidFill>
                <a:latin typeface="Calibri"/>
              </a:rPr>
              <a:t>Pinterest</a:t>
            </a:r>
            <a:r>
              <a:rPr sz="1350" b="0" i="0">
                <a:solidFill>
                  <a:srgbClr val="2A2622"/>
                </a:solidFill>
                <a:latin typeface="Calibri"/>
              </a:rPr>
              <a:t> is a strong beauty platform in the US, not yet in India for a new brand. Your time is worth more on IG+WhatsApp.</a:t>
            </a:r>
          </a:p>
          <a:p>
            <a:pPr>
              <a:spcBef>
                <a:spcPts val="1000"/>
              </a:spcBef>
              <a:spcAft>
                <a:spcPts val="400"/>
              </a:spcAft>
            </a:pPr>
            <a:r>
              <a:rPr sz="1600" b="1" i="0">
                <a:solidFill>
                  <a:srgbClr val="8F3A22"/>
                </a:solidFill>
                <a:latin typeface="Calibri"/>
              </a:rPr>
              <a:t>Platform operating rules (so nothing gets "managed equally")</a:t>
            </a:r>
          </a:p>
          <a:p>
            <a:pPr>
              <a:spcAft>
                <a:spcPts val="400"/>
              </a:spcAft>
            </a:pPr>
            <a:r>
              <a:rPr sz="1350">
                <a:solidFill>
                  <a:srgbClr val="B44A2E"/>
                </a:solidFill>
                <a:latin typeface="Calibri"/>
              </a:rPr>
              <a:t>•  </a:t>
            </a:r>
            <a:r>
              <a:rPr sz="1350" b="1" i="0">
                <a:solidFill>
                  <a:srgbClr val="2A2622"/>
                </a:solidFill>
                <a:latin typeface="Calibri"/>
              </a:rPr>
              <a:t>Instagram:</a:t>
            </a:r>
            <a:r>
              <a:rPr sz="1350" b="0" i="0">
                <a:solidFill>
                  <a:srgbClr val="2A2622"/>
                </a:solidFill>
                <a:latin typeface="Calibri"/>
              </a:rPr>
              <a:t> Original creative. Everything is made here first.</a:t>
            </a:r>
          </a:p>
          <a:p>
            <a:pPr>
              <a:spcAft>
                <a:spcPts val="400"/>
              </a:spcAft>
            </a:pPr>
            <a:r>
              <a:rPr sz="1350">
                <a:solidFill>
                  <a:srgbClr val="B44A2E"/>
                </a:solidFill>
                <a:latin typeface="Calibri"/>
              </a:rPr>
              <a:t>•  </a:t>
            </a:r>
            <a:r>
              <a:rPr sz="1350" b="1" i="0">
                <a:solidFill>
                  <a:srgbClr val="2A2622"/>
                </a:solidFill>
                <a:latin typeface="Calibri"/>
              </a:rPr>
              <a:t>Facebook:</a:t>
            </a:r>
            <a:r>
              <a:rPr sz="1350" b="0" i="0">
                <a:solidFill>
                  <a:srgbClr val="2A2622"/>
                </a:solidFill>
                <a:latin typeface="Calibri"/>
              </a:rPr>
              <a:t> Auto-crosspost + 1 extra action/month (post to 2–3 local Ahmedabad/Facebook skincare groups where brand posting is allowed — answer questions, don't spam).</a:t>
            </a:r>
          </a:p>
          <a:p>
            <a:pPr>
              <a:spcAft>
                <a:spcPts val="400"/>
              </a:spcAft>
            </a:pPr>
            <a:r>
              <a:rPr sz="1350">
                <a:solidFill>
                  <a:srgbClr val="B44A2E"/>
                </a:solidFill>
                <a:latin typeface="Calibri"/>
              </a:rPr>
              <a:t>•  </a:t>
            </a:r>
            <a:r>
              <a:rPr sz="1350" b="1" i="0">
                <a:solidFill>
                  <a:srgbClr val="2A2622"/>
                </a:solidFill>
                <a:latin typeface="Calibri"/>
              </a:rPr>
              <a:t>YouTube Shorts:</a:t>
            </a:r>
            <a:r>
              <a:rPr sz="1350" b="0" i="0">
                <a:solidFill>
                  <a:srgbClr val="2A2622"/>
                </a:solidFill>
                <a:latin typeface="Calibri"/>
              </a:rPr>
              <a:t> Upload top-performing Reels with search-optimized titles/descriptions (templates in </a:t>
            </a:r>
            <a:r>
              <a:rPr sz="1200" b="0" i="0">
                <a:solidFill>
                  <a:srgbClr val="8F3A22"/>
                </a:solidFill>
                <a:latin typeface="Consolas"/>
              </a:rPr>
              <a:t>14-seo-and-hashtags.md</a:t>
            </a:r>
            <a:r>
              <a:rPr sz="1350" b="0" i="0">
                <a:solidFill>
                  <a:srgbClr val="2A2622"/>
                </a:solidFill>
                <a:latin typeface="Calibri"/>
              </a:rPr>
              <a:t>).</a:t>
            </a:r>
          </a:p>
          <a:p>
            <a:pPr>
              <a:spcAft>
                <a:spcPts val="400"/>
              </a:spcAft>
            </a:pPr>
            <a:r>
              <a:rPr sz="1350">
                <a:solidFill>
                  <a:srgbClr val="B44A2E"/>
                </a:solidFill>
                <a:latin typeface="Calibri"/>
              </a:rPr>
              <a:t>•  </a:t>
            </a:r>
            <a:r>
              <a:rPr sz="1350" b="1" i="0">
                <a:solidFill>
                  <a:srgbClr val="2A2622"/>
                </a:solidFill>
                <a:latin typeface="Calibri"/>
              </a:rPr>
              <a:t>WhatsApp Business:</a:t>
            </a:r>
            <a:r>
              <a:rPr sz="1350" b="0" i="0">
                <a:solidFill>
                  <a:srgbClr val="2A2622"/>
                </a:solidFill>
                <a:latin typeface="Calibri"/>
              </a:rPr>
              <a:t> This is a </a:t>
            </a:r>
            <a:r>
              <a:rPr sz="1350" b="1" i="0">
                <a:solidFill>
                  <a:srgbClr val="2A2622"/>
                </a:solidFill>
                <a:latin typeface="Calibri"/>
              </a:rPr>
              <a:t>system</a:t>
            </a:r>
            <a:r>
              <a:rPr sz="1350" b="0" i="0">
                <a:solidFill>
                  <a:srgbClr val="2A2622"/>
                </a:solidFill>
                <a:latin typeface="Calibri"/>
              </a:rPr>
              <a:t>, not a social channel: catalog, quick replies, labels (New Lead / Order / D7 Follow-up / Buyer), broadcast lists, status updates (post 3x/day from your Stories).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BRAND POSITIONING — How RANGAT NATURALS looks and sounds online</a:t>
            </a:r>
          </a:p>
          <a:p>
            <a:r>
              <a:rPr sz="1200" i="1">
                <a:solidFill>
                  <a:srgbClr val="57504A"/>
                </a:solidFill>
                <a:latin typeface="Calibri"/>
              </a:rPr>
              <a:t>PART 2 — Platform Strategy + Brand Positioning</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1. Brand personality (4 words)</a:t>
            </a:r>
          </a:p>
          <a:p>
            <a:pPr>
              <a:spcAft>
                <a:spcPts val="700"/>
              </a:spcAft>
            </a:pPr>
            <a:r>
              <a:rPr sz="1350" b="1" i="0">
                <a:solidFill>
                  <a:srgbClr val="2A2622"/>
                </a:solidFill>
                <a:latin typeface="Calibri"/>
              </a:rPr>
              <a:t>Honest. Desi-smart. Calm. Slightly playful.</a:t>
            </a:r>
          </a:p>
          <a:p>
            <a:pPr>
              <a:spcAft>
                <a:spcPts val="400"/>
              </a:spcAft>
            </a:pPr>
            <a:r>
              <a:rPr sz="1350">
                <a:solidFill>
                  <a:srgbClr val="B44A2E"/>
                </a:solidFill>
                <a:latin typeface="Calibri"/>
              </a:rPr>
              <a:t>•  </a:t>
            </a:r>
            <a:r>
              <a:rPr sz="1350" b="1" i="0">
                <a:solidFill>
                  <a:srgbClr val="2A2622"/>
                </a:solidFill>
                <a:latin typeface="Calibri"/>
              </a:rPr>
              <a:t>Honest:</a:t>
            </a:r>
            <a:r>
              <a:rPr sz="1350" b="0" i="0">
                <a:solidFill>
                  <a:srgbClr val="2A2622"/>
                </a:solidFill>
                <a:latin typeface="Calibri"/>
              </a:rPr>
              <a:t> no fake discounts, no miracle claims, shows real texture, real prices, real faces.</a:t>
            </a:r>
          </a:p>
          <a:p>
            <a:pPr>
              <a:spcAft>
                <a:spcPts val="400"/>
              </a:spcAft>
            </a:pPr>
            <a:r>
              <a:rPr sz="1350">
                <a:solidFill>
                  <a:srgbClr val="B44A2E"/>
                </a:solidFill>
                <a:latin typeface="Calibri"/>
              </a:rPr>
              <a:t>•  </a:t>
            </a:r>
            <a:r>
              <a:rPr sz="1350" b="1" i="0">
                <a:solidFill>
                  <a:srgbClr val="2A2622"/>
                </a:solidFill>
                <a:latin typeface="Calibri"/>
              </a:rPr>
              <a:t>Desi-smart:</a:t>
            </a:r>
            <a:r>
              <a:rPr sz="1350" b="0" i="0">
                <a:solidFill>
                  <a:srgbClr val="2A2622"/>
                </a:solidFill>
                <a:latin typeface="Calibri"/>
              </a:rPr>
              <a:t> understands Indian skin, Indian weather, Indian budgets. "Totka-level samajh, science-level transparency."</a:t>
            </a:r>
          </a:p>
          <a:p>
            <a:pPr>
              <a:spcAft>
                <a:spcPts val="400"/>
              </a:spcAft>
            </a:pPr>
            <a:r>
              <a:rPr sz="1350">
                <a:solidFill>
                  <a:srgbClr val="B44A2E"/>
                </a:solidFill>
                <a:latin typeface="Calibri"/>
              </a:rPr>
              <a:t>•  </a:t>
            </a:r>
            <a:r>
              <a:rPr sz="1350" b="1" i="0">
                <a:solidFill>
                  <a:srgbClr val="2A2622"/>
                </a:solidFill>
                <a:latin typeface="Calibri"/>
              </a:rPr>
              <a:t>Calm:</a:t>
            </a:r>
            <a:r>
              <a:rPr sz="1350" b="0" i="0">
                <a:solidFill>
                  <a:srgbClr val="2A2622"/>
                </a:solidFill>
                <a:latin typeface="Calibri"/>
              </a:rPr>
              <a:t> never shouts "BUY NOW!!!" — explains, demonstrates, invites.</a:t>
            </a:r>
          </a:p>
          <a:p>
            <a:pPr>
              <a:spcAft>
                <a:spcPts val="400"/>
              </a:spcAft>
            </a:pPr>
            <a:r>
              <a:rPr sz="1350">
                <a:solidFill>
                  <a:srgbClr val="B44A2E"/>
                </a:solidFill>
                <a:latin typeface="Calibri"/>
              </a:rPr>
              <a:t>•  </a:t>
            </a:r>
            <a:r>
              <a:rPr sz="1350" b="1" i="0">
                <a:solidFill>
                  <a:srgbClr val="2A2622"/>
                </a:solidFill>
                <a:latin typeface="Calibri"/>
              </a:rPr>
              <a:t>Slightly playful:</a:t>
            </a:r>
            <a:r>
              <a:rPr sz="1350" b="0" i="0">
                <a:solidFill>
                  <a:srgbClr val="2A2622"/>
                </a:solidFill>
                <a:latin typeface="Calibri"/>
              </a:rPr>
              <a:t> knows Indian humor (relatable reels, light Gujarati banter) but never at the customer's expense.</a:t>
            </a:r>
          </a:p>
          <a:p>
            <a:pPr>
              <a:spcBef>
                <a:spcPts val="1000"/>
              </a:spcBef>
              <a:spcAft>
                <a:spcPts val="400"/>
              </a:spcAft>
            </a:pPr>
            <a:r>
              <a:rPr sz="1600" b="1" i="0">
                <a:solidFill>
                  <a:srgbClr val="8F3A22"/>
                </a:solidFill>
                <a:latin typeface="Calibri"/>
              </a:rPr>
              <a:t>2. Tone of voice rules (write every caption against this)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BRAND POSITIONING — How RANGAT NATURALS looks and sounds online</a:t>
            </a:r>
          </a:p>
          <a:p>
            <a:r>
              <a:rPr sz="1200" i="1">
                <a:solidFill>
                  <a:srgbClr val="57504A"/>
                </a:solidFill>
                <a:latin typeface="Calibri"/>
              </a:rPr>
              <a:t>PART 2 — Platform Strategy + Brand Positioning</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881055"/>
                <a:gridCol w="5873702"/>
                <a:gridCol w="4796857"/>
              </a:tblGrid>
              <a:tr h="718457">
                <a:tc>
                  <a:txBody>
                    <a:bodyPr wrap="square"/>
                    <a:lstStyle/>
                    <a:p>
                      <a:r>
                        <a:rPr sz="1200" b="1" i="0">
                          <a:solidFill>
                            <a:srgbClr val="FFFFFF"/>
                          </a:solidFill>
                          <a:latin typeface="Calibri"/>
                        </a:rPr>
                        <a:t>Situation</a:t>
                      </a:r>
                    </a:p>
                  </a:txBody>
                  <a:tcPr marL="45720" marR="45720" marT="18288" marB="18288" anchor="t">
                    <a:solidFill>
                      <a:srgbClr val="B44A2E"/>
                    </a:solidFill>
                  </a:tcPr>
                </a:tc>
                <a:tc>
                  <a:txBody>
                    <a:bodyPr wrap="square"/>
                    <a:lstStyle/>
                    <a:p>
                      <a:r>
                        <a:rPr sz="1200" b="1" i="0">
                          <a:solidFill>
                            <a:srgbClr val="FFFFFF"/>
                          </a:solidFill>
                          <a:latin typeface="Calibri"/>
                        </a:rPr>
                        <a:t>We say</a:t>
                      </a:r>
                    </a:p>
                  </a:txBody>
                  <a:tcPr marL="45720" marR="45720" marT="18288" marB="18288" anchor="t">
                    <a:solidFill>
                      <a:srgbClr val="B44A2E"/>
                    </a:solidFill>
                  </a:tcPr>
                </a:tc>
                <a:tc>
                  <a:txBody>
                    <a:bodyPr wrap="square"/>
                    <a:lstStyle/>
                    <a:p>
                      <a:r>
                        <a:rPr sz="1200" b="1" i="0">
                          <a:solidFill>
                            <a:srgbClr val="FFFFFF"/>
                          </a:solidFill>
                          <a:latin typeface="Calibri"/>
                        </a:rPr>
                        <a:t>We never say</a:t>
                      </a:r>
                    </a:p>
                  </a:txBody>
                  <a:tcPr marL="45720" marR="45720" marT="18288" marB="18288" anchor="t">
                    <a:solidFill>
                      <a:srgbClr val="B44A2E"/>
                    </a:solidFill>
                  </a:tcPr>
                </a:tc>
              </a:tr>
              <a:tr h="718457">
                <a:tc>
                  <a:txBody>
                    <a:bodyPr wrap="square"/>
                    <a:lstStyle/>
                    <a:p>
                      <a:r>
                        <a:rPr sz="1200" b="0" i="0">
                          <a:solidFill>
                            <a:srgbClr val="2A2622"/>
                          </a:solidFill>
                          <a:latin typeface="Calibri"/>
                        </a:rPr>
                        <a:t>Selling</a:t>
                      </a:r>
                    </a:p>
                  </a:txBody>
                  <a:tcPr marL="45720" marR="45720" marT="18288" marB="18288" anchor="t">
                    <a:solidFill>
                      <a:srgbClr val="FFFFFF"/>
                    </a:solidFill>
                  </a:tcPr>
                </a:tc>
                <a:tc>
                  <a:txBody>
                    <a:bodyPr wrap="square"/>
                    <a:lstStyle/>
                    <a:p>
                      <a:r>
                        <a:rPr sz="1200" b="0" i="0">
                          <a:solidFill>
                            <a:srgbClr val="2A2622"/>
                          </a:solidFill>
                          <a:latin typeface="Calibri"/>
                        </a:rPr>
                        <a:t>"Launch me pehli 100 orders — aapki review page par feature hogi"</a:t>
                      </a:r>
                    </a:p>
                  </a:txBody>
                  <a:tcPr marL="45720" marR="45720" marT="18288" marB="18288" anchor="t">
                    <a:solidFill>
                      <a:srgbClr val="FFFFFF"/>
                    </a:solidFill>
                  </a:tcPr>
                </a:tc>
                <a:tc>
                  <a:txBody>
                    <a:bodyPr wrap="square"/>
                    <a:lstStyle/>
                    <a:p>
                      <a:r>
                        <a:rPr sz="1200" b="0" i="0">
                          <a:solidFill>
                            <a:srgbClr val="2A2622"/>
                          </a:solidFill>
                          <a:latin typeface="Calibri"/>
                        </a:rPr>
                        <a:t>"LAST CHANCE!!! ORDER NOW!!! 90% OFF!!!"</a:t>
                      </a:r>
                    </a:p>
                  </a:txBody>
                  <a:tcPr marL="45720" marR="45720" marT="18288" marB="18288" anchor="t">
                    <a:solidFill>
                      <a:srgbClr val="FFFFFF"/>
                    </a:solidFill>
                  </a:tcPr>
                </a:tc>
              </a:tr>
              <a:tr h="718457">
                <a:tc>
                  <a:txBody>
                    <a:bodyPr wrap="square"/>
                    <a:lstStyle/>
                    <a:p>
                      <a:r>
                        <a:rPr sz="1200" b="0" i="0">
                          <a:solidFill>
                            <a:srgbClr val="2A2622"/>
                          </a:solidFill>
                          <a:latin typeface="Calibri"/>
                        </a:rPr>
                        <a:t>Results</a:t>
                      </a:r>
                    </a:p>
                  </a:txBody>
                  <a:tcPr marL="45720" marR="45720" marT="18288" marB="18288" anchor="t">
                    <a:solidFill>
                      <a:srgbClr val="F6F1E7"/>
                    </a:solidFill>
                  </a:tcPr>
                </a:tc>
                <a:tc>
                  <a:txBody>
                    <a:bodyPr wrap="square"/>
                    <a:lstStyle/>
                    <a:p>
                      <a:r>
                        <a:rPr sz="1200" b="0" i="0">
                          <a:solidFill>
                            <a:srgbClr val="2A2622"/>
                          </a:solidFill>
                          <a:latin typeface="Calibri"/>
                        </a:rPr>
                        <a:t>"4 hafte daily use me, dikhne me fresh aur bright skin — results har kisi me alag hote hain"</a:t>
                      </a:r>
                    </a:p>
                  </a:txBody>
                  <a:tcPr marL="45720" marR="45720" marT="18288" marB="18288" anchor="t">
                    <a:solidFill>
                      <a:srgbClr val="F6F1E7"/>
                    </a:solidFill>
                  </a:tcPr>
                </a:tc>
                <a:tc>
                  <a:txBody>
                    <a:bodyPr wrap="square"/>
                    <a:lstStyle/>
                    <a:p>
                      <a:r>
                        <a:rPr sz="1200" b="0" i="0">
                          <a:solidFill>
                            <a:srgbClr val="2A2622"/>
                          </a:solidFill>
                          <a:latin typeface="Calibri"/>
                        </a:rPr>
                        <a:t>"4 hafte me tan hamesha ke liye khatam"</a:t>
                      </a:r>
                    </a:p>
                  </a:txBody>
                  <a:tcPr marL="45720" marR="45720" marT="18288" marB="18288" anchor="t">
                    <a:solidFill>
                      <a:srgbClr val="F6F1E7"/>
                    </a:solidFill>
                  </a:tcPr>
                </a:tc>
              </a:tr>
              <a:tr h="718457">
                <a:tc>
                  <a:txBody>
                    <a:bodyPr wrap="square"/>
                    <a:lstStyle/>
                    <a:p>
                      <a:r>
                        <a:rPr sz="1200" b="0" i="0">
                          <a:solidFill>
                            <a:srgbClr val="2A2622"/>
                          </a:solidFill>
                          <a:latin typeface="Calibri"/>
                        </a:rPr>
                        <a:t>Price</a:t>
                      </a:r>
                    </a:p>
                  </a:txBody>
                  <a:tcPr marL="45720" marR="45720" marT="18288" marB="18288" anchor="t">
                    <a:solidFill>
                      <a:srgbClr val="FFFFFF"/>
                    </a:solidFill>
                  </a:tcPr>
                </a:tc>
                <a:tc>
                  <a:txBody>
                    <a:bodyPr wrap="square"/>
                    <a:lstStyle/>
                    <a:p>
                      <a:r>
                        <a:rPr sz="1200" b="0" i="0">
                          <a:solidFill>
                            <a:srgbClr val="2A2622"/>
                          </a:solidFill>
                          <a:latin typeface="Calibri"/>
                        </a:rPr>
                        <a:t>"2000 wali imported cream ke hisaab, 1/3 daam — kyunki hum middleman nahi"</a:t>
                      </a:r>
                    </a:p>
                  </a:txBody>
                  <a:tcPr marL="45720" marR="45720" marT="18288" marB="18288" anchor="t">
                    <a:solidFill>
                      <a:srgbClr val="FFFFFF"/>
                    </a:solidFill>
                  </a:tcPr>
                </a:tc>
                <a:tc>
                  <a:txBody>
                    <a:bodyPr wrap="square"/>
                    <a:lstStyle/>
                    <a:p>
                      <a:r>
                        <a:rPr sz="1200" b="0" i="0">
                          <a:solidFill>
                            <a:srgbClr val="2A2622"/>
                          </a:solidFill>
                          <a:latin typeface="Calibri"/>
                        </a:rPr>
                        <a:t>"Mehngi cream mat lagao, hum saste ho"</a:t>
                      </a:r>
                    </a:p>
                  </a:txBody>
                  <a:tcPr marL="45720" marR="45720" marT="18288" marB="18288" anchor="t">
                    <a:solidFill>
                      <a:srgbClr val="FFFFFF"/>
                    </a:solidFill>
                  </a:tcPr>
                </a:tc>
              </a:tr>
              <a:tr h="718457">
                <a:tc>
                  <a:txBody>
                    <a:bodyPr wrap="square"/>
                    <a:lstStyle/>
                    <a:p>
                      <a:r>
                        <a:rPr sz="1200" b="0" i="0">
                          <a:solidFill>
                            <a:srgbClr val="2A2622"/>
                          </a:solidFill>
                          <a:latin typeface="Calibri"/>
                        </a:rPr>
                        <a:t>Objection</a:t>
                      </a:r>
                    </a:p>
                  </a:txBody>
                  <a:tcPr marL="45720" marR="45720" marT="18288" marB="18288" anchor="t">
                    <a:solidFill>
                      <a:srgbClr val="F6F1E7"/>
                    </a:solidFill>
                  </a:tcPr>
                </a:tc>
                <a:tc>
                  <a:txBody>
                    <a:bodyPr wrap="square"/>
                    <a:lstStyle/>
                    <a:p>
                      <a:r>
                        <a:rPr sz="1200" b="0" i="0">
                          <a:solidFill>
                            <a:srgbClr val="2A2622"/>
                          </a:solidFill>
                          <a:latin typeface="Calibri"/>
                        </a:rPr>
                        <a:t>"Pehli baar kisi naye brand se lete ho? COD hai, parcel kholo, pasand nahi toh return."</a:t>
                      </a:r>
                    </a:p>
                  </a:txBody>
                  <a:tcPr marL="45720" marR="45720" marT="18288" marB="18288" anchor="t">
                    <a:solidFill>
                      <a:srgbClr val="F6F1E7"/>
                    </a:solidFill>
                  </a:tcPr>
                </a:tc>
                <a:tc>
                  <a:txBody>
                    <a:bodyPr wrap="square"/>
                    <a:lstStyle/>
                    <a:p>
                      <a:r>
                        <a:rPr sz="1200" b="0" i="0">
                          <a:solidFill>
                            <a:srgbClr val="2A2622"/>
                          </a:solidFill>
                          <a:latin typeface="Calibri"/>
                        </a:rPr>
                        <a:t>"Sb log khareed rahe hain, aap kyon soch rahe ho"</a:t>
                      </a:r>
                    </a:p>
                  </a:txBody>
                  <a:tcPr marL="45720" marR="45720" marT="18288" marB="18288" anchor="t">
                    <a:solidFill>
                      <a:srgbClr val="F6F1E7"/>
                    </a:solidFill>
                  </a:tcPr>
                </a:tc>
              </a:tr>
              <a:tr h="718457">
                <a:tc>
                  <a:txBody>
                    <a:bodyPr wrap="square"/>
                    <a:lstStyle/>
                    <a:p>
                      <a:r>
                        <a:rPr sz="1200" b="0" i="0">
                          <a:solidFill>
                            <a:srgbClr val="2A2622"/>
                          </a:solidFill>
                          <a:latin typeface="Calibri"/>
                        </a:rPr>
                        <a:t>Language</a:t>
                      </a:r>
                    </a:p>
                  </a:txBody>
                  <a:tcPr marL="45720" marR="45720" marT="18288" marB="18288" anchor="t">
                    <a:solidFill>
                      <a:srgbClr val="FFFFFF"/>
                    </a:solidFill>
                  </a:tcPr>
                </a:tc>
                <a:tc>
                  <a:txBody>
                    <a:bodyPr wrap="square"/>
                    <a:lstStyle/>
                    <a:p>
                      <a:r>
                        <a:rPr sz="1200" b="0" i="0">
                          <a:solidFill>
                            <a:srgbClr val="2A2622"/>
                          </a:solidFill>
                          <a:latin typeface="Calibri"/>
                        </a:rPr>
                        <a:t>Hinglish by default, Gujarati when it adds warmth ("Aamee skin, aamno liye")</a:t>
                      </a:r>
                    </a:p>
                  </a:txBody>
                  <a:tcPr marL="45720" marR="45720" marT="18288" marB="18288" anchor="t">
                    <a:solidFill>
                      <a:srgbClr val="FFFFFF"/>
                    </a:solidFill>
                  </a:tcPr>
                </a:tc>
                <a:tc>
                  <a:txBody>
                    <a:bodyPr wrap="square"/>
                    <a:lstStyle/>
                    <a:p>
                      <a:r>
                        <a:rPr sz="1200" b="0" i="0">
                          <a:solidFill>
                            <a:srgbClr val="2A2622"/>
                          </a:solidFill>
                          <a:latin typeface="Calibri"/>
                        </a:rPr>
                        <a:t>Pure corporate English; broken Hindi</a:t>
                      </a:r>
                    </a:p>
                  </a:txBody>
                  <a:tcPr marL="45720" marR="45720" marT="18288" marB="18288" anchor="t">
                    <a:solidFill>
                      <a:srgbClr val="FFFFFF"/>
                    </a:solidFill>
                  </a:tcPr>
                </a:tc>
              </a:tr>
              <a:tr h="718458">
                <a:tc>
                  <a:txBody>
                    <a:bodyPr wrap="square"/>
                    <a:lstStyle/>
                    <a:p>
                      <a:r>
                        <a:rPr sz="1200" b="0" i="0">
                          <a:solidFill>
                            <a:srgbClr val="2A2622"/>
                          </a:solidFill>
                          <a:latin typeface="Calibri"/>
                        </a:rPr>
                        <a:t>Education</a:t>
                      </a:r>
                    </a:p>
                  </a:txBody>
                  <a:tcPr marL="45720" marR="45720" marT="18288" marB="18288" anchor="t">
                    <a:solidFill>
                      <a:srgbClr val="F6F1E7"/>
                    </a:solidFill>
                  </a:tcPr>
                </a:tc>
                <a:tc>
                  <a:txBody>
                    <a:bodyPr wrap="square"/>
                    <a:lstStyle/>
                    <a:p>
                      <a:r>
                        <a:rPr sz="1200" b="0" i="0">
                          <a:solidFill>
                            <a:srgbClr val="2A2622"/>
                          </a:solidFill>
                          <a:latin typeface="Calibri"/>
                        </a:rPr>
                        <a:t>"Yeh ingredient yeh karta hai — aur yeh nahi karta"</a:t>
                      </a:r>
                    </a:p>
                  </a:txBody>
                  <a:tcPr marL="45720" marR="45720" marT="18288" marB="18288" anchor="t">
                    <a:solidFill>
                      <a:srgbClr val="F6F1E7"/>
                    </a:solidFill>
                  </a:tcPr>
                </a:tc>
                <a:tc>
                  <a:txBody>
                    <a:bodyPr wrap="square"/>
                    <a:lstStyle/>
                    <a:p>
                      <a:r>
                        <a:rPr sz="1200" b="0" i="0">
                          <a:solidFill>
                            <a:srgbClr val="2A2622"/>
                          </a:solidFill>
                          <a:latin typeface="Calibri"/>
                        </a:rPr>
                        <a:t>"Vitamin C = magic"</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BRAND POSITIONING — How RANGAT NATURALS looks and sounds online</a:t>
            </a:r>
          </a:p>
          <a:p>
            <a:r>
              <a:rPr sz="1200" i="1">
                <a:solidFill>
                  <a:srgbClr val="57504A"/>
                </a:solidFill>
                <a:latin typeface="Calibri"/>
              </a:rPr>
              <a:t>PART 2 — Platform Strategy + Brand Positioning</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Signature phrase system</a:t>
            </a:r>
            <a:r>
              <a:rPr sz="1350" b="0" i="0">
                <a:solidFill>
                  <a:srgbClr val="2A2622"/>
                </a:solidFill>
                <a:latin typeface="Calibri"/>
              </a:rPr>
              <a:t> (repeat until it owns the space):</a:t>
            </a:r>
          </a:p>
          <a:p>
            <a:pPr>
              <a:spcAft>
                <a:spcPts val="400"/>
              </a:spcAft>
            </a:pPr>
            <a:r>
              <a:rPr sz="1350">
                <a:solidFill>
                  <a:srgbClr val="B44A2E"/>
                </a:solidFill>
                <a:latin typeface="Calibri"/>
              </a:rPr>
              <a:t>•  </a:t>
            </a:r>
            <a:r>
              <a:rPr sz="1350" b="1" i="0">
                <a:solidFill>
                  <a:srgbClr val="2A2622"/>
                </a:solidFill>
                <a:latin typeface="Calibri"/>
              </a:rPr>
              <a:t>English anchor:</a:t>
            </a:r>
            <a:r>
              <a:rPr sz="1350" b="0" i="0">
                <a:solidFill>
                  <a:srgbClr val="2A2622"/>
                </a:solidFill>
                <a:latin typeface="Calibri"/>
              </a:rPr>
              <a:t> "Skincare that understands Indian skin."</a:t>
            </a:r>
          </a:p>
          <a:p>
            <a:pPr>
              <a:spcAft>
                <a:spcPts val="400"/>
              </a:spcAft>
            </a:pPr>
            <a:r>
              <a:rPr sz="1350">
                <a:solidFill>
                  <a:srgbClr val="B44A2E"/>
                </a:solidFill>
                <a:latin typeface="Calibri"/>
              </a:rPr>
              <a:t>•  </a:t>
            </a:r>
            <a:r>
              <a:rPr sz="1350" b="1" i="0">
                <a:solidFill>
                  <a:srgbClr val="2A2622"/>
                </a:solidFill>
                <a:latin typeface="Calibri"/>
              </a:rPr>
              <a:t>Gujarati flavor (use in 1 in 3 posts):</a:t>
            </a:r>
            <a:r>
              <a:rPr sz="1350" b="0" i="0">
                <a:solidFill>
                  <a:srgbClr val="2A2622"/>
                </a:solidFill>
                <a:latin typeface="Calibri"/>
              </a:rPr>
              <a:t> "Aamee skin, aamno liye."</a:t>
            </a:r>
          </a:p>
          <a:p>
            <a:pPr>
              <a:spcAft>
                <a:spcPts val="400"/>
              </a:spcAft>
            </a:pPr>
            <a:r>
              <a:rPr sz="1350">
                <a:solidFill>
                  <a:srgbClr val="B44A2E"/>
                </a:solidFill>
                <a:latin typeface="Calibri"/>
              </a:rPr>
              <a:t>•  </a:t>
            </a:r>
            <a:r>
              <a:rPr sz="1350" b="1" i="0">
                <a:solidFill>
                  <a:srgbClr val="2A2622"/>
                </a:solidFill>
                <a:latin typeface="Calibri"/>
              </a:rPr>
              <a:t>Trust phrase (in every product post):</a:t>
            </a:r>
            <a:r>
              <a:rPr sz="1350" b="0" i="0">
                <a:solidFill>
                  <a:srgbClr val="2A2622"/>
                </a:solidFill>
                <a:latin typeface="Calibri"/>
              </a:rPr>
              <a:t> "Asli result, asli photo, koi filter nahi."</a:t>
            </a:r>
          </a:p>
          <a:p>
            <a:pPr>
              <a:spcAft>
                <a:spcPts val="400"/>
              </a:spcAft>
            </a:pPr>
            <a:r>
              <a:rPr sz="1350">
                <a:solidFill>
                  <a:srgbClr val="B44A2E"/>
                </a:solidFill>
                <a:latin typeface="Calibri"/>
              </a:rPr>
              <a:t>•  </a:t>
            </a:r>
            <a:r>
              <a:rPr sz="1350" b="1" i="0">
                <a:solidFill>
                  <a:srgbClr val="2A2622"/>
                </a:solidFill>
                <a:latin typeface="Calibri"/>
              </a:rPr>
              <a:t>CTA phrase (the DM keyword):</a:t>
            </a:r>
            <a:r>
              <a:rPr sz="1350" b="0" i="0">
                <a:solidFill>
                  <a:srgbClr val="2A2622"/>
                </a:solidFill>
                <a:latin typeface="Calibri"/>
              </a:rPr>
              <a:t> </a:t>
            </a:r>
            <a:r>
              <a:rPr sz="1350" b="1" i="0">
                <a:solidFill>
                  <a:srgbClr val="2A2622"/>
                </a:solidFill>
                <a:latin typeface="Calibri"/>
              </a:rPr>
              <a:t>"DM karo 'GLOW'"</a:t>
            </a:r>
            <a:r>
              <a:rPr sz="1350" b="0" i="0">
                <a:solidFill>
                  <a:srgbClr val="2A2622"/>
                </a:solidFill>
                <a:latin typeface="Calibri"/>
              </a:rPr>
              <a:t> — this one keyword is the whole funnel (see §21).</a:t>
            </a:r>
          </a:p>
          <a:p>
            <a:pPr>
              <a:spcBef>
                <a:spcPts val="1000"/>
              </a:spcBef>
              <a:spcAft>
                <a:spcPts val="400"/>
              </a:spcAft>
            </a:pPr>
            <a:r>
              <a:rPr sz="1600" b="1" i="0">
                <a:solidFill>
                  <a:srgbClr val="8F3A22"/>
                </a:solidFill>
                <a:latin typeface="Calibri"/>
              </a:rPr>
              <a:t>3. Content style (the format rules)</a:t>
            </a:r>
          </a:p>
          <a:p>
            <a:pPr>
              <a:spcAft>
                <a:spcPts val="400"/>
              </a:spcAft>
            </a:pPr>
            <a:r>
              <a:rPr sz="1350">
                <a:solidFill>
                  <a:srgbClr val="B44A2E"/>
                </a:solidFill>
                <a:latin typeface="Calibri"/>
              </a:rPr>
              <a:t>•  </a:t>
            </a:r>
            <a:r>
              <a:rPr sz="1350" b="1" i="0">
                <a:solidFill>
                  <a:srgbClr val="2A2622"/>
                </a:solidFill>
                <a:latin typeface="Calibri"/>
              </a:rPr>
              <a:t>Reels first, always vertical 9:16, first 2 seconds = hook on screen + hook spoken.</a:t>
            </a:r>
            <a:r>
              <a:rPr sz="1350" b="0" i="0">
                <a:solidFill>
                  <a:srgbClr val="2A2622"/>
                </a:solidFill>
                <a:latin typeface="Calibri"/>
              </a:rPr>
              <a:t> No logo intros, no "welcome to our page." The hook IS the opening frame.</a:t>
            </a:r>
          </a:p>
          <a:p>
            <a:pPr>
              <a:spcAft>
                <a:spcPts val="400"/>
              </a:spcAft>
            </a:pPr>
            <a:r>
              <a:rPr sz="1350">
                <a:solidFill>
                  <a:srgbClr val="B44A2E"/>
                </a:solidFill>
                <a:latin typeface="Calibri"/>
              </a:rPr>
              <a:t>•  </a:t>
            </a:r>
            <a:r>
              <a:rPr sz="1350" b="1" i="0">
                <a:solidFill>
                  <a:srgbClr val="2A2622"/>
                </a:solidFill>
                <a:latin typeface="Calibri"/>
              </a:rPr>
              <a:t>Founder-led 40% / Product-led 30% / UGC-creator-led 30%</a:t>
            </a:r>
            <a:r>
              <a:rPr sz="1350" b="0" i="0">
                <a:solidFill>
                  <a:srgbClr val="2A2622"/>
                </a:solidFill>
                <a:latin typeface="Calibri"/>
              </a:rPr>
              <a:t> (see §22 ratio). The founder's face = the trust anchor of a zero-awareness brand.</a:t>
            </a:r>
          </a:p>
          <a:p>
            <a:pPr>
              <a:spcAft>
                <a:spcPts val="400"/>
              </a:spcAft>
            </a:pPr>
            <a:r>
              <a:rPr sz="1350">
                <a:solidFill>
                  <a:srgbClr val="B44A2E"/>
                </a:solidFill>
                <a:latin typeface="Calibri"/>
              </a:rPr>
              <a:t>•  </a:t>
            </a:r>
            <a:r>
              <a:rPr sz="1350" b="1" i="0">
                <a:solidFill>
                  <a:srgbClr val="2A2622"/>
                </a:solidFill>
                <a:latin typeface="Calibri"/>
              </a:rPr>
              <a:t>Every Reel ends with a 3-second CTA</a:t>
            </a:r>
            <a:r>
              <a:rPr sz="1350" b="0" i="0">
                <a:solidFill>
                  <a:srgbClr val="2A2622"/>
                </a:solidFill>
                <a:latin typeface="Calibri"/>
              </a:rPr>
              <a:t> (spoken + on-screen): "GLOW likho DM me" / "Follow karo — kal next part" / "Save karo, baad me zaroor chahiye."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BRAND POSITIONING — How RANGAT NATURALS looks and sounds online</a:t>
            </a:r>
          </a:p>
          <a:p>
            <a:r>
              <a:rPr sz="1200" i="1">
                <a:solidFill>
                  <a:srgbClr val="57504A"/>
                </a:solidFill>
                <a:latin typeface="Calibri"/>
              </a:rPr>
              <a:t>PART 2 — Platform Strategy + Brand Positioning</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Captions:</a:t>
            </a:r>
            <a:r>
              <a:rPr sz="1350" b="0" i="0">
                <a:solidFill>
                  <a:srgbClr val="2A2622"/>
                </a:solidFill>
                <a:latin typeface="Calibri"/>
              </a:rPr>
              <a:t> 1–2 line hook + 3–5 value lines + 1 CTA + 3–5 relevant hashtags (framework in §15). First line of caption = keyword (IG search reads it).</a:t>
            </a:r>
          </a:p>
          <a:p>
            <a:pPr>
              <a:spcAft>
                <a:spcPts val="400"/>
              </a:spcAft>
            </a:pPr>
            <a:r>
              <a:rPr sz="1350">
                <a:solidFill>
                  <a:srgbClr val="B44A2E"/>
                </a:solidFill>
                <a:latin typeface="Calibri"/>
              </a:rPr>
              <a:t>•  </a:t>
            </a:r>
            <a:r>
              <a:rPr sz="1350" b="1" i="0">
                <a:solidFill>
                  <a:srgbClr val="2A2622"/>
                </a:solidFill>
                <a:latin typeface="Calibri"/>
              </a:rPr>
              <a:t>Audio:</a:t>
            </a:r>
            <a:r>
              <a:rPr sz="1350" b="0" i="0">
                <a:solidFill>
                  <a:srgbClr val="2A2622"/>
                </a:solidFill>
                <a:latin typeface="Calibri"/>
              </a:rPr>
              <a:t> trending audio at 10–20% volume UNDER voiceover, or clean voiceover with soft lo-fi. Voice is always human (founder or creator), never pure TTS.</a:t>
            </a:r>
          </a:p>
          <a:p>
            <a:pPr>
              <a:spcAft>
                <a:spcPts val="400"/>
              </a:spcAft>
            </a:pPr>
            <a:r>
              <a:rPr sz="1350">
                <a:solidFill>
                  <a:srgbClr val="B44A2E"/>
                </a:solidFill>
                <a:latin typeface="Calibri"/>
              </a:rPr>
              <a:t>•  </a:t>
            </a:r>
            <a:r>
              <a:rPr sz="1350" b="1" i="0">
                <a:solidFill>
                  <a:srgbClr val="2A2622"/>
                </a:solidFill>
                <a:latin typeface="Calibri"/>
              </a:rPr>
              <a:t>Posting windows (Gujarat/India):</a:t>
            </a:r>
            <a:r>
              <a:rPr sz="1350" b="0" i="0">
                <a:solidFill>
                  <a:srgbClr val="2A2622"/>
                </a:solidFill>
                <a:latin typeface="Calibri"/>
              </a:rPr>
              <a:t> Mon–Fri </a:t>
            </a:r>
            <a:r>
              <a:rPr sz="1350" b="1" i="0">
                <a:solidFill>
                  <a:srgbClr val="2A2622"/>
                </a:solidFill>
                <a:latin typeface="Calibri"/>
              </a:rPr>
              <a:t>7:30–9:00 PM</a:t>
            </a:r>
            <a:r>
              <a:rPr sz="1350" b="0" i="0">
                <a:solidFill>
                  <a:srgbClr val="2A2622"/>
                </a:solidFill>
                <a:latin typeface="Calibri"/>
              </a:rPr>
              <a:t> (peak), alternate slots 12:30–2:00 PM (lunch scroll) and 7–8 AM (morning routine content). Weekend: 10–11 AM (Sunday planning scroll).</a:t>
            </a:r>
          </a:p>
          <a:p>
            <a:pPr>
              <a:spcBef>
                <a:spcPts val="1000"/>
              </a:spcBef>
              <a:spcAft>
                <a:spcPts val="400"/>
              </a:spcAft>
            </a:pPr>
            <a:r>
              <a:rPr sz="1600" b="1" i="0">
                <a:solidFill>
                  <a:srgbClr val="8F3A22"/>
                </a:solidFill>
                <a:latin typeface="Calibri"/>
              </a:rPr>
              <a:t>4. Visual style (what the feed looks like)</a:t>
            </a:r>
          </a:p>
          <a:p>
            <a:pPr>
              <a:spcAft>
                <a:spcPts val="400"/>
              </a:spcAft>
            </a:pPr>
            <a:r>
              <a:rPr sz="1350">
                <a:solidFill>
                  <a:srgbClr val="B44A2E"/>
                </a:solidFill>
                <a:latin typeface="Calibri"/>
              </a:rPr>
              <a:t>•  </a:t>
            </a:r>
            <a:r>
              <a:rPr sz="1350" b="1" i="0">
                <a:solidFill>
                  <a:srgbClr val="2A2622"/>
                </a:solidFill>
                <a:latin typeface="Calibri"/>
              </a:rPr>
              <a:t>Palette:</a:t>
            </a:r>
            <a:r>
              <a:rPr sz="1350" b="0" i="0">
                <a:solidFill>
                  <a:srgbClr val="2A2622"/>
                </a:solidFill>
                <a:latin typeface="Calibri"/>
              </a:rPr>
              <a:t> warm cream + terracotta/rangat-red accent + soft sage. "Indian warmth," not clinical blue, not neon.</a:t>
            </a:r>
          </a:p>
          <a:p>
            <a:pPr>
              <a:spcAft>
                <a:spcPts val="400"/>
              </a:spcAft>
            </a:pPr>
            <a:r>
              <a:rPr sz="1350">
                <a:solidFill>
                  <a:srgbClr val="B44A2E"/>
                </a:solidFill>
                <a:latin typeface="Calibri"/>
              </a:rPr>
              <a:t>•  </a:t>
            </a:r>
            <a:r>
              <a:rPr sz="1350" b="1" i="0">
                <a:solidFill>
                  <a:srgbClr val="2A2622"/>
                </a:solidFill>
                <a:latin typeface="Calibri"/>
              </a:rPr>
              <a:t>Photography:</a:t>
            </a:r>
            <a:r>
              <a:rPr sz="1350" b="0" i="0">
                <a:solidFill>
                  <a:srgbClr val="2A2622"/>
                </a:solidFill>
                <a:latin typeface="Calibri"/>
              </a:rPr>
              <a:t> natural daylight (window light), real textures (cream swirl on hand, serum drop in palm), </a:t>
            </a:r>
            <a:r>
              <a:rPr sz="1350" b="1" i="0">
                <a:solidFill>
                  <a:srgbClr val="2A2622"/>
                </a:solidFill>
                <a:latin typeface="Calibri"/>
              </a:rPr>
              <a:t>real skin with pores</a:t>
            </a:r>
            <a:r>
              <a:rPr sz="1350" b="0" i="0">
                <a:solidFill>
                  <a:srgbClr val="2A2622"/>
                </a:solidFill>
                <a:latin typeface="Calibri"/>
              </a:rPr>
              <a:t> — no heavy retouching. A light filter max.</a:t>
            </a:r>
          </a:p>
          <a:p>
            <a:pPr>
              <a:spcAft>
                <a:spcPts val="400"/>
              </a:spcAft>
            </a:pPr>
            <a:r>
              <a:rPr sz="1350">
                <a:solidFill>
                  <a:srgbClr val="B44A2E"/>
                </a:solidFill>
                <a:latin typeface="Calibri"/>
              </a:rPr>
              <a:t>•  </a:t>
            </a:r>
            <a:r>
              <a:rPr sz="1350" b="1" i="0">
                <a:solidFill>
                  <a:srgbClr val="2A2622"/>
                </a:solidFill>
                <a:latin typeface="Calibri"/>
              </a:rPr>
              <a:t>Product shots:</a:t>
            </a:r>
            <a:r>
              <a:rPr sz="1350" b="0" i="0">
                <a:solidFill>
                  <a:srgbClr val="2A2622"/>
                </a:solidFill>
                <a:latin typeface="Calibri"/>
              </a:rPr>
              <a:t> product always shot with a hand or in a real routine context (bathroom counter, bedroom table) — never floating on white.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BRAND POSITIONING — How RANGAT NATURALS looks and sounds online</a:t>
            </a:r>
          </a:p>
          <a:p>
            <a:r>
              <a:rPr sz="1200" i="1">
                <a:solidFill>
                  <a:srgbClr val="57504A"/>
                </a:solidFill>
                <a:latin typeface="Calibri"/>
              </a:rPr>
              <a:t>PART 2 — Platform Strategy + Brand Positioning</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Typography:</a:t>
            </a:r>
            <a:r>
              <a:rPr sz="1350" b="0" i="0">
                <a:solidFill>
                  <a:srgbClr val="2A2622"/>
                </a:solidFill>
                <a:latin typeface="Calibri"/>
              </a:rPr>
              <a:t> one bold sans-serif (e.g., Montserrat/Poppins) for hooks; one warm serif for brand moments. On-screen text = </a:t>
            </a:r>
            <a:r>
              <a:rPr sz="1350" b="1" i="0">
                <a:solidFill>
                  <a:srgbClr val="2A2622"/>
                </a:solidFill>
                <a:latin typeface="Calibri"/>
              </a:rPr>
              <a:t>max 8 words per frame</a:t>
            </a:r>
            <a:r>
              <a:rPr sz="1350" b="0" i="0">
                <a:solidFill>
                  <a:srgbClr val="2A2622"/>
                </a:solidFill>
                <a:latin typeface="Calibri"/>
              </a:rPr>
              <a:t>, big, centered, with safe margins.</a:t>
            </a:r>
          </a:p>
          <a:p>
            <a:pPr>
              <a:spcAft>
                <a:spcPts val="400"/>
              </a:spcAft>
            </a:pPr>
            <a:r>
              <a:rPr sz="1350">
                <a:solidFill>
                  <a:srgbClr val="B44A2E"/>
                </a:solidFill>
                <a:latin typeface="Calibri"/>
              </a:rPr>
              <a:t>•  </a:t>
            </a:r>
            <a:r>
              <a:rPr sz="1350" b="1" i="0">
                <a:solidFill>
                  <a:srgbClr val="2A2622"/>
                </a:solidFill>
                <a:latin typeface="Calibri"/>
              </a:rPr>
              <a:t>Feed grid:</a:t>
            </a:r>
            <a:r>
              <a:rPr sz="1350" b="0" i="0">
                <a:solidFill>
                  <a:srgbClr val="2A2622"/>
                </a:solidFill>
                <a:latin typeface="Calibri"/>
              </a:rPr>
              <a:t> alternating rhythm — face (person) / product texture / text-hook carousel — so the grid reads as "human brand," not "catalog."</a:t>
            </a:r>
          </a:p>
          <a:p>
            <a:pPr>
              <a:spcAft>
                <a:spcPts val="400"/>
              </a:spcAft>
            </a:pPr>
            <a:r>
              <a:rPr sz="1350">
                <a:solidFill>
                  <a:srgbClr val="B44A2E"/>
                </a:solidFill>
                <a:latin typeface="Calibri"/>
              </a:rPr>
              <a:t>•  </a:t>
            </a:r>
            <a:r>
              <a:rPr sz="1350" b="1" i="0">
                <a:solidFill>
                  <a:srgbClr val="2A2622"/>
                </a:solidFill>
                <a:latin typeface="Calibri"/>
              </a:rPr>
              <a:t>Logo placement:</a:t>
            </a:r>
            <a:r>
              <a:rPr sz="1350" b="0" i="0">
                <a:solidFill>
                  <a:srgbClr val="2A2622"/>
                </a:solidFill>
                <a:latin typeface="Calibri"/>
              </a:rPr>
              <a:t> small, bottom corner, or on the product label. Never covering the face/hook.</a:t>
            </a:r>
          </a:p>
          <a:p>
            <a:pPr>
              <a:spcBef>
                <a:spcPts val="1000"/>
              </a:spcBef>
              <a:spcAft>
                <a:spcPts val="400"/>
              </a:spcAft>
            </a:pPr>
            <a:r>
              <a:rPr sz="1600" b="1" i="0">
                <a:solidFill>
                  <a:srgbClr val="8F3A22"/>
                </a:solidFill>
                <a:latin typeface="Calibri"/>
              </a:rPr>
              <a:t>5. Educational style</a:t>
            </a:r>
          </a:p>
          <a:p>
            <a:pPr>
              <a:spcAft>
                <a:spcPts val="400"/>
              </a:spcAft>
            </a:pPr>
            <a:r>
              <a:rPr sz="1350">
                <a:solidFill>
                  <a:srgbClr val="B44A2E"/>
                </a:solidFill>
                <a:latin typeface="Calibri"/>
              </a:rPr>
              <a:t>•  </a:t>
            </a:r>
            <a:r>
              <a:rPr sz="1350" b="1" i="0">
                <a:solidFill>
                  <a:srgbClr val="2A2622"/>
                </a:solidFill>
                <a:latin typeface="Calibri"/>
              </a:rPr>
              <a:t>"1 Reel = 1 idea"</a:t>
            </a:r>
            <a:r>
              <a:rPr sz="1350" b="0" i="0">
                <a:solidFill>
                  <a:srgbClr val="2A2622"/>
                </a:solidFill>
                <a:latin typeface="Calibri"/>
              </a:rPr>
              <a:t> rule. One myth, one ingredient, one mistake. Never a 10-point lecture.</a:t>
            </a:r>
          </a:p>
          <a:p>
            <a:pPr>
              <a:spcAft>
                <a:spcPts val="400"/>
              </a:spcAft>
            </a:pPr>
            <a:r>
              <a:rPr sz="1350">
                <a:solidFill>
                  <a:srgbClr val="B44A2E"/>
                </a:solidFill>
                <a:latin typeface="Calibri"/>
              </a:rPr>
              <a:t>•  </a:t>
            </a:r>
            <a:r>
              <a:rPr sz="1350" b="0" i="0">
                <a:solidFill>
                  <a:srgbClr val="2A2622"/>
                </a:solidFill>
                <a:latin typeface="Calibri"/>
              </a:rPr>
              <a:t>Format: </a:t>
            </a:r>
            <a:r>
              <a:rPr sz="1350" b="1" i="0">
                <a:solidFill>
                  <a:srgbClr val="2A2622"/>
                </a:solidFill>
                <a:latin typeface="Calibri"/>
              </a:rPr>
              <a:t>Hook (problem) → Why it happens (30 sec science, simple words) → What to do (2 steps) → CTA.</a:t>
            </a:r>
          </a:p>
          <a:p>
            <a:pPr>
              <a:spcAft>
                <a:spcPts val="400"/>
              </a:spcAft>
            </a:pPr>
            <a:r>
              <a:rPr sz="1350">
                <a:solidFill>
                  <a:srgbClr val="B44A2E"/>
                </a:solidFill>
                <a:latin typeface="Calibri"/>
              </a:rPr>
              <a:t>•  </a:t>
            </a:r>
            <a:r>
              <a:rPr sz="1350" b="0" i="0">
                <a:solidFill>
                  <a:srgbClr val="2A2622"/>
                </a:solidFill>
                <a:latin typeface="Calibri"/>
              </a:rPr>
              <a:t>Always end education with a </a:t>
            </a:r>
            <a:r>
              <a:rPr sz="1350" b="1" i="0">
                <a:solidFill>
                  <a:srgbClr val="2A2622"/>
                </a:solidFill>
                <a:latin typeface="Calibri"/>
              </a:rPr>
              <a:t>soft product nod, not a pitch</a:t>
            </a:r>
            <a:r>
              <a:rPr sz="1350" b="0" i="0">
                <a:solidFill>
                  <a:srgbClr val="2A2622"/>
                </a:solidFill>
                <a:latin typeface="Calibri"/>
              </a:rPr>
              <a:t>: "Yehi kaam humara Vitamin C serum karta hai — kal iske baare me detail me."</a:t>
            </a:r>
          </a:p>
          <a:p>
            <a:pPr>
              <a:spcAft>
                <a:spcPts val="400"/>
              </a:spcAft>
            </a:pPr>
            <a:r>
              <a:rPr sz="1350">
                <a:solidFill>
                  <a:srgbClr val="B44A2E"/>
                </a:solidFill>
                <a:latin typeface="Calibri"/>
              </a:rPr>
              <a:t>•  </a:t>
            </a:r>
            <a:r>
              <a:rPr sz="1350" b="0" i="0">
                <a:solidFill>
                  <a:srgbClr val="2A2622"/>
                </a:solidFill>
                <a:latin typeface="Calibri"/>
              </a:rPr>
              <a:t>Vocabulary for Indian audiences: say "dark spots/pigmentation ka dikhna," not "ameliorate hyperpigmentation." Say "subah-saandh 2 ghante," not "consistent twice-daily application."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BRAND POSITIONING — How RANGAT NATURALS looks and sounds online</a:t>
            </a:r>
          </a:p>
          <a:p>
            <a:r>
              <a:rPr sz="1200" i="1">
                <a:solidFill>
                  <a:srgbClr val="57504A"/>
                </a:solidFill>
                <a:latin typeface="Calibri"/>
              </a:rPr>
              <a:t>PART 2 — Platform Strategy + Brand Positioning</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6. UGC style (what we ask creators to do)</a:t>
            </a:r>
          </a:p>
          <a:p>
            <a:pPr>
              <a:spcAft>
                <a:spcPts val="400"/>
              </a:spcAft>
            </a:pPr>
            <a:r>
              <a:rPr sz="1350">
                <a:solidFill>
                  <a:srgbClr val="B44A2E"/>
                </a:solidFill>
                <a:latin typeface="Calibri"/>
              </a:rPr>
              <a:t>•  </a:t>
            </a:r>
            <a:r>
              <a:rPr sz="1350" b="1" i="0">
                <a:solidFill>
                  <a:srgbClr val="2A2622"/>
                </a:solidFill>
                <a:latin typeface="Calibri"/>
              </a:rPr>
              <a:t>Selfie-camera, front light (window), no studio.</a:t>
            </a:r>
            <a:r>
              <a:rPr sz="1350" b="0" i="0">
                <a:solidFill>
                  <a:srgbClr val="2A2622"/>
                </a:solidFill>
                <a:latin typeface="Calibri"/>
              </a:rPr>
              <a:t> The imperfection is the point.</a:t>
            </a:r>
          </a:p>
          <a:p>
            <a:pPr>
              <a:spcAft>
                <a:spcPts val="400"/>
              </a:spcAft>
            </a:pPr>
            <a:r>
              <a:rPr sz="1350">
                <a:solidFill>
                  <a:srgbClr val="B44A2E"/>
                </a:solidFill>
                <a:latin typeface="Calibri"/>
              </a:rPr>
              <a:t>•  </a:t>
            </a:r>
            <a:r>
              <a:rPr sz="1350" b="0" i="0">
                <a:solidFill>
                  <a:srgbClr val="2A2622"/>
                </a:solidFill>
                <a:latin typeface="Calibri"/>
              </a:rPr>
              <a:t>Structure: </a:t>
            </a:r>
            <a:r>
              <a:rPr sz="1350" b="1" i="0">
                <a:solidFill>
                  <a:srgbClr val="2A2622"/>
                </a:solidFill>
                <a:latin typeface="Calibri"/>
              </a:rPr>
              <a:t>real first line → real problem → product in routine → honest take → "link bio / DM GLOW."</a:t>
            </a:r>
          </a:p>
          <a:p>
            <a:pPr>
              <a:spcAft>
                <a:spcPts val="400"/>
              </a:spcAft>
            </a:pPr>
            <a:r>
              <a:rPr sz="1350">
                <a:solidFill>
                  <a:srgbClr val="B44A2E"/>
                </a:solidFill>
                <a:latin typeface="Calibri"/>
              </a:rPr>
              <a:t>•  </a:t>
            </a:r>
            <a:r>
              <a:rPr sz="1350" b="0" i="0">
                <a:solidFill>
                  <a:srgbClr val="2A2622"/>
                </a:solidFill>
                <a:latin typeface="Calibri"/>
              </a:rPr>
              <a:t>Creator says ONE honest thing, not a script: "Maine 3 hafte lagaya, mujhe lagta hai chehra zyada fresh dikhta hai — par meri dry patch abhi bhi hoti hai." Honest negatives build trust more than 10/10 praise.</a:t>
            </a:r>
          </a:p>
          <a:p>
            <a:pPr>
              <a:spcAft>
                <a:spcPts val="400"/>
              </a:spcAft>
            </a:pPr>
            <a:r>
              <a:rPr sz="1350">
                <a:solidFill>
                  <a:srgbClr val="B44A2E"/>
                </a:solidFill>
                <a:latin typeface="Calibri"/>
              </a:rPr>
              <a:t>•  </a:t>
            </a:r>
            <a:r>
              <a:rPr sz="1350" b="0" i="0">
                <a:solidFill>
                  <a:srgbClr val="2A2622"/>
                </a:solidFill>
                <a:latin typeface="Calibri"/>
              </a:rPr>
              <a:t>Full 20 UGC scripts: </a:t>
            </a:r>
            <a:r>
              <a:rPr sz="1200" b="0" i="0">
                <a:solidFill>
                  <a:srgbClr val="8F3A22"/>
                </a:solidFill>
                <a:latin typeface="Consolas"/>
              </a:rPr>
              <a:t>08-before-after-and-ugc.md</a:t>
            </a:r>
            <a:r>
              <a:rPr sz="1350" b="0" i="0">
                <a:solidFill>
                  <a:srgbClr val="2A2622"/>
                </a:solidFill>
                <a:latin typeface="Calibri"/>
              </a:rPr>
              <a:t>. AI-UGC generation prompts: </a:t>
            </a:r>
            <a:r>
              <a:rPr sz="1200" b="0" i="0">
                <a:solidFill>
                  <a:srgbClr val="8F3A22"/>
                </a:solidFill>
                <a:latin typeface="Consolas"/>
              </a:rPr>
              <a:t>09-ai-video-prompts.md</a:t>
            </a:r>
            <a:r>
              <a:rPr sz="1350" b="0" i="0">
                <a:solidFill>
                  <a:srgbClr val="2A2622"/>
                </a:solidFill>
                <a:latin typeface="Calibri"/>
              </a:rPr>
              <a:t>.</a:t>
            </a:r>
          </a:p>
          <a:p>
            <a:pPr>
              <a:spcBef>
                <a:spcPts val="1000"/>
              </a:spcBef>
              <a:spcAft>
                <a:spcPts val="400"/>
              </a:spcAft>
            </a:pPr>
            <a:r>
              <a:rPr sz="1600" b="1" i="0">
                <a:solidFill>
                  <a:srgbClr val="8F3A22"/>
                </a:solidFill>
                <a:latin typeface="Calibri"/>
              </a:rPr>
              <a:t>7. Trust-building style (how a ZERO brand earns belief)</a:t>
            </a:r>
          </a:p>
          <a:p>
            <a:pPr>
              <a:spcAft>
                <a:spcPts val="400"/>
              </a:spcAft>
            </a:pPr>
            <a:r>
              <a:rPr sz="1350" b="1">
                <a:solidFill>
                  <a:srgbClr val="8F3A22"/>
                </a:solidFill>
                <a:latin typeface="Calibri"/>
              </a:rPr>
              <a:t>1.  </a:t>
            </a:r>
            <a:r>
              <a:rPr sz="1350" b="1" i="0">
                <a:solidFill>
                  <a:srgbClr val="2A2622"/>
                </a:solidFill>
                <a:latin typeface="Calibri"/>
              </a:rPr>
              <a:t>Founder face on everything for 90 days.</a:t>
            </a:r>
            <a:r>
              <a:rPr sz="1350" b="0" i="0">
                <a:solidFill>
                  <a:srgbClr val="2A2622"/>
                </a:solidFill>
                <a:latin typeface="Calibri"/>
              </a:rPr>
              <a:t> A real person is the only instant proof a new brand has.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BRAND POSITIONING — How RANGAT NATURALS looks and sounds online</a:t>
            </a:r>
          </a:p>
          <a:p>
            <a:r>
              <a:rPr sz="1200" i="1">
                <a:solidFill>
                  <a:srgbClr val="57504A"/>
                </a:solidFill>
                <a:latin typeface="Calibri"/>
              </a:rPr>
              <a:t>PART 2 — Platform Strategy + Brand Positioning</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2.  </a:t>
            </a:r>
            <a:r>
              <a:rPr sz="1350" b="1" i="0">
                <a:solidFill>
                  <a:srgbClr val="2A2622"/>
                </a:solidFill>
                <a:latin typeface="Calibri"/>
              </a:rPr>
              <a:t>Transparency reels:</a:t>
            </a:r>
            <a:r>
              <a:rPr sz="1350" b="0" i="0">
                <a:solidFill>
                  <a:srgbClr val="2A2622"/>
                </a:solidFill>
                <a:latin typeface="Calibri"/>
              </a:rPr>
              <a:t> "Hum manufacturer nahi hain — hum formula chunte hain, test karte hain, aur certified Indian facilities me banwa dete hain." (Shows the process, the batch card, the label check.)</a:t>
            </a:r>
          </a:p>
          <a:p>
            <a:pPr>
              <a:spcAft>
                <a:spcPts val="400"/>
              </a:spcAft>
            </a:pPr>
            <a:r>
              <a:rPr sz="1350" b="1">
                <a:solidFill>
                  <a:srgbClr val="8F3A22"/>
                </a:solidFill>
                <a:latin typeface="Calibri"/>
              </a:rPr>
              <a:t>3.  </a:t>
            </a:r>
            <a:r>
              <a:rPr sz="1350" b="1" i="0">
                <a:solidFill>
                  <a:srgbClr val="2A2622"/>
                </a:solidFill>
                <a:latin typeface="Calibri"/>
              </a:rPr>
              <a:t>Anti-fake positioning:</a:t>
            </a:r>
            <a:r>
              <a:rPr sz="1350" b="0" i="0">
                <a:solidFill>
                  <a:srgbClr val="2A2622"/>
                </a:solidFill>
                <a:latin typeface="Calibri"/>
              </a:rPr>
              <a:t> "Fake cream dikhane ka sabse bhaari game khele jaate hain — hum sirf wohi photo dikhate hain jo asli customer ne bheji hai."</a:t>
            </a:r>
          </a:p>
          <a:p>
            <a:pPr>
              <a:spcAft>
                <a:spcPts val="400"/>
              </a:spcAft>
            </a:pPr>
            <a:r>
              <a:rPr sz="1350" b="1">
                <a:solidFill>
                  <a:srgbClr val="8F3A22"/>
                </a:solidFill>
                <a:latin typeface="Calibri"/>
              </a:rPr>
              <a:t>4.  </a:t>
            </a:r>
            <a:r>
              <a:rPr sz="1350" b="1" i="0">
                <a:solidFill>
                  <a:srgbClr val="2A2622"/>
                </a:solidFill>
                <a:latin typeface="Calibri"/>
              </a:rPr>
              <a:t>Numbers out loud:</a:t>
            </a:r>
            <a:r>
              <a:rPr sz="1350" b="0" i="0">
                <a:solidFill>
                  <a:srgbClr val="2A2622"/>
                </a:solidFill>
                <a:latin typeface="Calibri"/>
              </a:rPr>
              <a:t> "20 aahaiyon ne 4 hafte test kiya" (not "thousands love us").</a:t>
            </a:r>
          </a:p>
          <a:p>
            <a:pPr>
              <a:spcAft>
                <a:spcPts val="400"/>
              </a:spcAft>
            </a:pPr>
            <a:r>
              <a:rPr sz="1350" b="1">
                <a:solidFill>
                  <a:srgbClr val="8F3A22"/>
                </a:solidFill>
                <a:latin typeface="Calibri"/>
              </a:rPr>
              <a:t>5.  </a:t>
            </a:r>
            <a:r>
              <a:rPr sz="1350" b="1" i="0">
                <a:solidFill>
                  <a:srgbClr val="2A2622"/>
                </a:solidFill>
                <a:latin typeface="Calibri"/>
              </a:rPr>
              <a:t>COD + return on every sales post.</a:t>
            </a:r>
            <a:r>
              <a:rPr sz="1350" b="0" i="0">
                <a:solidFill>
                  <a:srgbClr val="2A2622"/>
                </a:solidFill>
                <a:latin typeface="Calibri"/>
              </a:rPr>
              <a:t> The risk is removed in one line.</a:t>
            </a:r>
          </a:p>
          <a:p>
            <a:pPr>
              <a:spcAft>
                <a:spcPts val="400"/>
              </a:spcAft>
            </a:pPr>
            <a:r>
              <a:rPr sz="1350" b="1">
                <a:solidFill>
                  <a:srgbClr val="8F3A22"/>
                </a:solidFill>
                <a:latin typeface="Calibri"/>
              </a:rPr>
              <a:t>6.  </a:t>
            </a:r>
            <a:r>
              <a:rPr sz="1350" b="1" i="0">
                <a:solidFill>
                  <a:srgbClr val="2A2622"/>
                </a:solidFill>
                <a:latin typeface="Calibri"/>
              </a:rPr>
              <a:t>Slow proof over loud claims:</a:t>
            </a:r>
            <a:r>
              <a:rPr sz="1350" b="0" i="0">
                <a:solidFill>
                  <a:srgbClr val="2A2622"/>
                </a:solidFill>
                <a:latin typeface="Calibri"/>
              </a:rPr>
              <a:t> 4-week testers, not 3-day miracles.</a:t>
            </a:r>
          </a:p>
          <a:p>
            <a:pPr>
              <a:spcAft>
                <a:spcPts val="400"/>
              </a:spcAft>
            </a:pPr>
            <a:r>
              <a:rPr sz="1350" b="1">
                <a:solidFill>
                  <a:srgbClr val="8F3A22"/>
                </a:solidFill>
                <a:latin typeface="Calibri"/>
              </a:rPr>
              <a:t>7.  </a:t>
            </a:r>
            <a:r>
              <a:rPr sz="1350" b="1" i="0">
                <a:solidFill>
                  <a:srgbClr val="2A2622"/>
                </a:solidFill>
                <a:latin typeface="Calibri"/>
              </a:rPr>
              <a:t>Every claim on screen has a source line or a humble line:</a:t>
            </a:r>
            <a:r>
              <a:rPr sz="1350" b="0" i="0">
                <a:solidFill>
                  <a:srgbClr val="2A2622"/>
                </a:solidFill>
                <a:latin typeface="Calibri"/>
              </a:rPr>
              <a:t> "Yehi wajah hai" / "Humari opinion, aapka experience alag ho sakta hai."</a:t>
            </a:r>
          </a:p>
          <a:p>
            <a:pPr>
              <a:spcBef>
                <a:spcPts val="1000"/>
              </a:spcBef>
              <a:spcAft>
                <a:spcPts val="400"/>
              </a:spcAft>
            </a:pPr>
            <a:r>
              <a:rPr sz="1600" b="1" i="0">
                <a:solidFill>
                  <a:srgbClr val="8F3A22"/>
                </a:solidFill>
                <a:latin typeface="Calibri"/>
              </a:rPr>
              <a:t>8. Sales style (when we sell, how we sell)</a:t>
            </a:r>
          </a:p>
          <a:p>
            <a:pPr>
              <a:spcAft>
                <a:spcPts val="400"/>
              </a:spcAft>
            </a:pPr>
            <a:r>
              <a:rPr sz="1350">
                <a:solidFill>
                  <a:srgbClr val="B44A2E"/>
                </a:solidFill>
                <a:latin typeface="Calibri"/>
              </a:rPr>
              <a:t>•  </a:t>
            </a:r>
            <a:r>
              <a:rPr sz="1350" b="1" i="0">
                <a:solidFill>
                  <a:srgbClr val="2A2622"/>
                </a:solidFill>
                <a:latin typeface="Calibri"/>
              </a:rPr>
              <a:t>Sell in 1-in-5 posts directly</a:t>
            </a:r>
            <a:r>
              <a:rPr sz="1350" b="0" i="0">
                <a:solidFill>
                  <a:srgbClr val="2A2622"/>
                </a:solidFill>
                <a:latin typeface="Calibri"/>
              </a:rPr>
              <a:t> (see §22). The other 4 sell indirectly by making the profile a place you'd trust with money.</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BRAND POSITIONING — How RANGAT NATURALS looks and sounds online</a:t>
            </a:r>
          </a:p>
          <a:p>
            <a:r>
              <a:rPr sz="1200" i="1">
                <a:solidFill>
                  <a:srgbClr val="57504A"/>
                </a:solidFill>
                <a:latin typeface="Calibri"/>
              </a:rPr>
              <a:t>PART 2 — Platform Strategy + Brand Positioning</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Offer always has 3 parts:</a:t>
            </a:r>
            <a:r>
              <a:rPr sz="1350" b="0" i="0">
                <a:solidFill>
                  <a:srgbClr val="2A2622"/>
                </a:solidFill>
                <a:latin typeface="Calibri"/>
              </a:rPr>
              <a:t> price anchor (honest) + extra value (free mini/sample) + risk reversal (COD/return) + real constraint (Founding 100 / stock batch).</a:t>
            </a:r>
          </a:p>
          <a:p>
            <a:pPr>
              <a:spcAft>
                <a:spcPts val="400"/>
              </a:spcAft>
            </a:pPr>
            <a:r>
              <a:rPr sz="1350">
                <a:solidFill>
                  <a:srgbClr val="B44A2E"/>
                </a:solidFill>
                <a:latin typeface="Calibri"/>
              </a:rPr>
              <a:t>•  </a:t>
            </a:r>
            <a:r>
              <a:rPr sz="1350" b="1" i="0">
                <a:solidFill>
                  <a:srgbClr val="2A2622"/>
                </a:solidFill>
                <a:latin typeface="Calibri"/>
              </a:rPr>
              <a:t>Never:</a:t>
            </a:r>
            <a:r>
              <a:rPr sz="1350" b="0" i="0">
                <a:solidFill>
                  <a:srgbClr val="2A2622"/>
                </a:solidFill>
                <a:latin typeface="Calibri"/>
              </a:rPr>
              <a:t> fake countdowns, fake "92% OFF" from an MRP nobody ever paid, pressure on body image.</a:t>
            </a:r>
          </a:p>
          <a:p>
            <a:pPr>
              <a:spcAft>
                <a:spcPts val="400"/>
              </a:spcAft>
            </a:pPr>
            <a:r>
              <a:rPr sz="1350">
                <a:solidFill>
                  <a:srgbClr val="B44A2E"/>
                </a:solidFill>
                <a:latin typeface="Calibri"/>
              </a:rPr>
              <a:t>•  </a:t>
            </a:r>
            <a:r>
              <a:rPr sz="1350" b="1" i="0">
                <a:solidFill>
                  <a:srgbClr val="2A2622"/>
                </a:solidFill>
                <a:latin typeface="Calibri"/>
              </a:rPr>
              <a:t>Always:</a:t>
            </a:r>
            <a:r>
              <a:rPr sz="1350" b="0" i="0">
                <a:solidFill>
                  <a:srgbClr val="2A2622"/>
                </a:solidFill>
                <a:latin typeface="Calibri"/>
              </a:rPr>
              <a:t> what's in the box, what to expect in week 1/2/4 (expectation setting = fewer returns + better reviews), and the one action: </a:t>
            </a:r>
            <a:r>
              <a:rPr sz="1350" b="1" i="0">
                <a:solidFill>
                  <a:srgbClr val="2A2622"/>
                </a:solidFill>
                <a:latin typeface="Calibri"/>
              </a:rPr>
              <a:t>DM "GLOW"</a:t>
            </a:r>
            <a:r>
              <a:rPr sz="1350" b="0" i="0">
                <a:solidFill>
                  <a:srgbClr val="2A2622"/>
                </a:solidFill>
                <a:latin typeface="Calibri"/>
              </a:rPr>
              <a:t> or </a:t>
            </a:r>
            <a:r>
              <a:rPr sz="1350" b="1" i="0">
                <a:solidFill>
                  <a:srgbClr val="2A2622"/>
                </a:solidFill>
                <a:latin typeface="Calibri"/>
              </a:rPr>
              <a:t>click WhatsApp link</a:t>
            </a:r>
            <a:r>
              <a:rPr sz="1350" b="0" i="0">
                <a:solidFill>
                  <a:srgbClr val="2A2622"/>
                </a:solidFill>
                <a:latin typeface="Calibri"/>
              </a:rPr>
              <a:t>.</a:t>
            </a:r>
          </a:p>
          <a:p>
            <a:pPr>
              <a:spcAft>
                <a:spcPts val="400"/>
              </a:spcAft>
            </a:pPr>
            <a:r>
              <a:rPr sz="1350">
                <a:solidFill>
                  <a:srgbClr val="B44A2E"/>
                </a:solidFill>
                <a:latin typeface="Calibri"/>
              </a:rPr>
              <a:t>•  </a:t>
            </a:r>
            <a:r>
              <a:rPr sz="1350" b="0" i="0">
                <a:solidFill>
                  <a:srgbClr val="2A2622"/>
                </a:solidFill>
                <a:latin typeface="Calibri"/>
              </a:rPr>
              <a:t>Sales post anatomy: </a:t>
            </a:r>
            <a:r>
              <a:rPr sz="1350" b="1" i="0">
                <a:solidFill>
                  <a:srgbClr val="2A2622"/>
                </a:solidFill>
                <a:latin typeface="Calibri"/>
              </a:rPr>
              <a:t>Hook (who it's for) → proof (real photo/review) → what you get → price + offer → risk reversal → CTA.</a:t>
            </a:r>
          </a:p>
          <a:p>
            <a:pPr>
              <a:spcBef>
                <a:spcPts val="1000"/>
              </a:spcBef>
              <a:spcAft>
                <a:spcPts val="400"/>
              </a:spcAft>
            </a:pPr>
            <a:r>
              <a:rPr sz="1600" b="1" i="0">
                <a:solidFill>
                  <a:srgbClr val="8F3A22"/>
                </a:solidFill>
                <a:latin typeface="Calibri"/>
              </a:rPr>
              <a:t>9. The 3-second test (every asset passes or dies)</a:t>
            </a:r>
          </a:p>
          <a:p>
            <a:pPr>
              <a:spcAft>
                <a:spcPts val="700"/>
              </a:spcAft>
            </a:pPr>
            <a:r>
              <a:rPr sz="1350" b="0" i="0">
                <a:solidFill>
                  <a:srgbClr val="2A2622"/>
                </a:solidFill>
                <a:latin typeface="Calibri"/>
              </a:rPr>
              <a:t>A new visitor lands on the profile. In 3 seconds they must know:</a:t>
            </a:r>
          </a:p>
          <a:p>
            <a:pPr>
              <a:spcAft>
                <a:spcPts val="400"/>
              </a:spcAft>
            </a:pPr>
            <a:r>
              <a:rPr sz="1350" b="1">
                <a:solidFill>
                  <a:srgbClr val="8F3A22"/>
                </a:solidFill>
                <a:latin typeface="Calibri"/>
              </a:rPr>
              <a:t>1.  </a:t>
            </a:r>
            <a:r>
              <a:rPr sz="1350" b="1" i="0">
                <a:solidFill>
                  <a:srgbClr val="2A2622"/>
                </a:solidFill>
                <a:latin typeface="Calibri"/>
              </a:rPr>
              <a:t>Indian skincare brand</a:t>
            </a:r>
            <a:r>
              <a:rPr sz="1350" b="0" i="0">
                <a:solidFill>
                  <a:srgbClr val="2A2622"/>
                </a:solidFill>
                <a:latin typeface="Calibri"/>
              </a:rPr>
              <a:t> ← bio line 1 + product visuals</a:t>
            </a:r>
          </a:p>
          <a:p>
            <a:pPr>
              <a:spcAft>
                <a:spcPts val="400"/>
              </a:spcAft>
            </a:pPr>
            <a:r>
              <a:rPr sz="1350" b="1">
                <a:solidFill>
                  <a:srgbClr val="8F3A22"/>
                </a:solidFill>
                <a:latin typeface="Calibri"/>
              </a:rPr>
              <a:t>2.  </a:t>
            </a:r>
            <a:r>
              <a:rPr sz="1350" b="1" i="0">
                <a:solidFill>
                  <a:srgbClr val="2A2622"/>
                </a:solidFill>
                <a:latin typeface="Calibri"/>
              </a:rPr>
              <a:t>What problem we solve</a:t>
            </a:r>
            <a:r>
              <a:rPr sz="1350" b="0" i="0">
                <a:solidFill>
                  <a:srgbClr val="2A2622"/>
                </a:solidFill>
                <a:latin typeface="Calibri"/>
              </a:rPr>
              <a:t> ← bio line 2 ("Glow, tan-look, dullness — Indian skin ke liye")</a:t>
            </a:r>
          </a:p>
          <a:p>
            <a:pPr>
              <a:spcAft>
                <a:spcPts val="400"/>
              </a:spcAft>
            </a:pPr>
            <a:r>
              <a:rPr sz="1350" b="1">
                <a:solidFill>
                  <a:srgbClr val="8F3A22"/>
                </a:solidFill>
                <a:latin typeface="Calibri"/>
              </a:rPr>
              <a:t>3.  </a:t>
            </a:r>
            <a:r>
              <a:rPr sz="1350" b="1" i="0">
                <a:solidFill>
                  <a:srgbClr val="2A2622"/>
                </a:solidFill>
                <a:latin typeface="Calibri"/>
              </a:rPr>
              <a:t>We're real &amp; trustworthy</a:t>
            </a:r>
            <a:r>
              <a:rPr sz="1350" b="0" i="0">
                <a:solidFill>
                  <a:srgbClr val="2A2622"/>
                </a:solidFill>
                <a:latin typeface="Calibri"/>
              </a:rPr>
              <a:t> ← founder photo/avatar, pinned social-proof post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BRAND POSITIONING — How RANGAT NATURALS looks and sounds online</a:t>
            </a:r>
          </a:p>
          <a:p>
            <a:r>
              <a:rPr sz="1200" i="1">
                <a:solidFill>
                  <a:srgbClr val="57504A"/>
                </a:solidFill>
                <a:latin typeface="Calibri"/>
              </a:rPr>
              <a:t>PART 2 — Platform Strategy + Brand Positioning</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4.  </a:t>
            </a:r>
            <a:r>
              <a:rPr sz="1350" b="1" i="0">
                <a:solidFill>
                  <a:srgbClr val="2A2622"/>
                </a:solidFill>
                <a:latin typeface="Calibri"/>
              </a:rPr>
              <a:t>How to buy</a:t>
            </a:r>
            <a:r>
              <a:rPr sz="1350" b="0" i="0">
                <a:solidFill>
                  <a:srgbClr val="2A2622"/>
                </a:solidFill>
                <a:latin typeface="Calibri"/>
              </a:rPr>
              <a:t> ← bio line 4 ("DM 'GLOW' ya WhatsApp link")</a:t>
            </a:r>
          </a:p>
          <a:p>
            <a:pPr>
              <a:spcAft>
                <a:spcPts val="700"/>
              </a:spcAft>
            </a:pPr>
            <a:r>
              <a:rPr sz="1350" b="0" i="0">
                <a:solidFill>
                  <a:srgbClr val="2A2622"/>
                </a:solidFill>
                <a:latin typeface="Calibri"/>
              </a:rPr>
              <a:t>If any of the 4 fails, fix the profile before making more content.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3</a:t>
            </a:r>
          </a:p>
        </p:txBody>
      </p:sp>
      <p:sp>
        <p:nvSpPr>
          <p:cNvPr id="4" name="TextBox 3"/>
          <p:cNvSpPr txBox="1"/>
          <p:nvPr/>
        </p:nvSpPr>
        <p:spPr>
          <a:xfrm>
            <a:off x="914400" y="2377440"/>
            <a:ext cx="10362895" cy="1645920"/>
          </a:xfrm>
          <a:prstGeom prst="rect">
            <a:avLst/>
          </a:prstGeom>
          <a:noFill/>
        </p:spPr>
        <p:txBody>
          <a:bodyPr wrap="square">
            <a:spAutoFit/>
          </a:bodyPr>
          <a:lstStyle/>
          <a:p>
            <a:r>
              <a:rPr sz="3000" b="1">
                <a:solidFill>
                  <a:srgbClr val="8F3A22"/>
                </a:solidFill>
                <a:latin typeface="Calibri"/>
              </a:rPr>
              <a:t>§3 CONTENT PILLARS — RANGAT NATURALS (7 pillars)</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Content Pillars</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Content Pillars</a:t>
            </a:r>
          </a:p>
          <a:p>
            <a:r>
              <a:rPr sz="1200" i="1">
                <a:solidFill>
                  <a:srgbClr val="57504A"/>
                </a:solidFill>
                <a:latin typeface="Calibri"/>
              </a:rPr>
              <a:t>PART 3 — Content Pillars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Research note: for a D2C skincare brand at zero awareness, content must do three different jobs in a ratio — </a:t>
            </a:r>
            <a:r>
              <a:rPr sz="1350" b="1" i="0">
                <a:solidFill>
                  <a:srgbClr val="2A2622"/>
                </a:solidFill>
                <a:latin typeface="Calibri"/>
              </a:rPr>
              <a:t>attract strangers (education/entertainment)</a:t>
            </a:r>
            <a:r>
              <a:rPr sz="1350" b="0" i="0">
                <a:solidFill>
                  <a:srgbClr val="2A2622"/>
                </a:solidFill>
                <a:latin typeface="Calibri"/>
              </a:rPr>
              <a:t>, </a:t>
            </a:r>
            <a:r>
              <a:rPr sz="1350" b="1" i="0">
                <a:solidFill>
                  <a:srgbClr val="2A2622"/>
                </a:solidFill>
                <a:latin typeface="Calibri"/>
              </a:rPr>
              <a:t>convert skeptics (proof/trust)</a:t>
            </a:r>
            <a:r>
              <a:rPr sz="1350" b="0" i="0">
                <a:solidFill>
                  <a:srgbClr val="2A2622"/>
                </a:solidFill>
                <a:latin typeface="Calibri"/>
              </a:rPr>
              <a:t>, and </a:t>
            </a:r>
            <a:r>
              <a:rPr sz="1350" b="1" i="0">
                <a:solidFill>
                  <a:srgbClr val="2A2622"/>
                </a:solidFill>
                <a:latin typeface="Calibri"/>
              </a:rPr>
              <a:t>close buyers (product/offer)</a:t>
            </a:r>
            <a:r>
              <a:rPr sz="1350" b="0" i="0">
                <a:solidFill>
                  <a:srgbClr val="2A2622"/>
                </a:solidFill>
                <a:latin typeface="Calibri"/>
              </a:rPr>
              <a:t>. The 7 pillars below are mapped to the customer journey stages: </a:t>
            </a:r>
            <a:r>
              <a:rPr sz="1350" b="1" i="0">
                <a:solidFill>
                  <a:srgbClr val="2A2622"/>
                </a:solidFill>
                <a:latin typeface="Calibri"/>
              </a:rPr>
              <a:t>Stranger → Curious → Evaluating → First-order → Repeat/Advocate.</a:t>
            </a:r>
          </a:p>
          <a:p>
            <a:pPr>
              <a:spcAft>
                <a:spcPts val="700"/>
              </a:spcAft>
            </a:pPr>
            <a:r>
              <a:rPr sz="1350" b="1" i="0">
                <a:solidFill>
                  <a:srgbClr val="2A2622"/>
                </a:solidFill>
                <a:latin typeface="Calibri"/>
              </a:rPr>
              <a:t>Weekly mix (5–7 Reels + 2 Carousels):</a:t>
            </a:r>
            <a:r>
              <a:rPr sz="1350" b="0" i="0">
                <a:solidFill>
                  <a:srgbClr val="2A2622"/>
                </a:solidFill>
                <a:latin typeface="Calibri"/>
              </a:rPr>
              <a:t> Pillar 1 (15%), Pillar 2 (25%), Pillar 3 (20%), Pillar 4+5 (15%), Pillar 6 (5–10% founder), Pillar 7 (10–15% offers) — exact math in </a:t>
            </a:r>
            <a:r>
              <a:rPr sz="1200" b="0" i="0">
                <a:solidFill>
                  <a:srgbClr val="8F3A22"/>
                </a:solidFill>
                <a:latin typeface="Consolas"/>
              </a:rPr>
              <a:t>18-funnel-psychology-ratio.md</a:t>
            </a:r>
            <a:r>
              <a:rPr sz="1350" b="0" i="0">
                <a:solidFill>
                  <a:srgbClr val="2A2622"/>
                </a:solidFill>
                <a:latin typeface="Calibri"/>
              </a:rPr>
              <a: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PILLAR 1 — "INDIAN SKIN, INDIAN PROBLEMS" (Customer Problems)</a:t>
            </a:r>
          </a:p>
          <a:p>
            <a:r>
              <a:rPr sz="1200" i="1">
                <a:solidFill>
                  <a:srgbClr val="57504A"/>
                </a:solidFill>
                <a:latin typeface="Calibri"/>
              </a:rPr>
              <a:t>PART 3 — Content Pillars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What to post:</a:t>
            </a:r>
            <a:r>
              <a:rPr sz="1350" b="0" i="0">
                <a:solidFill>
                  <a:srgbClr val="2A2622"/>
                </a:solidFill>
                <a:latin typeface="Calibri"/>
              </a:rPr>
              <a:t> Reels that name the exact skin problem the way a Gujarati/Indian woman describes it to her friend: monsoon oiliness, 40-degree tan-look, AC-indoor vs outdoor dullness, hard water feel, pigmentation after sun, post-wedding glow pressure, "chehra thaka hua." Each reel = 1 problem → why it happens (60-sec science) → 1 actionable fix → soft product nod.</a:t>
            </a:r>
          </a:p>
          <a:p>
            <a:pPr>
              <a:spcAft>
                <a:spcPts val="700"/>
              </a:spcAft>
            </a:pPr>
            <a:r>
              <a:rPr sz="1350" b="1" i="0">
                <a:solidFill>
                  <a:srgbClr val="2A2622"/>
                </a:solidFill>
                <a:latin typeface="Calibri"/>
              </a:rPr>
              <a:t>Why it works:</a:t>
            </a:r>
            <a:r>
              <a:rPr sz="1350" b="0" i="0">
                <a:solidFill>
                  <a:srgbClr val="2A2622"/>
                </a:solidFill>
                <a:latin typeface="Calibri"/>
              </a:rPr>
              <a:t> This is top-of-funnel attention. Strangers don't follow a brand they don't know, but they </a:t>
            </a:r>
            <a:r>
              <a:rPr sz="1350" b="1" i="0">
                <a:solidFill>
                  <a:srgbClr val="2A2622"/>
                </a:solidFill>
                <a:latin typeface="Calibri"/>
              </a:rPr>
              <a:t>do</a:t>
            </a:r>
            <a:r>
              <a:rPr sz="1350" b="0" i="0">
                <a:solidFill>
                  <a:srgbClr val="2A2622"/>
                </a:solidFill>
                <a:latin typeface="Calibri"/>
              </a:rPr>
              <a:t> stop on content about </a:t>
            </a:r>
            <a:r>
              <a:rPr sz="1350" b="0" i="1">
                <a:solidFill>
                  <a:srgbClr val="2A2622"/>
                </a:solidFill>
                <a:latin typeface="Calibri"/>
              </a:rPr>
              <a:t>their</a:t>
            </a:r>
            <a:r>
              <a:rPr sz="1350" b="0" i="0">
                <a:solidFill>
                  <a:srgbClr val="2A2622"/>
                </a:solidFill>
                <a:latin typeface="Calibri"/>
              </a:rPr>
              <a:t> problem. Indian skincare social is flooded with "Western routine" content that ignores Indian sun, humidity, pollution, hard water and budgets. Naming the local reality is the wedge.</a:t>
            </a:r>
          </a:p>
          <a:p>
            <a:pPr>
              <a:spcAft>
                <a:spcPts val="700"/>
              </a:spcAft>
            </a:pPr>
            <a:r>
              <a:rPr sz="1350" b="1" i="0">
                <a:solidFill>
                  <a:srgbClr val="2A2622"/>
                </a:solidFill>
                <a:latin typeface="Calibri"/>
              </a:rPr>
              <a:t>Customer stage:</a:t>
            </a:r>
            <a:r>
              <a:rPr sz="1350" b="0" i="0">
                <a:solidFill>
                  <a:srgbClr val="2A2622"/>
                </a:solidFill>
                <a:latin typeface="Calibri"/>
              </a:rPr>
              <a:t> </a:t>
            </a:r>
            <a:r>
              <a:rPr sz="1350" b="1" i="0">
                <a:solidFill>
                  <a:srgbClr val="2A2622"/>
                </a:solidFill>
                <a:latin typeface="Calibri"/>
              </a:rPr>
              <a:t>Stranger → Curious</a:t>
            </a:r>
            <a:r>
              <a:rPr sz="1350" b="0" i="0">
                <a:solidFill>
                  <a:srgbClr val="2A2622"/>
                </a:solidFill>
                <a:latin typeface="Calibri"/>
              </a:rPr>
              <a:t> (they follow the account, not the product).</a:t>
            </a:r>
          </a:p>
          <a:p>
            <a:pPr>
              <a:spcAft>
                <a:spcPts val="700"/>
              </a:spcAft>
            </a:pPr>
            <a:r>
              <a:rPr sz="1350" b="1" i="0">
                <a:solidFill>
                  <a:srgbClr val="2A2622"/>
                </a:solidFill>
                <a:latin typeface="Calibri"/>
              </a:rPr>
              <a:t>How it generates sales:</a:t>
            </a:r>
            <a:r>
              <a:rPr sz="1350" b="0" i="0">
                <a:solidFill>
                  <a:srgbClr val="2A2622"/>
                </a:solidFill>
                <a:latin typeface="Calibri"/>
              </a:rPr>
              <a:t> Every problem reel ends with a soft nod to the specific product that addresses it ("Yehi kaam humara face wash karta hai") + "GLOW likho DM me." Followers who came for one problem see 4 more solutions over the next week → profile becomes their "skin doctor page" → DM starts. </a:t>
            </a:r>
            <a:r>
              <a:rPr sz="1350" b="1" i="0">
                <a:solidFill>
                  <a:srgbClr val="2A2622"/>
                </a:solidFill>
                <a:latin typeface="Calibri"/>
              </a:rPr>
              <a:t>Measurement: saves + DMs per reel, not views.</a:t>
            </a:r>
          </a:p>
          <a:p>
            <a:pPr>
              <a:spcAft>
                <a:spcPts val="700"/>
              </a:spcAft>
            </a:pPr>
            <a:r>
              <a:rPr sz="1350" b="0" i="0">
                <a:solidFill>
                  <a:srgbClr val="2A2622"/>
                </a:solidFill>
                <a:latin typeface="Calibri"/>
              </a:rPr>
              <a:t>**Example hooks (from </a:t>
            </a:r>
            <a:r>
              <a:rPr sz="1200" b="0" i="0">
                <a:solidFill>
                  <a:srgbClr val="8F3A22"/>
                </a:solidFill>
                <a:latin typeface="Consolas"/>
              </a:rPr>
              <a:t>07-hooks-library.md</a:t>
            </a:r>
            <a:r>
              <a:rPr sz="1350" b="0" i="0">
                <a:solidFill>
                  <a:srgbClr val="2A2622"/>
                </a:solidFill>
                <a:latin typeface="Calibri"/>
              </a:rPr>
              <a:t>):**</a:t>
            </a:r>
          </a:p>
          <a:p>
            <a:pPr>
              <a:spcAft>
                <a:spcPts val="400"/>
              </a:spcAft>
            </a:pPr>
            <a:r>
              <a:rPr sz="1350">
                <a:solidFill>
                  <a:srgbClr val="B44A2E"/>
                </a:solidFill>
                <a:latin typeface="Calibri"/>
              </a:rPr>
              <a:t>•  </a:t>
            </a:r>
            <a:r>
              <a:rPr sz="1350" b="0" i="0">
                <a:solidFill>
                  <a:srgbClr val="2A2622"/>
                </a:solidFill>
                <a:latin typeface="Calibri"/>
              </a:rPr>
              <a:t>"Gujarat me 40 degree — aapki skin kya kar rahi hai, aapko pata hai?"</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PILLAR 1 — "INDIAN SKIN, INDIAN PROBLEMS" (Customer Problems)</a:t>
            </a:r>
          </a:p>
          <a:p>
            <a:r>
              <a:rPr sz="1200" i="1">
                <a:solidFill>
                  <a:srgbClr val="57504A"/>
                </a:solidFill>
                <a:latin typeface="Calibri"/>
              </a:rPr>
              <a:t>PART 3 — Content Pillars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"Monsoon me oily skin wale logo, yeh galti aap roz karte ho."</a:t>
            </a:r>
          </a:p>
          <a:p>
            <a:pPr>
              <a:spcAft>
                <a:spcPts val="400"/>
              </a:spcAft>
            </a:pPr>
            <a:r>
              <a:rPr sz="1350">
                <a:solidFill>
                  <a:srgbClr val="B44A2E"/>
                </a:solidFill>
                <a:latin typeface="Calibri"/>
              </a:rPr>
              <a:t>•  </a:t>
            </a:r>
            <a:r>
              <a:rPr sz="1350" b="0" i="0">
                <a:solidFill>
                  <a:srgbClr val="2A2622"/>
                </a:solidFill>
                <a:latin typeface="Calibri"/>
              </a:rPr>
              <a:t>"AC ka kamre me baithe bhi tan-look aata hai. Sach me? Haan."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PILLAR 2 — "1 REEL, 1 FACT" (Skincare Education)</a:t>
            </a:r>
          </a:p>
          <a:p>
            <a:r>
              <a:rPr sz="1200" i="1">
                <a:solidFill>
                  <a:srgbClr val="57504A"/>
                </a:solidFill>
                <a:latin typeface="Calibri"/>
              </a:rPr>
              <a:t>PART 3 — Content Pillars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What to post:</a:t>
            </a:r>
            <a:r>
              <a:rPr sz="1350" b="0" i="0">
                <a:solidFill>
                  <a:srgbClr val="2A2622"/>
                </a:solidFill>
                <a:latin typeface="Calibri"/>
              </a:rPr>
              <a:t> One myth vs reality, one ingredient explained (Vitamin C, niacinamide, SPF, hyaluronic acid, salicylic acid), one routine mistake, one "order of steps" explainer. Always: simple words, one idea, a visual demonstration (pouring serum, mixing, layering on hand), on-screen text with the fact.</a:t>
            </a:r>
          </a:p>
          <a:p>
            <a:pPr>
              <a:spcAft>
                <a:spcPts val="700"/>
              </a:spcAft>
            </a:pPr>
            <a:r>
              <a:rPr sz="1350" b="1" i="0">
                <a:solidFill>
                  <a:srgbClr val="2A2622"/>
                </a:solidFill>
                <a:latin typeface="Calibri"/>
              </a:rPr>
              <a:t>Why it works:</a:t>
            </a:r>
            <a:r>
              <a:rPr sz="1350" b="0" i="0">
                <a:solidFill>
                  <a:srgbClr val="2A2622"/>
                </a:solidFill>
                <a:latin typeface="Calibri"/>
              </a:rPr>
              <a:t> Education is the highest-saves, highest-trust content for skincare. A woman who </a:t>
            </a:r>
            <a:r>
              <a:rPr sz="1350" b="1" i="0">
                <a:solidFill>
                  <a:srgbClr val="2A2622"/>
                </a:solidFill>
                <a:latin typeface="Calibri"/>
              </a:rPr>
              <a:t>saves</a:t>
            </a:r>
            <a:r>
              <a:rPr sz="1350" b="0" i="0">
                <a:solidFill>
                  <a:srgbClr val="2A2622"/>
                </a:solidFill>
                <a:latin typeface="Calibri"/>
              </a:rPr>
              <a:t> your "Vitamin C + sunscreen kaise use kare" reel has mentally placed you in the "smart brand" category. Saves also push IG algorithm distribution (saves = strong ranking signal). It also directly feeds Instagram/YouTube </a:t>
            </a:r>
            <a:r>
              <a:rPr sz="1350" b="1" i="0">
                <a:solidFill>
                  <a:srgbClr val="2A2622"/>
                </a:solidFill>
                <a:latin typeface="Calibri"/>
              </a:rPr>
              <a:t>search</a:t>
            </a:r>
            <a:r>
              <a:rPr sz="1350" b="0" i="0">
                <a:solidFill>
                  <a:srgbClr val="2A2622"/>
                </a:solidFill>
                <a:latin typeface="Calibri"/>
              </a:rPr>
              <a:t> (see §14): "vitamin c serum kaise use kare" is a real daily search.</a:t>
            </a:r>
          </a:p>
          <a:p>
            <a:pPr>
              <a:spcAft>
                <a:spcPts val="700"/>
              </a:spcAft>
            </a:pPr>
            <a:r>
              <a:rPr sz="1350" b="1" i="0">
                <a:solidFill>
                  <a:srgbClr val="2A2622"/>
                </a:solidFill>
                <a:latin typeface="Calibri"/>
              </a:rPr>
              <a:t>Customer stage:</a:t>
            </a:r>
            <a:r>
              <a:rPr sz="1350" b="0" i="0">
                <a:solidFill>
                  <a:srgbClr val="2A2622"/>
                </a:solidFill>
                <a:latin typeface="Calibri"/>
              </a:rPr>
              <a:t> </a:t>
            </a:r>
            <a:r>
              <a:rPr sz="1350" b="1" i="0">
                <a:solidFill>
                  <a:srgbClr val="2A2622"/>
                </a:solidFill>
                <a:latin typeface="Calibri"/>
              </a:rPr>
              <a:t>Curious → Evaluating.</a:t>
            </a:r>
            <a:r>
              <a:rPr sz="1350" b="0" i="0">
                <a:solidFill>
                  <a:srgbClr val="2A2622"/>
                </a:solidFill>
                <a:latin typeface="Calibri"/>
              </a:rPr>
              <a:t> They start believing the brand knows what it's doing.</a:t>
            </a:r>
          </a:p>
          <a:p>
            <a:pPr>
              <a:spcAft>
                <a:spcPts val="700"/>
              </a:spcAft>
            </a:pPr>
            <a:r>
              <a:rPr sz="1350" b="1" i="0">
                <a:solidFill>
                  <a:srgbClr val="2A2622"/>
                </a:solidFill>
                <a:latin typeface="Calibri"/>
              </a:rPr>
              <a:t>How it generates sales:</a:t>
            </a:r>
            <a:r>
              <a:rPr sz="1350" b="0" i="0">
                <a:solidFill>
                  <a:srgbClr val="2A2622"/>
                </a:solidFill>
                <a:latin typeface="Calibri"/>
              </a:rPr>
              <a:t> Educated buyers ask fewer "will it work?" questions and more "how do I buy?" The DM script handles the rest. Also: every education reel is a </a:t>
            </a:r>
            <a:r>
              <a:rPr sz="1350" b="1" i="0">
                <a:solidFill>
                  <a:srgbClr val="2A2622"/>
                </a:solidFill>
                <a:latin typeface="Calibri"/>
              </a:rPr>
              <a:t>retargeting asset</a:t>
            </a:r>
            <a:r>
              <a:rPr sz="1350" b="0" i="0">
                <a:solidFill>
                  <a:srgbClr val="2A2622"/>
                </a:solidFill>
                <a:latin typeface="Calibri"/>
              </a:rPr>
              <a:t> later (Pillar 2 → Meta video-viewer audiences in §20).</a:t>
            </a:r>
          </a:p>
          <a:p>
            <a:pPr>
              <a:spcAft>
                <a:spcPts val="700"/>
              </a:spcAft>
            </a:pPr>
            <a:r>
              <a:rPr sz="1350" b="1" i="0">
                <a:solidFill>
                  <a:srgbClr val="2A2622"/>
                </a:solidFill>
                <a:latin typeface="Calibri"/>
              </a:rPr>
              <a:t>Rules:</a:t>
            </a:r>
            <a:r>
              <a:rPr sz="1350" b="0" i="0">
                <a:solidFill>
                  <a:srgbClr val="2A2622"/>
                </a:solidFill>
                <a:latin typeface="Calibri"/>
              </a:rPr>
              <a:t> No medical claims (§29 compliance). End with "Yehi soch ke humne formula banaya" — education becomes brand justification.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PILLAR 3 — "SEE IT, THEN BUY IT" (Product Education &amp; Demonstration)</a:t>
            </a:r>
          </a:p>
          <a:p>
            <a:r>
              <a:rPr sz="1200" i="1">
                <a:solidFill>
                  <a:srgbClr val="57504A"/>
                </a:solidFill>
                <a:latin typeface="Calibri"/>
              </a:rPr>
              <a:t>PART 3 — Content Pillars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What to post:</a:t>
            </a:r>
            <a:r>
              <a:rPr sz="1350" b="0" i="0">
                <a:solidFill>
                  <a:srgbClr val="2A2622"/>
                </a:solidFill>
                <a:latin typeface="Calibri"/>
              </a:rPr>
              <a:t> The product doing its job, up close: serum texture drop, face wash foam, cream absorption on real skin, before/after of </a:t>
            </a:r>
            <a:r>
              <a:rPr sz="1350" b="0" i="1">
                <a:solidFill>
                  <a:srgbClr val="2A2622"/>
                </a:solidFill>
                <a:latin typeface="Calibri"/>
              </a:rPr>
              <a:t>texture</a:t>
            </a:r>
            <a:r>
              <a:rPr sz="1350" b="0" i="0">
                <a:solidFill>
                  <a:srgbClr val="2A2622"/>
                </a:solidFill>
                <a:latin typeface="Calibri"/>
              </a:rPr>
              <a:t> on hand (not face claims), "what's inside" ingredient transparency, how-to routines (60-sec morning routine), "ek bottle = kitne din" (value math), packaging &amp; batch card (genuine-product trust).</a:t>
            </a:r>
          </a:p>
          <a:p>
            <a:pPr>
              <a:spcAft>
                <a:spcPts val="700"/>
              </a:spcAft>
            </a:pPr>
            <a:r>
              <a:rPr sz="1350" b="1" i="0">
                <a:solidFill>
                  <a:srgbClr val="2A2622"/>
                </a:solidFill>
                <a:latin typeface="Calibri"/>
              </a:rPr>
              <a:t>Why it works:</a:t>
            </a:r>
            <a:r>
              <a:rPr sz="1350" b="0" i="0">
                <a:solidFill>
                  <a:srgbClr val="2A2622"/>
                </a:solidFill>
                <a:latin typeface="Calibri"/>
              </a:rPr>
              <a:t> This is the bridge between "I trust the page" and "I trust the product." For a new brand, the #1 purchase blocker is </a:t>
            </a:r>
            <a:r>
              <a:rPr sz="1350" b="0" i="1">
                <a:solidFill>
                  <a:srgbClr val="2A2622"/>
                </a:solidFill>
                <a:latin typeface="Calibri"/>
              </a:rPr>
              <a:t>"kya sach me kaam karega?"</a:t>
            </a:r>
            <a:r>
              <a:rPr sz="1350" b="0" i="0">
                <a:solidFill>
                  <a:srgbClr val="2A2622"/>
                </a:solidFill>
                <a:latin typeface="Calibri"/>
              </a:rPr>
              <a:t> — demonstration + transparency (full ingredient list, manufacturer, batch card) answers it without making claims. Texture ASMR is also a proven high-retention Indian skincare format.</a:t>
            </a:r>
          </a:p>
          <a:p>
            <a:pPr>
              <a:spcAft>
                <a:spcPts val="700"/>
              </a:spcAft>
            </a:pPr>
            <a:r>
              <a:rPr sz="1350" b="1" i="0">
                <a:solidFill>
                  <a:srgbClr val="2A2622"/>
                </a:solidFill>
                <a:latin typeface="Calibri"/>
              </a:rPr>
              <a:t>Customer stage:</a:t>
            </a:r>
            <a:r>
              <a:rPr sz="1350" b="0" i="0">
                <a:solidFill>
                  <a:srgbClr val="2A2622"/>
                </a:solidFill>
                <a:latin typeface="Calibri"/>
              </a:rPr>
              <a:t> </a:t>
            </a:r>
            <a:r>
              <a:rPr sz="1350" b="1" i="0">
                <a:solidFill>
                  <a:srgbClr val="2A2622"/>
                </a:solidFill>
                <a:latin typeface="Calibri"/>
              </a:rPr>
              <a:t>Evaluating → First-order.</a:t>
            </a:r>
          </a:p>
          <a:p>
            <a:pPr>
              <a:spcAft>
                <a:spcPts val="700"/>
              </a:spcAft>
            </a:pPr>
            <a:r>
              <a:rPr sz="1350" b="1" i="0">
                <a:solidFill>
                  <a:srgbClr val="2A2622"/>
                </a:solidFill>
                <a:latin typeface="Calibri"/>
              </a:rPr>
              <a:t>How it generates sales:</a:t>
            </a:r>
            <a:r>
              <a:rPr sz="1350" b="0" i="0">
                <a:solidFill>
                  <a:srgbClr val="2A2622"/>
                </a:solidFill>
                <a:latin typeface="Calibri"/>
              </a:rPr>
              <a:t> These are the 4–6 creatives that </a:t>
            </a:r>
            <a:r>
              <a:rPr sz="1350" b="1" i="0">
                <a:solidFill>
                  <a:srgbClr val="2A2622"/>
                </a:solidFill>
                <a:latin typeface="Calibri"/>
              </a:rPr>
              <a:t>become the Meta ads</a:t>
            </a:r>
            <a:r>
              <a:rPr sz="1350" b="0" i="0">
                <a:solidFill>
                  <a:srgbClr val="2A2622"/>
                </a:solidFill>
                <a:latin typeface="Calibri"/>
              </a:rPr>
              <a:t> (§18 testing). Every product reel is shot to work as an ad: hook in first 2 sec, benefit by 5 sec, CTA by end. One shoot day = 8 reels + 4 ad creatives.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PILLAR 4 — "ASLI LOG, ASALI RESULT" (UGC &amp; Testimonials — the trust pillar)</a:t>
            </a:r>
          </a:p>
          <a:p>
            <a:r>
              <a:rPr sz="1200" i="1">
                <a:solidFill>
                  <a:srgbClr val="57504A"/>
                </a:solidFill>
                <a:latin typeface="Calibri"/>
              </a:rPr>
              <a:t>PART 3 — Content Pillars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What to post:</a:t>
            </a:r>
            <a:r>
              <a:rPr sz="1350" b="0" i="0">
                <a:solidFill>
                  <a:srgbClr val="2A2622"/>
                </a:solidFill>
                <a:latin typeface="Calibri"/>
              </a:rPr>
              <a:t> Real customers (testers, Founding 100, creators) talking to camera or in daily life: unboxing, first-use, week-2, week-4 updates, honest mixed feedback, "maine pucha: kya kaam karega?" Reuse their words as quote cards. </a:t>
            </a:r>
            <a:r>
              <a:rPr sz="1350" b="1" i="0">
                <a:solidFill>
                  <a:srgbClr val="2A2622"/>
                </a:solidFill>
                <a:latin typeface="Calibri"/>
              </a:rPr>
              <a:t>Only real people, written photo consent, no edited claims</a:t>
            </a:r>
            <a:r>
              <a:rPr sz="1350" b="0" i="0">
                <a:solidFill>
                  <a:srgbClr val="2A2622"/>
                </a:solidFill>
                <a:latin typeface="Calibri"/>
              </a:rPr>
              <a:t> (§29).</a:t>
            </a:r>
          </a:p>
          <a:p>
            <a:pPr>
              <a:spcAft>
                <a:spcPts val="700"/>
              </a:spcAft>
            </a:pPr>
            <a:r>
              <a:rPr sz="1350" b="1" i="0">
                <a:solidFill>
                  <a:srgbClr val="2A2622"/>
                </a:solidFill>
                <a:latin typeface="Calibri"/>
              </a:rPr>
              <a:t>Why it works:</a:t>
            </a:r>
            <a:r>
              <a:rPr sz="1350" b="0" i="0">
                <a:solidFill>
                  <a:srgbClr val="2A2622"/>
                </a:solidFill>
                <a:latin typeface="Calibri"/>
              </a:rPr>
              <a:t> Indian buyers of unknown brands have exactly one question: </a:t>
            </a:r>
            <a:r>
              <a:rPr sz="1350" b="0" i="1">
                <a:solidFill>
                  <a:srgbClr val="2A2622"/>
                </a:solidFill>
                <a:latin typeface="Calibri"/>
              </a:rPr>
              <a:t>"kya koi asli uska product use karta hai?"</a:t>
            </a:r>
            <a:r>
              <a:rPr sz="1350" b="0" i="0">
                <a:solidFill>
                  <a:srgbClr val="2A2622"/>
                </a:solidFill>
                <a:latin typeface="Calibri"/>
              </a:rPr>
              <a:t> One real woman saying "2 hafte lagaye, fresh lagta hai" outperforms ten polished brand videos — UGC outperforms brand creative by ~2x in Indian D2C benchmarks. This pillar is also your </a:t>
            </a:r>
            <a:r>
              <a:rPr sz="1350" b="1" i="0">
                <a:solidFill>
                  <a:srgbClr val="2A2622"/>
                </a:solidFill>
                <a:latin typeface="Calibri"/>
              </a:rPr>
              <a:t>ad creative factory</a:t>
            </a:r>
            <a:r>
              <a:rPr sz="1350" b="0" i="0">
                <a:solidFill>
                  <a:srgbClr val="2A2622"/>
                </a:solidFill>
                <a:latin typeface="Calibri"/>
              </a:rPr>
              <a:t>.</a:t>
            </a:r>
          </a:p>
          <a:p>
            <a:pPr>
              <a:spcAft>
                <a:spcPts val="700"/>
              </a:spcAft>
            </a:pPr>
            <a:r>
              <a:rPr sz="1350" b="1" i="0">
                <a:solidFill>
                  <a:srgbClr val="2A2622"/>
                </a:solidFill>
                <a:latin typeface="Calibri"/>
              </a:rPr>
              <a:t>Customer stage:</a:t>
            </a:r>
            <a:r>
              <a:rPr sz="1350" b="0" i="0">
                <a:solidFill>
                  <a:srgbClr val="2A2622"/>
                </a:solidFill>
                <a:latin typeface="Calibri"/>
              </a:rPr>
              <a:t> </a:t>
            </a:r>
            <a:r>
              <a:rPr sz="1350" b="1" i="0">
                <a:solidFill>
                  <a:srgbClr val="2A2622"/>
                </a:solidFill>
                <a:latin typeface="Calibri"/>
              </a:rPr>
              <a:t>Evaluating → First-order</a:t>
            </a:r>
            <a:r>
              <a:rPr sz="1350" b="0" i="0">
                <a:solidFill>
                  <a:srgbClr val="2A2622"/>
                </a:solidFill>
                <a:latin typeface="Calibri"/>
              </a:rPr>
              <a:t> (and the engine of Repeat, since other buyers see themselves in it).</a:t>
            </a:r>
          </a:p>
          <a:p>
            <a:pPr>
              <a:spcAft>
                <a:spcPts val="700"/>
              </a:spcAft>
            </a:pPr>
            <a:r>
              <a:rPr sz="1350" b="1" i="0">
                <a:solidFill>
                  <a:srgbClr val="2A2622"/>
                </a:solidFill>
                <a:latin typeface="Calibri"/>
              </a:rPr>
              <a:t>How it generates sales:</a:t>
            </a:r>
            <a:r>
              <a:rPr sz="1350" b="0" i="0">
                <a:solidFill>
                  <a:srgbClr val="2A2622"/>
                </a:solidFill>
                <a:latin typeface="Calibri"/>
              </a:rPr>
              <a:t> 3 paths: (1) organic → profile → DM; (2) repurposed as Meta ads to cold + retargeting audiences; (3) quote-cards as carousel posts that become pinned social-proof posts.</a:t>
            </a:r>
          </a:p>
          <a:p>
            <a:pPr>
              <a:spcAft>
                <a:spcPts val="700"/>
              </a:spcAft>
            </a:pPr>
            <a:r>
              <a:rPr sz="1350" b="1" i="0">
                <a:solidFill>
                  <a:srgbClr val="2A2622"/>
                </a:solidFill>
                <a:latin typeface="Calibri"/>
              </a:rPr>
              <a:t>Sourcing:</a:t>
            </a:r>
            <a:r>
              <a:rPr sz="1350" b="0" i="0">
                <a:solidFill>
                  <a:srgbClr val="2A2622"/>
                </a:solidFill>
                <a:latin typeface="Calibri"/>
              </a:rPr>
              <a:t> 4-week tester program (20 women, Day 1) → 10 micro-creators (Day 15+) → Founding 100 buyers (Day 21+) → review-ask WhatsApp sequence (Day 14 post-delivery). Full system: </a:t>
            </a:r>
            <a:r>
              <a:rPr sz="1200" b="0" i="0">
                <a:solidFill>
                  <a:srgbClr val="8F3A22"/>
                </a:solidFill>
                <a:latin typeface="Consolas"/>
              </a:rPr>
              <a:t>08-before-after-and-ugc.md</a:t>
            </a:r>
            <a:r>
              <a:rPr sz="1350" b="0" i="0">
                <a:solidFill>
                  <a:srgbClr val="2A2622"/>
                </a:solidFill>
                <a:latin typeface="Calibri"/>
              </a:rPr>
              <a: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PILLAR 5 — "4 HAFTON KA SAFAQ" (Safe Before/After &amp; Transformation)</a:t>
            </a:r>
          </a:p>
          <a:p>
            <a:r>
              <a:rPr sz="1200" i="1">
                <a:solidFill>
                  <a:srgbClr val="57504A"/>
                </a:solidFill>
                <a:latin typeface="Calibri"/>
              </a:rPr>
              <a:t>PART 3 — Content Pillars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What to post:</a:t>
            </a:r>
            <a:r>
              <a:rPr sz="1350" b="0" i="0">
                <a:solidFill>
                  <a:srgbClr val="2A2622"/>
                </a:solidFill>
                <a:latin typeface="Calibri"/>
              </a:rPr>
              <a:t> </a:t>
            </a:r>
            <a:r>
              <a:rPr sz="1350" b="1" i="0">
                <a:solidFill>
                  <a:srgbClr val="2A2622"/>
                </a:solidFill>
                <a:latin typeface="Calibri"/>
              </a:rPr>
              <a:t>Only real, disclosed</a:t>
            </a:r>
            <a:r>
              <a:rPr sz="1350" b="0" i="0">
                <a:solidFill>
                  <a:srgbClr val="2A2622"/>
                </a:solidFill>
                <a:latin typeface="Calibri"/>
              </a:rPr>
              <a:t> transformations: the 4-week tester program (documented: same light, same angle, no filter, date-stamped), "day 1 vs day 28" side-by-side of real skin with the mandatory on-screen disclaimer, texture/finish changes (glow-look, even tone-look) — </a:t>
            </a:r>
            <a:r>
              <a:rPr sz="1350" b="1" i="0">
                <a:solidFill>
                  <a:srgbClr val="2A2622"/>
                </a:solidFill>
                <a:latin typeface="Calibri"/>
              </a:rPr>
              <a:t>never</a:t>
            </a:r>
            <a:r>
              <a:rPr sz="1350" b="0" i="0">
                <a:solidFill>
                  <a:srgbClr val="2A2622"/>
                </a:solidFill>
                <a:latin typeface="Calibri"/>
              </a:rPr>
              <a:t> "tan removed," "pigmentation gone," "spots erased."</a:t>
            </a:r>
          </a:p>
          <a:p>
            <a:pPr>
              <a:spcAft>
                <a:spcPts val="700"/>
              </a:spcAft>
            </a:pPr>
            <a:r>
              <a:rPr sz="1350" b="1" i="0">
                <a:solidFill>
                  <a:srgbClr val="2A2622"/>
                </a:solidFill>
                <a:latin typeface="Calibri"/>
              </a:rPr>
              <a:t>Why it works:</a:t>
            </a:r>
            <a:r>
              <a:rPr sz="1350" b="0" i="0">
                <a:solidFill>
                  <a:srgbClr val="2A2622"/>
                </a:solidFill>
                <a:latin typeface="Calibri"/>
              </a:rPr>
              <a:t> Before/after is the highest-converting creative type in Indian skincare ads (it's literally the #1 ROAS driver per benchmarks) — </a:t>
            </a:r>
            <a:r>
              <a:rPr sz="1350" b="1" i="0">
                <a:solidFill>
                  <a:srgbClr val="2A2622"/>
                </a:solidFill>
                <a:latin typeface="Calibri"/>
              </a:rPr>
              <a:t>if it's real and disclosed.</a:t>
            </a:r>
            <a:r>
              <a:rPr sz="1350" b="0" i="0">
                <a:solidFill>
                  <a:srgbClr val="2A2622"/>
                </a:solidFill>
                <a:latin typeface="Calibri"/>
              </a:rPr>
              <a:t> Fakes destroy the brand in one screenshot; reals compound trust for years.</a:t>
            </a:r>
          </a:p>
          <a:p>
            <a:pPr>
              <a:spcAft>
                <a:spcPts val="700"/>
              </a:spcAft>
            </a:pPr>
            <a:r>
              <a:rPr sz="1350" b="1" i="0">
                <a:solidFill>
                  <a:srgbClr val="2A2622"/>
                </a:solidFill>
                <a:latin typeface="Calibri"/>
              </a:rPr>
              <a:t>Customer stage:</a:t>
            </a:r>
            <a:r>
              <a:rPr sz="1350" b="0" i="0">
                <a:solidFill>
                  <a:srgbClr val="2A2622"/>
                </a:solidFill>
                <a:latin typeface="Calibri"/>
              </a:rPr>
              <a:t> </a:t>
            </a:r>
            <a:r>
              <a:rPr sz="1350" b="1" i="0">
                <a:solidFill>
                  <a:srgbClr val="2A2622"/>
                </a:solidFill>
                <a:latin typeface="Calibri"/>
              </a:rPr>
              <a:t>Evaluating → First-order.</a:t>
            </a:r>
          </a:p>
          <a:p>
            <a:pPr>
              <a:spcAft>
                <a:spcPts val="700"/>
              </a:spcAft>
            </a:pPr>
            <a:r>
              <a:rPr sz="1350" b="1" i="0">
                <a:solidFill>
                  <a:srgbClr val="2A2622"/>
                </a:solidFill>
                <a:latin typeface="Calibri"/>
              </a:rPr>
              <a:t>How it generates sales:</a:t>
            </a:r>
            <a:r>
              <a:rPr sz="1350" b="0" i="0">
                <a:solidFill>
                  <a:srgbClr val="2A2622"/>
                </a:solidFill>
                <a:latin typeface="Calibri"/>
              </a:rPr>
              <a:t> Becomes (1) pinned profile post, (2) ad creative for cold audiences, (3) WhatsApp Status material, (4) the #1 reply in any "result dikha do" DM. Rules, timings, and the full compliance script: </a:t>
            </a:r>
            <a:r>
              <a:rPr sz="1200" b="0" i="0">
                <a:solidFill>
                  <a:srgbClr val="8F3A22"/>
                </a:solidFill>
                <a:latin typeface="Consolas"/>
              </a:rPr>
              <a:t>08-before-after-and-ugc.md</a:t>
            </a:r>
            <a:r>
              <a:rPr sz="1350" b="0" i="0">
                <a:solidFill>
                  <a:srgbClr val="2A2622"/>
                </a:solidFill>
                <a:latin typeface="Calibri"/>
              </a:rPr>
              <a:t> §7.</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PILLAR 6 — "GHAR JAISA, SAACHA" (Founder &amp; Brand Story)</a:t>
            </a:r>
          </a:p>
          <a:p>
            <a:r>
              <a:rPr sz="1200" i="1">
                <a:solidFill>
                  <a:srgbClr val="57504A"/>
                </a:solidFill>
                <a:latin typeface="Calibri"/>
              </a:rPr>
              <a:t>PART 3 — Content Pillars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What to post:</a:t>
            </a:r>
            <a:r>
              <a:rPr sz="1350" b="0" i="0">
                <a:solidFill>
                  <a:srgbClr val="2A2622"/>
                </a:solidFill>
                <a:latin typeface="Calibri"/>
              </a:rPr>
              <a:t> The founder's face and voice — why the brand exists (Gujarati woman, tired of "imported routine" that doesn't fit Indian skin/budget), how the formula was chosen, 20-woman test in Ahmedabad, choosing the manufacturer, the launch-day feeling, failures (rejected first formula, packaging samples), "aaj 50 orders aaye — maine roka nahi kiya." One founder reel/week minimum for 90 days.</a:t>
            </a:r>
          </a:p>
          <a:p>
            <a:pPr>
              <a:spcAft>
                <a:spcPts val="700"/>
              </a:spcAft>
            </a:pPr>
            <a:r>
              <a:rPr sz="1350" b="1" i="0">
                <a:solidFill>
                  <a:srgbClr val="2A2622"/>
                </a:solidFill>
                <a:latin typeface="Calibri"/>
              </a:rPr>
              <a:t>Why it works:</a:t>
            </a:r>
            <a:r>
              <a:rPr sz="1350" b="0" i="0">
                <a:solidFill>
                  <a:srgbClr val="2A2622"/>
                </a:solidFill>
                <a:latin typeface="Calibri"/>
              </a:rPr>
              <a:t> Zero-awareness brands have no history, so the </a:t>
            </a:r>
            <a:r>
              <a:rPr sz="1350" b="1" i="0">
                <a:solidFill>
                  <a:srgbClr val="2A2622"/>
                </a:solidFill>
                <a:latin typeface="Calibri"/>
              </a:rPr>
              <a:t>founder IS the history.</a:t>
            </a:r>
            <a:r>
              <a:rPr sz="1350" b="0" i="0">
                <a:solidFill>
                  <a:srgbClr val="2A2622"/>
                </a:solidFill>
                <a:latin typeface="Calibri"/>
              </a:rPr>
              <a:t> A face is the fastest trust shortcut that exists, and "Gujarati founder, Gujarati first" is a cultural match for the first market (§11). Story content is also your most shareable (people share people, not products).</a:t>
            </a:r>
          </a:p>
          <a:p>
            <a:pPr>
              <a:spcAft>
                <a:spcPts val="700"/>
              </a:spcAft>
            </a:pPr>
            <a:r>
              <a:rPr sz="1350" b="1" i="0">
                <a:solidFill>
                  <a:srgbClr val="2A2622"/>
                </a:solidFill>
                <a:latin typeface="Calibri"/>
              </a:rPr>
              <a:t>Customer stage:</a:t>
            </a:r>
            <a:r>
              <a:rPr sz="1350" b="0" i="0">
                <a:solidFill>
                  <a:srgbClr val="2A2622"/>
                </a:solidFill>
                <a:latin typeface="Calibri"/>
              </a:rPr>
              <a:t> </a:t>
            </a:r>
            <a:r>
              <a:rPr sz="1350" b="1" i="0">
                <a:solidFill>
                  <a:srgbClr val="2A2622"/>
                </a:solidFill>
                <a:latin typeface="Calibri"/>
              </a:rPr>
              <a:t>Stranger → Curious</a:t>
            </a:r>
            <a:r>
              <a:rPr sz="1350" b="0" i="0">
                <a:solidFill>
                  <a:srgbClr val="2A2622"/>
                </a:solidFill>
                <a:latin typeface="Calibri"/>
              </a:rPr>
              <a:t> AND </a:t>
            </a:r>
            <a:r>
              <a:rPr sz="1350" b="1" i="0">
                <a:solidFill>
                  <a:srgbClr val="2A2622"/>
                </a:solidFill>
                <a:latin typeface="Calibri"/>
              </a:rPr>
              <a:t>Evaluating → First-order</a:t>
            </a:r>
            <a:r>
              <a:rPr sz="1350" b="0" i="0">
                <a:solidFill>
                  <a:srgbClr val="2A2622"/>
                </a:solidFill>
                <a:latin typeface="Calibri"/>
              </a:rPr>
              <a:t> (it does both jobs — that's why it's worth 10% of the mix forever).</a:t>
            </a:r>
          </a:p>
          <a:p>
            <a:pPr>
              <a:spcAft>
                <a:spcPts val="700"/>
              </a:spcAft>
            </a:pPr>
            <a:r>
              <a:rPr sz="1350" b="1" i="0">
                <a:solidFill>
                  <a:srgbClr val="2A2622"/>
                </a:solidFill>
                <a:latin typeface="Calibri"/>
              </a:rPr>
              <a:t>How it generates sales:</a:t>
            </a:r>
            <a:r>
              <a:rPr sz="1350" b="0" i="0">
                <a:solidFill>
                  <a:srgbClr val="2A2622"/>
                </a:solidFill>
                <a:latin typeface="Calibri"/>
              </a:rPr>
              <a:t> (1) shares → free reach → new followers; (2) "launch story" reel becomes the launch-day ad; (3) founder appears in DM-answered videos ("aapne pucha...") which convert skeptics; (4) investor/partner/creator credibility later.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PILLAR 7 — "ABHI KA BANAUA" (Offers &amp; Sales)</a:t>
            </a:r>
          </a:p>
          <a:p>
            <a:r>
              <a:rPr sz="1200" i="1">
                <a:solidFill>
                  <a:srgbClr val="57504A"/>
                </a:solidFill>
                <a:latin typeface="Calibri"/>
              </a:rPr>
              <a:t>PART 3 — Content Pillars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What to post:</a:t>
            </a:r>
            <a:r>
              <a:rPr sz="1350" b="0" i="0">
                <a:solidFill>
                  <a:srgbClr val="2A2622"/>
                </a:solidFill>
                <a:latin typeface="Calibri"/>
              </a:rPr>
              <a:t> The Founding 100 launch offer, "what's in the box" unboxing, offer-explainer carousels, "X seats left" (real stock numbers only), bundle posts (Serum + Face Wash = routine kit), seasonal offers (Diwali gifting box in Nov), referral program (give ₹100, get ₹100). </a:t>
            </a:r>
            <a:r>
              <a:rPr sz="1350" b="1" i="0">
                <a:solidFill>
                  <a:srgbClr val="2A2622"/>
                </a:solidFill>
                <a:latin typeface="Calibri"/>
              </a:rPr>
              <a:t>Every sales post has the full anatomy: hook → proof → what you get → price → risk reversal (COD/return) → one CTA.</a:t>
            </a:r>
          </a:p>
          <a:p>
            <a:pPr>
              <a:spcAft>
                <a:spcPts val="700"/>
              </a:spcAft>
            </a:pPr>
            <a:r>
              <a:rPr sz="1350" b="1" i="0">
                <a:solidFill>
                  <a:srgbClr val="2A2622"/>
                </a:solidFill>
                <a:latin typeface="Calibri"/>
              </a:rPr>
              <a:t>Why it works:</a:t>
            </a:r>
            <a:r>
              <a:rPr sz="1350" b="0" i="0">
                <a:solidFill>
                  <a:srgbClr val="2A2622"/>
                </a:solidFill>
                <a:latin typeface="Calibri"/>
              </a:rPr>
              <a:t> Attention without an offer is just content. But selling too early/too often kills the trust pillars. Hence the 1-in-5 rule (§22) and the "offer only when proof exists" sequence.</a:t>
            </a:r>
          </a:p>
          <a:p>
            <a:pPr>
              <a:spcAft>
                <a:spcPts val="700"/>
              </a:spcAft>
            </a:pPr>
            <a:r>
              <a:rPr sz="1350" b="1" i="0">
                <a:solidFill>
                  <a:srgbClr val="2A2622"/>
                </a:solidFill>
                <a:latin typeface="Calibri"/>
              </a:rPr>
              <a:t>Customer stage:</a:t>
            </a:r>
            <a:r>
              <a:rPr sz="1350" b="0" i="0">
                <a:solidFill>
                  <a:srgbClr val="2A2622"/>
                </a:solidFill>
                <a:latin typeface="Calibri"/>
              </a:rPr>
              <a:t> </a:t>
            </a:r>
            <a:r>
              <a:rPr sz="1350" b="1" i="0">
                <a:solidFill>
                  <a:srgbClr val="2A2622"/>
                </a:solidFill>
                <a:latin typeface="Calibri"/>
              </a:rPr>
              <a:t>First-order → Repeat → Advocate.</a:t>
            </a:r>
          </a:p>
          <a:p>
            <a:pPr>
              <a:spcAft>
                <a:spcPts val="700"/>
              </a:spcAft>
            </a:pPr>
            <a:r>
              <a:rPr sz="1350" b="1" i="0">
                <a:solidFill>
                  <a:srgbClr val="2A2622"/>
                </a:solidFill>
                <a:latin typeface="Calibri"/>
              </a:rPr>
              <a:t>How it generates sales:</a:t>
            </a:r>
            <a:r>
              <a:rPr sz="1350" b="0" i="0">
                <a:solidFill>
                  <a:srgbClr val="2A2622"/>
                </a:solidFill>
                <a:latin typeface="Calibri"/>
              </a:rPr>
              <a:t> Directly. This pillar is measured purely in </a:t>
            </a:r>
            <a:r>
              <a:rPr sz="1350" b="1" i="0">
                <a:solidFill>
                  <a:srgbClr val="2A2622"/>
                </a:solidFill>
                <a:latin typeface="Calibri"/>
              </a:rPr>
              <a:t>DM conversations started → orders → COD success rate → repeat rate.</a:t>
            </a:r>
            <a:r>
              <a:rPr sz="1350" b="0" i="0">
                <a:solidFill>
                  <a:srgbClr val="2A2622"/>
                </a:solidFill>
                <a:latin typeface="Calibri"/>
              </a:rPr>
              <a:t> No vanity metrics allowed on this pillar.</a:t>
            </a:r>
          </a:p>
          <a:p>
            <a:pPr>
              <a:spcAft>
                <a:spcPts val="700"/>
              </a:spcAft>
            </a:pPr>
            <a:r>
              <a:rPr sz="1350" b="1" i="0">
                <a:solidFill>
                  <a:srgbClr val="2A2622"/>
                </a:solidFill>
                <a:latin typeface="Calibri"/>
              </a:rPr>
              <a:t>Rules:</a:t>
            </a:r>
            <a:r>
              <a:rPr sz="1350" b="0" i="0">
                <a:solidFill>
                  <a:srgbClr val="2A2622"/>
                </a:solidFill>
                <a:latin typeface="Calibri"/>
              </a:rPr>
              <a:t> real constraints only (100 units = 100 units), no fake MRP-strike games, price stated plainly, COD + return always on screen.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PILLAR → STAGE MAP (quick reference)</a:t>
            </a:r>
          </a:p>
          <a:p>
            <a:r>
              <a:rPr sz="1200" i="1">
                <a:solidFill>
                  <a:srgbClr val="57504A"/>
                </a:solidFill>
                <a:latin typeface="Calibri"/>
              </a:rPr>
              <a:t>PART 3 — Content Pillars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3" cy="5029200"/>
        </p:xfrm>
        <a:graphic>
          <a:graphicData uri="http://schemas.openxmlformats.org/drawingml/2006/table">
            <a:tbl>
              <a:tblPr firstRow="1" bandRow="1">
                <a:tableStyleId>{5C22544A-7EE6-4342-B048-85BDC9FD1C3A}</a:tableStyleId>
              </a:tblPr>
              <a:tblGrid>
                <a:gridCol w="2051221"/>
                <a:gridCol w="2806934"/>
                <a:gridCol w="2698975"/>
                <a:gridCol w="3994483"/>
              </a:tblGrid>
              <a:tr h="628650">
                <a:tc>
                  <a:txBody>
                    <a:bodyPr wrap="square"/>
                    <a:lstStyle/>
                    <a:p>
                      <a:r>
                        <a:rPr sz="1200" b="1" i="0">
                          <a:solidFill>
                            <a:srgbClr val="FFFFFF"/>
                          </a:solidFill>
                          <a:latin typeface="Calibri"/>
                        </a:rPr>
                        <a:t>Pillar</a:t>
                      </a:r>
                    </a:p>
                  </a:txBody>
                  <a:tcPr marL="45720" marR="45720" marT="18288" marB="18288" anchor="t">
                    <a:solidFill>
                      <a:srgbClr val="B44A2E"/>
                    </a:solidFill>
                  </a:tcPr>
                </a:tc>
                <a:tc>
                  <a:txBody>
                    <a:bodyPr wrap="square"/>
                    <a:lstStyle/>
                    <a:p>
                      <a:r>
                        <a:rPr sz="1200" b="1" i="0">
                          <a:solidFill>
                            <a:srgbClr val="FFFFFF"/>
                          </a:solidFill>
                          <a:latin typeface="Calibri"/>
                        </a:rPr>
                        <a:t>Stage targeted</a:t>
                      </a:r>
                    </a:p>
                  </a:txBody>
                  <a:tcPr marL="45720" marR="45720" marT="18288" marB="18288" anchor="t">
                    <a:solidFill>
                      <a:srgbClr val="B44A2E"/>
                    </a:solidFill>
                  </a:tcPr>
                </a:tc>
                <a:tc>
                  <a:txBody>
                    <a:bodyPr wrap="square"/>
                    <a:lstStyle/>
                    <a:p>
                      <a:r>
                        <a:rPr sz="1200" b="1" i="0">
                          <a:solidFill>
                            <a:srgbClr val="FFFFFF"/>
                          </a:solidFill>
                          <a:latin typeface="Calibri"/>
                        </a:rPr>
                        <a:t>Primary KPI</a:t>
                      </a:r>
                    </a:p>
                  </a:txBody>
                  <a:tcPr marL="45720" marR="45720" marT="18288" marB="18288" anchor="t">
                    <a:solidFill>
                      <a:srgbClr val="B44A2E"/>
                    </a:solidFill>
                  </a:tcPr>
                </a:tc>
                <a:tc>
                  <a:txBody>
                    <a:bodyPr wrap="square"/>
                    <a:lstStyle/>
                    <a:p>
                      <a:r>
                        <a:rPr sz="1200" b="1" i="0">
                          <a:solidFill>
                            <a:srgbClr val="FFFFFF"/>
                          </a:solidFill>
                          <a:latin typeface="Calibri"/>
                        </a:rPr>
                        <a:t>Weekly target</a:t>
                      </a:r>
                    </a:p>
                  </a:txBody>
                  <a:tcPr marL="45720" marR="45720" marT="18288" marB="18288" anchor="t">
                    <a:solidFill>
                      <a:srgbClr val="B44A2E"/>
                    </a:solidFill>
                  </a:tcPr>
                </a:tc>
              </a:tr>
              <a:tr h="628650">
                <a:tc>
                  <a:txBody>
                    <a:bodyPr wrap="square"/>
                    <a:lstStyle/>
                    <a:p>
                      <a:r>
                        <a:rPr sz="1200" b="0" i="0">
                          <a:solidFill>
                            <a:srgbClr val="2A2622"/>
                          </a:solidFill>
                          <a:latin typeface="Calibri"/>
                        </a:rPr>
                        <a:t>1. Problems</a:t>
                      </a:r>
                    </a:p>
                  </a:txBody>
                  <a:tcPr marL="45720" marR="45720" marT="18288" marB="18288" anchor="t">
                    <a:solidFill>
                      <a:srgbClr val="FFFFFF"/>
                    </a:solidFill>
                  </a:tcPr>
                </a:tc>
                <a:tc>
                  <a:txBody>
                    <a:bodyPr wrap="square"/>
                    <a:lstStyle/>
                    <a:p>
                      <a:r>
                        <a:rPr sz="1200" b="0" i="0">
                          <a:solidFill>
                            <a:srgbClr val="2A2622"/>
                          </a:solidFill>
                          <a:latin typeface="Calibri"/>
                        </a:rPr>
                        <a:t>Stranger → Curious</a:t>
                      </a:r>
                    </a:p>
                  </a:txBody>
                  <a:tcPr marL="45720" marR="45720" marT="18288" marB="18288" anchor="t">
                    <a:solidFill>
                      <a:srgbClr val="FFFFFF"/>
                    </a:solidFill>
                  </a:tcPr>
                </a:tc>
                <a:tc>
                  <a:txBody>
                    <a:bodyPr wrap="square"/>
                    <a:lstStyle/>
                    <a:p>
                      <a:r>
                        <a:rPr sz="1200" b="0" i="0">
                          <a:solidFill>
                            <a:srgbClr val="2A2622"/>
                          </a:solidFill>
                          <a:latin typeface="Calibri"/>
                        </a:rPr>
                        <a:t>Saves, new followers, DMs</a:t>
                      </a:r>
                    </a:p>
                  </a:txBody>
                  <a:tcPr marL="45720" marR="45720" marT="18288" marB="18288" anchor="t">
                    <a:solidFill>
                      <a:srgbClr val="FFFFFF"/>
                    </a:solidFill>
                  </a:tcPr>
                </a:tc>
                <a:tc>
                  <a:txBody>
                    <a:bodyPr wrap="square"/>
                    <a:lstStyle/>
                    <a:p>
                      <a:r>
                        <a:rPr sz="1200" b="0" i="0">
                          <a:solidFill>
                            <a:srgbClr val="2A2622"/>
                          </a:solidFill>
                          <a:latin typeface="Calibri"/>
                        </a:rPr>
                        <a:t>1 reel</a:t>
                      </a:r>
                    </a:p>
                  </a:txBody>
                  <a:tcPr marL="45720" marR="45720" marT="18288" marB="18288" anchor="t">
                    <a:solidFill>
                      <a:srgbClr val="FFFFFF"/>
                    </a:solidFill>
                  </a:tcPr>
                </a:tc>
              </a:tr>
              <a:tr h="628650">
                <a:tc>
                  <a:txBody>
                    <a:bodyPr wrap="square"/>
                    <a:lstStyle/>
                    <a:p>
                      <a:r>
                        <a:rPr sz="1200" b="0" i="0">
                          <a:solidFill>
                            <a:srgbClr val="2A2622"/>
                          </a:solidFill>
                          <a:latin typeface="Calibri"/>
                        </a:rPr>
                        <a:t>2. Education</a:t>
                      </a:r>
                    </a:p>
                  </a:txBody>
                  <a:tcPr marL="45720" marR="45720" marT="18288" marB="18288" anchor="t">
                    <a:solidFill>
                      <a:srgbClr val="F6F1E7"/>
                    </a:solidFill>
                  </a:tcPr>
                </a:tc>
                <a:tc>
                  <a:txBody>
                    <a:bodyPr wrap="square"/>
                    <a:lstStyle/>
                    <a:p>
                      <a:r>
                        <a:rPr sz="1200" b="0" i="0">
                          <a:solidFill>
                            <a:srgbClr val="2A2622"/>
                          </a:solidFill>
                          <a:latin typeface="Calibri"/>
                        </a:rPr>
                        <a:t>Curious → Evaluating</a:t>
                      </a:r>
                    </a:p>
                  </a:txBody>
                  <a:tcPr marL="45720" marR="45720" marT="18288" marB="18288" anchor="t">
                    <a:solidFill>
                      <a:srgbClr val="F6F1E7"/>
                    </a:solidFill>
                  </a:tcPr>
                </a:tc>
                <a:tc>
                  <a:txBody>
                    <a:bodyPr wrap="square"/>
                    <a:lstStyle/>
                    <a:p>
                      <a:r>
                        <a:rPr sz="1200" b="0" i="0">
                          <a:solidFill>
                            <a:srgbClr val="2A2622"/>
                          </a:solidFill>
                          <a:latin typeface="Calibri"/>
                        </a:rPr>
                        <a:t>Saves, search impressions</a:t>
                      </a:r>
                    </a:p>
                  </a:txBody>
                  <a:tcPr marL="45720" marR="45720" marT="18288" marB="18288" anchor="t">
                    <a:solidFill>
                      <a:srgbClr val="F6F1E7"/>
                    </a:solidFill>
                  </a:tcPr>
                </a:tc>
                <a:tc>
                  <a:txBody>
                    <a:bodyPr wrap="square"/>
                    <a:lstStyle/>
                    <a:p>
                      <a:r>
                        <a:rPr sz="1200" b="0" i="0">
                          <a:solidFill>
                            <a:srgbClr val="2A2622"/>
                          </a:solidFill>
                          <a:latin typeface="Calibri"/>
                        </a:rPr>
                        <a:t>1–2 reels</a:t>
                      </a:r>
                    </a:p>
                  </a:txBody>
                  <a:tcPr marL="45720" marR="45720" marT="18288" marB="18288" anchor="t">
                    <a:solidFill>
                      <a:srgbClr val="F6F1E7"/>
                    </a:solidFill>
                  </a:tcPr>
                </a:tc>
              </a:tr>
              <a:tr h="628650">
                <a:tc>
                  <a:txBody>
                    <a:bodyPr wrap="square"/>
                    <a:lstStyle/>
                    <a:p>
                      <a:r>
                        <a:rPr sz="1200" b="0" i="0">
                          <a:solidFill>
                            <a:srgbClr val="2A2622"/>
                          </a:solidFill>
                          <a:latin typeface="Calibri"/>
                        </a:rPr>
                        <a:t>3. Product demo</a:t>
                      </a:r>
                    </a:p>
                  </a:txBody>
                  <a:tcPr marL="45720" marR="45720" marT="18288" marB="18288" anchor="t">
                    <a:solidFill>
                      <a:srgbClr val="FFFFFF"/>
                    </a:solidFill>
                  </a:tcPr>
                </a:tc>
                <a:tc>
                  <a:txBody>
                    <a:bodyPr wrap="square"/>
                    <a:lstStyle/>
                    <a:p>
                      <a:r>
                        <a:rPr sz="1200" b="0" i="0">
                          <a:solidFill>
                            <a:srgbClr val="2A2622"/>
                          </a:solidFill>
                          <a:latin typeface="Calibri"/>
                        </a:rPr>
                        <a:t>Evaluating → First-order</a:t>
                      </a:r>
                    </a:p>
                  </a:txBody>
                  <a:tcPr marL="45720" marR="45720" marT="18288" marB="18288" anchor="t">
                    <a:solidFill>
                      <a:srgbClr val="FFFFFF"/>
                    </a:solidFill>
                  </a:tcPr>
                </a:tc>
                <a:tc>
                  <a:txBody>
                    <a:bodyPr wrap="square"/>
                    <a:lstStyle/>
                    <a:p>
                      <a:r>
                        <a:rPr sz="1200" b="0" i="0">
                          <a:solidFill>
                            <a:srgbClr val="2A2622"/>
                          </a:solidFill>
                          <a:latin typeface="Calibri"/>
                        </a:rPr>
                        <a:t>DMs, ad CPA (when run)</a:t>
                      </a:r>
                    </a:p>
                  </a:txBody>
                  <a:tcPr marL="45720" marR="45720" marT="18288" marB="18288" anchor="t">
                    <a:solidFill>
                      <a:srgbClr val="FFFFFF"/>
                    </a:solidFill>
                  </a:tcPr>
                </a:tc>
                <a:tc>
                  <a:txBody>
                    <a:bodyPr wrap="square"/>
                    <a:lstStyle/>
                    <a:p>
                      <a:r>
                        <a:rPr sz="1200" b="0" i="0">
                          <a:solidFill>
                            <a:srgbClr val="2A2622"/>
                          </a:solidFill>
                          <a:latin typeface="Calibri"/>
                        </a:rPr>
                        <a:t>1–2 reels</a:t>
                      </a:r>
                    </a:p>
                  </a:txBody>
                  <a:tcPr marL="45720" marR="45720" marT="18288" marB="18288" anchor="t">
                    <a:solidFill>
                      <a:srgbClr val="FFFFFF"/>
                    </a:solidFill>
                  </a:tcPr>
                </a:tc>
              </a:tr>
              <a:tr h="628650">
                <a:tc>
                  <a:txBody>
                    <a:bodyPr wrap="square"/>
                    <a:lstStyle/>
                    <a:p>
                      <a:r>
                        <a:rPr sz="1200" b="0" i="0">
                          <a:solidFill>
                            <a:srgbClr val="2A2622"/>
                          </a:solidFill>
                          <a:latin typeface="Calibri"/>
                        </a:rPr>
                        <a:t>4. UGC/Testimonials</a:t>
                      </a:r>
                    </a:p>
                  </a:txBody>
                  <a:tcPr marL="45720" marR="45720" marT="18288" marB="18288" anchor="t">
                    <a:solidFill>
                      <a:srgbClr val="F6F1E7"/>
                    </a:solidFill>
                  </a:tcPr>
                </a:tc>
                <a:tc>
                  <a:txBody>
                    <a:bodyPr wrap="square"/>
                    <a:lstStyle/>
                    <a:p>
                      <a:r>
                        <a:rPr sz="1200" b="0" i="0">
                          <a:solidFill>
                            <a:srgbClr val="2A2622"/>
                          </a:solidFill>
                          <a:latin typeface="Calibri"/>
                        </a:rPr>
                        <a:t>Evaluating → First-order</a:t>
                      </a:r>
                    </a:p>
                  </a:txBody>
                  <a:tcPr marL="45720" marR="45720" marT="18288" marB="18288" anchor="t">
                    <a:solidFill>
                      <a:srgbClr val="F6F1E7"/>
                    </a:solidFill>
                  </a:tcPr>
                </a:tc>
                <a:tc>
                  <a:txBody>
                    <a:bodyPr wrap="square"/>
                    <a:lstStyle/>
                    <a:p>
                      <a:r>
                        <a:rPr sz="1200" b="0" i="0">
                          <a:solidFill>
                            <a:srgbClr val="2A2622"/>
                          </a:solidFill>
                          <a:latin typeface="Calibri"/>
                        </a:rPr>
                        <a:t>DMs, ad ROAS</a:t>
                      </a:r>
                    </a:p>
                  </a:txBody>
                  <a:tcPr marL="45720" marR="45720" marT="18288" marB="18288" anchor="t">
                    <a:solidFill>
                      <a:srgbClr val="F6F1E7"/>
                    </a:solidFill>
                  </a:tcPr>
                </a:tc>
                <a:tc>
                  <a:txBody>
                    <a:bodyPr wrap="square"/>
                    <a:lstStyle/>
                    <a:p>
                      <a:r>
                        <a:rPr sz="1200" b="0" i="0">
                          <a:solidFill>
                            <a:srgbClr val="2A2622"/>
                          </a:solidFill>
                          <a:latin typeface="Calibri"/>
                        </a:rPr>
                        <a:t>1–2 reels (as available)</a:t>
                      </a:r>
                    </a:p>
                  </a:txBody>
                  <a:tcPr marL="45720" marR="45720" marT="18288" marB="18288" anchor="t">
                    <a:solidFill>
                      <a:srgbClr val="F6F1E7"/>
                    </a:solidFill>
                  </a:tcPr>
                </a:tc>
              </a:tr>
              <a:tr h="628650">
                <a:tc>
                  <a:txBody>
                    <a:bodyPr wrap="square"/>
                    <a:lstStyle/>
                    <a:p>
                      <a:r>
                        <a:rPr sz="1200" b="0" i="0">
                          <a:solidFill>
                            <a:srgbClr val="2A2622"/>
                          </a:solidFill>
                          <a:latin typeface="Calibri"/>
                        </a:rPr>
                        <a:t>5. Before/After</a:t>
                      </a:r>
                    </a:p>
                  </a:txBody>
                  <a:tcPr marL="45720" marR="45720" marT="18288" marB="18288" anchor="t">
                    <a:solidFill>
                      <a:srgbClr val="FFFFFF"/>
                    </a:solidFill>
                  </a:tcPr>
                </a:tc>
                <a:tc>
                  <a:txBody>
                    <a:bodyPr wrap="square"/>
                    <a:lstStyle/>
                    <a:p>
                      <a:r>
                        <a:rPr sz="1200" b="0" i="0">
                          <a:solidFill>
                            <a:srgbClr val="2A2622"/>
                          </a:solidFill>
                          <a:latin typeface="Calibri"/>
                        </a:rPr>
                        <a:t>Evaluating → First-order</a:t>
                      </a:r>
                    </a:p>
                  </a:txBody>
                  <a:tcPr marL="45720" marR="45720" marT="18288" marB="18288" anchor="t">
                    <a:solidFill>
                      <a:srgbClr val="FFFFFF"/>
                    </a:solidFill>
                  </a:tcPr>
                </a:tc>
                <a:tc>
                  <a:txBody>
                    <a:bodyPr wrap="square"/>
                    <a:lstStyle/>
                    <a:p>
                      <a:r>
                        <a:rPr sz="1200" b="0" i="0">
                          <a:solidFill>
                            <a:srgbClr val="2A2622"/>
                          </a:solidFill>
                          <a:latin typeface="Calibri"/>
                        </a:rPr>
                        <a:t>DMs, ad ROAS</a:t>
                      </a:r>
                    </a:p>
                  </a:txBody>
                  <a:tcPr marL="45720" marR="45720" marT="18288" marB="18288" anchor="t">
                    <a:solidFill>
                      <a:srgbClr val="FFFFFF"/>
                    </a:solidFill>
                  </a:tcPr>
                </a:tc>
                <a:tc>
                  <a:txBody>
                    <a:bodyPr wrap="square"/>
                    <a:lstStyle/>
                    <a:p>
                      <a:r>
                        <a:rPr sz="1200" b="0" i="0">
                          <a:solidFill>
                            <a:srgbClr val="2A2622"/>
                          </a:solidFill>
                          <a:latin typeface="Calibri"/>
                        </a:rPr>
                        <a:t>0–1 reel (only when real data exists)</a:t>
                      </a:r>
                    </a:p>
                  </a:txBody>
                  <a:tcPr marL="45720" marR="45720" marT="18288" marB="18288" anchor="t">
                    <a:solidFill>
                      <a:srgbClr val="FFFFFF"/>
                    </a:solidFill>
                  </a:tcPr>
                </a:tc>
              </a:tr>
              <a:tr h="628650">
                <a:tc>
                  <a:txBody>
                    <a:bodyPr wrap="square"/>
                    <a:lstStyle/>
                    <a:p>
                      <a:r>
                        <a:rPr sz="1200" b="0" i="0">
                          <a:solidFill>
                            <a:srgbClr val="2A2622"/>
                          </a:solidFill>
                          <a:latin typeface="Calibri"/>
                        </a:rPr>
                        <a:t>6. Founder/Story</a:t>
                      </a:r>
                    </a:p>
                  </a:txBody>
                  <a:tcPr marL="45720" marR="45720" marT="18288" marB="18288" anchor="t">
                    <a:solidFill>
                      <a:srgbClr val="F6F1E7"/>
                    </a:solidFill>
                  </a:tcPr>
                </a:tc>
                <a:tc>
                  <a:txBody>
                    <a:bodyPr wrap="square"/>
                    <a:lstStyle/>
                    <a:p>
                      <a:r>
                        <a:rPr sz="1200" b="0" i="0">
                          <a:solidFill>
                            <a:srgbClr val="2A2622"/>
                          </a:solidFill>
                          <a:latin typeface="Calibri"/>
                        </a:rPr>
                        <a:t>Stranger → Curious + trust</a:t>
                      </a:r>
                    </a:p>
                  </a:txBody>
                  <a:tcPr marL="45720" marR="45720" marT="18288" marB="18288" anchor="t">
                    <a:solidFill>
                      <a:srgbClr val="F6F1E7"/>
                    </a:solidFill>
                  </a:tcPr>
                </a:tc>
                <a:tc>
                  <a:txBody>
                    <a:bodyPr wrap="square"/>
                    <a:lstStyle/>
                    <a:p>
                      <a:r>
                        <a:rPr sz="1200" b="0" i="0">
                          <a:solidFill>
                            <a:srgbClr val="2A2622"/>
                          </a:solidFill>
                          <a:latin typeface="Calibri"/>
                        </a:rPr>
                        <a:t>Shares, profile visits</a:t>
                      </a:r>
                    </a:p>
                  </a:txBody>
                  <a:tcPr marL="45720" marR="45720" marT="18288" marB="18288" anchor="t">
                    <a:solidFill>
                      <a:srgbClr val="F6F1E7"/>
                    </a:solidFill>
                  </a:tcPr>
                </a:tc>
                <a:tc>
                  <a:txBody>
                    <a:bodyPr wrap="square"/>
                    <a:lstStyle/>
                    <a:p>
                      <a:r>
                        <a:rPr sz="1200" b="0" i="0">
                          <a:solidFill>
                            <a:srgbClr val="2A2622"/>
                          </a:solidFill>
                          <a:latin typeface="Calibri"/>
                        </a:rPr>
                        <a:t>1 reel</a:t>
                      </a:r>
                    </a:p>
                  </a:txBody>
                  <a:tcPr marL="45720" marR="45720" marT="18288" marB="18288" anchor="t">
                    <a:solidFill>
                      <a:srgbClr val="F6F1E7"/>
                    </a:solidFill>
                  </a:tcPr>
                </a:tc>
              </a:tr>
              <a:tr h="628650">
                <a:tc>
                  <a:txBody>
                    <a:bodyPr wrap="square"/>
                    <a:lstStyle/>
                    <a:p>
                      <a:r>
                        <a:rPr sz="1200" b="0" i="0">
                          <a:solidFill>
                            <a:srgbClr val="2A2622"/>
                          </a:solidFill>
                          <a:latin typeface="Calibri"/>
                        </a:rPr>
                        <a:t>7. Offers/Sales</a:t>
                      </a:r>
                    </a:p>
                  </a:txBody>
                  <a:tcPr marL="45720" marR="45720" marT="18288" marB="18288" anchor="t">
                    <a:solidFill>
                      <a:srgbClr val="FFFFFF"/>
                    </a:solidFill>
                  </a:tcPr>
                </a:tc>
                <a:tc>
                  <a:txBody>
                    <a:bodyPr wrap="square"/>
                    <a:lstStyle/>
                    <a:p>
                      <a:r>
                        <a:rPr sz="1200" b="0" i="0">
                          <a:solidFill>
                            <a:srgbClr val="2A2622"/>
                          </a:solidFill>
                          <a:latin typeface="Calibri"/>
                        </a:rPr>
                        <a:t>First-order → Repeat</a:t>
                      </a:r>
                    </a:p>
                  </a:txBody>
                  <a:tcPr marL="45720" marR="45720" marT="18288" marB="18288" anchor="t">
                    <a:solidFill>
                      <a:srgbClr val="FFFFFF"/>
                    </a:solidFill>
                  </a:tcPr>
                </a:tc>
                <a:tc>
                  <a:txBody>
                    <a:bodyPr wrap="square"/>
                    <a:lstStyle/>
                    <a:p>
                      <a:r>
                        <a:rPr sz="1200" b="0" i="0">
                          <a:solidFill>
                            <a:srgbClr val="2A2622"/>
                          </a:solidFill>
                          <a:latin typeface="Calibri"/>
                        </a:rPr>
                        <a:t>Orders, repeat %</a:t>
                      </a:r>
                    </a:p>
                  </a:txBody>
                  <a:tcPr marL="45720" marR="45720" marT="18288" marB="18288" anchor="t">
                    <a:solidFill>
                      <a:srgbClr val="FFFFFF"/>
                    </a:solidFill>
                  </a:tcPr>
                </a:tc>
                <a:tc>
                  <a:txBody>
                    <a:bodyPr wrap="square"/>
                    <a:lstStyle/>
                    <a:p>
                      <a:r>
                        <a:rPr sz="1200" b="0" i="0">
                          <a:solidFill>
                            <a:srgbClr val="2A2622"/>
                          </a:solidFill>
                          <a:latin typeface="Calibri"/>
                        </a:rPr>
                        <a:t>1 post (1 in 5)</a:t>
                      </a:r>
                    </a:p>
                  </a:txBody>
                  <a:tcPr marL="45720" marR="45720" marT="18288" marB="18288" anchor="t">
                    <a:solidFill>
                      <a:srgbClr val="FFFFFF"/>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PILLAR → STAGE MAP (quick reference)</a:t>
            </a:r>
          </a:p>
          <a:p>
            <a:r>
              <a:rPr sz="1200" i="1">
                <a:solidFill>
                  <a:srgbClr val="57504A"/>
                </a:solidFill>
                <a:latin typeface="Calibri"/>
              </a:rPr>
              <a:t>PART 3 — Content Pillars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The iron rule:</a:t>
            </a:r>
            <a:r>
              <a:rPr sz="1350" b="0" i="0">
                <a:solidFill>
                  <a:srgbClr val="2A2622"/>
                </a:solidFill>
                <a:latin typeface="Calibri"/>
              </a:rPr>
              <a:t> if a reel doesn't know which pillar it belongs to, it doesn't get posted.</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4</a:t>
            </a:r>
          </a:p>
        </p:txBody>
      </p:sp>
      <p:sp>
        <p:nvSpPr>
          <p:cNvPr id="4" name="TextBox 3"/>
          <p:cNvSpPr txBox="1"/>
          <p:nvPr/>
        </p:nvSpPr>
        <p:spPr>
          <a:xfrm>
            <a:off x="914400" y="2377440"/>
            <a:ext cx="10362895" cy="1645920"/>
          </a:xfrm>
          <a:prstGeom prst="rect">
            <a:avLst/>
          </a:prstGeom>
          <a:noFill/>
        </p:spPr>
        <p:txBody>
          <a:bodyPr wrap="square">
            <a:spAutoFit/>
          </a:bodyPr>
          <a:lstStyle/>
          <a:p>
            <a:r>
              <a:rPr sz="2400" b="1">
                <a:solidFill>
                  <a:srgbClr val="8F3A22"/>
                </a:solidFill>
                <a:latin typeface="Calibri"/>
              </a:rPr>
              <a:t>§4 NEW ACCOUNT LAUNCH STRATEGY — RANGAT NATURALS (Day 1 → Week 4)</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New Account Launch Strategy (Day 1 → Week 4)</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New Account Launch Strategy (Day 1 → Week 4)</a:t>
            </a:r>
          </a:p>
          <a:p>
            <a:r>
              <a:rPr sz="1200" i="1">
                <a:solidFill>
                  <a:srgbClr val="57504A"/>
                </a:solidFill>
                <a:latin typeface="Calibri"/>
              </a:rPr>
              <a:t>PART 4 — New Account Launch Strategy (Day 1 → Week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The launch is a 30-day story, not a day.</a:t>
            </a:r>
            <a:r>
              <a:rPr sz="1350" b="0" i="0">
                <a:solidFill>
                  <a:srgbClr val="2A2622"/>
                </a:solidFill>
                <a:latin typeface="Calibri"/>
              </a:rPr>
              <a:t> The story arc:</a:t>
            </a:r>
          </a:p>
          <a:p>
            <a:pPr>
              <a:spcAft>
                <a:spcPts val="400"/>
              </a:spcAft>
            </a:pPr>
            <a:r>
              <a:rPr sz="1350">
                <a:solidFill>
                  <a:srgbClr val="B44A2E"/>
                </a:solidFill>
                <a:latin typeface="Calibri"/>
              </a:rPr>
              <a:t>•  </a:t>
            </a:r>
            <a:r>
              <a:rPr sz="1350" b="1" i="0">
                <a:solidFill>
                  <a:srgbClr val="2A2622"/>
                </a:solidFill>
                <a:latin typeface="Calibri"/>
              </a:rPr>
              <a:t>Week 1 — "Who is this?"</a:t>
            </a:r>
            <a:r>
              <a:rPr sz="1350" b="0" i="0">
                <a:solidFill>
                  <a:srgbClr val="2A2622"/>
                </a:solidFill>
                <a:latin typeface="Calibri"/>
              </a:rPr>
              <a:t> (identity + problems, zero selling)</a:t>
            </a:r>
          </a:p>
          <a:p>
            <a:pPr>
              <a:spcAft>
                <a:spcPts val="400"/>
              </a:spcAft>
            </a:pPr>
            <a:r>
              <a:rPr sz="1350">
                <a:solidFill>
                  <a:srgbClr val="B44A2E"/>
                </a:solidFill>
                <a:latin typeface="Calibri"/>
              </a:rPr>
              <a:t>•  </a:t>
            </a:r>
            <a:r>
              <a:rPr sz="1350" b="1" i="0">
                <a:solidFill>
                  <a:srgbClr val="2A2622"/>
                </a:solidFill>
                <a:latin typeface="Calibri"/>
              </a:rPr>
              <a:t>Week 2 — "What do they know?"</a:t>
            </a:r>
            <a:r>
              <a:rPr sz="1350" b="0" i="0">
                <a:solidFill>
                  <a:srgbClr val="2A2622"/>
                </a:solidFill>
                <a:latin typeface="Calibri"/>
              </a:rPr>
              <a:t> (education + hero product introduced)</a:t>
            </a:r>
          </a:p>
          <a:p>
            <a:pPr>
              <a:spcAft>
                <a:spcPts val="400"/>
              </a:spcAft>
            </a:pPr>
            <a:r>
              <a:rPr sz="1350">
                <a:solidFill>
                  <a:srgbClr val="B44A2E"/>
                </a:solidFill>
                <a:latin typeface="Calibri"/>
              </a:rPr>
              <a:t>•  </a:t>
            </a:r>
            <a:r>
              <a:rPr sz="1350" b="1" i="0">
                <a:solidFill>
                  <a:srgbClr val="2A2622"/>
                </a:solidFill>
                <a:latin typeface="Calibri"/>
              </a:rPr>
              <a:t>Week 3 — "Is it real?"</a:t>
            </a:r>
            <a:r>
              <a:rPr sz="1350" b="0" i="0">
                <a:solidFill>
                  <a:srgbClr val="2A2622"/>
                </a:solidFill>
                <a:latin typeface="Calibri"/>
              </a:rPr>
              <a:t> (proof + launch countdown)</a:t>
            </a:r>
          </a:p>
          <a:p>
            <a:pPr>
              <a:spcAft>
                <a:spcPts val="400"/>
              </a:spcAft>
            </a:pPr>
            <a:r>
              <a:rPr sz="1350">
                <a:solidFill>
                  <a:srgbClr val="B44A2E"/>
                </a:solidFill>
                <a:latin typeface="Calibri"/>
              </a:rPr>
              <a:t>•  </a:t>
            </a:r>
            <a:r>
              <a:rPr sz="1350" b="1" i="0">
                <a:solidFill>
                  <a:srgbClr val="2A2622"/>
                </a:solidFill>
                <a:latin typeface="Calibri"/>
              </a:rPr>
              <a:t>Week 4 — "How do I buy?"</a:t>
            </a:r>
            <a:r>
              <a:rPr sz="1350" b="0" i="0">
                <a:solidFill>
                  <a:srgbClr val="2A2622"/>
                </a:solidFill>
                <a:latin typeface="Calibri"/>
              </a:rPr>
              <a:t> (launch + Founding 100 + conversion)</a:t>
            </a:r>
          </a:p>
          <a:p>
            <a:pPr>
              <a:spcAft>
                <a:spcPts val="700"/>
              </a:spcAft>
            </a:pPr>
            <a:r>
              <a:rPr sz="1350" b="0" i="0">
                <a:solidFill>
                  <a:srgbClr val="2A2622"/>
                </a:solidFill>
                <a:latin typeface="Calibri"/>
              </a:rPr>
              <a:t>Before Day 1 (Day 0 — do this, non-negotiable):</a:t>
            </a:r>
          </a:p>
          <a:p>
            <a:pPr>
              <a:spcAft>
                <a:spcPts val="400"/>
              </a:spcAft>
            </a:pPr>
            <a:r>
              <a:rPr sz="1350" b="1">
                <a:solidFill>
                  <a:srgbClr val="8F3A22"/>
                </a:solidFill>
                <a:latin typeface="Calibri"/>
              </a:rPr>
              <a:t>1.  </a:t>
            </a:r>
            <a:r>
              <a:rPr sz="1350" b="0" i="0">
                <a:solidFill>
                  <a:srgbClr val="2A2622"/>
                </a:solidFill>
                <a:latin typeface="Calibri"/>
              </a:rPr>
              <a:t>Profile fully built per </a:t>
            </a:r>
            <a:r>
              <a:rPr sz="1200" b="0" i="0">
                <a:solidFill>
                  <a:srgbClr val="8F3A22"/>
                </a:solidFill>
                <a:latin typeface="Consolas"/>
              </a:rPr>
              <a:t>13-stories-and-profile.md</a:t>
            </a:r>
            <a:r>
              <a:rPr sz="1350" b="0" i="0">
                <a:solidFill>
                  <a:srgbClr val="2A2622"/>
                </a:solidFill>
                <a:latin typeface="Calibri"/>
              </a:rPr>
              <a:t> (bio, name field, 5 highlights, 3 placeholder-quality pinned posts: founder intro, "what is RANGAT," one problem reel).</a:t>
            </a:r>
          </a:p>
          <a:p>
            <a:pPr>
              <a:spcAft>
                <a:spcPts val="400"/>
              </a:spcAft>
            </a:pPr>
            <a:r>
              <a:rPr sz="1350" b="1">
                <a:solidFill>
                  <a:srgbClr val="8F3A22"/>
                </a:solidFill>
                <a:latin typeface="Calibri"/>
              </a:rPr>
              <a:t>2.  </a:t>
            </a:r>
            <a:r>
              <a:rPr sz="1350" b="0" i="0">
                <a:solidFill>
                  <a:srgbClr val="2A2622"/>
                </a:solidFill>
                <a:latin typeface="Calibri"/>
              </a:rPr>
              <a:t>WhatsApp Business set up: catalog (3 products), quick replies, labels, greeting message, business profile photo = same as IG.</a:t>
            </a:r>
          </a:p>
          <a:p>
            <a:pPr>
              <a:spcAft>
                <a:spcPts val="400"/>
              </a:spcAft>
            </a:pPr>
            <a:r>
              <a:rPr sz="1350" b="1">
                <a:solidFill>
                  <a:srgbClr val="8F3A22"/>
                </a:solidFill>
                <a:latin typeface="Calibri"/>
              </a:rPr>
              <a:t>3.  </a:t>
            </a:r>
            <a:r>
              <a:rPr sz="1350" b="0" i="0">
                <a:solidFill>
                  <a:srgbClr val="2A2622"/>
                </a:solidFill>
                <a:latin typeface="Calibri"/>
              </a:rPr>
              <a:t>20-person </a:t>
            </a:r>
            <a:r>
              <a:rPr sz="1350" b="1" i="0">
                <a:solidFill>
                  <a:srgbClr val="2A2622"/>
                </a:solidFill>
                <a:latin typeface="Calibri"/>
              </a:rPr>
              <a:t>tester list</a:t>
            </a:r>
            <a:r>
              <a:rPr sz="1350" b="0" i="0">
                <a:solidFill>
                  <a:srgbClr val="2A2622"/>
                </a:solidFill>
                <a:latin typeface="Calibri"/>
              </a:rPr>
              <a:t> assembled (friends/family/college, Ahmedabad, women 20–40, mix of skin types) — the 4-week proof program starts Day 1 with the actual product batch.</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New Account Launch Strategy (Day 1 → Week 4)</a:t>
            </a:r>
          </a:p>
          <a:p>
            <a:r>
              <a:rPr sz="1200" i="1">
                <a:solidFill>
                  <a:srgbClr val="57504A"/>
                </a:solidFill>
                <a:latin typeface="Calibri"/>
              </a:rPr>
              <a:t>PART 4 — New Account Launch Strategy (Day 1 → Week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4.  </a:t>
            </a:r>
            <a:r>
              <a:rPr sz="1350" b="0" i="0">
                <a:solidFill>
                  <a:srgbClr val="2A2622"/>
                </a:solidFill>
                <a:latin typeface="Calibri"/>
              </a:rPr>
              <a:t>10 micro-creator shortlist (5k–50k, Gujarat) with email/DM template ready (see </a:t>
            </a:r>
            <a:r>
              <a:rPr sz="1200" b="0" i="0">
                <a:solidFill>
                  <a:srgbClr val="8F3A22"/>
                </a:solidFill>
                <a:latin typeface="Consolas"/>
              </a:rPr>
              <a:t>12-gujarat-first.md</a:t>
            </a:r>
            <a:r>
              <a:rPr sz="1350" b="0" i="0">
                <a:solidFill>
                  <a:srgbClr val="2A2622"/>
                </a:solidFill>
                <a:latin typeface="Calibri"/>
              </a:rPr>
              <a:t> §creators).</a:t>
            </a:r>
          </a:p>
          <a:p>
            <a:pPr>
              <a:spcAft>
                <a:spcPts val="400"/>
              </a:spcAft>
            </a:pPr>
            <a:r>
              <a:rPr sz="1350" b="1">
                <a:solidFill>
                  <a:srgbClr val="8F3A22"/>
                </a:solidFill>
                <a:latin typeface="Calibri"/>
              </a:rPr>
              <a:t>5.  </a:t>
            </a:r>
            <a:r>
              <a:rPr sz="1350" b="0" i="0">
                <a:solidFill>
                  <a:srgbClr val="2A2622"/>
                </a:solidFill>
                <a:latin typeface="Calibri"/>
              </a:rPr>
              <a:t>Batch-shoot Day 1–7 content in one 4-hour session (see </a:t>
            </a:r>
            <a:r>
              <a:rPr sz="1200" b="0" i="0">
                <a:solidFill>
                  <a:srgbClr val="8F3A22"/>
                </a:solidFill>
                <a:latin typeface="Consolas"/>
              </a:rPr>
              <a:t>21-production-system.md</a:t>
            </a:r>
            <a:r>
              <a:rPr sz="1350" b="0" i="0">
                <a:solidFill>
                  <a:srgbClr val="2A2622"/>
                </a:solidFill>
                <a:latin typeface="Calibri"/>
              </a:rPr>
              <a: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WEEK 1: DAY 1 → DAY 7 ("WHO IS THIS?")</a:t>
            </a:r>
          </a:p>
          <a:p>
            <a:r>
              <a:rPr sz="1200" i="1">
                <a:solidFill>
                  <a:srgbClr val="57504A"/>
                </a:solidFill>
                <a:latin typeface="Calibri"/>
              </a:rPr>
              <a:t>PART 4 — New Account Launch Strategy (Day 1 → Week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Goal: ~150–300 genuine followers, 20 testers started, 10+ DM conversations, zero sales pressure.</a:t>
            </a:r>
          </a:p>
          <a:p>
            <a:pPr>
              <a:spcBef>
                <a:spcPts val="1000"/>
              </a:spcBef>
              <a:spcAft>
                <a:spcPts val="400"/>
              </a:spcAft>
            </a:pPr>
            <a:r>
              <a:rPr sz="1600" b="1" i="0">
                <a:solidFill>
                  <a:srgbClr val="8F3A22"/>
                </a:solidFill>
                <a:latin typeface="Calibri"/>
              </a:rPr>
              <a:t>DAY 1 (Mon) — REEL · Pillar 6 (Founder)</a:t>
            </a:r>
          </a:p>
          <a:p>
            <a:pPr>
              <a:spcAft>
                <a:spcPts val="700"/>
              </a:spcAft>
            </a:pPr>
            <a:r>
              <a:rPr sz="1350" b="1" i="0">
                <a:solidFill>
                  <a:srgbClr val="2A2622"/>
                </a:solidFill>
                <a:latin typeface="Calibri"/>
              </a:rPr>
              <a:t>Idea:</a:t>
            </a:r>
            <a:r>
              <a:rPr sz="1350" b="0" i="0">
                <a:solidFill>
                  <a:srgbClr val="2A2622"/>
                </a:solidFill>
                <a:latin typeface="Calibri"/>
              </a:rPr>
              <a:t> The honest intro. No logo animation. Founder on camera, plain background, natural light. </a:t>
            </a:r>
            <a:r>
              <a:rPr sz="1350" b="1" i="0">
                <a:solidFill>
                  <a:srgbClr val="2A2622"/>
                </a:solidFill>
                <a:latin typeface="Calibri"/>
              </a:rPr>
              <a:t>Hook (spoken + on-screen):</a:t>
            </a:r>
            <a:r>
              <a:rPr sz="1350" b="0" i="0">
                <a:solidFill>
                  <a:srgbClr val="2A2622"/>
                </a:solidFill>
                <a:latin typeface="Calibri"/>
              </a:rPr>
              <a:t> "Main ek naye skincare brand ki shuruwat kar rahi hu — bina kisi bade budget ke. Is series me main sab dikhau gi, asli me." </a:t>
            </a:r>
            <a:r>
              <a:rPr sz="1350" b="1" i="0">
                <a:solidFill>
                  <a:srgbClr val="2A2622"/>
                </a:solidFill>
                <a:latin typeface="Calibri"/>
              </a:rPr>
              <a:t>Script:</a:t>
            </a:r>
            <a:r>
              <a:rPr sz="1350" b="0" i="0">
                <a:solidFill>
                  <a:srgbClr val="2A2622"/>
                </a:solidFill>
                <a:latin typeface="Calibri"/>
              </a:rPr>
              <a:t> "Hi, main [Name], RANGAT NATURALS ki founder. Gujarat se. Humne Indian skin ke liye skincare banayi hai — aur is account par main weekly dikhau gi: formula kaise chuna, 20 aahaiyon ne kaise test kiya, aur asli results kya aaye. Koi filter nahi, koi fake result nahi. Agli 30 din ke saath raho." </a:t>
            </a:r>
            <a:r>
              <a:rPr sz="1350" b="1" i="0">
                <a:solidFill>
                  <a:srgbClr val="2A2622"/>
                </a:solidFill>
                <a:latin typeface="Calibri"/>
              </a:rPr>
              <a:t>On-screen text:</a:t>
            </a:r>
            <a:r>
              <a:rPr sz="1350" b="0" i="0">
                <a:solidFill>
                  <a:srgbClr val="2A2622"/>
                </a:solidFill>
                <a:latin typeface="Calibri"/>
              </a:rPr>
              <a:t> "RANGAT NATURALS — Asli skin. Asli result." → "30 din ka safar. Follow karo." </a:t>
            </a:r>
            <a:r>
              <a:rPr sz="1350" b="1" i="0">
                <a:solidFill>
                  <a:srgbClr val="2A2622"/>
                </a:solidFill>
                <a:latin typeface="Calibri"/>
              </a:rPr>
              <a:t>Caption:</a:t>
            </a:r>
            <a:r>
              <a:rPr sz="1350" b="0" i="0">
                <a:solidFill>
                  <a:srgbClr val="2A2622"/>
                </a:solidFill>
                <a:latin typeface="Calibri"/>
              </a:rPr>
              <a:t> "Ek naya Indian skincare brand. Ek honest promise: jo dikhaayenge, wohi rahega. Pehla episode: hum kaun hain. #RangatNaturals #IndianSkincare" </a:t>
            </a:r>
            <a:r>
              <a:rPr sz="1350" b="1" i="0">
                <a:solidFill>
                  <a:srgbClr val="2A2622"/>
                </a:solidFill>
                <a:latin typeface="Calibri"/>
              </a:rPr>
              <a:t>CTA:</a:t>
            </a:r>
            <a:r>
              <a:rPr sz="1350" b="0" i="0">
                <a:solidFill>
                  <a:srgbClr val="2A2622"/>
                </a:solidFill>
                <a:latin typeface="Calibri"/>
              </a:rPr>
              <a:t> "Follow karo — kal: Gujarat me 40 degree aapki skin kar rahi hai kya?" </a:t>
            </a:r>
            <a:r>
              <a:rPr sz="1350" b="1" i="0">
                <a:solidFill>
                  <a:srgbClr val="2A2622"/>
                </a:solidFill>
                <a:latin typeface="Calibri"/>
              </a:rPr>
              <a:t>Purpose:</a:t>
            </a:r>
            <a:r>
              <a:rPr sz="1350" b="0" i="0">
                <a:solidFill>
                  <a:srgbClr val="2A2622"/>
                </a:solidFill>
                <a:latin typeface="Calibri"/>
              </a:rPr>
              <a:t> Identity + trust foundation. | </a:t>
            </a:r>
            <a:r>
              <a:rPr sz="1350" b="1" i="0">
                <a:solidFill>
                  <a:srgbClr val="2A2622"/>
                </a:solidFill>
                <a:latin typeface="Calibri"/>
              </a:rPr>
              <a:t>Target:</a:t>
            </a:r>
            <a:r>
              <a:rPr sz="1350" b="0" i="0">
                <a:solidFill>
                  <a:srgbClr val="2A2622"/>
                </a:solidFill>
                <a:latin typeface="Calibri"/>
              </a:rPr>
              <a:t> everyone in Ahmedabad feed. | </a:t>
            </a:r>
            <a:r>
              <a:rPr sz="1350" b="1" i="0">
                <a:solidFill>
                  <a:srgbClr val="2A2622"/>
                </a:solidFill>
                <a:latin typeface="Calibri"/>
              </a:rPr>
              <a:t>Sales purpose:</a:t>
            </a:r>
            <a:r>
              <a:rPr sz="1350" b="0" i="0">
                <a:solidFill>
                  <a:srgbClr val="2A2622"/>
                </a:solidFill>
                <a:latin typeface="Calibri"/>
              </a:rPr>
              <a:t> none (deliberate) — building the relationship. </a:t>
            </a:r>
            <a:r>
              <a:rPr sz="1350" b="1" i="0">
                <a:solidFill>
                  <a:srgbClr val="2A2622"/>
                </a:solidFill>
                <a:latin typeface="Calibri"/>
              </a:rPr>
              <a:t>Bonus:</a:t>
            </a:r>
            <a:r>
              <a:rPr sz="1350" b="0" i="0">
                <a:solidFill>
                  <a:srgbClr val="2A2622"/>
                </a:solidFill>
                <a:latin typeface="Calibri"/>
              </a:rPr>
              <a:t> Founder's personal IG/FB story posts this + "friends, naya page, genuine hai" (first 50 followers come from her network — legitimate, warm, and these are buyers' mothers/sisters).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WEEK 1: DAY 1 → DAY 7 ("WHO IS THIS?")</a:t>
            </a:r>
          </a:p>
          <a:p>
            <a:r>
              <a:rPr sz="1200" i="1">
                <a:solidFill>
                  <a:srgbClr val="57504A"/>
                </a:solidFill>
                <a:latin typeface="Calibri"/>
              </a:rPr>
              <a:t>PART 4 — New Account Launch Strategy (Day 1 → Week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DAY 2 (Tue) — REEL · Pillar 1 (Problem)</a:t>
            </a:r>
          </a:p>
          <a:p>
            <a:pPr>
              <a:spcAft>
                <a:spcPts val="700"/>
              </a:spcAft>
            </a:pPr>
            <a:r>
              <a:rPr sz="1350" b="1" i="0">
                <a:solidFill>
                  <a:srgbClr val="2A2622"/>
                </a:solidFill>
                <a:latin typeface="Calibri"/>
              </a:rPr>
              <a:t>Idea:</a:t>
            </a:r>
            <a:r>
              <a:rPr sz="1350" b="0" i="0">
                <a:solidFill>
                  <a:srgbClr val="2A2622"/>
                </a:solidFill>
                <a:latin typeface="Calibri"/>
              </a:rPr>
              <a:t> The 40-degree / monsoon-skin problem reel (no product at all). </a:t>
            </a:r>
            <a:r>
              <a:rPr sz="1350" b="1" i="0">
                <a:solidFill>
                  <a:srgbClr val="2A2622"/>
                </a:solidFill>
                <a:latin typeface="Calibri"/>
              </a:rPr>
              <a:t>Hook:</a:t>
            </a:r>
            <a:r>
              <a:rPr sz="1350" b="0" i="0">
                <a:solidFill>
                  <a:srgbClr val="2A2622"/>
                </a:solidFill>
                <a:latin typeface="Calibri"/>
              </a:rPr>
              <a:t> "Gujarat me mausam dekho — aapki skin abhi kya kar rahi hai?" </a:t>
            </a:r>
            <a:r>
              <a:rPr sz="1350" b="1" i="0">
                <a:solidFill>
                  <a:srgbClr val="2A2622"/>
                </a:solidFill>
                <a:latin typeface="Calibri"/>
              </a:rPr>
              <a:t>Script:</a:t>
            </a:r>
            <a:r>
              <a:rPr sz="1350" b="0" i="0">
                <a:solidFill>
                  <a:srgbClr val="2A2622"/>
                </a:solidFill>
                <a:latin typeface="Calibri"/>
              </a:rPr>
              <a:t> "40 degree, pollution, phir ghar ka AC — yeh teeno aapki skin par alag se alag karte hain. Bahar: oil, shine, wide pores ka feel. Indo: tightness, dullness. Aur phir dono me — ek thaka hua, 'thoda brown' dikhna. Yeh sab normal hai — aur sab fixable hai. Kal se hum ise detail me samjhogi. Aapka sabse bada skin problem kya hai? Comment me likho." </a:t>
            </a:r>
            <a:r>
              <a:rPr sz="1350" b="1" i="0">
                <a:solidFill>
                  <a:srgbClr val="2A2622"/>
                </a:solidFill>
                <a:latin typeface="Calibri"/>
              </a:rPr>
              <a:t>On-screen text:</a:t>
            </a:r>
            <a:r>
              <a:rPr sz="1350" b="0" i="0">
                <a:solidFill>
                  <a:srgbClr val="2A2622"/>
                </a:solidFill>
                <a:latin typeface="Calibri"/>
              </a:rPr>
              <a:t> "40° bahar. AC andar. Skin beech me." </a:t>
            </a:r>
            <a:r>
              <a:rPr sz="1350" b="1" i="0">
                <a:solidFill>
                  <a:srgbClr val="2A2622"/>
                </a:solidFill>
                <a:latin typeface="Calibri"/>
              </a:rPr>
              <a:t>Caption:</a:t>
            </a:r>
            <a:r>
              <a:rPr sz="1350" b="0" i="0">
                <a:solidFill>
                  <a:srgbClr val="2A2622"/>
                </a:solidFill>
                <a:latin typeface="Calibri"/>
              </a:rPr>
              <a:t> "Indian skin ko Indian mausam samajhna padta hai. Aapka sabse bada skin issue kya hai? Comment karo — hum padh rahe hain. #Ahmedabad #Gujarat #IndianSkin" </a:t>
            </a:r>
            <a:r>
              <a:rPr sz="1350" b="1" i="0">
                <a:solidFill>
                  <a:srgbClr val="2A2622"/>
                </a:solidFill>
                <a:latin typeface="Calibri"/>
              </a:rPr>
              <a:t>CTA:</a:t>
            </a:r>
            <a:r>
              <a:rPr sz="1350" b="0" i="0">
                <a:solidFill>
                  <a:srgbClr val="2A2622"/>
                </a:solidFill>
                <a:latin typeface="Calibri"/>
              </a:rPr>
              <a:t> "Comment me apna skin type likho: oily / dry / normal / confused." </a:t>
            </a:r>
            <a:r>
              <a:rPr sz="1350" b="1" i="0">
                <a:solidFill>
                  <a:srgbClr val="2A2622"/>
                </a:solidFill>
                <a:latin typeface="Calibri"/>
              </a:rPr>
              <a:t>Purpose:</a:t>
            </a:r>
            <a:r>
              <a:rPr sz="1350" b="0" i="0">
                <a:solidFill>
                  <a:srgbClr val="2A2622"/>
                </a:solidFill>
                <a:latin typeface="Calibri"/>
              </a:rPr>
              <a:t> Attention + comment fuel (comments = algorithm push + DM triggers). | </a:t>
            </a:r>
            <a:r>
              <a:rPr sz="1350" b="1" i="0">
                <a:solidFill>
                  <a:srgbClr val="2A2622"/>
                </a:solidFill>
                <a:latin typeface="Calibri"/>
              </a:rPr>
              <a:t>Target:</a:t>
            </a:r>
            <a:r>
              <a:rPr sz="1350" b="0" i="0">
                <a:solidFill>
                  <a:srgbClr val="2A2622"/>
                </a:solidFill>
                <a:latin typeface="Calibri"/>
              </a:rPr>
              <a:t> women 20–35 Gujarat. | </a:t>
            </a:r>
            <a:r>
              <a:rPr sz="1350" b="1" i="0">
                <a:solidFill>
                  <a:srgbClr val="2A2622"/>
                </a:solidFill>
                <a:latin typeface="Calibri"/>
              </a:rPr>
              <a:t>Sales purpose:</a:t>
            </a:r>
            <a:r>
              <a:rPr sz="1350" b="0" i="0">
                <a:solidFill>
                  <a:srgbClr val="2A2622"/>
                </a:solidFill>
                <a:latin typeface="Calibri"/>
              </a:rPr>
              <a:t> collecting pain points for future content (real DM data).</a:t>
            </a:r>
          </a:p>
          <a:p>
            <a:pPr>
              <a:spcBef>
                <a:spcPts val="1000"/>
              </a:spcBef>
              <a:spcAft>
                <a:spcPts val="400"/>
              </a:spcAft>
            </a:pPr>
            <a:r>
              <a:rPr sz="1600" b="1" i="0">
                <a:solidFill>
                  <a:srgbClr val="8F3A22"/>
                </a:solidFill>
                <a:latin typeface="Calibri"/>
              </a:rPr>
              <a:t>DAY 3 (Wed) — CAROUSEL · Pillar 2 (Education)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WEEK 1: DAY 1 → DAY 7 ("WHO IS THIS?")</a:t>
            </a:r>
          </a:p>
          <a:p>
            <a:r>
              <a:rPr sz="1200" i="1">
                <a:solidFill>
                  <a:srgbClr val="57504A"/>
                </a:solidFill>
                <a:latin typeface="Calibri"/>
              </a:rPr>
              <a:t>PART 4 — New Account Launch Strategy (Day 1 → Week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Idea:</a:t>
            </a:r>
            <a:r>
              <a:rPr sz="1350" b="0" i="0">
                <a:solidFill>
                  <a:srgbClr val="2A2622"/>
                </a:solidFill>
                <a:latin typeface="Calibri"/>
              </a:rPr>
              <a:t> 6-slide save-bait: "5 cheezein jo aapki skin ko roz kharab kar rahi hain (aap shayad sab kar rahi ho)." </a:t>
            </a:r>
            <a:r>
              <a:rPr sz="1350" b="1" i="0">
                <a:solidFill>
                  <a:srgbClr val="2A2622"/>
                </a:solidFill>
                <a:latin typeface="Calibri"/>
              </a:rPr>
              <a:t>Slides:</a:t>
            </a:r>
            <a:r>
              <a:rPr sz="1350" b="0" i="0">
                <a:solidFill>
                  <a:srgbClr val="2A2622"/>
                </a:solidFill>
                <a:latin typeface="Calibri"/>
              </a:rPr>
              <a:t> (1) Cover: "5 daily skin-killers — #3 sab common hai" (2) UV from windows/screens: "Haan, window se bhi aata hai UV" (3) Touching your face 15x/day: "Aapne phone touch kiya? Ab chehra bhi" (4) Hard water + wrong soap: "Ghar ka paani bhi matter karta hai" (5) No sunscreen indoors: "AC ghar ka hai, UV nahi" (6) CTA: "Save karo. Aur aapka #5 kya hai? Comment karo." </a:t>
            </a:r>
            <a:r>
              <a:rPr sz="1350" b="1" i="0">
                <a:solidFill>
                  <a:srgbClr val="2A2622"/>
                </a:solidFill>
                <a:latin typeface="Calibri"/>
              </a:rPr>
              <a:t>Hook (cover text = hook):</a:t>
            </a:r>
            <a:r>
              <a:rPr sz="1350" b="0" i="0">
                <a:solidFill>
                  <a:srgbClr val="2A2622"/>
                </a:solidFill>
                <a:latin typeface="Calibri"/>
              </a:rPr>
              <a:t> "5 cheezein jo AAJ bhi aapne skin ko kharab kar rahi hain." </a:t>
            </a:r>
            <a:r>
              <a:rPr sz="1350" b="1" i="0">
                <a:solidFill>
                  <a:srgbClr val="2A2622"/>
                </a:solidFill>
                <a:latin typeface="Calibri"/>
              </a:rPr>
              <a:t>Caption:</a:t>
            </a:r>
            <a:r>
              <a:rPr sz="1350" b="0" i="0">
                <a:solidFill>
                  <a:srgbClr val="2A2622"/>
                </a:solidFill>
                <a:latin typeface="Calibri"/>
              </a:rPr>
              <a:t> "Zyada tar skin problems 'kisi cream ka nahi hona' nahi — daily habits se aati hain. Kaunsi number pe aap rahi ho? 1 se 5 likho. #SkincareIndia #SkincareRoutine" </a:t>
            </a:r>
            <a:r>
              <a:rPr sz="1350" b="1" i="0">
                <a:solidFill>
                  <a:srgbClr val="2A2622"/>
                </a:solidFill>
                <a:latin typeface="Calibri"/>
              </a:rPr>
              <a:t>CTA:</a:t>
            </a:r>
            <a:r>
              <a:rPr sz="1350" b="0" i="0">
                <a:solidFill>
                  <a:srgbClr val="2A2622"/>
                </a:solidFill>
                <a:latin typeface="Calibri"/>
              </a:rPr>
              <a:t> "Save karo + comment karo apna number." </a:t>
            </a:r>
            <a:r>
              <a:rPr sz="1350" b="1" i="0">
                <a:solidFill>
                  <a:srgbClr val="2A2622"/>
                </a:solidFill>
                <a:latin typeface="Calibri"/>
              </a:rPr>
              <a:t>Purpose:</a:t>
            </a:r>
            <a:r>
              <a:rPr sz="1350" b="0" i="0">
                <a:solidFill>
                  <a:srgbClr val="2A2622"/>
                </a:solidFill>
                <a:latin typeface="Calibri"/>
              </a:rPr>
              <a:t> Saves (algorithm) + establish "they know their stuff." | </a:t>
            </a:r>
            <a:r>
              <a:rPr sz="1350" b="1" i="0">
                <a:solidFill>
                  <a:srgbClr val="2A2622"/>
                </a:solidFill>
                <a:latin typeface="Calibri"/>
              </a:rPr>
              <a:t>Target:</a:t>
            </a:r>
            <a:r>
              <a:rPr sz="1350" b="0" i="0">
                <a:solidFill>
                  <a:srgbClr val="2A2622"/>
                </a:solidFill>
                <a:latin typeface="Calibri"/>
              </a:rPr>
              <a:t> 20–40, any skin type. | </a:t>
            </a:r>
            <a:r>
              <a:rPr sz="1350" b="1" i="0">
                <a:solidFill>
                  <a:srgbClr val="2A2622"/>
                </a:solidFill>
                <a:latin typeface="Calibri"/>
              </a:rPr>
              <a:t>Sales purpose:</a:t>
            </a:r>
            <a:r>
              <a:rPr sz="1350" b="0" i="0">
                <a:solidFill>
                  <a:srgbClr val="2A2622"/>
                </a:solidFill>
                <a:latin typeface="Calibri"/>
              </a:rPr>
              <a:t> profile becomes saved-reference; comment-to-DM pipeline.</a:t>
            </a:r>
          </a:p>
          <a:p>
            <a:pPr>
              <a:spcBef>
                <a:spcPts val="1000"/>
              </a:spcBef>
              <a:spcAft>
                <a:spcPts val="400"/>
              </a:spcAft>
            </a:pPr>
            <a:r>
              <a:rPr sz="1600" b="1" i="0">
                <a:solidFill>
                  <a:srgbClr val="8F3A22"/>
                </a:solidFill>
                <a:latin typeface="Calibri"/>
              </a:rPr>
              <a:t>DAY 4 (Thu) — REEL · Pillar 2 (Myth vs Reality)</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WEEK 1: DAY 1 → DAY 7 ("WHO IS THIS?")</a:t>
            </a:r>
          </a:p>
          <a:p>
            <a:r>
              <a:rPr sz="1200" i="1">
                <a:solidFill>
                  <a:srgbClr val="57504A"/>
                </a:solidFill>
                <a:latin typeface="Calibri"/>
              </a:rPr>
              <a:t>PART 4 — New Account Launch Strategy (Day 1 → Week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Idea:</a:t>
            </a:r>
            <a:r>
              <a:rPr sz="1350" b="0" i="0">
                <a:solidFill>
                  <a:srgbClr val="2A2622"/>
                </a:solidFill>
                <a:latin typeface="Calibri"/>
              </a:rPr>
              <a:t> "100% herbal = safe? Myth vs reality." </a:t>
            </a:r>
            <a:r>
              <a:rPr sz="1350" b="1" i="0">
                <a:solidFill>
                  <a:srgbClr val="2A2622"/>
                </a:solidFill>
                <a:latin typeface="Calibri"/>
              </a:rPr>
              <a:t>Hook:</a:t>
            </a:r>
            <a:r>
              <a:rPr sz="1350" b="0" i="0">
                <a:solidFill>
                  <a:srgbClr val="2A2622"/>
                </a:solidFill>
                <a:latin typeface="Calibri"/>
              </a:rPr>
              <a:t> "'100% herbal' likha hai toh lagao? Yeh sach jano." </a:t>
            </a:r>
            <a:r>
              <a:rPr sz="1350" b="1" i="0">
                <a:solidFill>
                  <a:srgbClr val="2A2622"/>
                </a:solidFill>
                <a:latin typeface="Calibri"/>
              </a:rPr>
              <a:t>Script:</a:t>
            </a:r>
            <a:r>
              <a:rPr sz="1350" b="0" i="0">
                <a:solidFill>
                  <a:srgbClr val="2A2622"/>
                </a:solidFill>
                <a:latin typeface="Calibri"/>
              </a:rPr>
              <a:t> "Herbal matlab safe — yeh sabse bada myth hai. Koi natural ingredient bhi high concentration me, galat time par, skin ko irritate kar sakta hai. Aur 'no chemicals' possible nahi hai — h2O bhi chemical hai. Achhi skincare wahan banti hai jahan ingredient, concentration, aur skin type — teeno match kare. Humari next reel me: humne formula kaise choose kiya." </a:t>
            </a:r>
            <a:r>
              <a:rPr sz="1350" b="1" i="0">
                <a:solidFill>
                  <a:srgbClr val="2A2622"/>
                </a:solidFill>
                <a:latin typeface="Calibri"/>
              </a:rPr>
              <a:t>On-screen text:</a:t>
            </a:r>
            <a:r>
              <a:rPr sz="1350" b="0" i="0">
                <a:solidFill>
                  <a:srgbClr val="2A2622"/>
                </a:solidFill>
                <a:latin typeface="Calibri"/>
              </a:rPr>
              <a:t> "Myth: Herbal = Safe. Reality: Concentration + Skin type = Key." </a:t>
            </a:r>
            <a:r>
              <a:rPr sz="1350" b="1" i="0">
                <a:solidFill>
                  <a:srgbClr val="2A2622"/>
                </a:solidFill>
                <a:latin typeface="Calibri"/>
              </a:rPr>
              <a:t>Caption:</a:t>
            </a:r>
            <a:r>
              <a:rPr sz="1350" b="0" i="0">
                <a:solidFill>
                  <a:srgbClr val="2A2622"/>
                </a:solidFill>
                <a:latin typeface="Calibri"/>
              </a:rPr>
              <a:t> "Aap kya check karte ho — brand ya ingredient list? Hum ingredient se shuru karte hain. #SkincareMyths #VitaminCSerum" </a:t>
            </a:r>
            <a:r>
              <a:rPr sz="1350" b="1" i="0">
                <a:solidFill>
                  <a:srgbClr val="2A2622"/>
                </a:solidFill>
                <a:latin typeface="Calibri"/>
              </a:rPr>
              <a:t>CTA:</a:t>
            </a:r>
            <a:r>
              <a:rPr sz="1350" b="0" i="0">
                <a:solidFill>
                  <a:srgbClr val="2A2622"/>
                </a:solidFill>
                <a:latin typeface="Calibri"/>
              </a:rPr>
              <a:t> "Follow karo — kal: humara pehla 'Gujarati ghar' reel." </a:t>
            </a:r>
            <a:r>
              <a:rPr sz="1350" b="1" i="0">
                <a:solidFill>
                  <a:srgbClr val="2A2622"/>
                </a:solidFill>
                <a:latin typeface="Calibri"/>
              </a:rPr>
              <a:t>Purpose:</a:t>
            </a:r>
            <a:r>
              <a:rPr sz="1350" b="0" i="0">
                <a:solidFill>
                  <a:srgbClr val="2A2622"/>
                </a:solidFill>
                <a:latin typeface="Calibri"/>
              </a:rPr>
              <a:t> Authority + differentiation from "totka-only" and "chemical-scare" content. | </a:t>
            </a:r>
            <a:r>
              <a:rPr sz="1350" b="1" i="0">
                <a:solidFill>
                  <a:srgbClr val="2A2622"/>
                </a:solidFill>
                <a:latin typeface="Calibri"/>
              </a:rPr>
              <a:t>Target:</a:t>
            </a:r>
            <a:r>
              <a:rPr sz="1350" b="0" i="0">
                <a:solidFill>
                  <a:srgbClr val="2A2622"/>
                </a:solidFill>
                <a:latin typeface="Calibri"/>
              </a:rPr>
              <a:t> 25–45, ingredient-curious. | </a:t>
            </a:r>
            <a:r>
              <a:rPr sz="1350" b="1" i="0">
                <a:solidFill>
                  <a:srgbClr val="2A2622"/>
                </a:solidFill>
                <a:latin typeface="Calibri"/>
              </a:rPr>
              <a:t>Sales purpose:</a:t>
            </a:r>
            <a:r>
              <a:rPr sz="1350" b="0" i="0">
                <a:solidFill>
                  <a:srgbClr val="2A2622"/>
                </a:solidFill>
                <a:latin typeface="Calibri"/>
              </a:rPr>
              <a:t> pre-frames ingredient transparency (Pillar 3) and brand honesty.</a:t>
            </a:r>
          </a:p>
          <a:p>
            <a:pPr>
              <a:spcBef>
                <a:spcPts val="1000"/>
              </a:spcBef>
              <a:spcAft>
                <a:spcPts val="400"/>
              </a:spcAft>
            </a:pPr>
            <a:r>
              <a:rPr sz="1600" b="1" i="0">
                <a:solidFill>
                  <a:srgbClr val="8F3A22"/>
                </a:solidFill>
                <a:latin typeface="Calibri"/>
              </a:rPr>
              <a:t>DAY 5 (Fri) — REEL · Pillar 6+1 (Relatable/Gujarati)</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WEEK 1: DAY 1 → DAY 7 ("WHO IS THIS?")</a:t>
            </a:r>
          </a:p>
          <a:p>
            <a:r>
              <a:rPr sz="1200" i="1">
                <a:solidFill>
                  <a:srgbClr val="57504A"/>
                </a:solidFill>
                <a:latin typeface="Calibri"/>
              </a:rPr>
              <a:t>PART 4 — New Account Launch Strategy (Day 1 → Week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Idea:</a:t>
            </a:r>
            <a:r>
              <a:rPr sz="1350" b="0" i="0">
                <a:solidFill>
                  <a:srgbClr val="2A2622"/>
                </a:solidFill>
                <a:latin typeface="Calibri"/>
              </a:rPr>
              <a:t> Comedy-slice: Maa vs modern skincare. Skit: founder asks mom "main cream lagati hu, skin ke liye," mom: "Kya karta hai yeh cream? Pehle nani ke totke the, wahi the sahi." Founder to camera: "Aur humne socha — kya agar dono ko mila do?" </a:t>
            </a:r>
            <a:r>
              <a:rPr sz="1350" b="1" i="0">
                <a:solidFill>
                  <a:srgbClr val="2A2622"/>
                </a:solidFill>
                <a:latin typeface="Calibri"/>
              </a:rPr>
              <a:t>Hook:</a:t>
            </a:r>
            <a:r>
              <a:rPr sz="1350" b="0" i="0">
                <a:solidFill>
                  <a:srgbClr val="2A2622"/>
                </a:solidFill>
                <a:latin typeface="Calibri"/>
              </a:rPr>
              <a:t> "Gujarati ghar me skincare pehli baar chalu ki?" </a:t>
            </a:r>
            <a:r>
              <a:rPr sz="1350" b="1" i="0">
                <a:solidFill>
                  <a:srgbClr val="2A2622"/>
                </a:solidFill>
                <a:latin typeface="Calibri"/>
              </a:rPr>
              <a:t>Script (skit + punchline):</a:t>
            </a:r>
            <a:r>
              <a:rPr sz="1350" b="0" i="0">
                <a:solidFill>
                  <a:srgbClr val="2A2622"/>
                </a:solidFill>
                <a:latin typeface="Calibri"/>
              </a:rPr>
              <a:t> Skit as above, then: "Maa ka point valid hai — ghar ke totke me samajh hai. Par 2026 me skin ke liye bas haldi-ubtan kaafi nahi, na hi 3000 wali imported routine. RANGAT ka idea exactly yahi hai: Indian skin ki samajh + sahi ingredient + aam daam. Aaj se is page par dono dikhenge." </a:t>
            </a:r>
            <a:r>
              <a:rPr sz="1350" b="1" i="0">
                <a:solidFill>
                  <a:srgbClr val="2A2622"/>
                </a:solidFill>
                <a:latin typeface="Calibri"/>
              </a:rPr>
              <a:t>On-screen text:</a:t>
            </a:r>
            <a:r>
              <a:rPr sz="1350" b="0" i="0">
                <a:solidFill>
                  <a:srgbClr val="2A2622"/>
                </a:solidFill>
                <a:latin typeface="Calibri"/>
              </a:rPr>
              <a:t> "Totke ki samajh + science ka formula." → "RANGAT NATURALS" </a:t>
            </a:r>
            <a:r>
              <a:rPr sz="1350" b="1" i="0">
                <a:solidFill>
                  <a:srgbClr val="2A2622"/>
                </a:solidFill>
                <a:latin typeface="Calibri"/>
              </a:rPr>
              <a:t>Caption:</a:t>
            </a:r>
            <a:r>
              <a:rPr sz="1350" b="0" i="0">
                <a:solidFill>
                  <a:srgbClr val="2A2622"/>
                </a:solidFill>
                <a:latin typeface="Calibri"/>
              </a:rPr>
              <a:t> "Nani ne sikhaya, science ne proof diya. Aapke ghar me kaunsi school jeeti hai? 😄 #Gujarat #DesiSkincare" </a:t>
            </a:r>
            <a:r>
              <a:rPr sz="1350" b="1" i="0">
                <a:solidFill>
                  <a:srgbClr val="2A2622"/>
                </a:solidFill>
                <a:latin typeface="Calibri"/>
              </a:rPr>
              <a:t>CTA:</a:t>
            </a:r>
            <a:r>
              <a:rPr sz="1350" b="0" i="0">
                <a:solidFill>
                  <a:srgbClr val="2A2622"/>
                </a:solidFill>
                <a:latin typeface="Calibri"/>
              </a:rPr>
              <a:t> "Share karo us dost ko jisne abhi tak 'cream kya hai' bola hai." </a:t>
            </a:r>
            <a:r>
              <a:rPr sz="1350" b="1" i="0">
                <a:solidFill>
                  <a:srgbClr val="2A2622"/>
                </a:solidFill>
                <a:latin typeface="Calibri"/>
              </a:rPr>
              <a:t>Purpose:</a:t>
            </a:r>
            <a:r>
              <a:rPr sz="1350" b="0" i="0">
                <a:solidFill>
                  <a:srgbClr val="2A2622"/>
                </a:solidFill>
                <a:latin typeface="Calibri"/>
              </a:rPr>
              <a:t> Shareability (local culture) + positioning statement delivered as humor. | </a:t>
            </a:r>
            <a:r>
              <a:rPr sz="1350" b="1" i="0">
                <a:solidFill>
                  <a:srgbClr val="2A2622"/>
                </a:solidFill>
                <a:latin typeface="Calibri"/>
              </a:rPr>
              <a:t>Target:</a:t>
            </a:r>
            <a:r>
              <a:rPr sz="1350" b="0" i="0">
                <a:solidFill>
                  <a:srgbClr val="2A2622"/>
                </a:solidFill>
                <a:latin typeface="Calibri"/>
              </a:rPr>
              <a:t> 20–40 Gujarati + desi-identifying Indians. | </a:t>
            </a:r>
            <a:r>
              <a:rPr sz="1350" b="1" i="0">
                <a:solidFill>
                  <a:srgbClr val="2A2622"/>
                </a:solidFill>
                <a:latin typeface="Calibri"/>
              </a:rPr>
              <a:t>Sales purpose:</a:t>
            </a:r>
            <a:r>
              <a:rPr sz="1350" b="0" i="0">
                <a:solidFill>
                  <a:srgbClr val="2A2622"/>
                </a:solidFill>
                <a:latin typeface="Calibri"/>
              </a:rPr>
              <a:t> none direct — but this is the reel that gets the account "known" locally.</a:t>
            </a:r>
          </a:p>
          <a:p>
            <a:pPr>
              <a:spcBef>
                <a:spcPts val="1000"/>
              </a:spcBef>
              <a:spcAft>
                <a:spcPts val="400"/>
              </a:spcAft>
            </a:pPr>
            <a:r>
              <a:rPr sz="1600" b="1" i="0">
                <a:solidFill>
                  <a:srgbClr val="8F3A22"/>
                </a:solidFill>
                <a:latin typeface="Calibri"/>
              </a:rPr>
              <a:t>DAY 6 (Sat) — REEL · Pillar 6 (Brand story/teaser)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WEEK 1: DAY 1 → DAY 7 ("WHO IS THIS?")</a:t>
            </a:r>
          </a:p>
          <a:p>
            <a:r>
              <a:rPr sz="1200" i="1">
                <a:solidFill>
                  <a:srgbClr val="57504A"/>
                </a:solidFill>
                <a:latin typeface="Calibri"/>
              </a:rPr>
              <a:t>PART 4 — New Account Launch Strategy (Day 1 → Week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Idea:</a:t>
            </a:r>
            <a:r>
              <a:rPr sz="1350" b="0" i="0">
                <a:solidFill>
                  <a:srgbClr val="2A2622"/>
                </a:solidFill>
                <a:latin typeface="Calibri"/>
              </a:rPr>
              <a:t> "Humne 3 mahine sirf ek serum dhoondha." Behind the scenes: label sketches, formula comparisons, 20 tester names (blur if needed), lab photos from manufacturer. </a:t>
            </a:r>
            <a:r>
              <a:rPr sz="1350" b="1" i="0">
                <a:solidFill>
                  <a:srgbClr val="2A2622"/>
                </a:solidFill>
                <a:latin typeface="Calibri"/>
              </a:rPr>
              <a:t>Hook:</a:t>
            </a:r>
            <a:r>
              <a:rPr sz="1350" b="0" i="0">
                <a:solidFill>
                  <a:srgbClr val="2A2622"/>
                </a:solidFill>
                <a:latin typeface="Calibri"/>
              </a:rPr>
              <a:t> "Ek chhota brand. Ek bada sawal: Indian skin par kaunsa Vitamin C sach me kaam karega?" </a:t>
            </a:r>
            <a:r>
              <a:rPr sz="1350" b="1" i="0">
                <a:solidFill>
                  <a:srgbClr val="2A2622"/>
                </a:solidFill>
                <a:latin typeface="Calibri"/>
              </a:rPr>
              <a:t>Script:</a:t>
            </a:r>
            <a:r>
              <a:rPr sz="1350" b="0" i="0">
                <a:solidFill>
                  <a:srgbClr val="2A2622"/>
                </a:solidFill>
                <a:latin typeface="Calibri"/>
              </a:rPr>
              <a:t> "Hum manufacturer nahi hain — hum RANGAT NATURALS, ek brand. Humne formula chuna, concentration test ki, 20 aahaiyon par 4 hafte trial chala — Ahmedabad me, aapke sheher me. Kyun? Kyunki 'imported' routine Indian mausam me toot jaata hai. Kal: humne kyun 10% Vitamin C choose kiya. Follow karo — is series ka aakhri hissa launch hai." </a:t>
            </a:r>
            <a:r>
              <a:rPr sz="1350" b="1" i="0">
                <a:solidFill>
                  <a:srgbClr val="2A2622"/>
                </a:solidFill>
                <a:latin typeface="Calibri"/>
              </a:rPr>
              <a:t>On-screen text:</a:t>
            </a:r>
            <a:r>
              <a:rPr sz="1350" b="0" i="0">
                <a:solidFill>
                  <a:srgbClr val="2A2622"/>
                </a:solidFill>
                <a:latin typeface="Calibri"/>
              </a:rPr>
              <a:t> "20 testers. 4 hafte. 1 sachcha result." </a:t>
            </a:r>
            <a:r>
              <a:rPr sz="1350" b="1" i="0">
                <a:solidFill>
                  <a:srgbClr val="2A2622"/>
                </a:solidFill>
                <a:latin typeface="Calibri"/>
              </a:rPr>
              <a:t>Caption:</a:t>
            </a:r>
            <a:r>
              <a:rPr sz="1350" b="0" i="0">
                <a:solidFill>
                  <a:srgbClr val="2A2622"/>
                </a:solidFill>
                <a:latin typeface="Calibri"/>
              </a:rPr>
              <a:t> "Behind the brand: kaise, kyun, kiski madad se. Part 2 kal. #RangatNaturals #SkincareIndia" </a:t>
            </a:r>
            <a:r>
              <a:rPr sz="1350" b="1" i="0">
                <a:solidFill>
                  <a:srgbClr val="2A2622"/>
                </a:solidFill>
                <a:latin typeface="Calibri"/>
              </a:rPr>
              <a:t>CTA:</a:t>
            </a:r>
            <a:r>
              <a:rPr sz="1350" b="0" i="0">
                <a:solidFill>
                  <a:srgbClr val="2A2622"/>
                </a:solidFill>
                <a:latin typeface="Calibri"/>
              </a:rPr>
              <a:t> "Follow karo — Sunday: aapke sawaal, hamare jawaab (Stories se)." </a:t>
            </a:r>
            <a:r>
              <a:rPr sz="1350" b="1" i="0">
                <a:solidFill>
                  <a:srgbClr val="2A2622"/>
                </a:solidFill>
                <a:latin typeface="Calibri"/>
              </a:rPr>
              <a:t>Purpose:</a:t>
            </a:r>
            <a:r>
              <a:rPr sz="1350" b="0" i="0">
                <a:solidFill>
                  <a:srgbClr val="2A2622"/>
                </a:solidFill>
                <a:latin typeface="Calibri"/>
              </a:rPr>
              <a:t> Brand substance + tease of proof + hint of launch. | </a:t>
            </a:r>
            <a:r>
              <a:rPr sz="1350" b="1" i="0">
                <a:solidFill>
                  <a:srgbClr val="2A2622"/>
                </a:solidFill>
                <a:latin typeface="Calibri"/>
              </a:rPr>
              <a:t>Target:</a:t>
            </a:r>
            <a:r>
              <a:rPr sz="1350" b="0" i="0">
                <a:solidFill>
                  <a:srgbClr val="2A2622"/>
                </a:solidFill>
                <a:latin typeface="Calibri"/>
              </a:rPr>
              <a:t> followers from Days 1–5. | </a:t>
            </a:r>
            <a:r>
              <a:rPr sz="1350" b="1" i="0">
                <a:solidFill>
                  <a:srgbClr val="2A2622"/>
                </a:solidFill>
                <a:latin typeface="Calibri"/>
              </a:rPr>
              <a:t>Sales purpose:</a:t>
            </a:r>
            <a:r>
              <a:rPr sz="1350" b="0" i="0">
                <a:solidFill>
                  <a:srgbClr val="2A2622"/>
                </a:solidFill>
                <a:latin typeface="Calibri"/>
              </a:rPr>
              <a:t> plants "launch" in their mind without selling.</a:t>
            </a:r>
          </a:p>
          <a:p>
            <a:pPr>
              <a:spcBef>
                <a:spcPts val="1000"/>
              </a:spcBef>
              <a:spcAft>
                <a:spcPts val="400"/>
              </a:spcAft>
            </a:pPr>
            <a:r>
              <a:rPr sz="1600" b="1" i="0">
                <a:solidFill>
                  <a:srgbClr val="8F3A22"/>
                </a:solidFill>
                <a:latin typeface="Calibri"/>
              </a:rPr>
              <a:t>DAY 7 (Sun) — REEL (Q&amp;A) + HEAVY STORY DAY · Pillar 1+6</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WEEK 1: DAY 1 → DAY 7 ("WHO IS THIS?")</a:t>
            </a:r>
          </a:p>
          <a:p>
            <a:r>
              <a:rPr sz="1200" i="1">
                <a:solidFill>
                  <a:srgbClr val="57504A"/>
                </a:solidFill>
                <a:latin typeface="Calibri"/>
              </a:rPr>
              <a:t>PART 4 — New Account Launch Strategy (Day 1 → Week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Idea:</a:t>
            </a:r>
            <a:r>
              <a:rPr sz="1350" b="0" i="0">
                <a:solidFill>
                  <a:srgbClr val="2A2622"/>
                </a:solidFill>
                <a:latin typeface="Calibri"/>
              </a:rPr>
              <a:t> "Aapne pucha, humne suna" — top 4 questions from comments/DMs of Week 1, answered fast (15 sec each, cut). </a:t>
            </a:r>
            <a:r>
              <a:rPr sz="1350" b="1" i="0">
                <a:solidFill>
                  <a:srgbClr val="2A2622"/>
                </a:solidFill>
                <a:latin typeface="Calibri"/>
              </a:rPr>
              <a:t>Hook:</a:t>
            </a:r>
            <a:r>
              <a:rPr sz="1350" b="0" i="0">
                <a:solidFill>
                  <a:srgbClr val="2A2622"/>
                </a:solidFill>
                <a:latin typeface="Calibri"/>
              </a:rPr>
              <a:t> "Aapne puche 4 sawaal — jinke jawaab 90% pages nahi dete." </a:t>
            </a:r>
            <a:r>
              <a:rPr sz="1350" b="1" i="0">
                <a:solidFill>
                  <a:srgbClr val="2A2622"/>
                </a:solidFill>
                <a:latin typeface="Calibri"/>
              </a:rPr>
              <a:t>Script (4 rapid answers):</a:t>
            </a:r>
            <a:r>
              <a:rPr sz="1350" b="0" i="0">
                <a:solidFill>
                  <a:srgbClr val="2A2622"/>
                </a:solidFill>
                <a:latin typeface="Calibri"/>
              </a:rPr>
              <a:t> Q1 "Oily skin pe bhi moisturizer?" → "Haan, gel-type. Skin ko paani chahiye, oil nahi." Q2 "Vitamin C subah ya raat?" → "Subah, SPF ke saath — kal detail." Q3 "Kitne din me result?" → "Fair jawaab: 4–6 hafte daily use me. 3 din me koi asli brand wada nahi karta." Q4 "COD hai?" → "Haan. Pehli baar kharid rahe ho toh yeh sabse zaroori line hai." </a:t>
            </a:r>
            <a:r>
              <a:rPr sz="1350" b="1" i="0">
                <a:solidFill>
                  <a:srgbClr val="2A2622"/>
                </a:solidFill>
                <a:latin typeface="Calibri"/>
              </a:rPr>
              <a:t>On-screen text:</a:t>
            </a:r>
            <a:r>
              <a:rPr sz="1350" b="0" i="0">
                <a:solidFill>
                  <a:srgbClr val="2A2622"/>
                </a:solidFill>
                <a:latin typeface="Calibri"/>
              </a:rPr>
              <a:t> each question + short answer, then "Naya sawaal? DM karo." </a:t>
            </a:r>
            <a:r>
              <a:rPr sz="1350" b="1" i="0">
                <a:solidFill>
                  <a:srgbClr val="2A2622"/>
                </a:solidFill>
                <a:latin typeface="Calibri"/>
              </a:rPr>
              <a:t>Caption:</a:t>
            </a:r>
            <a:r>
              <a:rPr sz="1350" b="0" i="0">
                <a:solidFill>
                  <a:srgbClr val="2A2622"/>
                </a:solidFill>
                <a:latin typeface="Calibri"/>
              </a:rPr>
              <a:t> "Aapke sawaal hi hamara content hain. Aur haan — COD. Pehle din se. #SkincareFAQ #IndianSkincare" </a:t>
            </a:r>
            <a:r>
              <a:rPr sz="1350" b="1" i="0">
                <a:solidFill>
                  <a:srgbClr val="2A2622"/>
                </a:solidFill>
                <a:latin typeface="Calibri"/>
              </a:rPr>
              <a:t>CTA:</a:t>
            </a:r>
            <a:r>
              <a:rPr sz="1350" b="0" i="0">
                <a:solidFill>
                  <a:srgbClr val="2A2622"/>
                </a:solidFill>
                <a:latin typeface="Calibri"/>
              </a:rPr>
              <a:t> "DM karo apna sawaal — best 4 agle Sunday answer honge." </a:t>
            </a:r>
            <a:r>
              <a:rPr sz="1350" b="1" i="0">
                <a:solidFill>
                  <a:srgbClr val="2A2622"/>
                </a:solidFill>
                <a:latin typeface="Calibri"/>
              </a:rPr>
              <a:t>Stories this day (4–5):</a:t>
            </a:r>
            <a:r>
              <a:rPr sz="1350" b="0" i="0">
                <a:solidFill>
                  <a:srgbClr val="2A2622"/>
                </a:solidFill>
                <a:latin typeface="Calibri"/>
              </a:rPr>
              <a:t> poll "Aapki skin: oily ☑️ / dry ☑️", question box "Ask us anything about skin", founder photo "hum kaun hain", teaser "ek product launch ho raha hai... guess karo kya?", DM CTA "GLOW likhna seekho." </a:t>
            </a:r>
            <a:r>
              <a:rPr sz="1350" b="1" i="0">
                <a:solidFill>
                  <a:srgbClr val="2A2622"/>
                </a:solidFill>
                <a:latin typeface="Calibri"/>
              </a:rPr>
              <a:t>Purpose:</a:t>
            </a:r>
            <a:r>
              <a:rPr sz="1350" b="0" i="0">
                <a:solidFill>
                  <a:srgbClr val="2A2622"/>
                </a:solidFill>
                <a:latin typeface="Calibri"/>
              </a:rPr>
              <a:t> Community + FAQ (pre-sell objections) + poll data. | </a:t>
            </a:r>
            <a:r>
              <a:rPr sz="1350" b="1" i="0">
                <a:solidFill>
                  <a:srgbClr val="2A2622"/>
                </a:solidFill>
                <a:latin typeface="Calibri"/>
              </a:rPr>
              <a:t>Target:</a:t>
            </a:r>
            <a:r>
              <a:rPr sz="1350" b="0" i="0">
                <a:solidFill>
                  <a:srgbClr val="2A2622"/>
                </a:solidFill>
                <a:latin typeface="Calibri"/>
              </a:rPr>
              <a:t> existing 200–300 followers. | </a:t>
            </a:r>
            <a:r>
              <a:rPr sz="1350" b="1" i="0">
                <a:solidFill>
                  <a:srgbClr val="2A2622"/>
                </a:solidFill>
                <a:latin typeface="Calibri"/>
              </a:rPr>
              <a:t>Sales purpose:</a:t>
            </a:r>
            <a:r>
              <a:rPr sz="1350" b="0" i="0">
                <a:solidFill>
                  <a:srgbClr val="2A2622"/>
                </a:solidFill>
                <a:latin typeface="Calibri"/>
              </a:rPr>
              <a:t> COD answer = de-risks first purchase before it's even offered.</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WEEK 2 ("WHAT DO THEY KNOW?") — Days 8–14, one-line plan per day</a:t>
            </a:r>
          </a:p>
          <a:p>
            <a:r>
              <a:rPr sz="1200" i="1">
                <a:solidFill>
                  <a:srgbClr val="57504A"/>
                </a:solidFill>
                <a:latin typeface="Calibri"/>
              </a:rPr>
              <a:t>PART 4 — New Account Launch Strategy (Day 1 → Week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D8 (Mon) — REEL, Pillar 3: HERO PRODUCT INTRO.</a:t>
            </a:r>
            <a:r>
              <a:rPr sz="1350" b="0" i="0">
                <a:solidFill>
                  <a:srgbClr val="2A2622"/>
                </a:solidFill>
                <a:latin typeface="Calibri"/>
              </a:rPr>
              <a:t> "Mila karo: RANGAT Vitamin C Serum 10%." Texture drop, 3 honest benefits (brightens look, evens tone-look over time, fresh feel), price anchor, "launch coming — DM GLOW to be first in line." </a:t>
            </a:r>
            <a:r>
              <a:rPr sz="1350" b="1" i="0">
                <a:solidFill>
                  <a:srgbClr val="2A2622"/>
                </a:solidFill>
                <a:latin typeface="Calibri"/>
              </a:rPr>
              <a:t>This is the first product post.</a:t>
            </a:r>
            <a:r>
              <a:rPr sz="1350" b="0" i="0">
                <a:solidFill>
                  <a:srgbClr val="2A2622"/>
                </a:solidFill>
                <a:latin typeface="Calibri"/>
              </a:rPr>
              <a:t> CTA: comment "GLOW."</a:t>
            </a:r>
          </a:p>
          <a:p>
            <a:pPr>
              <a:spcAft>
                <a:spcPts val="400"/>
              </a:spcAft>
            </a:pPr>
            <a:r>
              <a:rPr sz="1350">
                <a:solidFill>
                  <a:srgbClr val="B44A2E"/>
                </a:solidFill>
                <a:latin typeface="Calibri"/>
              </a:rPr>
              <a:t>•  </a:t>
            </a:r>
            <a:r>
              <a:rPr sz="1350" b="1" i="0">
                <a:solidFill>
                  <a:srgbClr val="2A2622"/>
                </a:solidFill>
                <a:latin typeface="Calibri"/>
              </a:rPr>
              <a:t>D9 (Tue) — REEL, Pillar 2+3: HOW-TO.</a:t>
            </a:r>
            <a:r>
              <a:rPr sz="1350" b="0" i="0">
                <a:solidFill>
                  <a:srgbClr val="2A2622"/>
                </a:solidFill>
                <a:latin typeface="Calibri"/>
              </a:rPr>
              <a:t> "Vitamin C serum 99% log galat tarah se lagate hain." (Dry face, 3–4 drops, morning, SPF after, not with strong acids same time.) CTA: save.</a:t>
            </a:r>
          </a:p>
          <a:p>
            <a:pPr>
              <a:spcAft>
                <a:spcPts val="400"/>
              </a:spcAft>
            </a:pPr>
            <a:r>
              <a:rPr sz="1350">
                <a:solidFill>
                  <a:srgbClr val="B44A2E"/>
                </a:solidFill>
                <a:latin typeface="Calibri"/>
              </a:rPr>
              <a:t>•  </a:t>
            </a:r>
            <a:r>
              <a:rPr sz="1350" b="1" i="0">
                <a:solidFill>
                  <a:srgbClr val="2A2622"/>
                </a:solidFill>
                <a:latin typeface="Calibri"/>
              </a:rPr>
              <a:t>D10 (Wed) — CAROUSEL, Pillar 2: INGREDIENT DEEP DIVE.</a:t>
            </a:r>
            <a:r>
              <a:rPr sz="1350" b="0" i="0">
                <a:solidFill>
                  <a:srgbClr val="2A2622"/>
                </a:solidFill>
                <a:latin typeface="Calibri"/>
              </a:rPr>
              <a:t> 7 slides: "Vitamin C serum actually kya karta hai? (60-second science)." Slides: what VC does → 10% why (sweet spot) → who benefits most (dull/tan-look/pigmentation-look) → who should be careful (irritation-prone: patch test) → what it WON'T do (no overnight miracles) → how to store (dark, cool) → CTA save.</a:t>
            </a:r>
          </a:p>
          <a:p>
            <a:pPr>
              <a:spcAft>
                <a:spcPts val="400"/>
              </a:spcAft>
            </a:pPr>
            <a:r>
              <a:rPr sz="1350">
                <a:solidFill>
                  <a:srgbClr val="B44A2E"/>
                </a:solidFill>
                <a:latin typeface="Calibri"/>
              </a:rPr>
              <a:t>•  </a:t>
            </a:r>
            <a:r>
              <a:rPr sz="1350" b="1" i="0">
                <a:solidFill>
                  <a:srgbClr val="2A2622"/>
                </a:solidFill>
                <a:latin typeface="Calibri"/>
              </a:rPr>
              <a:t>D11 (Thu) — REEL, Pillar 1+3: PROBLEM→SOLUTION.</a:t>
            </a:r>
            <a:r>
              <a:rPr sz="1350" b="0" i="0">
                <a:solidFill>
                  <a:srgbClr val="2A2622"/>
                </a:solidFill>
                <a:latin typeface="Calibri"/>
              </a:rPr>
              <a:t> "Bahar ka main, andar ka dull — dono same cheez." (Outdoor UV + indoor screen/window UV both add up.) Soft product nod. CTA: comment GLOW.</a:t>
            </a:r>
          </a:p>
          <a:p>
            <a:pPr>
              <a:spcAft>
                <a:spcPts val="400"/>
              </a:spcAft>
            </a:pPr>
            <a:r>
              <a:rPr sz="1350">
                <a:solidFill>
                  <a:srgbClr val="B44A2E"/>
                </a:solidFill>
                <a:latin typeface="Calibri"/>
              </a:rPr>
              <a:t>•  </a:t>
            </a:r>
            <a:r>
              <a:rPr sz="1350" b="1" i="0">
                <a:solidFill>
                  <a:srgbClr val="2A2622"/>
                </a:solidFill>
                <a:latin typeface="Calibri"/>
              </a:rPr>
              <a:t>D12 (Fri) — REEL, Pillar 4: FIRST TESTER REACTION.</a:t>
            </a:r>
            <a:r>
              <a:rPr sz="1350" b="0" i="0">
                <a:solidFill>
                  <a:srgbClr val="2A2622"/>
                </a:solidFill>
                <a:latin typeface="Calibri"/>
              </a:rPr>
              <a:t> Real tester (friend/relative, disclosed "humari tester"), week-2 honest reaction: "Fresh lagta hai, par meri dry patch abhi bhi hai — honest hai." CTA: "Day 28 wala update is page par aayega — follow karo."</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WEEK 2 ("WHAT DO THEY KNOW?") — Days 8–14, one-line plan per day</a:t>
            </a:r>
          </a:p>
          <a:p>
            <a:r>
              <a:rPr sz="1200" i="1">
                <a:solidFill>
                  <a:srgbClr val="57504A"/>
                </a:solidFill>
                <a:latin typeface="Calibri"/>
              </a:rPr>
              <a:t>PART 4 — New Account Launch Strategy (Day 1 → Week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D13 (Sat) — REEL, Pillar 6: FOUNDER STORY #2.</a:t>
            </a:r>
            <a:r>
              <a:rPr sz="1350" b="0" i="0">
                <a:solidFill>
                  <a:srgbClr val="2A2622"/>
                </a:solidFill>
                <a:latin typeface="Calibri"/>
              </a:rPr>
              <a:t> "Brand banana kitna mushkil tha" — rejected first formula, 3 packaging samples, why we chose this manufacturer (certified facility, GMP line). Transparency = trust. CTA: share.</a:t>
            </a:r>
          </a:p>
          <a:p>
            <a:pPr>
              <a:spcAft>
                <a:spcPts val="400"/>
              </a:spcAft>
            </a:pPr>
            <a:r>
              <a:rPr sz="1350">
                <a:solidFill>
                  <a:srgbClr val="B44A2E"/>
                </a:solidFill>
                <a:latin typeface="Calibri"/>
              </a:rPr>
              <a:t>•  </a:t>
            </a:r>
            <a:r>
              <a:rPr sz="1350" b="1" i="0">
                <a:solidFill>
                  <a:srgbClr val="2A2622"/>
                </a:solidFill>
                <a:latin typeface="Calibri"/>
              </a:rPr>
              <a:t>D14 (Sun) — REEL, Pillar 7 (soft) + Q&amp;A stories.</a:t>
            </a:r>
            <a:r>
              <a:rPr sz="1350" b="0" i="0">
                <a:solidFill>
                  <a:srgbClr val="2A2622"/>
                </a:solidFill>
                <a:latin typeface="Calibri"/>
              </a:rPr>
              <a:t> "Achhi skincare mehngi honi chahiye? Nahi." Price-value reel: honest breakdown (formula + testing + certified manufacturing + no middleman = your price). Still no hard offer. CTA: "Launch is hafte — GLOW likho." Stories: countdown to launch (3 days), tester day-14 photo (with consent + disclaimer), quiz "kitna SPF chahiye?"</a:t>
            </a:r>
          </a:p>
          <a:p>
            <a:pPr>
              <a:spcAft>
                <a:spcPts val="700"/>
              </a:spcAft>
            </a:pPr>
            <a:r>
              <a:rPr sz="1350" b="1" i="0">
                <a:solidFill>
                  <a:srgbClr val="2A2622"/>
                </a:solidFill>
                <a:latin typeface="Calibri"/>
              </a:rPr>
              <a:t>Week 2 exit criteria:</a:t>
            </a:r>
            <a:r>
              <a:rPr sz="1350" b="0" i="0">
                <a:solidFill>
                  <a:srgbClr val="2A2622"/>
                </a:solidFill>
                <a:latin typeface="Calibri"/>
              </a:rPr>
              <a:t> 500+ followers, 30+ DMs collected ("GLOW" list), tester program halfway (14 days), 10 creators contacted.</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WEEK 3 ("IS IT REAL?") — Days 15–21</a:t>
            </a:r>
          </a:p>
          <a:p>
            <a:r>
              <a:rPr sz="1200" i="1">
                <a:solidFill>
                  <a:srgbClr val="57504A"/>
                </a:solidFill>
                <a:latin typeface="Calibri"/>
              </a:rPr>
              <a:t>PART 4 — New Account Launch Strategy (Day 1 → Week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D15 (Mon) — REEL, Pillar 1: MISTAKES.</a:t>
            </a:r>
            <a:r>
              <a:rPr sz="1350" b="0" i="0">
                <a:solidFill>
                  <a:srgbClr val="2A2622"/>
                </a:solidFill>
                <a:latin typeface="Calibri"/>
              </a:rPr>
              <a:t> "Yeh 3 skincare galtiyan har ek Indian girl kar rahi hai." (Over-washing, skipping SPF indoors, layering 6 products). CTA: comment.</a:t>
            </a:r>
          </a:p>
          <a:p>
            <a:pPr>
              <a:spcAft>
                <a:spcPts val="400"/>
              </a:spcAft>
            </a:pPr>
            <a:r>
              <a:rPr sz="1350">
                <a:solidFill>
                  <a:srgbClr val="B44A2E"/>
                </a:solidFill>
                <a:latin typeface="Calibri"/>
              </a:rPr>
              <a:t>•  </a:t>
            </a:r>
            <a:r>
              <a:rPr sz="1350" b="1" i="0">
                <a:solidFill>
                  <a:srgbClr val="2A2622"/>
                </a:solidFill>
                <a:latin typeface="Calibri"/>
              </a:rPr>
              <a:t>D16 (Tue) — REEL, Pillar 3: PRODUCT DEMO/TEXTURE.</a:t>
            </a:r>
            <a:r>
              <a:rPr sz="1350" b="0" i="0">
                <a:solidFill>
                  <a:srgbClr val="2A2622"/>
                </a:solidFill>
                <a:latin typeface="Calibri"/>
              </a:rPr>
              <a:t> "10 second me dekho — 10% Vitamin C kaisa lagta hai." Close-up palm, drop, spread, absorption. Plus "kyun 10% — zyada matlab behtar nahi." CTA: comment GLOW.</a:t>
            </a:r>
          </a:p>
          <a:p>
            <a:pPr>
              <a:spcAft>
                <a:spcPts val="400"/>
              </a:spcAft>
            </a:pPr>
            <a:r>
              <a:rPr sz="1350">
                <a:solidFill>
                  <a:srgbClr val="B44A2E"/>
                </a:solidFill>
                <a:latin typeface="Calibri"/>
              </a:rPr>
              <a:t>•  </a:t>
            </a:r>
            <a:r>
              <a:rPr sz="1350" b="1" i="0">
                <a:solidFill>
                  <a:srgbClr val="2A2622"/>
                </a:solidFill>
                <a:latin typeface="Calibri"/>
              </a:rPr>
              <a:t>D17 (Wed) — REEL, Pillar 5: FIRST REAL BEFORE/AFTER.</a:t>
            </a:r>
            <a:r>
              <a:rPr sz="1350" b="0" i="0">
                <a:solidFill>
                  <a:srgbClr val="2A2622"/>
                </a:solidFill>
                <a:latin typeface="Calibri"/>
              </a:rPr>
              <a:t> Tester program </a:t>
            </a:r>
            <a:r>
              <a:rPr sz="1350" b="1" i="0">
                <a:solidFill>
                  <a:srgbClr val="2A2622"/>
                </a:solidFill>
                <a:latin typeface="Calibri"/>
              </a:rPr>
              <a:t>day-28</a:t>
            </a:r>
            <a:r>
              <a:rPr sz="1350" b="0" i="0">
                <a:solidFill>
                  <a:srgbClr val="2A2622"/>
                </a:solidFill>
                <a:latin typeface="Calibri"/>
              </a:rPr>
              <a:t> results (real, disclosed, 2–3 faces max, same light/angle, "4 hafte daily use · results may vary" on screen). This is the most important trust asset of the launch. CTA: "DM GLOW — launch kal se."</a:t>
            </a:r>
          </a:p>
          <a:p>
            <a:pPr>
              <a:spcAft>
                <a:spcPts val="400"/>
              </a:spcAft>
            </a:pPr>
            <a:r>
              <a:rPr sz="1350">
                <a:solidFill>
                  <a:srgbClr val="B44A2E"/>
                </a:solidFill>
                <a:latin typeface="Calibri"/>
              </a:rPr>
              <a:t>•  </a:t>
            </a:r>
            <a:r>
              <a:rPr sz="1350" b="1" i="0">
                <a:solidFill>
                  <a:srgbClr val="2A2622"/>
                </a:solidFill>
                <a:latin typeface="Calibri"/>
              </a:rPr>
              <a:t>D18 (Thu) — REEL, Pillar 2: EDUCATION (future product seed).</a:t>
            </a:r>
            <a:r>
              <a:rPr sz="1350" b="0" i="0">
                <a:solidFill>
                  <a:srgbClr val="2A2622"/>
                </a:solidFill>
                <a:latin typeface="Calibri"/>
              </a:rPr>
              <a:t> "Ghar par baithe bhi sunscreen kyun?" (UV through windows, cumulative exposure.) Sets up Month-2 product without selling it. CTA: share with a friend.</a:t>
            </a:r>
          </a:p>
          <a:p>
            <a:pPr>
              <a:spcAft>
                <a:spcPts val="400"/>
              </a:spcAft>
            </a:pPr>
            <a:r>
              <a:rPr sz="1350">
                <a:solidFill>
                  <a:srgbClr val="B44A2E"/>
                </a:solidFill>
                <a:latin typeface="Calibri"/>
              </a:rPr>
              <a:t>•  </a:t>
            </a:r>
            <a:r>
              <a:rPr sz="1350" b="1" i="0">
                <a:solidFill>
                  <a:srgbClr val="2A2622"/>
                </a:solidFill>
                <a:latin typeface="Calibri"/>
              </a:rPr>
              <a:t>D19 (Fri) — REEL, Pillar 4: FIRST MICRO-CREATOR DROP.</a:t>
            </a:r>
            <a:r>
              <a:rPr sz="1350" b="0" i="0">
                <a:solidFill>
                  <a:srgbClr val="2A2622"/>
                </a:solidFill>
                <a:latin typeface="Calibri"/>
              </a:rPr>
              <a:t> Ahmedabad creator (10k–30k) posts her honest "2 hafte RANGAT" video; we repost + collab. CTA: follow both.</a:t>
            </a:r>
          </a:p>
          <a:p>
            <a:pPr>
              <a:spcAft>
                <a:spcPts val="400"/>
              </a:spcAft>
            </a:pPr>
            <a:r>
              <a:rPr sz="1350">
                <a:solidFill>
                  <a:srgbClr val="B44A2E"/>
                </a:solidFill>
                <a:latin typeface="Calibri"/>
              </a:rPr>
              <a:t>•  </a:t>
            </a:r>
            <a:r>
              <a:rPr sz="1350" b="1" i="0">
                <a:solidFill>
                  <a:srgbClr val="2A2622"/>
                </a:solidFill>
                <a:latin typeface="Calibri"/>
              </a:rPr>
              <a:t>D20 (Sat) — REEL, Pillar 6: LAUNCH COUNTDOWN + BTS.</a:t>
            </a:r>
            <a:r>
              <a:rPr sz="1350" b="0" i="0">
                <a:solidFill>
                  <a:srgbClr val="2A2622"/>
                </a:solidFill>
                <a:latin typeface="Calibri"/>
              </a:rPr>
              <a:t> "Kal se RANGAT NATURALS live." Packing the first 100 boxes (real footage), "100 units, phir agla batch." CTA: notifications on.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WEEK 3 ("IS IT REAL?") — Days 15–21</a:t>
            </a:r>
          </a:p>
          <a:p>
            <a:r>
              <a:rPr sz="1200" i="1">
                <a:solidFill>
                  <a:srgbClr val="57504A"/>
                </a:solidFill>
                <a:latin typeface="Calibri"/>
              </a:rPr>
              <a:t>PART 4 — New Account Launch Strategy (Day 1 → Week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D21 (Sun) — REEL, Pillar 7: 🚀 LAUNCH — "FOUNDING 100."</a:t>
            </a:r>
            <a:r>
              <a:rPr sz="1350" b="0" i="0">
                <a:solidFill>
                  <a:srgbClr val="2A2622"/>
                </a:solidFill>
                <a:latin typeface="Calibri"/>
              </a:rPr>
              <a:t> The full offer, announced properly (see exact copy in </a:t>
            </a:r>
            <a:r>
              <a:rPr sz="1200" b="0" i="0">
                <a:solidFill>
                  <a:srgbClr val="8F3A22"/>
                </a:solidFill>
                <a:latin typeface="Consolas"/>
              </a:rPr>
              <a:t>06-calendar-days-21-30.md</a:t>
            </a:r>
            <a:r>
              <a:rPr sz="1350" b="0" i="0">
                <a:solidFill>
                  <a:srgbClr val="2A2622"/>
                </a:solidFill>
                <a:latin typeface="Calibri"/>
              </a:rPr>
              <a:t> Day 21). CTA: </a:t>
            </a:r>
            <a:r>
              <a:rPr sz="1350" b="1" i="0">
                <a:solidFill>
                  <a:srgbClr val="2A2622"/>
                </a:solidFill>
                <a:latin typeface="Calibri"/>
              </a:rPr>
              <a:t>DM "GLOW"</a:t>
            </a:r>
            <a:r>
              <a:rPr sz="1350" b="0" i="0">
                <a:solidFill>
                  <a:srgbClr val="2A2622"/>
                </a:solidFill>
                <a:latin typeface="Calibri"/>
              </a:rPr>
              <a:t> / WhatsApp link.</a:t>
            </a:r>
          </a:p>
          <a:p>
            <a:pPr>
              <a:spcAft>
                <a:spcPts val="700"/>
              </a:spcAft>
            </a:pPr>
            <a:r>
              <a:rPr sz="1350" b="1" i="0">
                <a:solidFill>
                  <a:srgbClr val="2A2622"/>
                </a:solidFill>
                <a:latin typeface="Calibri"/>
              </a:rPr>
              <a:t>Week 3 exit criteria:</a:t>
            </a:r>
            <a:r>
              <a:rPr sz="1350" b="0" i="0">
                <a:solidFill>
                  <a:srgbClr val="2A2622"/>
                </a:solidFill>
                <a:latin typeface="Calibri"/>
              </a:rPr>
              <a:t> before/after asset live, creator collab live, 100-unit batch packed, "GLOW" DM list 50+, ads account warmed (Pixel + WhatsApp catalog live), Day-15–20 optional ₹200/day boost on D17 reel (only if organic CTR ≥ 1.5%).</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WEEK 4 ("HOW DO I BUY?") — Days 22–30</a:t>
            </a:r>
          </a:p>
          <a:p>
            <a:r>
              <a:rPr sz="1200" i="1">
                <a:solidFill>
                  <a:srgbClr val="57504A"/>
                </a:solidFill>
                <a:latin typeface="Calibri"/>
              </a:rPr>
              <a:t>PART 4 — New Account Launch Strategy (Day 1 → Week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D22 (Mon) — REEL, Pillar 7: OBJECTION KILLER.</a:t>
            </a:r>
            <a:r>
              <a:rPr sz="1350" b="0" i="0">
                <a:solidFill>
                  <a:srgbClr val="2A2622"/>
                </a:solidFill>
                <a:latin typeface="Calibri"/>
              </a:rPr>
              <a:t> "Naya brand, pehli baar, tension?" — COD, open parcel, return, 4–6 week honest expectation. CTA: DM GLOW.</a:t>
            </a:r>
          </a:p>
          <a:p>
            <a:pPr>
              <a:spcAft>
                <a:spcPts val="400"/>
              </a:spcAft>
            </a:pPr>
            <a:r>
              <a:rPr sz="1350">
                <a:solidFill>
                  <a:srgbClr val="B44A2E"/>
                </a:solidFill>
                <a:latin typeface="Calibri"/>
              </a:rPr>
              <a:t>•  </a:t>
            </a:r>
            <a:r>
              <a:rPr sz="1350" b="1" i="0">
                <a:solidFill>
                  <a:srgbClr val="2A2622"/>
                </a:solidFill>
                <a:latin typeface="Calibri"/>
              </a:rPr>
              <a:t>D23 (Tue) — REEL, Pillar 3: 60-SEC ROUTINE.</a:t>
            </a:r>
            <a:r>
              <a:rPr sz="1350" b="0" i="0">
                <a:solidFill>
                  <a:srgbClr val="2A2622"/>
                </a:solidFill>
                <a:latin typeface="Calibri"/>
              </a:rPr>
              <a:t> "Subah ki 3-step routine — 60 second." (Face wash → serum → moisturizer/SPF.) CTA: save + DM.</a:t>
            </a:r>
          </a:p>
          <a:p>
            <a:pPr>
              <a:spcAft>
                <a:spcPts val="400"/>
              </a:spcAft>
            </a:pPr>
            <a:r>
              <a:rPr sz="1350">
                <a:solidFill>
                  <a:srgbClr val="B44A2E"/>
                </a:solidFill>
                <a:latin typeface="Calibri"/>
              </a:rPr>
              <a:t>•  </a:t>
            </a:r>
            <a:r>
              <a:rPr sz="1350" b="1" i="0">
                <a:solidFill>
                  <a:srgbClr val="2A2622"/>
                </a:solidFill>
                <a:latin typeface="Calibri"/>
              </a:rPr>
              <a:t>D24 (Wed) — REEL, Pillar 4: FIRST CUSTOMER UNBOXING.</a:t>
            </a:r>
            <a:r>
              <a:rPr sz="1350" b="0" i="0">
                <a:solidFill>
                  <a:srgbClr val="2A2622"/>
                </a:solidFill>
                <a:latin typeface="Calibri"/>
              </a:rPr>
              <a:t> Real buyer #1–10 films her parcel opening (incentive: free Face Wash mini + "your face on our page"). CTA: DM GLOW.</a:t>
            </a:r>
          </a:p>
          <a:p>
            <a:pPr>
              <a:spcAft>
                <a:spcPts val="400"/>
              </a:spcAft>
            </a:pPr>
            <a:r>
              <a:rPr sz="1350">
                <a:solidFill>
                  <a:srgbClr val="B44A2E"/>
                </a:solidFill>
                <a:latin typeface="Calibri"/>
              </a:rPr>
              <a:t>•  </a:t>
            </a:r>
            <a:r>
              <a:rPr sz="1350" b="1" i="0">
                <a:solidFill>
                  <a:srgbClr val="2A2622"/>
                </a:solidFill>
                <a:latin typeface="Calibri"/>
              </a:rPr>
              <a:t>D25 (Thu) — REEL, Pillar 2: MYTH.</a:t>
            </a:r>
            <a:r>
              <a:rPr sz="1350" b="0" i="0">
                <a:solidFill>
                  <a:srgbClr val="2A2622"/>
                </a:solidFill>
                <a:latin typeface="Calibri"/>
              </a:rPr>
              <a:t> "Vitamin C se chehra orange? Yeh myth kyun chalta hai." CTA: save.</a:t>
            </a:r>
          </a:p>
          <a:p>
            <a:pPr>
              <a:spcAft>
                <a:spcPts val="400"/>
              </a:spcAft>
            </a:pPr>
            <a:r>
              <a:rPr sz="1350">
                <a:solidFill>
                  <a:srgbClr val="B44A2E"/>
                </a:solidFill>
                <a:latin typeface="Calibri"/>
              </a:rPr>
              <a:t>•  </a:t>
            </a:r>
            <a:r>
              <a:rPr sz="1350" b="1" i="0">
                <a:solidFill>
                  <a:srgbClr val="2A2622"/>
                </a:solidFill>
                <a:latin typeface="Calibri"/>
              </a:rPr>
              <a:t>D26 (Fri) — REEL, Pillar 4: FIRST VIDEO REVIEW.</a:t>
            </a:r>
            <a:r>
              <a:rPr sz="1350" b="0" i="0">
                <a:solidFill>
                  <a:srgbClr val="2A2622"/>
                </a:solidFill>
                <a:latin typeface="Calibri"/>
              </a:rPr>
              <a:t> Real customer (Founding 100), week 1–2: "Maine socha naya brand = risk. Par COD + 2 hafte me fresh feel — repeat pakka." CTA: DM.</a:t>
            </a:r>
          </a:p>
          <a:p>
            <a:pPr>
              <a:spcAft>
                <a:spcPts val="400"/>
              </a:spcAft>
            </a:pPr>
            <a:r>
              <a:rPr sz="1350">
                <a:solidFill>
                  <a:srgbClr val="B44A2E"/>
                </a:solidFill>
                <a:latin typeface="Calibri"/>
              </a:rPr>
              <a:t>•  </a:t>
            </a:r>
            <a:r>
              <a:rPr sz="1350" b="1" i="0">
                <a:solidFill>
                  <a:srgbClr val="2A2622"/>
                </a:solidFill>
                <a:latin typeface="Calibri"/>
              </a:rPr>
              <a:t>D27 (Sat) — CAROUSEL, Pillar 7: "FOUNDING 100 — BOX ME KYA HAI."</a:t>
            </a:r>
            <a:r>
              <a:rPr sz="1350" b="0" i="0">
                <a:solidFill>
                  <a:srgbClr val="2A2622"/>
                </a:solidFill>
                <a:latin typeface="Calibri"/>
              </a:rPr>
              <a:t> 6 slides: what's in the box (serum + face wash mini + card with usage + WhatsApp support) → why 100 only → how to order (DM GLOW / WhatsApp) → COD line → testimonial quote → CTA.</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WEEK 4 ("HOW DO I BUY?") — Days 22–30</a:t>
            </a:r>
          </a:p>
          <a:p>
            <a:r>
              <a:rPr sz="1200" i="1">
                <a:solidFill>
                  <a:srgbClr val="57504A"/>
                </a:solidFill>
                <a:latin typeface="Calibri"/>
              </a:rPr>
              <a:t>PART 4 — New Account Launch Strategy (Day 1 → Week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D28 (Sun) — REEL, Pillar 1+6: COMMUNITY Q&amp;A.</a:t>
            </a:r>
            <a:r>
              <a:rPr sz="1350" b="0" i="0">
                <a:solidFill>
                  <a:srgbClr val="2A2622"/>
                </a:solidFill>
                <a:latin typeface="Calibri"/>
              </a:rPr>
              <a:t> "Aapne DM me pucha: raat ko kya lagana chahiye?" (Soft seed for Night Cream, Month 3 — no selling.) CTA: DM your question.</a:t>
            </a:r>
          </a:p>
          <a:p>
            <a:pPr>
              <a:spcAft>
                <a:spcPts val="400"/>
              </a:spcAft>
            </a:pPr>
            <a:r>
              <a:rPr sz="1350">
                <a:solidFill>
                  <a:srgbClr val="B44A2E"/>
                </a:solidFill>
                <a:latin typeface="Calibri"/>
              </a:rPr>
              <a:t>•  </a:t>
            </a:r>
            <a:r>
              <a:rPr sz="1350" b="1" i="0">
                <a:solidFill>
                  <a:srgbClr val="2A2622"/>
                </a:solidFill>
                <a:latin typeface="Calibri"/>
              </a:rPr>
              <a:t>D29 (Mon) — REEL, Pillar 6: MILESTONE + REFERRAL LAUNCH.</a:t>
            </a:r>
            <a:r>
              <a:rPr sz="1350" b="0" i="0">
                <a:solidFill>
                  <a:srgbClr val="2A2622"/>
                </a:solidFill>
                <a:latin typeface="Calibri"/>
              </a:rPr>
              <a:t> "Launch ka pehla hafte — aapne X orders kiye. Ab referral: do ₹100, lo ₹100." (Referral program formalized.) CTA: share your code.</a:t>
            </a:r>
          </a:p>
          <a:p>
            <a:pPr>
              <a:spcAft>
                <a:spcPts val="400"/>
              </a:spcAft>
            </a:pPr>
            <a:r>
              <a:rPr sz="1350">
                <a:solidFill>
                  <a:srgbClr val="B44A2E"/>
                </a:solidFill>
                <a:latin typeface="Calibri"/>
              </a:rPr>
              <a:t>•  </a:t>
            </a:r>
            <a:r>
              <a:rPr sz="1350" b="1" i="0">
                <a:solidFill>
                  <a:srgbClr val="2A2622"/>
                </a:solidFill>
                <a:latin typeface="Calibri"/>
              </a:rPr>
              <a:t>D30 (Tue) — REEL, Pillar 7: OFFER CLOSE + TEASE.</a:t>
            </a:r>
            <a:r>
              <a:rPr sz="1350" b="0" i="0">
                <a:solidFill>
                  <a:srgbClr val="2A2622"/>
                </a:solidFill>
                <a:latin typeface="Calibri"/>
              </a:rPr>
              <a:t> "Founding 100 me sirf X seats bachi — phir regular price. Aur next? Sunscreen." (Real stock count; if 100 sold out, this becomes "batch 2 next month — list me jao.") CTA: DM GLOW.</a:t>
            </a:r>
          </a:p>
          <a:p>
            <a:pPr>
              <a:spcAft>
                <a:spcPts val="700"/>
              </a:spcAft>
            </a:pPr>
            <a:r>
              <a:rPr sz="1350" b="1" i="0">
                <a:solidFill>
                  <a:srgbClr val="2A2622"/>
                </a:solidFill>
                <a:latin typeface="Calibri"/>
              </a:rPr>
              <a:t>Day 30 exit criteria (the real KPIs):</a:t>
            </a:r>
            <a:r>
              <a:rPr sz="1350" b="0" i="0">
                <a:solidFill>
                  <a:srgbClr val="2A2622"/>
                </a:solidFill>
                <a:latin typeface="Calibri"/>
              </a:rPr>
              <a:t> 1,000–1,500 followers, </a:t>
            </a:r>
            <a:r>
              <a:rPr sz="1350" b="1" i="0">
                <a:solidFill>
                  <a:srgbClr val="2A2622"/>
                </a:solidFill>
                <a:latin typeface="Calibri"/>
              </a:rPr>
              <a:t>60–100 orders</a:t>
            </a:r>
            <a:r>
              <a:rPr sz="1350" b="0" i="0">
                <a:solidFill>
                  <a:srgbClr val="2A2622"/>
                </a:solidFill>
                <a:latin typeface="Calibri"/>
              </a:rPr>
              <a:t> (target: 100 = Founding 100 sold out), 15+ real UGC assets, 800+ "GLOW" DMs handled, WhatsApp list 300+, 1 creator collab + 5 more signed, ads running ₹500/day since ~Day 21 with ≥1 creative showing ATC. If Founding 100 not sold by Day 30 → diagnose DM pipeline (90% of the time it's reply speed or COD clarity), extend "batch 2 waitlist," DO NOT fake a "SOLD OUT."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5</a:t>
            </a:r>
          </a:p>
        </p:txBody>
      </p:sp>
      <p:sp>
        <p:nvSpPr>
          <p:cNvPr id="4" name="TextBox 3"/>
          <p:cNvSpPr txBox="1"/>
          <p:nvPr/>
        </p:nvSpPr>
        <p:spPr>
          <a:xfrm>
            <a:off x="914400" y="2377440"/>
            <a:ext cx="10362895" cy="1645920"/>
          </a:xfrm>
          <a:prstGeom prst="rect">
            <a:avLst/>
          </a:prstGeom>
          <a:noFill/>
        </p:spPr>
        <p:txBody>
          <a:bodyPr wrap="square">
            <a:spAutoFit/>
          </a:bodyPr>
          <a:lstStyle/>
          <a:p>
            <a:r>
              <a:rPr sz="2400" b="1">
                <a:solidFill>
                  <a:srgbClr val="8F3A22"/>
                </a:solidFill>
                <a:latin typeface="Calibri"/>
              </a:rPr>
              <a:t>§5 THE 30-DAY DAILY CONTENT CALENDAR — RANGAT NATURALS (DAYS 1–10)</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30-Day Daily Content Calendar (Days 1–10)</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30-Day Daily Content Calendar (Days 1–10)</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How to use:</a:t>
            </a:r>
            <a:r>
              <a:rPr sz="1350" b="0" i="0">
                <a:solidFill>
                  <a:srgbClr val="2A2622"/>
                </a:solidFill>
                <a:latin typeface="Calibri"/>
              </a:rPr>
              <a:t> This is the shoot bible. Each day = 1 primary asset (posted) + that day's Stories (in </a:t>
            </a:r>
            <a:r>
              <a:rPr sz="1200" b="0" i="0">
                <a:solidFill>
                  <a:srgbClr val="8F3A22"/>
                </a:solidFill>
                <a:latin typeface="Consolas"/>
              </a:rPr>
              <a:t>13-stories-and-profile.md</a:t>
            </a:r>
            <a:r>
              <a:rPr sz="1350" b="0" i="0">
                <a:solidFill>
                  <a:srgbClr val="2A2622"/>
                </a:solidFill>
                <a:latin typeface="Calibri"/>
              </a:rPr>
              <a:t>). Languages: Hinglish default, Gujarati where marked (G). Shoot days: Day 1 session covers Days 1–7 assets; Day 8 session covers Days 8–14 (see </a:t>
            </a:r>
            <a:r>
              <a:rPr sz="1200" b="0" i="0">
                <a:solidFill>
                  <a:srgbClr val="8F3A22"/>
                </a:solidFill>
                <a:latin typeface="Consolas"/>
              </a:rPr>
              <a:t>21-production-system.md</a:t>
            </a:r>
            <a:r>
              <a:rPr sz="1350" b="0" i="0">
                <a:solidFill>
                  <a:srgbClr val="2A2622"/>
                </a:solidFill>
                <a:latin typeface="Calibri"/>
              </a:rPr>
              <a:t>).</a:t>
            </a:r>
          </a:p>
          <a:p>
            <a:pPr>
              <a:spcAft>
                <a:spcPts val="700"/>
              </a:spcAft>
            </a:pPr>
            <a:r>
              <a:rPr sz="1350" b="1" i="0">
                <a:solidFill>
                  <a:srgbClr val="2A2622"/>
                </a:solidFill>
                <a:latin typeface="Calibri"/>
              </a:rPr>
              <a:t>Posting time:</a:t>
            </a:r>
            <a:r>
              <a:rPr sz="1350" b="0" i="0">
                <a:solidFill>
                  <a:srgbClr val="2A2622"/>
                </a:solidFill>
                <a:latin typeface="Calibri"/>
              </a:rPr>
              <a:t> 7:30–9:00 PM IST (weekdays); 10:00–11:00 AM (weekends). YouTube Shorts upload of top 3 reels: every Friday (titles from </a:t>
            </a:r>
            <a:r>
              <a:rPr sz="1200" b="0" i="0">
                <a:solidFill>
                  <a:srgbClr val="8F3A22"/>
                </a:solidFill>
                <a:latin typeface="Consolas"/>
              </a:rPr>
              <a:t>14-seo-and-hashtags.md</a:t>
            </a:r>
            <a:r>
              <a:rPr sz="1350" b="0" i="0">
                <a:solidFill>
                  <a:srgbClr val="2A2622"/>
                </a:solidFill>
                <a:latin typeface="Calibri"/>
              </a:rPr>
              <a: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 (Mon) — REEL · 30–45s · Pillar 6: FOUNDER INTRO</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Instagram Reel → Facebook (crosspost)</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Honest founder intro, no polish. "I'm starting a skincare brand from scratch — and I'll show you everything."</a:t>
            </a:r>
          </a:p>
          <a:p>
            <a:pPr>
              <a:spcAft>
                <a:spcPts val="400"/>
              </a:spcAft>
            </a:pPr>
            <a:r>
              <a:rPr sz="1350">
                <a:solidFill>
                  <a:srgbClr val="B44A2E"/>
                </a:solidFill>
                <a:latin typeface="Calibri"/>
              </a:rPr>
              <a:t>•  </a:t>
            </a:r>
            <a:r>
              <a:rPr sz="1350" b="1" i="0">
                <a:solidFill>
                  <a:srgbClr val="2A2622"/>
                </a:solidFill>
                <a:latin typeface="Calibri"/>
              </a:rPr>
              <a:t>Hook (frame 1, spoken + text):</a:t>
            </a:r>
            <a:r>
              <a:rPr sz="1350" b="0" i="0">
                <a:solidFill>
                  <a:srgbClr val="2A2622"/>
                </a:solidFill>
                <a:latin typeface="Calibri"/>
              </a:rPr>
              <a:t> "Main ek naye skincare brand ki shuruat kar rahi hu — zero followers, zero budget. Aur main is series me SAB dikhau gi, bilkul asli me."</a:t>
            </a:r>
          </a:p>
          <a:p>
            <a:pPr>
              <a:spcAft>
                <a:spcPts val="400"/>
              </a:spcAft>
            </a:pPr>
            <a:r>
              <a:rPr sz="1350">
                <a:solidFill>
                  <a:srgbClr val="B44A2E"/>
                </a:solidFill>
                <a:latin typeface="Calibri"/>
              </a:rPr>
              <a:t>•  </a:t>
            </a:r>
            <a:r>
              <a:rPr sz="1350" b="1" i="0">
                <a:solidFill>
                  <a:srgbClr val="2A2622"/>
                </a:solidFill>
                <a:latin typeface="Calibri"/>
              </a:rPr>
              <a:t>Video/image concept:</a:t>
            </a:r>
            <a:r>
              <a:rPr sz="1350" b="0" i="0">
                <a:solidFill>
                  <a:srgbClr val="2A2622"/>
                </a:solidFill>
                <a:latin typeface="Calibri"/>
              </a:rPr>
              <a:t> Founder, chest-up, window light, plain wall or bathroom. Cut 1: face + intro. Cut 2: hand holds RANGAT box (first batch). Cut 3: quick flashes — label sketch, 20 tester names on a whiteboard, packing table. End: founder faces camera.</a:t>
            </a:r>
          </a:p>
          <a:p>
            <a:pPr>
              <a:spcAft>
                <a:spcPts val="400"/>
              </a:spcAft>
            </a:pPr>
            <a:r>
              <a:rPr sz="1350">
                <a:solidFill>
                  <a:srgbClr val="B44A2E"/>
                </a:solidFill>
                <a:latin typeface="Calibri"/>
              </a:rPr>
              <a:t>•  </a:t>
            </a:r>
            <a:r>
              <a:rPr sz="1350" b="1" i="0">
                <a:solidFill>
                  <a:srgbClr val="2A2622"/>
                </a:solidFill>
                <a:latin typeface="Calibri"/>
              </a:rPr>
              <a:t>Script (VO/live):</a:t>
            </a:r>
            <a:r>
              <a:rPr sz="1350" b="0" i="0">
                <a:solidFill>
                  <a:srgbClr val="2A2622"/>
                </a:solidFill>
                <a:latin typeface="Calibri"/>
              </a:rPr>
              <a:t> "Hi, main [Name]. Main Gujarat se hoon, aur maine RANGAT NATURALS shuru kiya hai — Indian skin ke liye skincare. Is account par is chand me aap dikhoge: humne formula kaise choose kiya, 20 aahaiyon ne 4 hafte test kaise kiya, aur asli results kya aaye — filter nahi, fake photo nahi. Ek cheez promise karti hoon: jo dikhaayenge, wohi rahega. 30 din ke saath chalo. Pehla episode: hum kaun hain, aur kyun."</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[0-2s] "Zero followers. Ek sachchi shuruwat." → [mid] "20 testers · 4 hafte · 1 sachcha result" → [end] "RANGAT NATURALS — Asli skin. Asli result."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 (Mon) — REEL · 30–45s · Pillar 6: FOUNDER INTRO</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"Ek naya Indian skincare brand. Ek honest promise: jo dikhaayenge, wohi rahega. Pehla episode: hum kaun hain. #RangatNaturals #IndianSkincare #Ahmedabad"</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"Follow karo — kal: 40 degree me aapki skin kar rahi hai kya?"</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Identity + trust anchor (founder face) + series promise.</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All — awareness cast. Especially 20–35 Gujarat.</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None directly (deliberate). Indirect: every future DM starts from this trust.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 (Tue) — REEL · 25–35s · Pillar 1: PROBLEM (no product)</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The 40°/monsoon/AC trinity problem — the single most relatable Gujarat skin complaint.</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"Gujarat me mausam dekho. Aapki skin abhi kya kar rahi hai — aapko pata hai?"</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3 quick location cuts (or 3 outfit/lighting changes to simulate): (1) outside/bright — sweat, shine; (2) AC room — face tight/dull; (3) mirror selfie — "thaka hua" look. Founder talks over B-roll.</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"Bahar 40 degree — oil, shine, pores wide. Ghar ka AC — tightness, dry patches. Aur dono ke beech ek look jo har mirror me dikhta hai — thoda dull, thoda 'brown'. Yeh teeno cheezein aapki skin roz saamne aati hain. Aur yeh teeno fixable hain — sahi routine se. Agle din se hum ise step by step samjhogi. Aapka sabse bada skin problem kya hai? Comment me likho — hum padh rahe hain."</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[hook] "40° bahar. AC andar. Skin beech me." → "Oil · Tightness · Dullness" → "Fixable hai. Kal se."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 (Tue) — REEL · 25–35s · Pillar 1: PROBLEM (no product)</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"Indian skin ko Indian mausam samajhna padta hai. Aapka #1 skin issue kya hai — oily, dull, ya dono? Comment karo. #Gujarat #IndianSkin #MonsoonSkincare"</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"Comment karo apna skin type: oily / dry / normal / confused 😅"</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Attention + comment velocity (algorithm) + pain-point harvesting.</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Women 20–35, Gujarat, oily/dull skin.</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Collect real pain points → tomorrow's DM follow-ups + future content. No selling.</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3 (Wed) — CAROUSEL · 6 slides · Pillar 2: EDUCATION</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 FB</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Save-bait list: "5 cheezein jo aapki skin ko ROZ kharab kar rahi hain (#3 sab common hai)."</a:t>
            </a:r>
          </a:p>
          <a:p>
            <a:pPr>
              <a:spcAft>
                <a:spcPts val="400"/>
              </a:spcAft>
            </a:pPr>
            <a:r>
              <a:rPr sz="1350">
                <a:solidFill>
                  <a:srgbClr val="B44A2E"/>
                </a:solidFill>
                <a:latin typeface="Calibri"/>
              </a:rPr>
              <a:t>•  </a:t>
            </a:r>
            <a:r>
              <a:rPr sz="1350" b="1" i="0">
                <a:solidFill>
                  <a:srgbClr val="2A2622"/>
                </a:solidFill>
                <a:latin typeface="Calibri"/>
              </a:rPr>
              <a:t>Hook (cover slide):</a:t>
            </a:r>
            <a:r>
              <a:rPr sz="1350" b="0" i="0">
                <a:solidFill>
                  <a:srgbClr val="2A2622"/>
                </a:solidFill>
                <a:latin typeface="Calibri"/>
              </a:rPr>
              <a:t> "5 daily skin-killers — #3 aap bhi karti ho."</a:t>
            </a:r>
          </a:p>
          <a:p>
            <a:pPr>
              <a:spcAft>
                <a:spcPts val="400"/>
              </a:spcAft>
            </a:pPr>
            <a:r>
              <a:rPr sz="1350">
                <a:solidFill>
                  <a:srgbClr val="B44A2E"/>
                </a:solidFill>
                <a:latin typeface="Calibri"/>
              </a:rPr>
              <a:t>•  </a:t>
            </a:r>
            <a:r>
              <a:rPr sz="1350" b="1" i="0">
                <a:solidFill>
                  <a:srgbClr val="2A2622"/>
                </a:solidFill>
                <a:latin typeface="Calibri"/>
              </a:rPr>
              <a:t>Concept (images):</a:t>
            </a:r>
            <a:r>
              <a:rPr sz="1350" b="0" i="0">
                <a:solidFill>
                  <a:srgbClr val="2A2622"/>
                </a:solidFill>
                <a:latin typeface="Calibri"/>
              </a:rPr>
              <a:t> 1 clean text card + 5 photo cards (real shots: phone in hand near face, window light on face, tap water, sunscreen on palm, mirror). Cream/terracotta palette, big type.</a:t>
            </a:r>
          </a:p>
          <a:p>
            <a:pPr>
              <a:spcAft>
                <a:spcPts val="400"/>
              </a:spcAft>
            </a:pPr>
            <a:r>
              <a:rPr sz="1350">
                <a:solidFill>
                  <a:srgbClr val="B44A2E"/>
                </a:solidFill>
                <a:latin typeface="Calibri"/>
              </a:rPr>
              <a:t>•  </a:t>
            </a:r>
            <a:r>
              <a:rPr sz="1350" b="1" i="0">
                <a:solidFill>
                  <a:srgbClr val="2A2622"/>
                </a:solidFill>
                <a:latin typeface="Calibri"/>
              </a:rPr>
              <a:t>Slides:</a:t>
            </a:r>
            <a:r>
              <a:rPr sz="1350" b="0" i="0">
                <a:solidFill>
                  <a:srgbClr val="2A2622"/>
                </a:solidFill>
                <a:latin typeface="Calibri"/>
              </a:rPr>
              <a:t> ① Cover: "5 daily skin-killers — #3 aap bhi karti ho." ② "UV window aur screens se bhi aata hai — ghar baithe bhi." ③ "Apna chehra din me 15+ baar chhuna — phone touch kiya? Ab chehra bhi." ④ "Garam paani + strong soap = skin barrier weak. Paani garam nahi, halka gunguna." ⑤ "SPF sirf 'bahar jaane par'? Indoor UV cumulative hota hai." ⑥ "Save karo. Aapka #6 kya hai? Comment karo + follow karo."</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N/A (carousel). Add a 20-sec Reel version: "Agar aapme 2 se zyada ho toh aapki skin ko routine chahiye, products nahi."</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As per slides (each = 1 idea, ≤12 words).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3 (Wed) — CAROUSEL · 6 slides · Pillar 2: EDUCATION</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"Zyada tar skin problems kisi cream ka nahi hona nahi — daily habits se aati hain. Aap kis number pe rahi ho? 1 se 5 comment karo. #SkincareRoutineIndia #SkincareTips #IndianSkincare"</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"Save karo + apna number comment karo."</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Saves (ranking signal) + authority ("they know").</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20–40, routine-curious, all skin types.</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Saved posts resurface in user's feed for weeks; commenters get DM'd (pipeline).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4 (Thu) — REEL · 30–40s · Pillar 2: MYTH VS REALITY</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 → (save for YT Shorts later: title "100% herbal cream kya safe hai?")</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"100% herbal = safe?" — the myth every Indian buyer has, attacked honestly.</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"'100% herbal' likha hai toh lagao? Pehle yeh sach jano."</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Founder to camera; B-roll: generic herbal jar (no brand visible), ingredient card, hand with a drop of serum. Split-screen "MYTH / REALITY" graphic for 2 sec.</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"Myth: herbal matlab safe, chemical matlab nuksaan. Reality: haldi, amla, koi bhi natural ingredient — galat concentration me ya galat skin par — irritation de sakta hai. Aur 'no chemicals' possible nahi bhi hai — water bhi chemical hai. Asli baat yeh hai: ingredient + concentration + aapka skin type. Teeno match kare toh herbal bhi kaam karta hai, scientific bhi. Yehi soch ke humne apna formula choose kiya. Kal: kyun exactly wahi choose kiya."</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"MYTH: Herbal = Safe" → "REALITY: Concentration + Skin Type = Key" → "H2O bhi chemical hai 😄"</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"Aap kya check karti ho — brand ka naam ya ingredient list? Hum ingredient se shuru karte hain. #SkincareMyths #SkincareEducation"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4 (Thu) — REEL · 30–40s · Pillar 2: MYTH VS REALITY</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"Follow karo — kal: humara 'Gujarati ghar' reel aayega."</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Authority + differentiation (neither "totka-only" nor "chemical-scare").</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25–45, ingredient-curious, skeptical of both extremes.</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Pre-frames Pillar 3 transparency (tomorrow's brand story).</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5 (Fri) — REEL · 25–40s · Pillar 6+1: RELATABLE (G) — SHAREABLE</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 (this one runs on shares)</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Maa vs modern skincare skit — the Gujarati home version. Delivers the positioning as a joke.</a:t>
            </a:r>
          </a:p>
          <a:p>
            <a:pPr>
              <a:spcAft>
                <a:spcPts val="400"/>
              </a:spcAft>
            </a:pPr>
            <a:r>
              <a:rPr sz="1350">
                <a:solidFill>
                  <a:srgbClr val="B44A2E"/>
                </a:solidFill>
                <a:latin typeface="Calibri"/>
              </a:rPr>
              <a:t>•  </a:t>
            </a:r>
            <a:r>
              <a:rPr sz="1350" b="1" i="0">
                <a:solidFill>
                  <a:srgbClr val="2A2622"/>
                </a:solidFill>
                <a:latin typeface="Calibri"/>
              </a:rPr>
              <a:t>Hook (G + Hindi mix):</a:t>
            </a:r>
            <a:r>
              <a:rPr sz="1350" b="0" i="0">
                <a:solidFill>
                  <a:srgbClr val="2A2622"/>
                </a:solidFill>
                <a:latin typeface="Calibri"/>
              </a:rPr>
              <a:t> "Gujarati ghar me pehli baar 'skincare' shuru ki? Watch this."</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Two-character skit (founder + mom/friend as mom). Kitchen or living room. Natural light. Ends with founder to camera.</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[Skit] Founder: "Maa, main ab skincare karti hoon." Mom: "Kya karta hai yeh cream? Nani ke waqt humara chehra kharab tha?" Founder: "Par nani bhi toh haldi ubtan lagati thi!" Mom: "Haan! Wahi lagao." [Cut — founder to camera, smiling] "Aur humne exactly wahi socha: nani ki samajh + aaj ka science. Ghar ke totke me samajh hai — par 2026 me sirf ubtan kaafi nahi, na 3000 wali imported routine. RANGAT ka idea yahi hai: Indian skin ki samajh, sahi ingredient, aam daam. Aaj se is page par dono dikhenge."</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"Nani: Wahi lagao 😂" → "Totke ki samajh + science ka formula" → "RANGAT NATURALS"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5 (Fri) — REEL · 25–40s · Pillar 6+1: RELATABLE (G) — SHAREABLE</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"Nani ne sikhaya, science ne proof diya. 😄 Aapke ghar me kaunsi school jeettī hai — totka wala ya routine wala? #Gujarat #DesiSkincare #GujaratiHumor"</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"Share karo us dost ko jisne abhi tak kaha hai — 'cream kya hai'."</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Shares (viral reach, local culture) + positioning statement.</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20–40, Gujarati + desi-identifying; secondaries (friends/family) via shares.</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None direct. This is the "brand known in the city" reel — it makes the account </a:t>
            </a:r>
            <a:r>
              <a:rPr sz="1350" b="0" i="1">
                <a:solidFill>
                  <a:srgbClr val="2A2622"/>
                </a:solidFill>
                <a:latin typeface="Calibri"/>
              </a:rPr>
              <a:t>recognizable</a:t>
            </a:r>
            <a:r>
              <a:rPr sz="1350" b="0" i="0">
                <a:solidFill>
                  <a:srgbClr val="2A2622"/>
                </a:solidFill>
                <a:latin typeface="Calibri"/>
              </a:rPr>
              <a:t> in Ahmedabad feeds.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6 (Sat) — REEL · 40–50s · Pillar 6: BRAND STORY / TEASER</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"Humne 3 mahine sirf ek serum dhoondha" — behind the brand: how the formula was chosen.</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"Ek chhota brand. Ek bada sawal: Indian skin par kaunsa Vitamin C sach me kaam karega?"</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Montage: formula sheets/labels (blurred where needed), whiteboard with concentration options, 20 tester names board, lab photos/videos from the certified manufacturer (with permission), packing table. Founder VO over it, ends on camera.</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"Hum RANGAT NATURALS — hum manufacturer nahi hain, hum ek brand hain. Humne formula choose kiya, concentration test ki, aur 20 aahaiyon par 4 hafte ka trial chala — Ahmedabad me. Kyun? Kyunki 'imported' routine Indian mausam me toot jaata hai. 3 mahine humne sirf ek serum dhoondha — aisa jo yahan ki skin par, yahan ke mausam me kaam kare. Aur mil gaya. Kal: humne kyun choose kiya exactly 10% Vitamin C. Follow karo — is series ka aakhri hissa launch hai."</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"3 mahine. 1 serum. 10000+ sawaal." → "20 testers · 4 hafte · Ahmedabad" → "Hum manufacturer nahi. Hum RANGAT hain."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6 (Sat) — REEL · 40–50s · Pillar 6: BRAND STORY / TEASER</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"Behind the brand: kaise, kyun, kiski madad se. Part 2 kal. #RangatNaturals #SkincareBrand #BehindTheBrand"</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"Follow karo — Sunday: aapke sawaal, hamare jawaab (Stories se aaye)."</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Brand substance + proof-tease + "launch is coming" planting.</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Week-1 followers (200–400).</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Creates anticipation; "launch" word drops first time (no offer yet).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7 (Sun) — REEL · 40–60s · Pillar 1+6: Q&amp;A (community) + heavy Story day</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+ 4–5 Stories</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"Aapne puche 4 sawaal — jinke jawaab 90% pages nahi dete." (Sourced from Day 2–6 comments/DMs — real questions only.)</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"Aapne puche 4 sawaal. Is hafte ke 4 jawaab."</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Fast-cut: question as on-screen text (screenshot of the actual comment — permission where face visible) → founder answers in 12–15 sec. 4 rounds.</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Q1 "Oily skin pe bhi moisturizer?" → "Haan. Gel type. Skin ko paani chahiye, oil nahi — aur bina hydration ke skin aur zyada oil banati hai." Q2 "Vitamin C subah ya raat?" → "Subah best hai — aur SPF ke saath. Kal iska full routine dikhau gi." Q3 "Kitne din me result dikhega?" → "Fair jawaab: 4–6 hafte daily use. Koi asli brand 3 din ka wada nahi karta — jo kare, wahan se bhaago." Q4 "COD milega?" → "Haan. Pehli baar kisi naye brand se lete ho? Yeh sabse zaroori line hai."</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each question → one-line answer. End: "Naya sawaal? DM karo."</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7 (Sun) — REEL · 40–60s · Pillar 1+6: Q&amp;A (community) + heavy Story day</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"Aapke sawaal = hamara content. Aur haan — COD, pehle din se. #SkincareFAQ #IndianSkincare #RangatNaturals"</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"DM karo apna sawaal — best 4 agle Sunday answer honge."</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Community + FAQ (pre-kill objections) + poll data collection.</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Existing followers; commenters.</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COD answer de-risks the first purchase </a:t>
            </a:r>
            <a:r>
              <a:rPr sz="1350" b="0" i="1">
                <a:solidFill>
                  <a:srgbClr val="2A2622"/>
                </a:solidFill>
                <a:latin typeface="Calibri"/>
              </a:rPr>
              <a:t>before</a:t>
            </a:r>
            <a:r>
              <a:rPr sz="1350" b="0" i="0">
                <a:solidFill>
                  <a:srgbClr val="2A2622"/>
                </a:solidFill>
                <a:latin typeface="Calibri"/>
              </a:rPr>
              <a:t> it's offered; Q3 sets honest expectation (fewer returns later).</a:t>
            </a:r>
          </a:p>
          <a:p>
            <a:pPr>
              <a:spcAft>
                <a:spcPts val="400"/>
              </a:spcAft>
            </a:pPr>
            <a:r>
              <a:rPr sz="1350">
                <a:solidFill>
                  <a:srgbClr val="B44A2E"/>
                </a:solidFill>
                <a:latin typeface="Calibri"/>
              </a:rPr>
              <a:t>•  </a:t>
            </a:r>
            <a:r>
              <a:rPr sz="1350" b="1" i="0">
                <a:solidFill>
                  <a:srgbClr val="2A2622"/>
                </a:solidFill>
                <a:latin typeface="Calibri"/>
              </a:rPr>
              <a:t>Stories (4–5):</a:t>
            </a:r>
            <a:r>
              <a:rPr sz="1350" b="0" i="0">
                <a:solidFill>
                  <a:srgbClr val="2A2622"/>
                </a:solidFill>
                <a:latin typeface="Calibri"/>
              </a:rPr>
              <a:t> ① Poll: "Aapki skin: Oily ☑️ / Dry ☑️" ② Question box: "Skin ke baare me kuch bhi puchho" ③ Founder photo + "hum kaun hain" ④ Teaser: "Ek product launch ho raha hai… guess karo kya hai? (serum? cream?)" ⑤ DM CTA: "GLOW likh kar DM karo — launch list me add karte hain."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8 (Mon) — REEL · 35–45s · Pillar 3: 🌟 HERO PRODUCT INTRO (first product post)</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 → (add to WhatsApp catalog same day)</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"Mila karo: RANGAT Vitamin C Serum 10%." First-ever product reveal — treat it like a meeting, not a TVC.</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"Yeh woh serum hai jo humne 3 mahine dhoondha. Milti hai — RANGAT Vitamin C 10%."</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Product on wooden/terracotta surface, hand enters, drops 2–3 drops on palm (texture shot, close-up), spreads on back of hand, shows label + ingredient card. Founder appears last 10 sec.</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"Mila karo — RANGAT Vitamin C Serum, 10%. Yeh kya karta hai, seedhe shabdon me: regular use me skin ko fresh aur bright </a:t>
            </a:r>
            <a:r>
              <a:rPr sz="1350" b="0" i="1">
                <a:solidFill>
                  <a:srgbClr val="2A2622"/>
                </a:solidFill>
                <a:latin typeface="Calibri"/>
              </a:rPr>
              <a:t>dikhane</a:t>
            </a:r>
            <a:r>
              <a:rPr sz="1350" b="0" i="0">
                <a:solidFill>
                  <a:srgbClr val="2A2622"/>
                </a:solidFill>
                <a:latin typeface="Calibri"/>
              </a:rPr>
              <a:t> me help karta hai, tone-look ko even </a:t>
            </a:r>
            <a:r>
              <a:rPr sz="1350" b="0" i="1">
                <a:solidFill>
                  <a:srgbClr val="2A2622"/>
                </a:solidFill>
                <a:latin typeface="Calibri"/>
              </a:rPr>
              <a:t>dikhane</a:t>
            </a:r>
            <a:r>
              <a:rPr sz="1350" b="0" i="0">
                <a:solidFill>
                  <a:srgbClr val="2A2622"/>
                </a:solidFill>
                <a:latin typeface="Calibri"/>
              </a:rPr>
              <a:t> me. Kya nahi karta: 3 din me koi miracle nahi. 4–6 hafte daily use — tab tak results har kisi par alag hote hain. Humari 20 testers ne 4 hafte lagaya — unki asli photos aapne dekh li hain. Aur jo sabse zaroori: launch me pehli 100 orders me free Face Wash mini + free shipping + COD. Is launch me pehla number lena ho — GLOW likho DM me."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8 (Mon) — REEL · 35–45s · Pillar 3: 🌟 HERO PRODUCT INTRO (first product post)</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[hook] "3 mahine ka dhoondna. 1 serum." → "10% Vitamin C · Indian skin ke liye" → "4–6 hafte · daily use · results vary" → "Launch offer: Pehli 100 orders me FREE Face Wash mini + FREE shipping + COD"</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"Mila karo: RANGAT Vitamin C Serum 10%. Dullness, tan-look, uneven tone-look ke liye — 4–6 hafte ke honest timeline ke saath. Launch: pehli 100 orders. GLOW likho DM me. #VitaminCSerum #SkincareIndia #RangatNaturals"</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"DM karo 'GLOW' — launch list me pehle aana."</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Product anchor post; defines the hero.</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Followers who saved Day 3/10 content + commenters.</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FIRST soft offer capture — builds the "GLOW" waitlist that becomes launch-day conversion.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9 (Tue) — REEL · 30–40s · Pillar 2+3: HOW-TO (save-bait)</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 → queue for YT Shorts (title: "Vitamin C serum kaise use kare — step by step")</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"Vitamin C serum 99% log galat tarah se lagate hain."</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"Agar aap serum bheege chehre par lagati ho — ruko. 99% log yahi galti karte hain."</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Hands-only demo (clean, bright): dry face → pump 3–4 drops → 5 points (forehead, cheeks, nose, chin) → light pat → wait 30 sec → moisturizer → SPF. Quick cuts, 4 sec each step.</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"Step 1: Chehra saaf aur KHURRAK ho — bheege chehre par nahi. Step 2: 3–4 drops, haath ke upar. Zyada drops nahi — zyada matlab behtar nahi. Step 3: Pat karo, mat rub karo. 30 second raho. Step 4: Moisturizer. Step 5: SPF — subah zaroori, serum ke saath duo yehi hai. Aur ek warning: strong acids (AHA/BHA) ke saath same time par mat milao. Yeh 4 cheezein yaad rahi toh serum apna kaam karega. Save karo — subah ki routine me kaam aayega."</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"GALATI: Bheege chehre par" → "1. Khurrak chehra 2. 3–4 drops 3. Pat, 4. Moisturizer 5. SPF ☀️" → "Acids ke saath mat milao."</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9 (Tue) — REEL · 30–40s · Pillar 2+3: HOW-TO (save-bait)</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"Serum sasta nahi padna chahiye — iska istemal sahi hona chahiye. 5 steps, 40 second. Save karo. #VitaminCSerum #SkincareRoutine #HowToUse"</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"Save karo + GLOW DM me (launch list)."</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Saves + "they teach properly" + search capture (YT/IG search: "vitamin c serum kaise use kare").</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Serum buyers (active searchers) + waitlist.</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Waitlist nurture; search traffic → profile → DM.</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10 (Wed) — CAROUSEL · 7 slides · Pillar 2: INGREDIENT DEEP DIVE</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 FB</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"Vitamin C serum actually kya karta hai? (60-second science, simple words)."</a:t>
            </a:r>
          </a:p>
          <a:p>
            <a:pPr>
              <a:spcAft>
                <a:spcPts val="400"/>
              </a:spcAft>
            </a:pPr>
            <a:r>
              <a:rPr sz="1350">
                <a:solidFill>
                  <a:srgbClr val="B44A2E"/>
                </a:solidFill>
                <a:latin typeface="Calibri"/>
              </a:rPr>
              <a:t>•  </a:t>
            </a:r>
            <a:r>
              <a:rPr sz="1350" b="1" i="0">
                <a:solidFill>
                  <a:srgbClr val="2A2622"/>
                </a:solidFill>
                <a:latin typeface="Calibri"/>
              </a:rPr>
              <a:t>Hook (cover):</a:t>
            </a:r>
            <a:r>
              <a:rPr sz="1350" b="0" i="0">
                <a:solidFill>
                  <a:srgbClr val="2A2622"/>
                </a:solidFill>
                <a:latin typeface="Calibri"/>
              </a:rPr>
              <a:t> "Vitamin C serum kya karta hai — sach me? (60 sec science)"</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Clean cards, cream background, big type, one fact per slide, a texture photo on slide 4.</a:t>
            </a:r>
          </a:p>
          <a:p>
            <a:pPr>
              <a:spcAft>
                <a:spcPts val="400"/>
              </a:spcAft>
            </a:pPr>
            <a:r>
              <a:rPr sz="1350">
                <a:solidFill>
                  <a:srgbClr val="B44A2E"/>
                </a:solidFill>
                <a:latin typeface="Calibri"/>
              </a:rPr>
              <a:t>•  </a:t>
            </a:r>
            <a:r>
              <a:rPr sz="1350" b="1" i="0">
                <a:solidFill>
                  <a:srgbClr val="2A2622"/>
                </a:solidFill>
                <a:latin typeface="Calibri"/>
              </a:rPr>
              <a:t>Slides:</a:t>
            </a:r>
            <a:r>
              <a:rPr sz="1350" b="0" i="0">
                <a:solidFill>
                  <a:srgbClr val="2A2622"/>
                </a:solidFill>
                <a:latin typeface="Calibri"/>
              </a:rPr>
              <a:t> ① Cover: "Vitamin C kya karta hai? (60 sec)" ② "Skin ko UV/pollution se aane wale 'dull-look' ko bright </a:t>
            </a:r>
            <a:r>
              <a:rPr sz="1350" b="0" i="1">
                <a:solidFill>
                  <a:srgbClr val="2A2622"/>
                </a:solidFill>
                <a:latin typeface="Calibri"/>
              </a:rPr>
              <a:t>dikhane</a:t>
            </a:r>
            <a:r>
              <a:rPr sz="1350" b="0" i="0">
                <a:solidFill>
                  <a:srgbClr val="2A2622"/>
                </a:solidFill>
                <a:latin typeface="Calibri"/>
              </a:rPr>
              <a:t> me help karta hai." ③ "Regular use me tone-look ko even </a:t>
            </a:r>
            <a:r>
              <a:rPr sz="1350" b="0" i="1">
                <a:solidFill>
                  <a:srgbClr val="2A2622"/>
                </a:solidFill>
                <a:latin typeface="Calibri"/>
              </a:rPr>
              <a:t>dikhane</a:t>
            </a:r>
            <a:r>
              <a:rPr sz="1350" b="0" i="0">
                <a:solidFill>
                  <a:srgbClr val="2A2622"/>
                </a:solidFill>
                <a:latin typeface="Calibri"/>
              </a:rPr>
              <a:t> me help karta hai — dark spots ka </a:t>
            </a:r>
            <a:r>
              <a:rPr sz="1350" b="0" i="1">
                <a:solidFill>
                  <a:srgbClr val="2A2622"/>
                </a:solidFill>
                <a:latin typeface="Calibri"/>
              </a:rPr>
              <a:t>dikhna</a:t>
            </a:r>
            <a:r>
              <a:rPr sz="1350" b="0" i="0">
                <a:solidFill>
                  <a:srgbClr val="2A2622"/>
                </a:solidFill>
                <a:latin typeface="Calibri"/>
              </a:rPr>
              <a:t> kam." ④ (texture photo) "10% kyun? — Research me 10%+ concentration me brightening benefit milta hai; zyada = zyada irritation ka risk, zyada fayda nahi." ⑤ "Kis ke liye best: dull/tan-look skin, post-pigmentation look, thaka hua chehra. Kis liye careful: irritation-prone — patch test pehle." ⑥ "Kya NAHI karta: raat bhar ka miracle nahi, 'tan remove' nahi, sun tan rokne ke liye SPF alag cheez hai." ⑦ "Save karo. Follow karo. Aur aapka VC ka sawaal? DM karo."</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10 (Wed) — CAROUSEL · 7 slides · Pillar 2: INGREDIENT DEEP DIVE</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Script (20-sec Reel version for Reels-first users):</a:t>
            </a:r>
            <a:r>
              <a:rPr sz="1350" b="0" i="0">
                <a:solidFill>
                  <a:srgbClr val="2A2622"/>
                </a:solidFill>
                <a:latin typeface="Calibri"/>
              </a:rPr>
              <a:t> "Vitamin C ka kaam seedhe: bright </a:t>
            </a:r>
            <a:r>
              <a:rPr sz="1350" b="0" i="1">
                <a:solidFill>
                  <a:srgbClr val="2A2622"/>
                </a:solidFill>
                <a:latin typeface="Calibri"/>
              </a:rPr>
              <a:t>look</a:t>
            </a:r>
            <a:r>
              <a:rPr sz="1350" b="0" i="0">
                <a:solidFill>
                  <a:srgbClr val="2A2622"/>
                </a:solidFill>
                <a:latin typeface="Calibri"/>
              </a:rPr>
              <a:t>, even </a:t>
            </a:r>
            <a:r>
              <a:rPr sz="1350" b="0" i="1">
                <a:solidFill>
                  <a:srgbClr val="2A2622"/>
                </a:solidFill>
                <a:latin typeface="Calibri"/>
              </a:rPr>
              <a:t>tone-look</a:t>
            </a:r>
            <a:r>
              <a:rPr sz="1350" b="0" i="0">
                <a:solidFill>
                  <a:srgbClr val="2A2622"/>
                </a:solidFill>
                <a:latin typeface="Calibri"/>
              </a:rPr>
              <a:t>, aur 4–6 hafte me farq jo khud dikhe. 10% sweet spot hai — zyada concentration = zyada irritation risk, zyada fayda nahi. Aur haan — yeh SPF ka alternative nahi, partner hai."</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per slides.</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"Vitamin C pe itne myths chal rahe hain ki humne poori baat likh di. 60 second, zero jhanjhat. Save karo. #VitaminC #SkincareScience #SkincareIndia"</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"Save karo + DM karo apna VC sawaal."</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Authority + saves + search asset (IG search "vitamin c serum kya karta hai").</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Evaluating stage; serum researchers.</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Pre-answers "yeh kaam karega?" — waitlist DMs increase.</a:t>
            </a:r>
          </a:p>
          <a:p>
            <a:pPr>
              <a:spcAft>
                <a:spcPts val="700"/>
              </a:spcAft>
            </a:pPr>
            <a:r>
              <a:rPr sz="1350" b="1" i="0">
                <a:solidFill>
                  <a:srgbClr val="2A2622"/>
                </a:solidFill>
                <a:latin typeface="Calibri"/>
              </a:rPr>
              <a:t>WEEK 1 + DAY 8–10 checklist:</a:t>
            </a:r>
          </a:p>
          <a:p>
            <a:pPr>
              <a:spcAft>
                <a:spcPts val="400"/>
              </a:spcAft>
            </a:pPr>
            <a:r>
              <a:rPr sz="1350">
                <a:solidFill>
                  <a:srgbClr val="B44A2E"/>
                </a:solidFill>
                <a:latin typeface="Calibri"/>
              </a:rPr>
              <a:t>☐ </a:t>
            </a:r>
            <a:r>
              <a:rPr sz="1350" b="0" i="0">
                <a:solidFill>
                  <a:srgbClr val="2A2622"/>
                </a:solidFill>
                <a:latin typeface="Calibri"/>
              </a:rPr>
              <a:t>Day 1: 50+ warm followers from founder network (real, no buys)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10 (Wed) — CAROUSEL · 7 slides · Pillar 2: INGREDIENT DEEP DIVE</a:t>
            </a:r>
          </a:p>
          <a:p>
            <a:r>
              <a:rPr sz="1200" i="1">
                <a:solidFill>
                  <a:srgbClr val="57504A"/>
                </a:solidFill>
                <a:latin typeface="Calibri"/>
              </a:rPr>
              <a:t>PART 5 — 30-Day Daily Content Calendar (Days 1–10)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Day 3: 20+ comments harvested → saved to Notion/sheet ("pain point bank")</a:t>
            </a:r>
          </a:p>
          <a:p>
            <a:pPr>
              <a:spcAft>
                <a:spcPts val="400"/>
              </a:spcAft>
            </a:pPr>
            <a:r>
              <a:rPr sz="1350">
                <a:solidFill>
                  <a:srgbClr val="B44A2E"/>
                </a:solidFill>
                <a:latin typeface="Calibri"/>
              </a:rPr>
              <a:t>☐ </a:t>
            </a:r>
            <a:r>
              <a:rPr sz="1350" b="0" i="0">
                <a:solidFill>
                  <a:srgbClr val="2A2622"/>
                </a:solidFill>
                <a:latin typeface="Calibri"/>
              </a:rPr>
              <a:t>Day 7: 30+ "GLOW" DMs collected → WhatsApp list started (label: WAITLIST)</a:t>
            </a:r>
          </a:p>
          <a:p>
            <a:pPr>
              <a:spcAft>
                <a:spcPts val="400"/>
              </a:spcAft>
            </a:pPr>
            <a:r>
              <a:rPr sz="1350">
                <a:solidFill>
                  <a:srgbClr val="B44A2E"/>
                </a:solidFill>
                <a:latin typeface="Calibri"/>
              </a:rPr>
              <a:t>☐ </a:t>
            </a:r>
            <a:r>
              <a:rPr sz="1350" b="0" i="0">
                <a:solidFill>
                  <a:srgbClr val="2A2622"/>
                </a:solidFill>
                <a:latin typeface="Calibri"/>
              </a:rPr>
              <a:t>Day 8: product in WhatsApp catalog; price + COD + shipping policy written in description</a:t>
            </a:r>
          </a:p>
          <a:p>
            <a:pPr>
              <a:spcAft>
                <a:spcPts val="400"/>
              </a:spcAft>
            </a:pPr>
            <a:r>
              <a:rPr sz="1350">
                <a:solidFill>
                  <a:srgbClr val="B44A2E"/>
                </a:solidFill>
                <a:latin typeface="Calibri"/>
              </a:rPr>
              <a:t>☐ </a:t>
            </a:r>
            <a:r>
              <a:rPr sz="1350" b="0" i="0">
                <a:solidFill>
                  <a:srgbClr val="2A2622"/>
                </a:solidFill>
                <a:latin typeface="Calibri"/>
              </a:rPr>
              <a:t>Day 10: 3 reels queued to YouTube Shorts with SEO titles</a:t>
            </a:r>
          </a:p>
          <a:p>
            <a:pPr>
              <a:spcAft>
                <a:spcPts val="400"/>
              </a:spcAft>
            </a:pPr>
            <a:r>
              <a:rPr sz="1350">
                <a:solidFill>
                  <a:srgbClr val="B44A2E"/>
                </a:solidFill>
                <a:latin typeface="Calibri"/>
              </a:rPr>
              <a:t>☐ </a:t>
            </a:r>
            <a:r>
              <a:rPr sz="1350" b="0" i="0">
                <a:solidFill>
                  <a:srgbClr val="2A2622"/>
                </a:solidFill>
                <a:latin typeface="Calibri"/>
              </a:rPr>
              <a:t>Tester program: photos taken Day 1 + Day 7 (same light/angle, logged)</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6</a:t>
            </a:r>
          </a:p>
        </p:txBody>
      </p:sp>
      <p:sp>
        <p:nvSpPr>
          <p:cNvPr id="4" name="TextBox 3"/>
          <p:cNvSpPr txBox="1"/>
          <p:nvPr/>
        </p:nvSpPr>
        <p:spPr>
          <a:xfrm>
            <a:off x="914400" y="2377440"/>
            <a:ext cx="10362895" cy="1645920"/>
          </a:xfrm>
          <a:prstGeom prst="rect">
            <a:avLst/>
          </a:prstGeom>
          <a:noFill/>
        </p:spPr>
        <p:txBody>
          <a:bodyPr wrap="square">
            <a:spAutoFit/>
          </a:bodyPr>
          <a:lstStyle/>
          <a:p>
            <a:r>
              <a:rPr sz="2400" b="1">
                <a:solidFill>
                  <a:srgbClr val="8F3A22"/>
                </a:solidFill>
                <a:latin typeface="Calibri"/>
              </a:rPr>
              <a:t>§5 THE 30-DAY DAILY CONTENT CALENDAR — RANGAT NATURALS (DAYS 11–20)</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30-Day Daily Content Calendar (Days 11–20)</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11 (Thu) — REEL · 30–40s · Pillar 1+3: PROBLEM → SOFT SOLUTION</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"Bahar ka main, andar ka dull — dono same cheez ka kaam." (Cumulative UV: outdoor sun + indoor window/screen.)</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"Subah 9 se raat 9 — aapki skin din bhar UV me rehti hai. Bilkul sach."</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Split-screen or two-location cuts: (A) outdoor commute/office — bright sun; (B) indoors — window light, screen glow. Founder VO. Ends on hand with SPF + serum pair.</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"Sochta hai UV tabhi hai jab 'bahar nikalna' ho? Nahin. Window se aata hai, screen se aata hai, baarish ke din bhi UV aata hai — cloud se 80% tak. Matlab aapki skin subah se raat tak exposure me hai. Iske liye 2 cheezein kaafi hain: subah SPF — har din, indoor bhi. Aur ek serum jo din bhar ke dull-look ko fresh </a:t>
            </a:r>
            <a:r>
              <a:rPr sz="1350" b="0" i="1">
                <a:solidFill>
                  <a:srgbClr val="2A2622"/>
                </a:solidFill>
                <a:latin typeface="Calibri"/>
              </a:rPr>
              <a:t>dikhaane</a:t>
            </a:r>
            <a:r>
              <a:rPr sz="1350" b="0" i="0">
                <a:solidFill>
                  <a:srgbClr val="2A2622"/>
                </a:solidFill>
                <a:latin typeface="Calibri"/>
              </a:rPr>
              <a:t> me help kare. Yeh duo humari routine ka base hai — kal texture dikhate hain."</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"Cloud se bhi aata hai UV (80% tak)" → "Din bhar ka dull-look" → "Duo: SPF ☀️ + Vitamin C ✨"</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11 (Thu) — REEL · 30–40s · Pillar 1+3: PROBLEM → SOFT SOLUTION</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"Indoor baithe bhi UV aata hai. Yehi wajah hai ki 'sirf bahar jaane par sunscreen' kaafi nahi. #SunscreenIndia #SkincareMyths #IndianSkincare"</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"GLOW DM me — launch list me aaj bhi jaa sakti ho."</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Education + soft solution + SPF seed (Month-2 product).</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Office women 22–35, indoor-heavy lives.</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Waitlist DMs; seeds SPF as future "next product" (anticipation).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12 (Fri) — REEL · 30–40s · Pillar 4: FIRST REAL TESTER REACTION (week 2)</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Real tester, day 14, honest reaction — disclosed, no editing of the words.</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"2 hafte Vitamin C lagaya. Ye meri sachchi baat hai — achi bhi, aur thodi kami bhi."</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Tester (friend/relative, disclosed: "hamari tester [Name], Ahmedabad") in her own room, front camera, natural light. She speaks (no script — 3 prompts only: what changed, what didn't, would she continue). Cut to: her day-1 photo vs today (same light) with disclaimer bar.</a:t>
            </a:r>
          </a:p>
          <a:p>
            <a:pPr>
              <a:spcAft>
                <a:spcPts val="400"/>
              </a:spcAft>
            </a:pPr>
            <a:r>
              <a:rPr sz="1350">
                <a:solidFill>
                  <a:srgbClr val="B44A2E"/>
                </a:solidFill>
                <a:latin typeface="Calibri"/>
              </a:rPr>
              <a:t>•  </a:t>
            </a:r>
            <a:r>
              <a:rPr sz="1350" b="1" i="0">
                <a:solidFill>
                  <a:srgbClr val="2A2622"/>
                </a:solidFill>
                <a:latin typeface="Calibri"/>
              </a:rPr>
              <a:t>Script (her words, guided):</a:t>
            </a:r>
            <a:r>
              <a:rPr sz="1350" b="0" i="0">
                <a:solidFill>
                  <a:srgbClr val="2A2622"/>
                </a:solidFill>
                <a:latin typeface="Calibri"/>
              </a:rPr>
              <a:t> "Toh maine 2 hafte lagaya. Sabse pehle — koi overnight change nahi, main wahi bolungi. Par aaj chehra pehle se zyada fresh lagta hai, aur subah uthne par woh 'thaka hua' feel kam hai. Ek kam bhi bata du: meri cheek par ek dry patch hai — woh abhi bhi hai, toh yeh product sab ke liye sab nahi karta. Main continue karungi, aur day 28 wala update yahan aayega." [Disclaimer bar] "4 hafte program · Day 14 update · Results har kisi me alag hote hain"</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"TESTER #7 · DAY 14 · ASLI BAAT" + bottom bar "Results may vary"</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"Na sirf achi baat, na sirf buri — dono. Yehi RANGAT ka andaaj hai. Day 28 wala update bhi yahi aayega. #RealResults #SkincareTester #RangatNaturals"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12 (Fri) — REEL · 30–40s · Pillar 4: FIRST REAL TESTER REACTION (week 2)</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"Follow karo — day 28 wala update miss mat karna."</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Trust (real, honest, with negatives) + serial ("day 28 aayega").</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Skeptics in the waitlist.</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Directly feeds Day 17 before/after and Day 21 launch conversion; commenters become warmest DM leads.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13 (Sat) — REEL · 40–55s · Pillar 6: FOUNDER STORY #2 — "KITNA MUSHKIL THA"</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The honest struggle: rejected first formula, 3 packaging rounds, why this manufacturer.</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"Brand banana kitna mushkil tha — koi reel nahi batati. Main bataati hoon."</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Founder, sitting, talking straight; B-roll: crumpled formula notes, 3 bottle mockups, a factory/lab visit shot, packing table. Warm lighting.</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"Pehla formula? Reject. Kyunki concentration sahi thi par stability nahi — 2 hafte me color change. Dusra? Sasta nahi tha. Teesra? Yahi aaya. Packaging bhi 3 baar badli — kyunki label par ingredient list chhoti dikhi, toh humne font bada kiya. Hum manufacturer nahi hain; humne ek certified Indian facility choose ki — GMP line, batch card har bottle par. Kyun itna dikhau? Kyunki aap pehli baar humse le rahi ho — aur aapka har sawaal valid hai. Follow karo, agle hafte: 4 hafte ke asli results."</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"Formula 1: REJECT" → "Formula 3: YEH" → "Har bottle par batch card"</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"Jo dikhana mushkil lagta hai, wahi aapko dekhna chahiye. #FounderStory #D2CIndia #RangatNaturals"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13 (Sat) — REEL · 40–55s · Pillar 6: FOUNDER STORY #2 — "KITNA MUSHKIL THA"</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"Share karo kisi founder se jo jaanta hai — kitna mushkil hai."</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Deep trust + brand legitimacy (anti-fake positioning).</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Evaluators; also creators/press (shareable).</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De-risks purchase in the "kya yeh sachcha brand hai?" moment — the #1 blocker for unknown brands.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14 (Sun) — REEL · 30–40s · Pillar 7 (soft) + Q&amp;A Story day</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+ 4–5 Stories</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"Achhi skincare mehngi honi chahiye? Nahi." — the price objection, answered with honesty (still no hard offer).</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"'Achhi cream hoti hai toh 2000 ki hoti hai.' Aaj hum is line ko todo ge."</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Whiteboard/slate with a simple visible breakdown (hand-written): Formula + Testing = ₹X · Certified manufacturing = ₹Y · Your cost vs "brand margin + 3 middlemen = imported price." Ends on: "Hum sirf wohi lete hain jo aapko milta hai."</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"2000 wali imported cream me aap kya khareed rahi ho? Formula, haan. Par saath me: import duty, brand premium, 3 middlemen ka margin. Humari baat alag hai: hum formula choose karte hain, test karte hain, certified Indian facility me banwate hain, aur seedhe aap tak jaate hain. Isliye hamara price aam hai — quality pe compromise nahi, middlemen pe hai. Yehi wajah hai ki launch me hum pehli 100 orders par free Face Wash mini + free shipping de rahe hain. Is hafte launch — GLOW likho DM me."</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"2000 ki cream me kya hai?" → "Formula + duty + premium + 3 middlemen" → "RANGAT: Formula + testing + Indian manufacturing + aap" → "Launch: is hafte."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14 (Sun) — REEL · 30–40s · Pillar 7 (soft) + Q&amp;A Story day</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"Achhi skincare = mehngi? Nahi. Achhi skincare = sahi formula + koi 3 middlemen nahi. #AffordableSkincare #SkincareIndia #RangatNaturals"</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"GLOW DM me — launch list me aaj tak aayi ho?"</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Price positioning (value, not cheap) + launch urgency (soft).</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Price-sensitive waitlist (20–35).</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Waitlist push; "launch is this week" now repeated 3x (D8, D13 hint, D14).</a:t>
            </a:r>
          </a:p>
          <a:p>
            <a:pPr>
              <a:spcAft>
                <a:spcPts val="700"/>
              </a:spcAft>
            </a:pPr>
            <a:r>
              <a:rPr sz="1350" b="1" i="0">
                <a:solidFill>
                  <a:srgbClr val="2A2622"/>
                </a:solidFill>
                <a:latin typeface="Calibri"/>
              </a:rPr>
              <a:t>Stories (Day 14, 5):</a:t>
            </a:r>
            <a:r>
              <a:rPr sz="1350" b="0" i="0">
                <a:solidFill>
                  <a:srgbClr val="2A2622"/>
                </a:solidFill>
                <a:latin typeface="Calibri"/>
              </a:rPr>
              <a:t> ① Countdown sticker: "Launch in 5 din" ② Tester day-14 photo (consent + disclaimer) "day 28 aayega" ③ Quiz: "Kitne SPF chahiye Indian skin ke liye? a) 30 b) 50 c) dono theek — jawaab: SPF 30+, daily" ④ Poll: "COD: haan 🙋‍♀️ / kya?" (trick question = engagement + COD reminder) ⑤ DM CTA card: "GLOW likho — launch list."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15 (Mon) — REEL · 30–40s · Pillar 1: MISTAKES ("stop doing this")</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 → YT Shorts queue</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"Yeh 3 skincare galtiyan har Indian girl kar rahi hai."</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"3 galtiyan — aur aap pehli roz karti ho. Proof me aa rahi hain."</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Rapid 3 segments, each: on-screen mistake text → founder VO + visual. (1) Over-washing face 3–4x/day (water tap shot) — "skin barrier todte ho, phir oil bahar nikalta hai." (2) No SPF indoors (window shot). (3) Layering 6 products (shelf of bottles) — "zyada product = zyada confusion, 3 sahi kaafi hain."</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"Galti 1: Chehra din me 4 baar dhona. Skin ka barrier toota → zyada oil, zyada sensitivity. Galti 2: SPF sirf bahar jaane par. Window se bhi aata hai — dekh chuki ho. Galti 3: 6 layer ka routine. 3 sahi steps — wash, serum/cream, SPF — 90% kaam karti hain. Agar teeno me se 2 aap karti ho — comment me '3' likho. Aaj se hum 3-step routine detail me dikhayengi."</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"GALTI 1: 4x wash" → "GALTI 2: SPF sirf bahar" → "GALTI 3: 6 layers" → "3 sahi steps kaafi hain."</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"Aapne kitni pakdi? 1, 2, ya 3? Comment karo. #SkincareMistakes #SkincareIndia"</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15 (Mon) — REEL · 30–40s · Pillar 1: MISTAKES ("stop doing this")</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"Comment karo: 1 / 2 / 3."</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Attention (mistakes = high CTR) + comment fuel + routine pre-education.</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20–35, beginner/mid routine.</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"3 steps" framing sets up the 3-product launch bundle (Face Wash + Serum + Moisturizer) in D23.</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16 (Tue) — REEL · 20–30s · Pillar 3: PRODUCT TEXTURE / DEMO (ASMR-style)</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 (this is the future AD creative #1)</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"10 second me dekho — 10% Vitamin C kaisa lagta hai." Texture + "why 10%" in 30 sec.</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"10 second. Ek drop. Phir aap khud dekhogi."</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Close-up macro: palm up → 2 drops fall (slow) → spread → absorption. Cut to label close-up: "10% Vitamin C." Clean, bright, satisfying. No face needed.</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"Ek drop. Haath par dekho — halka, transparent, 5 second me absorb. Na chikna, na tight. Aur label par likha hai — 10%. Kyun nahi 20%? Kyunki zyada concentration = zyada irritation risk, fayda kam. 10% woh line hai jahan benefit milta hai, skin ko pareshan kiye bina. Launch offer chal raha hai — GLOW likho DM me."</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[0-2s] "10 second. 1 drop." → "Absorb: 5 sec" → "10% = Sweet spot" → "Launch: GLOW DM karo."</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"Texture dekho, label padho. Yehi hai humari baat. #VitaminCSerum #SkincareTexture #RangatNaturals"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16 (Tue) — REEL · 20–30s · Pillar 3: PRODUCT TEXTURE / DEMO (ASMR-style)</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"GLOW DM me — launch list."</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Product desire + sensory proof + future top ad creative.</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Waitlist + search traffic.</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Waitlist → first orders start (launch announced D21, but "list" converts early birds).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17 (Wed) — REEL · 40–55s · Pillar 5:  FIRST REAL BEFORE/AFTER (the trust drop)</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 → PIN to profile same day</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4-week tester results, real, disclosed, 2–3 faces, same light/angle. THE most important trust asset of the launch.</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"4 hafte. 20 aahaiyan. Same light, same angle, zero filter. Aaj original photos."</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Sequence per tester: day-1 photo (date stamp) → day-28 photo (date stamp) → 5 sec of her to camera (one honest line). 3 testers. Bottom disclaimer bar on every frame: "4 hafte daily use · Results may vary." End: founder: "Yeh photos aapki bhi ban sakti hain — 4–6 hafte ka timeline, daily use ke saath."</a:t>
            </a:r>
          </a:p>
          <a:p>
            <a:pPr>
              <a:spcAft>
                <a:spcPts val="400"/>
              </a:spcAft>
            </a:pPr>
            <a:r>
              <a:rPr sz="1350">
                <a:solidFill>
                  <a:srgbClr val="B44A2E"/>
                </a:solidFill>
                <a:latin typeface="Calibri"/>
              </a:rPr>
              <a:t>•  </a:t>
            </a:r>
            <a:r>
              <a:rPr sz="1350" b="1" i="0">
                <a:solidFill>
                  <a:srgbClr val="2A2622"/>
                </a:solidFill>
                <a:latin typeface="Calibri"/>
              </a:rPr>
              <a:t>Script (founder VO + tester lines):</a:t>
            </a:r>
            <a:r>
              <a:rPr sz="1350" b="0" i="0">
                <a:solidFill>
                  <a:srgbClr val="2A2622"/>
                </a:solidFill>
                <a:latin typeface="Calibri"/>
              </a:rPr>
              <a:t> "Humne 20 testers chune, 4 hafte, roz subah. Koi photo edit nahi — same window, same light, date dikha rahe hain. [Tester 1: 'Subah ka dull-look kam hua, log fresh bolte hain.'] [Tester 2: 'Mera tone-look even lagta hai, par full transformation nahi — main wahi bolti hoon.'] [Tester 3: 'Main day 3 me irritate hui thi, day 10 se theek — patch test karna zaroori hai.'] Yeh hi asli results hain — koi kaafi, koi kam, har koi alag. Aur yahi launch me aapko milega. GLOW likho DM me — launch kal se."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17 (Wed) — REEL · 40–55s · Pillar 5:  FIRST REAL BEFORE/AFTER (the trust drop)</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"DAY 1" / "DAY 28" per tester + permanent bar: "Results may vary · Real customers · Consent se"</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"4 hafte ki asli photos. Kya milta hai, kya nahi — dono. #BeforeAndAfter #RealResults #SkincareIndia #RangatNaturals"</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"DM 'GLOW' — launch kal se. Pehli 100 orders."</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THE trust conversion asset. Pinned.</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All warm audiences (waitlist, engagers, viewers).</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Direct conversion engine for Day 21 launch + becomes Ad Creative #1–2.</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18 (Thu) — REEL · 30–40s · Pillar 2: EDUCATION — SUNSCREEN (seed Month-2)</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 → YT Shorts queue</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"Ghar par baithe bhi sunscreen kyun?" — future product seed, no selling.</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"Aap sirf office jaati ho — phir bhi sunscreen zaroori hai. Sach me?"</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Window light visual (light patch on wall/face), screen glow, car window. Founder VO.</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"UV 2 cheez se nahi aata — sirf direct sun se. Window ka glass? UV-A nikal jaata hai. Car? Wahan bhi. Matlab ghar + office + car = din bhar ka exposure. Isliye SPF 30+ har subah, 2–3 ghante me reapply agar bahar ho. Yeh 1 line aapka tan-look, dark spots ka dikhna, aur age-look sab se related hai. Kal: hum is baare me ek reel aisi kar rahe hain jo aap apni behen ko bhejogi."</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"Window se bhi UV aata hai" → "SPF 30+ · har subah" → "2–3 ghante me reapply (bahar)"</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"Ghar baithe bhi UV. Isliye SPF 'bahar jaane wala product' nahi — har din ka. #SunscreenIndia #SPF #SkincareEducation"</a:t>
            </a:r>
          </a:p>
          <a:p>
            <a:pPr>
              <a:spcAft>
                <a:spcPts val="400"/>
              </a:spcAft>
            </a:pPr>
            <a:r>
              <a:rPr sz="1350">
                <a:solidFill>
                  <a:srgbClr val="B44A2E"/>
                </a:solidFill>
                <a:latin typeface="Calibri"/>
              </a:rPr>
              <a:t>•  </a:t>
            </a:r>
            <a:r>
              <a:rPr sz="1350" b="0" i="0">
                <a:solidFill>
                  <a:srgbClr val="2A2622"/>
                </a:solidFill>
                <a:latin typeface="Calibri"/>
              </a:rPr>
              <a:t>**CTA:"Share karo us aahai ko jo abhi bhi 'bahar jaane par' lagati hai."</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18 (Thu) — REEL · 30–40s · Pillar 2: EDUCATION — SUNSCREEN (seed Month-2)</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Education + share + future-product anticipation (Sunscreen = Month 2).</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22–35 office women.</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Builds the "next product" curiosity that pre-sells Month-2 launch.</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19 (Fri) — REEL · Creator collab drop · Pillar 4: FIRST MICRO-CREATOR</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(collab post: appears on both grids)</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Ahmedabad micro-creator (10k–30k) posts her honest 2-week RANGAT video; we collab.</a:t>
            </a:r>
          </a:p>
          <a:p>
            <a:pPr>
              <a:spcAft>
                <a:spcPts val="400"/>
              </a:spcAft>
            </a:pPr>
            <a:r>
              <a:rPr sz="1350">
                <a:solidFill>
                  <a:srgbClr val="B44A2E"/>
                </a:solidFill>
                <a:latin typeface="Calibri"/>
              </a:rPr>
              <a:t>•  </a:t>
            </a:r>
            <a:r>
              <a:rPr sz="1350" b="1" i="0">
                <a:solidFill>
                  <a:srgbClr val="2A2622"/>
                </a:solidFill>
                <a:latin typeface="Calibri"/>
              </a:rPr>
              <a:t>Hook (her words):</a:t>
            </a:r>
            <a:r>
              <a:rPr sz="1350" b="0" i="0">
                <a:solidFill>
                  <a:srgbClr val="2A2622"/>
                </a:solidFill>
                <a:latin typeface="Calibri"/>
              </a:rPr>
              <a:t> "Main ek 10k follower ki random creator hoon — aur mujhe ek naya local brand ne product bheja. Sachchi review."</a:t>
            </a:r>
          </a:p>
          <a:p>
            <a:pPr>
              <a:spcAft>
                <a:spcPts val="400"/>
              </a:spcAft>
            </a:pPr>
            <a:r>
              <a:rPr sz="1350">
                <a:solidFill>
                  <a:srgbClr val="B44A2E"/>
                </a:solidFill>
                <a:latin typeface="Calibri"/>
              </a:rPr>
              <a:t>•  </a:t>
            </a:r>
            <a:r>
              <a:rPr sz="1350" b="1" i="0">
                <a:solidFill>
                  <a:srgbClr val="2A2622"/>
                </a:solidFill>
                <a:latin typeface="Calibri"/>
              </a:rPr>
              <a:t>Concept (her shoot, we provide brief not script):</a:t>
            </a:r>
            <a:r>
              <a:rPr sz="1350" b="0" i="0">
                <a:solidFill>
                  <a:srgbClr val="2A2622"/>
                </a:solidFill>
                <a:latin typeface="Calibri"/>
              </a:rPr>
              <a:t> Her room, her routine, product in context, 3 prompts: (1) kya socha pehle (new brand skepticism), (2) 2 hafte ka honest feel (1 good, 1 mixed), (3) kya karegi (continue + who'd recommend). Ends with her + founder's collab tag.</a:t>
            </a:r>
          </a:p>
          <a:p>
            <a:pPr>
              <a:spcAft>
                <a:spcPts val="400"/>
              </a:spcAft>
            </a:pPr>
            <a:r>
              <a:rPr sz="1350">
                <a:solidFill>
                  <a:srgbClr val="B44A2E"/>
                </a:solidFill>
                <a:latin typeface="Calibri"/>
              </a:rPr>
              <a:t>•  </a:t>
            </a:r>
            <a:r>
              <a:rPr sz="1350" b="1" i="0">
                <a:solidFill>
                  <a:srgbClr val="2A2622"/>
                </a:solidFill>
                <a:latin typeface="Calibri"/>
              </a:rPr>
              <a:t>Script (guided, her delivery):</a:t>
            </a:r>
            <a:r>
              <a:rPr sz="1350" b="0" i="0">
                <a:solidFill>
                  <a:srgbClr val="2A2622"/>
                </a:solidFill>
                <a:latin typeface="Calibri"/>
              </a:rPr>
              <a:t> "Seedhi baat: naya brand, pehle doubt tha. 2 hafte lagaya — fresh feel aaya hai, subah ka dull-look kam. Ek baat: mere acne ke purane marks pe koi magic nahi, aur main wahi bolungi. Main continue kar rahi hoon. Agar tum bhi local + affordable try karna chahti ho — inka launch chal raha hai, GLOW likh do DM me."</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"RANDOM CREATOR · 2 HAFTE · HONEST" + collab tags @rangatnaturals</a:t>
            </a:r>
          </a:p>
          <a:p>
            <a:pPr>
              <a:spcAft>
                <a:spcPts val="400"/>
              </a:spcAft>
            </a:pPr>
            <a:r>
              <a:rPr sz="1350">
                <a:solidFill>
                  <a:srgbClr val="B44A2E"/>
                </a:solidFill>
                <a:latin typeface="Calibri"/>
              </a:rPr>
              <a:t>•  </a:t>
            </a:r>
            <a:r>
              <a:rPr sz="1350" b="0" i="0">
                <a:solidFill>
                  <a:srgbClr val="2A2622"/>
                </a:solidFill>
                <a:latin typeface="Calibri"/>
              </a:rPr>
              <a:t>**Caption (ours, on our grid): "Is hafte ka sabse achha feedback — ek 10k wali creator se. Local brands ko yahi milna chahiye: sachchi baat. #AhmedabadCreator #LocalBrand #RangatNaturals"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19 (Fri) — REEL · Creator collab drop · Pillar 4: FIRST MICRO-CREATOR</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"Collab post follow karo + GLOW DM me."</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Third-party proof (creators ≠ us) + local credibility + shared audience.</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Her followers (local, same demo) + our skeptics.</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Her audience = new warm pool; collab post = social proof asset for ads (UGC-style).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20 (Sat) — REEL · 35–45s · Pillar 6+7: LAUNCH COUNTDOWN + BTS PACKING</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"Kal se live. 100 boxes. Aaj packing." The launch eve.</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"Kal se RANGAT NATURALS live. Aur aaj aap dekh rahi ho pehle 100 boxes bante."</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Packing table, hands sealing boxes, batch cards, "1/100" marker on each box, founder counting, small "100" sign. Warm, slightly emotional, light music under.</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"100 boxes. Har ek me: Vitamin C Serum 10%, free Face Wash mini, ek card — isme likha hai exactly kaise lagana hai, kitne din me kya expect karna hai, aur humara WhatsApp number — jahan aap koi bhi sawaal pooch sakti ho. Kyun sirf 100? Kyunki pehla batch yahi hai — aur hum chahte hain ki pehle 100 aahaiyan ka experience itna acha ho ki woh khud bataayen. Kal se launch. Kal se 'GLOW' likhne par pehla number. Aur haan — COD hai. Pehli baar? Koi tension nahi."</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"1/100" (marker) → "Box me kya hai?" → "Serum + Face Wash mini + Guide + WhatsApp support" → "LAUNCH: KAL"</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"Pehle 100 boxes. Pehli 100 aahaiyan. Pehla batch — sabse zyada dhyan ke saath bana. Kal se live. #LaunchDay #RangatNaturals #SkincareIndia"</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20 (Sat) — REEL · 35–45s · Pillar 6+7: LAUNCH COUNTDOWN + BTS PACKING</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"Notifications ON — kal 7:30 PM: launch reel. GLOW likho list me."</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Anticipation peak + what's-in-the-box (pre-sell the offer) + risk reversal.</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Waitlist + all followers.</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Directly sets up Day 21 conversion; "100" scarcity is real (batch).</a:t>
            </a:r>
          </a:p>
          <a:p>
            <a:pPr>
              <a:spcAft>
                <a:spcPts val="700"/>
              </a:spcAft>
            </a:pPr>
            <a:r>
              <a:rPr sz="1350" b="1" i="0">
                <a:solidFill>
                  <a:srgbClr val="2A2622"/>
                </a:solidFill>
                <a:latin typeface="Calibri"/>
              </a:rPr>
              <a:t>WEEK 3 checklist (Days 15–21):</a:t>
            </a:r>
          </a:p>
          <a:p>
            <a:pPr>
              <a:spcAft>
                <a:spcPts val="400"/>
              </a:spcAft>
            </a:pPr>
            <a:r>
              <a:rPr sz="1350">
                <a:solidFill>
                  <a:srgbClr val="B44A2E"/>
                </a:solidFill>
                <a:latin typeface="Calibri"/>
              </a:rPr>
              <a:t>☐ </a:t>
            </a:r>
            <a:r>
              <a:rPr sz="1350" b="0" i="0">
                <a:solidFill>
                  <a:srgbClr val="2A2622"/>
                </a:solidFill>
                <a:latin typeface="Calibri"/>
              </a:rPr>
              <a:t>D15: 3-mistakes reel CTR check (target ≥1.5% reach CTR) → if yes, boost candidate</a:t>
            </a:r>
          </a:p>
          <a:p>
            <a:pPr>
              <a:spcAft>
                <a:spcPts val="400"/>
              </a:spcAft>
            </a:pPr>
            <a:r>
              <a:rPr sz="1350">
                <a:solidFill>
                  <a:srgbClr val="B44A2E"/>
                </a:solidFill>
                <a:latin typeface="Calibri"/>
              </a:rPr>
              <a:t>☐ </a:t>
            </a:r>
            <a:r>
              <a:rPr sz="1350" b="0" i="0">
                <a:solidFill>
                  <a:srgbClr val="2A2622"/>
                </a:solidFill>
                <a:latin typeface="Calibri"/>
              </a:rPr>
              <a:t>D17: Before/after live + PINNED; same reel cut into: 30-sec ad version + 2 static quote cards</a:t>
            </a:r>
          </a:p>
          <a:p>
            <a:pPr>
              <a:spcAft>
                <a:spcPts val="400"/>
              </a:spcAft>
            </a:pPr>
            <a:r>
              <a:rPr sz="1350">
                <a:solidFill>
                  <a:srgbClr val="B44A2E"/>
                </a:solidFill>
                <a:latin typeface="Calibri"/>
              </a:rPr>
              <a:t>☐ </a:t>
            </a:r>
            <a:r>
              <a:rPr sz="1350" b="0" i="0">
                <a:solidFill>
                  <a:srgbClr val="2A2622"/>
                </a:solidFill>
                <a:latin typeface="Calibri"/>
              </a:rPr>
              <a:t>D19: Collab post live on both grids; creator's video saved to UGC bank (permission for ads = signed)</a:t>
            </a:r>
          </a:p>
          <a:p>
            <a:pPr>
              <a:spcAft>
                <a:spcPts val="400"/>
              </a:spcAft>
            </a:pPr>
            <a:r>
              <a:rPr sz="1350">
                <a:solidFill>
                  <a:srgbClr val="B44A2E"/>
                </a:solidFill>
                <a:latin typeface="Calibri"/>
              </a:rPr>
              <a:t>☐ </a:t>
            </a:r>
            <a:r>
              <a:rPr sz="1350" b="0" i="0">
                <a:solidFill>
                  <a:srgbClr val="2A2622"/>
                </a:solidFill>
                <a:latin typeface="Calibri"/>
              </a:rPr>
              <a:t>D20: WhatsApp broadcast #1 to waitlist: "Kal launch — GLOW reply karo, aapka number save karte hain" (24h before)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20 (Sat) — REEL · 35–45s · Pillar 6+7: LAUNCH COUNTDOWN + BTS PACKING</a:t>
            </a:r>
          </a:p>
          <a:p>
            <a:r>
              <a:rPr sz="1200" i="1">
                <a:solidFill>
                  <a:srgbClr val="57504A"/>
                </a:solidFill>
                <a:latin typeface="Calibri"/>
              </a:rPr>
              <a:t>PART 6 — 30-Day Daily Content Calendar (Days 11–20)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D21: Ads account ready: Pixel on website/WA, WhatsApp Business API linked, campaign built but NOT switched on (see </a:t>
            </a:r>
            <a:r>
              <a:rPr sz="1200" b="0" i="0">
                <a:solidFill>
                  <a:srgbClr val="8F3A22"/>
                </a:solidFill>
                <a:latin typeface="Consolas"/>
              </a:rPr>
              <a:t>15-meta-ads-campaigns-budgets.md</a:t>
            </a:r>
            <a:r>
              <a:rPr sz="1350" b="0" i="0">
                <a:solidFill>
                  <a:srgbClr val="2A2622"/>
                </a:solidFill>
                <a:latin typeface="Calibri"/>
              </a:rPr>
              <a:t>)</a:t>
            </a:r>
          </a:p>
          <a:p>
            <a:pPr>
              <a:spcAft>
                <a:spcPts val="400"/>
              </a:spcAft>
            </a:pPr>
            <a:r>
              <a:rPr sz="1350">
                <a:solidFill>
                  <a:srgbClr val="B44A2E"/>
                </a:solidFill>
                <a:latin typeface="Calibri"/>
              </a:rPr>
              <a:t>☐ </a:t>
            </a:r>
            <a:r>
              <a:rPr sz="1350" b="0" i="0">
                <a:solidFill>
                  <a:srgbClr val="2A2622"/>
                </a:solidFill>
                <a:latin typeface="Calibri"/>
              </a:rPr>
              <a:t>All Day-17 + Day-19 creatives have ad permissions in writing (email/WhatsApp screenshot)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7</a:t>
            </a:r>
          </a:p>
        </p:txBody>
      </p:sp>
      <p:sp>
        <p:nvSpPr>
          <p:cNvPr id="4" name="TextBox 3"/>
          <p:cNvSpPr txBox="1"/>
          <p:nvPr/>
        </p:nvSpPr>
        <p:spPr>
          <a:xfrm>
            <a:off x="914400" y="2377440"/>
            <a:ext cx="10362895" cy="1645920"/>
          </a:xfrm>
          <a:prstGeom prst="rect">
            <a:avLst/>
          </a:prstGeom>
          <a:noFill/>
        </p:spPr>
        <p:txBody>
          <a:bodyPr wrap="square">
            <a:spAutoFit/>
          </a:bodyPr>
          <a:lstStyle/>
          <a:p>
            <a:r>
              <a:rPr sz="2400" b="1">
                <a:solidFill>
                  <a:srgbClr val="8F3A22"/>
                </a:solidFill>
                <a:latin typeface="Calibri"/>
              </a:rPr>
              <a:t>§5 THE 30-DAY DAILY CONTENT CALENDAR — RANGAT NATURALS (DAYS 21–30)</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30-Day Daily Content Calendar (Days 21–30)</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30-Day Daily Content Calendar (Days 21–30)</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Week 4 = the conversion week.</a:t>
            </a:r>
            <a:r>
              <a:rPr sz="1350" b="0" i="0">
                <a:solidFill>
                  <a:srgbClr val="2A2622"/>
                </a:solidFill>
                <a:latin typeface="Calibri"/>
              </a:rPr>
              <a:t> Tone rule: selling is now allowed (Pillar 7 posts), but every sales post carries: real proof + honest timeline + COD/return + one CTA. No fake urgency. The "100 units" limit is real batch stock.</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21 (Sun) — REEL · 45–60s · Pillar 7: 🚀 LAUNCH — "FOUNDING 100" (THE day)</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 → YouTube Shorts → WhatsApp broadcast + Status (all simultaneously) → </a:t>
            </a:r>
            <a:r>
              <a:rPr sz="1350" b="1" i="0">
                <a:solidFill>
                  <a:srgbClr val="2A2622"/>
                </a:solidFill>
                <a:latin typeface="Calibri"/>
              </a:rPr>
              <a:t>Meta Ads switch ON at 8:00 PM</a:t>
            </a:r>
            <a:r>
              <a:rPr sz="1350" b="0" i="0">
                <a:solidFill>
                  <a:srgbClr val="2A2622"/>
                </a:solidFill>
                <a:latin typeface="Calibri"/>
              </a:rPr>
              <a:t> (₹500/day, see </a:t>
            </a:r>
            <a:r>
              <a:rPr sz="1200" b="0" i="0">
                <a:solidFill>
                  <a:srgbClr val="8F3A22"/>
                </a:solidFill>
                <a:latin typeface="Consolas"/>
              </a:rPr>
              <a:t>15-meta-ads</a:t>
            </a:r>
            <a:r>
              <a:rPr sz="1350" b="0" i="0">
                <a:solidFill>
                  <a:srgbClr val="2A2622"/>
                </a:solidFill>
                <a:latin typeface="Calibri"/>
              </a:rPr>
              <a:t>)</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The launch announcement + full offer. This reel = the hero ad for the first 2 weeks.</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"Aaj se RANGAT NATURALS live. Aur pehli 100 aahaiyan ko milega jo aage wale nahi."</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Founder, packing table behind, box in hand. Cuts: box opens (serum + face wash mini + card visible) → label close-up → "FOUNDING 100" card. Confident, warm, not shouting.</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"Aaj se RANGAT NATURALS officially live hai. Humara pehla product: Vitamin C Serum 10% — 4 hafte, 20 testers, asli photos — aapne dekh li. Aaj se aap bhi shuru kar sakti ho. Aur 'Founding 100' isliye hai kyunki pehla batch sirf 100 units ka hai. Pehli 100 orders me: launch price, free Face Wash mini, free shipping, COD — parcel ghar par, khol ke dekho, pasand nahi toh return. Aur ek cheez jo koi bada brand nahi dega: aapki review — photo ke saath — hamari page par feature hogi. Kaise order? Ek kaam: DM me 'GLOW' likho, ya profile ke WhatsApp link par aao. Hum 15 minute me reply karte hain. 100 ke baad? Agla batch agle mahine."</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"LAUNCH — AAJ SE LIVE" → "FOUNDING 100: sirf 100 units" → "✅ Launch price ✅ FREE Face Wash mini ✅ FREE shipping ✅ COD ✅ Return" → "DM 'GLOW' ya WhatsApp link"</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21 (Sun) — REEL · 45–60s · Pillar 7: 🚀 LAUNCH — "FOUNDING 100" (THE day)</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"Aaj se live. 🚀 Founding 100: launch price + FREE Face Wash mini + FREE shipping + COD. Pehle 100 orders me aapki review page par feature. DM 'GLOW'. #Launch #VitaminCSerum #RangatNaturals #IndianSkincare"</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"DM 'GLOW' — abhi. 15 minute me reply."</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Conversion event; hero ad creative.</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Entire warm pool + ad traffic (same day).</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30–50 orders target today + tonight (waitlist broadcast + reel + ad together = triple touch).</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22 (Mon) — REEL · 30–40s · Pillar 7: OBJECTION KILLER (new brand fear)</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 → ad set 2 (retargeting pool starts filling)</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"Naya brand, pehli baar, tension?" — answer the 4 fears in 40 seconds.</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"Naya brand se order karna darawna lagta hai? Aapka dar valid hai. 4 jawaab."</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4 rapid segments, each = fear on screen → answer + visual proof. (1) "Fake product?" → batch card close-up, "har bottle par batch number — website par verify ho sakta hai." (2) "Result nahi aaya toh?" → "honest timeline 4–6 hafte — isliye 3 din me 'cure' wala brand mat kharido." (3) "Paise kaise jaayenge?" → "COD — pehle parcel, phir paise." (4) "Pasand nahi aaya?" → "return process WhatsApp par 1 message me."</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(as per segments) End: "Isliye aaj se hum 100 units se shuru kar rahe hain — taaki har order ka hum khud dhyan le sake. Aapka koi aur sawaal? DM karo — aaj kal hum 15 minute me reply karte hain."</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"DAR 1: Fake? → Batch card" → "DAR 2: Result? → 4–6 hafte, honestly" → "DAR 3: Paise? → COD" → "DAR 4: Return? → 1 WhatsApp message"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22 (Mon) — REEL · 30–40s · Pillar 7: OBJECTION KILLER (new brand fear)</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"Naye brand se pehla order — 4 sawaal jo aapke mann me hain, yahan jawaab. #COD #NewBrand #RangatNaturals"</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"DM karo — koi bhi sawaal. Ya 'GLOW' likho aur order karo."</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De-risk (the #1 conversion blocker) + reply-speed promise.</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Waitlist + ad clickers who didn't order Day 21.</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Directly rescues Day-21 non-converters (pair this reel's ad with retargeting on D25).</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23 (Tue) — REEL · 40–50s · Pillar 3: 60-SECOND 3-STEP ROUTINE (bundle logic)</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 → YT Shorts queue</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"Subah ki 3-step routine — 60 second." (Face Wash → Serum → Moisturizer/SPF)</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"Poora skincare routine 10 products ka nahi. 3 ka. 60 second. Dekho."</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Timelapse-style morning: bathroom, real products, timer on screen 0:00→0:60. Each step: product name on screen + one reason.</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"Step 1 — Face Wash, 60 second, gungune paani se. Skin saaf, na tight. (RANGAT Face Wash.) Step 2 — Vitamin C Serum, 3–4 drops, khurrak chehre par. Bright </a:t>
            </a:r>
            <a:r>
              <a:rPr sz="1350" b="0" i="1">
                <a:solidFill>
                  <a:srgbClr val="2A2622"/>
                </a:solidFill>
                <a:latin typeface="Calibri"/>
              </a:rPr>
              <a:t>look</a:t>
            </a:r>
            <a:r>
              <a:rPr sz="1350" b="0" i="0">
                <a:solidFill>
                  <a:srgbClr val="2A2622"/>
                </a:solidFill>
                <a:latin typeface="Calibri"/>
              </a:rPr>
              <a:t>, even </a:t>
            </a:r>
            <a:r>
              <a:rPr sz="1350" b="0" i="1">
                <a:solidFill>
                  <a:srgbClr val="2A2622"/>
                </a:solidFill>
                <a:latin typeface="Calibri"/>
              </a:rPr>
              <a:t>tone-look</a:t>
            </a:r>
            <a:r>
              <a:rPr sz="1350" b="0" i="0">
                <a:solidFill>
                  <a:srgbClr val="2A2622"/>
                </a:solidFill>
                <a:latin typeface="Calibri"/>
              </a:rPr>
              <a:t> — 4–6 hafte me. (RANGAT Vitamin C 10%.) Step 3 — Moisturizer, phir SPF agar bahar jaana hai. Yahi poora routine hai. 10 layers nahi. 3 sahi steps, roz. Yeh teeno ek saath = 'RANGAT Morning Kit' — launch me saath le rahi ho toh sab kuch ek box me aa gaya hai."</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"0:00–0:20 WASH" → "0:20–0:40 SERUM" → "0:40–0:60 MOISTURIZE + SPF" → "3 steps. 60 sec. Roz."</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"Skincare = 10 products? Nahi. 3 sahi steps kaafi hain. #SkincareRoutine #MorningRoutine #RangatNaturals"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23 (Tue) — REEL · 40–50s · Pillar 3: 60-SECOND 3-STEP ROUTINE (bundle logic)</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"Save karo + 'GLOW' DM me kit order ke liye."</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Routine education + BUNDLE formation (raises AOV: 3-product kit).</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Beginners (biggest audience) + existing buyers (cross-sell).</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Introduces the kit bundle — target: 30% of orders become kits by Day 30 (AOV lift ₹500→₹900+).</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24 (Wed) — REEL · 30–40s · Pillar 4: FIRST CUSTOMER UNBOXING</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 → Status</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Real Founding 100 customer films her parcel opening. Incentive: free Face Wash mini + featured on page.</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"Pehli parcel. Pehli aahai. Asli reaction — bina script ke."</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Customer's home (her phone, her light). Parcel arrives → she opens → finds card, reads it (good moment: reading the guide card) → serum texture on hand → "WhatsApp number dekho, koi bhi pooch sakti hoon." 20–30 sec of her real words.</a:t>
            </a:r>
          </a:p>
          <a:p>
            <a:pPr>
              <a:spcAft>
                <a:spcPts val="400"/>
              </a:spcAft>
            </a:pPr>
            <a:r>
              <a:rPr sz="1350">
                <a:solidFill>
                  <a:srgbClr val="B44A2E"/>
                </a:solidFill>
                <a:latin typeface="Calibri"/>
              </a:rPr>
              <a:t>•  </a:t>
            </a:r>
            <a:r>
              <a:rPr sz="1350" b="1" i="0">
                <a:solidFill>
                  <a:srgbClr val="2A2622"/>
                </a:solidFill>
                <a:latin typeface="Calibri"/>
              </a:rPr>
              <a:t>Script (guided prompts, her words):</a:t>
            </a:r>
            <a:r>
              <a:rPr sz="1350" b="0" i="0">
                <a:solidFill>
                  <a:srgbClr val="2A2622"/>
                </a:solidFill>
                <a:latin typeface="Calibri"/>
              </a:rPr>
              <a:t> (1) "Pehle kya socha — naya brand, COD me hi liya." (2) "Box me kya mila — card pehle se likha hai kya karna hai." (3) "Kya karungi — 4 hafte use karke update bhejungi." End card: "Founding 100 me aap bhi ho sakti ho. GLOW DM karo."</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"ORDER #1 → [City]" → "Real customer · Real parcel"</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"Order #1, [city] me. Box kholte hi reaction asli tha — isliye yehi post kar rahe hain. #Unboxing #RealCustomer #RangatNaturals"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24 (Wed) — REEL · 30–40s · Pillar 4: FIRST CUSTOMER UNBOXING</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"Aap bhi — 'GLOW' DM karo."</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Logistics trust (packing quality, real delivery, card experience) + social proof.</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Day 21–22 hesitators ("kya sach me milega?").</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"It actually arrives" proof — directly lifts ad CTR and DM→order rate.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25 (Thu) — REEL · 30–40s · Pillar 2: MYTH — "VC se chehra orange?"</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 → YT Shorts queue</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"Vitamin C se chehra orange ho jaata hai? Yeh myth kyun chalta hai."</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"'Vitamin C laga toh chehra orange ho jaayega.' — 2026 me bhi yeh chalta hai. Yeh kyun?"</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Split: "myth" side (orange filter on face, 1 sec, clearly fake) vs "reality" (normal serum, normal skin). Founder VO.</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"Yeh cheez tab hoti hai jab: (1) fake/cheap product me pigment ho, (2) serum ka color chehre par dry ho jaye — kyunki zyada quantity li ya moisturizer skip kiya, (3) ya photo me over-editing ho. Asli 10% Vitamin C serum — 3–4 drops — transparent hota hai, 5 second me absorb. Agar chehre par 10 minute baad bhi yellow layer dikhe — woh serum ka color nahi, quantity ki galti hai. Aur haan — orange look ke darr me SPF skip karna sabse badi galti hai. Darr nahi, sachchi cheez lagao."</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"MYTH: Orange chehra 😅" → "3 wajah: Fake product / Zyada quantity / Edit" → "Asli VC: transparent, 5 sec absorb"</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"Vitamin C ka sabse popular myth — aaj khatam. #SkincareMyths #VitaminCSerum"</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25 (Thu) — REEL · 30–40s · Pillar 2: MYTH — "VC se chehra orange?"</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"Save karo + apna myth DM karo — next reel uska jawab hoga."</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Myth-busting authority + pre-empt a common objection (also a DM question we get).</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Serum buyers in evaluation.</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Removes a purchase-blocking fear; DM Q&amp;A feed.</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26 (Fri) — REEL · 30–45s · Pillar 4: FIRST VIDEO REVIEW (Founding 100)</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 → ad creative #3</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Real customer, week 1–2, "I almost didn't order" story.</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"Maine order karne se 4 din pehle 4 baar delete kar diya tha. Yeh meri kahani hai."</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Customer to camera (selfie light), honest, 3 beats: (1) doubt (naya brand, pehli baar), (2) what convinced (COD + 20-tester photos + WhatsApp reply in 10 min), (3) first 10 days feel + one honest "abhi full result nahi — 4 hafte baaki hain, main wahi bolti hoon."</a:t>
            </a:r>
          </a:p>
          <a:p>
            <a:pPr>
              <a:spcAft>
                <a:spcPts val="400"/>
              </a:spcAft>
            </a:pPr>
            <a:r>
              <a:rPr sz="1350">
                <a:solidFill>
                  <a:srgbClr val="B44A2E"/>
                </a:solidFill>
                <a:latin typeface="Calibri"/>
              </a:rPr>
              <a:t>•  </a:t>
            </a:r>
            <a:r>
              <a:rPr sz="1350" b="1" i="0">
                <a:solidFill>
                  <a:srgbClr val="2A2622"/>
                </a:solidFill>
                <a:latin typeface="Calibri"/>
              </a:rPr>
              <a:t>Script (her words, guided):</a:t>
            </a:r>
            <a:r>
              <a:rPr sz="1350" b="0" i="0">
                <a:solidFill>
                  <a:srgbClr val="2A2622"/>
                </a:solidFill>
                <a:latin typeface="Calibri"/>
              </a:rPr>
              <a:t> "Seedhi baat — naya brand tha, maine 4 baar cart se hataya. Jo manaya: COD, aur unki 20 testers ki asli photos. Order kiya, 2 din me aaya. 10 din lagaya — subah ka dull-look kam ho raha hai, fresh feel hai. Full result? Nahi — main 4 hafte pe bolti hoon, yehi toh inka andaaj hai. Day 28 pe update bhej rahi hoon, unhone bhi kaha hai."</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"ORDER #17 · [City] · DAY 10" + bar "Results may vary"</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"4 baar delete karke order kiya — aur yehi review hamara favourite hai. #RealReview #CustomerStory #RangatNaturals"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26 (Fri) — REEL · 30–45s · Pillar 4: FIRST VIDEO REVIEW (Founding 100)</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"Aapka kya doubt hai? DM karo — ya 'GLOW' likho."</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Testimonial with a STORY (stories are remembered, quotes are scrolled).</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Cart-doubters; retargeting audience (video viewers).</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Highest-converting ad creative pattern (story testimonial). Used in retargeting from D25+.</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27 (Sat) — CAROUSEL · 6 slides · Pillar 7: "FOUNDING 100 — BOX ME KYA HAI"</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 FB (PIN candidate after D30)</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The offer, fully explained. For everyone who missed the launch reel.</a:t>
            </a:r>
          </a:p>
          <a:p>
            <a:pPr>
              <a:spcAft>
                <a:spcPts val="400"/>
              </a:spcAft>
            </a:pPr>
            <a:r>
              <a:rPr sz="1350">
                <a:solidFill>
                  <a:srgbClr val="B44A2E"/>
                </a:solidFill>
                <a:latin typeface="Calibri"/>
              </a:rPr>
              <a:t>•  </a:t>
            </a:r>
            <a:r>
              <a:rPr sz="1350" b="1" i="0">
                <a:solidFill>
                  <a:srgbClr val="2A2622"/>
                </a:solidFill>
                <a:latin typeface="Calibri"/>
              </a:rPr>
              <a:t>Hook (cover):</a:t>
            </a:r>
            <a:r>
              <a:rPr sz="1350" b="0" i="0">
                <a:solidFill>
                  <a:srgbClr val="2A2622"/>
                </a:solidFill>
                <a:latin typeface="Calibri"/>
              </a:rPr>
              <a:t> "FOUNDING 100 — exactly kya milega, kya nahi milega."</a:t>
            </a:r>
          </a:p>
          <a:p>
            <a:pPr>
              <a:spcAft>
                <a:spcPts val="400"/>
              </a:spcAft>
            </a:pPr>
            <a:r>
              <a:rPr sz="1350">
                <a:solidFill>
                  <a:srgbClr val="B44A2E"/>
                </a:solidFill>
                <a:latin typeface="Calibri"/>
              </a:rPr>
              <a:t>•  </a:t>
            </a:r>
            <a:r>
              <a:rPr sz="1350" b="1" i="0">
                <a:solidFill>
                  <a:srgbClr val="2A2622"/>
                </a:solidFill>
                <a:latin typeface="Calibri"/>
              </a:rPr>
              <a:t>Slides:</a:t>
            </a:r>
            <a:r>
              <a:rPr sz="1350" b="0" i="0">
                <a:solidFill>
                  <a:srgbClr val="2A2622"/>
                </a:solidFill>
                <a:latin typeface="Calibri"/>
              </a:rPr>
              <a:t> ① Cover ② Box content photo: Serum + Face Wash mini + usage card + WhatsApp support card (each labeled) ③ "Why only 100 — pehla batch, har order hum khud check karte hain" ④ "Kaise order: DM 'GLOW' / WhatsApp link / 15-min reply / COD" ⑤ Quote card: real review from D24/D26 customer ⑥ CTA: "X/100 seats left — DM 'GLOW'" (real number)</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"Jo miss kiya, yahan poora hai: box me kya hai, kaise order karna hai, COD kaise kaam karta hai. X/100 seat bachi hain. #Founding100 #RangatNaturals #SkincareIndia"</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"DM 'GLOW' — aaj ka jawab aaj milega."</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Offer clarity + seat count (real scarcity) + save-able reference.</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All warm + retargeting.</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27 (Sat) — CAROUSEL · 6 slides · Pillar 7: "FOUNDING 100 — BOX ME KYA HAI"</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The "catch-up" sales post for the week.</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28 (Sun) — REEL · 40–50s · Pillar 1+6: COMMUNITY Q&amp;A (from real DMs)</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Story Q&amp;A box</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"Aapne DM me pucha: raat ko kya lagana chahiye?" — 4 real DM questions (screenshotted, permission).</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"Aapke DM se aaye 4 sawaal — aaj ke jawaab."</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Same format as Day 7: question text on screen → 12–15 sec answer. Q1: "Raat ko kya lagana chahiye?" → "Night cream ya moisturizer — raat ko skin repair me hoti hai; hafte me 2–3 din hafte me ek exfoliant (agar skin allow kare). Hamari night cream agle mahine — list me raho." (Night cream seed, no selling.) Q2: "Oily skin + serum? Zyada oil?" → "Nahi — gel serum oily skin par theek hai; moisturizer bhi lagao, gel type." Q3: "Kitne din me?" → "4–6 hafte, honestly." Q4: "Maa ke liye order karun, 55 ki hai?" → "Haan — gifting box banata hain, WhatsApp par batao."</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each Q + short answer; end: "Naya sawaal? DM karo."</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"Aapke DM = aaj ka content. Aur haan — maa ke liye bhi banate hain. 💛 #SkincareQnA #RangatNaturals"</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"DM karo apna sawaal — Sunday Q&amp;A me jawab."</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28 (Sun) — REEL · 40–50s · Pillar 1+6: COMMUNITY Q&amp;A (from real DMs)</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Community loop + Night Cream anticipation + gifting angle (Diwali seed for Nov).</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Buyers (Q3) + gifters (Q4 — big in Gujarat).</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Night cream waitlist; gifting = AOV + Diwali campaign pre-warming.</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29 (Mon) — REEL · 35–45s · Pillar 6+7: MILESTONE + REFERRAL LAUNCH</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 → WhatsApp broadcast to all buyers</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"Launch ka pehla hafte — aapne X orders kiye. Ab: do ₹100, lo ₹100."</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"Pehle hafte me X orders aaye. Hum toh soch rahe the 30. Aur aaj ek naya cheez."</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Founder at packing table, real order list (blurred names), counting boxes with delight (not arrogance). Cut to: referral card close-up ("Give ₹100, Get ₹100").</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"Pehla hafte — X orders, [cities: Ahmedabad, Surat, Vadodara...] se. Ek ek WhatsApp pe thank-you likha, ek ek reply padha. Aaj se ek aur cheez: referral. Aapke friend ko order par ₹100 off, aapko next order par ₹100 off. Kaise? Profile link par code milega, use share karo. Iska matlab: aapka har share = ek nayi aahai ka pehla order + aapka next order sasta. Humare liye yeh sabse sasta 'ad' hai — aapki recommendation."</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"WEEK 1: X orders" → "REFERRAL: Do ₹100 · Lo ₹100" → "Code: profile link par"</a:t>
            </a:r>
          </a:p>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"Week 1 done. Ab game aapka hai: do ₹100, lo ₹100. #Referral #RangatNaturals #SkincareIndia"</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29 (Mon) — REEL · 35–45s · Pillar 6+7: MILESTONE + REFERRAL LAUNCH</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"Apna code lo (profile) + 1 dost ko bhejo — aaj."</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Social proof (numbers) + referral engine ignition + community celebration.</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Existing buyers (referrers) + their networks.</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Referral = cheapest CAC; target 15–20% of Week 5–6 orders from referrals.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30 (Tue) — REEL · 35–45s · Pillar 7: OFFER CLOSE + NEXT PRODUCT TEASE</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Platform:</a:t>
            </a:r>
            <a:r>
              <a:rPr sz="1350" b="0" i="0">
                <a:solidFill>
                  <a:srgbClr val="2A2622"/>
                </a:solidFill>
                <a:latin typeface="Calibri"/>
              </a:rPr>
              <a:t> IG Reel → FB → ads: shift budget 70% to this + D21 + D26</a:t>
            </a:r>
          </a:p>
          <a:p>
            <a:pPr>
              <a:spcAft>
                <a:spcPts val="400"/>
              </a:spcAft>
            </a:pPr>
            <a:r>
              <a:rPr sz="1350">
                <a:solidFill>
                  <a:srgbClr val="B44A2E"/>
                </a:solidFill>
                <a:latin typeface="Calibri"/>
              </a:rPr>
              <a:t>•  </a:t>
            </a:r>
            <a:r>
              <a:rPr sz="1350" b="1" i="0">
                <a:solidFill>
                  <a:srgbClr val="2A2622"/>
                </a:solidFill>
                <a:latin typeface="Calibri"/>
              </a:rPr>
              <a:t>Idea:</a:t>
            </a:r>
            <a:r>
              <a:rPr sz="1350" b="0" i="0">
                <a:solidFill>
                  <a:srgbClr val="2A2622"/>
                </a:solidFill>
                <a:latin typeface="Calibri"/>
              </a:rPr>
              <a:t> "Founding 100 me X seat bachi. Aur next kya aayega?" (real count; if sold out → "batch 2 waitlist")</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"Founding 100 me sirf X seat bachi. Aur haan — next product ka ek jhaanki bhi dila du."</a:t>
            </a:r>
          </a:p>
          <a:p>
            <a:pPr>
              <a:spcAft>
                <a:spcPts val="400"/>
              </a:spcAft>
            </a:pPr>
            <a:r>
              <a:rPr sz="1350">
                <a:solidFill>
                  <a:srgbClr val="B44A2E"/>
                </a:solidFill>
                <a:latin typeface="Calibri"/>
              </a:rPr>
              <a:t>•  </a:t>
            </a:r>
            <a:r>
              <a:rPr sz="1350" b="1" i="0">
                <a:solidFill>
                  <a:srgbClr val="2A2622"/>
                </a:solidFill>
                <a:latin typeface="Calibri"/>
              </a:rPr>
              <a:t>Concept:</a:t>
            </a:r>
            <a:r>
              <a:rPr sz="1350" b="0" i="0">
                <a:solidFill>
                  <a:srgbClr val="2A2622"/>
                </a:solidFill>
                <a:latin typeface="Calibri"/>
              </a:rPr>
              <a:t> Box count visual (X boxes left on shelf, real) → founder to camera → blurred silhouette/box of Sunscreen (Month-2 product) with "SOON" text → teaser 3 sec (texture on hand, white, no claims).</a:t>
            </a:r>
          </a:p>
          <a:p>
            <a:pPr>
              <a:spcAft>
                <a:spcPts val="400"/>
              </a:spcAft>
            </a:pPr>
            <a:r>
              <a:rPr sz="1350">
                <a:solidFill>
                  <a:srgbClr val="B44A2E"/>
                </a:solidFill>
                <a:latin typeface="Calibri"/>
              </a:rPr>
              <a:t>•  </a:t>
            </a:r>
            <a:r>
              <a:rPr sz="1350" b="1" i="0">
                <a:solidFill>
                  <a:srgbClr val="2A2622"/>
                </a:solidFill>
                <a:latin typeface="Calibri"/>
              </a:rPr>
              <a:t>Script:</a:t>
            </a:r>
            <a:r>
              <a:rPr sz="1350" b="0" i="0">
                <a:solidFill>
                  <a:srgbClr val="2A2622"/>
                </a:solidFill>
                <a:latin typeface="Calibri"/>
              </a:rPr>
              <a:t> "Seedhi baat: pehle 100 me se ab X bache hain. Phir? Regular price, agla batch agle mahine — aur tab tak aapke paas 4 hafte ke results honge. Order karni ho — GLOW likho, COD hai, aaj ka order kal tak pack. Aur ek teaser: aapne 50+ baar pucha 'sunscreen kab?' — agle mahine. Gujarat ke mausam ke liye. Follow karo taaki miss na ho. Aur agar abhi bhi soch rahi ho — 29 din ka poora safar aapne dekha: 20 testers, asli photos, 100 boxes. Aapko kya sochta hai — yeh brand sachcha hai. Bas itna."</a:t>
            </a:r>
          </a:p>
          <a:p>
            <a:pPr>
              <a:spcAft>
                <a:spcPts val="400"/>
              </a:spcAft>
            </a:pPr>
            <a:r>
              <a:rPr sz="1350">
                <a:solidFill>
                  <a:srgbClr val="B44A2E"/>
                </a:solidFill>
                <a:latin typeface="Calibri"/>
              </a:rPr>
              <a:t>•  </a:t>
            </a:r>
            <a:r>
              <a:rPr sz="1350" b="1" i="0">
                <a:solidFill>
                  <a:srgbClr val="2A2622"/>
                </a:solidFill>
                <a:latin typeface="Calibri"/>
              </a:rPr>
              <a:t>On-screen text:</a:t>
            </a:r>
            <a:r>
              <a:rPr sz="1350" b="0" i="0">
                <a:solidFill>
                  <a:srgbClr val="2A2622"/>
                </a:solidFill>
                <a:latin typeface="Calibri"/>
              </a:rPr>
              <a:t> "X/100 left" → "Agla batch: agle mahine" → "NEXT: SUNSCREEN — agle mahine ☀️" → "GLOW = order"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30 (Tue) — REEL · 35–45s · Pillar 7: OFFER CLOSE + NEXT PRODUCT TEASE</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Caption:</a:t>
            </a:r>
            <a:r>
              <a:rPr sz="1350" b="0" i="0">
                <a:solidFill>
                  <a:srgbClr val="2A2622"/>
                </a:solidFill>
                <a:latin typeface="Calibri"/>
              </a:rPr>
              <a:t> "X seat bachi. Aur next: sunscreen — agle mahine, Gujarat ke mausam ke liye. #RangatNaturals #SunscreenComing #SkincareIndia"</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"Aaj: 'GLOW' DM karo. Ya waitlist me jao (link in bio) batch 2 ke liye."</a:t>
            </a:r>
          </a:p>
          <a:p>
            <a:pPr>
              <a:spcAft>
                <a:spcPts val="400"/>
              </a:spcAft>
            </a:pPr>
            <a:r>
              <a:rPr sz="1350">
                <a:solidFill>
                  <a:srgbClr val="B44A2E"/>
                </a:solidFill>
                <a:latin typeface="Calibri"/>
              </a:rPr>
              <a:t>•  </a:t>
            </a:r>
            <a:r>
              <a:rPr sz="1350" b="1" i="0">
                <a:solidFill>
                  <a:srgbClr val="2A2622"/>
                </a:solidFill>
                <a:latin typeface="Calibri"/>
              </a:rPr>
              <a:t>Content purpose:</a:t>
            </a:r>
            <a:r>
              <a:rPr sz="1350" b="0" i="0">
                <a:solidFill>
                  <a:srgbClr val="2A2622"/>
                </a:solidFill>
                <a:latin typeface="Calibri"/>
              </a:rPr>
              <a:t> Close the offer window + tee up Month 2 + full-circle trust recap.</a:t>
            </a:r>
          </a:p>
          <a:p>
            <a:pPr>
              <a:spcAft>
                <a:spcPts val="400"/>
              </a:spcAft>
            </a:pPr>
            <a:r>
              <a:rPr sz="1350">
                <a:solidFill>
                  <a:srgbClr val="B44A2E"/>
                </a:solidFill>
                <a:latin typeface="Calibri"/>
              </a:rPr>
              <a:t>•  </a:t>
            </a:r>
            <a:r>
              <a:rPr sz="1350" b="1" i="0">
                <a:solidFill>
                  <a:srgbClr val="2A2622"/>
                </a:solidFill>
                <a:latin typeface="Calibri"/>
              </a:rPr>
              <a:t>Target customer:</a:t>
            </a:r>
            <a:r>
              <a:rPr sz="1350" b="0" i="0">
                <a:solidFill>
                  <a:srgbClr val="2A2622"/>
                </a:solidFill>
                <a:latin typeface="Calibri"/>
              </a:rPr>
              <a:t> All warm + retargeting.</a:t>
            </a:r>
          </a:p>
          <a:p>
            <a:pPr>
              <a:spcAft>
                <a:spcPts val="400"/>
              </a:spcAft>
            </a:pPr>
            <a:r>
              <a:rPr sz="1350">
                <a:solidFill>
                  <a:srgbClr val="B44A2E"/>
                </a:solidFill>
                <a:latin typeface="Calibri"/>
              </a:rPr>
              <a:t>•  </a:t>
            </a:r>
            <a:r>
              <a:rPr sz="1350" b="1" i="0">
                <a:solidFill>
                  <a:srgbClr val="2A2622"/>
                </a:solidFill>
                <a:latin typeface="Calibri"/>
              </a:rPr>
              <a:t>Sales purpose:</a:t>
            </a:r>
            <a:r>
              <a:rPr sz="1350" b="0" i="0">
                <a:solidFill>
                  <a:srgbClr val="2A2622"/>
                </a:solidFill>
                <a:latin typeface="Calibri"/>
              </a:rPr>
              <a:t> Final push on Founding 100 (real deadline: batch) + Sunscreen waitlist building (target 200+ by launch).</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30 — THE NUMBERS THAT MATTER (review these before planning Week 5)</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3" cy="5029200"/>
        </p:xfrm>
        <a:graphic>
          <a:graphicData uri="http://schemas.openxmlformats.org/drawingml/2006/table">
            <a:tbl>
              <a:tblPr firstRow="1" bandRow="1">
                <a:tableStyleId>{5C22544A-7EE6-4342-B048-85BDC9FD1C3A}</a:tableStyleId>
              </a:tblPr>
              <a:tblGrid>
                <a:gridCol w="3267123"/>
                <a:gridCol w="1283512"/>
                <a:gridCol w="7000978"/>
              </a:tblGrid>
              <a:tr h="558800">
                <a:tc>
                  <a:txBody>
                    <a:bodyPr wrap="square"/>
                    <a:lstStyle/>
                    <a:p>
                      <a:r>
                        <a:rPr sz="1200" b="1" i="0">
                          <a:solidFill>
                            <a:srgbClr val="FFFFFF"/>
                          </a:solidFill>
                          <a:latin typeface="Calibri"/>
                        </a:rPr>
                        <a:t>Metric</a:t>
                      </a:r>
                    </a:p>
                  </a:txBody>
                  <a:tcPr marL="45720" marR="45720" marT="18288" marB="18288" anchor="t">
                    <a:solidFill>
                      <a:srgbClr val="B44A2E"/>
                    </a:solidFill>
                  </a:tcPr>
                </a:tc>
                <a:tc>
                  <a:txBody>
                    <a:bodyPr wrap="square"/>
                    <a:lstStyle/>
                    <a:p>
                      <a:r>
                        <a:rPr sz="1200" b="1" i="0">
                          <a:solidFill>
                            <a:srgbClr val="FFFFFF"/>
                          </a:solidFill>
                          <a:latin typeface="Calibri"/>
                        </a:rPr>
                        <a:t>Target</a:t>
                      </a:r>
                    </a:p>
                  </a:txBody>
                  <a:tcPr marL="45720" marR="45720" marT="18288" marB="18288" anchor="t">
                    <a:solidFill>
                      <a:srgbClr val="B44A2E"/>
                    </a:solidFill>
                  </a:tcPr>
                </a:tc>
                <a:tc>
                  <a:txBody>
                    <a:bodyPr wrap="square"/>
                    <a:lstStyle/>
                    <a:p>
                      <a:r>
                        <a:rPr sz="1200" b="1" i="0">
                          <a:solidFill>
                            <a:srgbClr val="FFFFFF"/>
                          </a:solidFill>
                          <a:latin typeface="Calibri"/>
                        </a:rPr>
                        <a:t>If below target, fix</a:t>
                      </a:r>
                    </a:p>
                  </a:txBody>
                  <a:tcPr marL="45720" marR="45720" marT="18288" marB="18288" anchor="t">
                    <a:solidFill>
                      <a:srgbClr val="B44A2E"/>
                    </a:solidFill>
                  </a:tcPr>
                </a:tc>
              </a:tr>
              <a:tr h="558800">
                <a:tc>
                  <a:txBody>
                    <a:bodyPr wrap="square"/>
                    <a:lstStyle/>
                    <a:p>
                      <a:r>
                        <a:rPr sz="1200" b="0" i="0">
                          <a:solidFill>
                            <a:srgbClr val="2A2622"/>
                          </a:solidFill>
                          <a:latin typeface="Calibri"/>
                        </a:rPr>
                        <a:t>Orders (Day 1–30)</a:t>
                      </a:r>
                    </a:p>
                  </a:txBody>
                  <a:tcPr marL="45720" marR="45720" marT="18288" marB="18288" anchor="t">
                    <a:solidFill>
                      <a:srgbClr val="FFFFFF"/>
                    </a:solidFill>
                  </a:tcPr>
                </a:tc>
                <a:tc>
                  <a:txBody>
                    <a:bodyPr wrap="square"/>
                    <a:lstStyle/>
                    <a:p>
                      <a:r>
                        <a:rPr sz="1200" b="1" i="0">
                          <a:solidFill>
                            <a:srgbClr val="2A2622"/>
                          </a:solidFill>
                          <a:latin typeface="Calibri"/>
                        </a:rPr>
                        <a:t>80–100</a:t>
                      </a:r>
                    </a:p>
                  </a:txBody>
                  <a:tcPr marL="45720" marR="45720" marT="18288" marB="18288" anchor="t">
                    <a:solidFill>
                      <a:srgbClr val="FFFFFF"/>
                    </a:solidFill>
                  </a:tcPr>
                </a:tc>
                <a:tc>
                  <a:txBody>
                    <a:bodyPr wrap="square"/>
                    <a:lstStyle/>
                    <a:p>
                      <a:r>
                        <a:rPr sz="1200" b="0" i="0">
                          <a:solidFill>
                            <a:srgbClr val="2A2622"/>
                          </a:solidFill>
                          <a:latin typeface="Calibri"/>
                        </a:rPr>
                        <a:t>DM reply speed (&gt;15 min) → fix; COD clarity → re-run D22; offer strength → add kit</a:t>
                      </a:r>
                    </a:p>
                  </a:txBody>
                  <a:tcPr marL="45720" marR="45720" marT="18288" marB="18288" anchor="t">
                    <a:solidFill>
                      <a:srgbClr val="FFFFFF"/>
                    </a:solidFill>
                  </a:tcPr>
                </a:tc>
              </a:tr>
              <a:tr h="558800">
                <a:tc>
                  <a:txBody>
                    <a:bodyPr wrap="square"/>
                    <a:lstStyle/>
                    <a:p>
                      <a:r>
                        <a:rPr sz="1200" b="0" i="0">
                          <a:solidFill>
                            <a:srgbClr val="2A2622"/>
                          </a:solidFill>
                          <a:latin typeface="Calibri"/>
                        </a:rPr>
                        <a:t>"GLOW" DMs received</a:t>
                      </a:r>
                    </a:p>
                  </a:txBody>
                  <a:tcPr marL="45720" marR="45720" marT="18288" marB="18288" anchor="t">
                    <a:solidFill>
                      <a:srgbClr val="F6F1E7"/>
                    </a:solidFill>
                  </a:tcPr>
                </a:tc>
                <a:tc>
                  <a:txBody>
                    <a:bodyPr wrap="square"/>
                    <a:lstStyle/>
                    <a:p>
                      <a:r>
                        <a:rPr sz="1200" b="0" i="0">
                          <a:solidFill>
                            <a:srgbClr val="2A2622"/>
                          </a:solidFill>
                          <a:latin typeface="Calibri"/>
                        </a:rPr>
                        <a:t>600–1,000</a:t>
                      </a:r>
                    </a:p>
                  </a:txBody>
                  <a:tcPr marL="45720" marR="45720" marT="18288" marB="18288" anchor="t">
                    <a:solidFill>
                      <a:srgbClr val="F6F1E7"/>
                    </a:solidFill>
                  </a:tcPr>
                </a:tc>
                <a:tc>
                  <a:txBody>
                    <a:bodyPr wrap="square"/>
                    <a:lstStyle/>
                    <a:p>
                      <a:r>
                        <a:rPr sz="1200" b="0" i="0">
                          <a:solidFill>
                            <a:srgbClr val="2A2622"/>
                          </a:solidFill>
                          <a:latin typeface="Calibri"/>
                        </a:rPr>
                        <a:t>Reel CTA weak → test hooks from </a:t>
                      </a:r>
                      <a:r>
                        <a:rPr sz="1050" b="0" i="0">
                          <a:solidFill>
                            <a:srgbClr val="8F3A22"/>
                          </a:solidFill>
                          <a:latin typeface="Consolas"/>
                        </a:rPr>
                        <a:t>07-hooks-library.md</a:t>
                      </a:r>
                    </a:p>
                  </a:txBody>
                  <a:tcPr marL="45720" marR="45720" marT="18288" marB="18288" anchor="t">
                    <a:solidFill>
                      <a:srgbClr val="F6F1E7"/>
                    </a:solidFill>
                  </a:tcPr>
                </a:tc>
              </a:tr>
              <a:tr h="558800">
                <a:tc>
                  <a:txBody>
                    <a:bodyPr wrap="square"/>
                    <a:lstStyle/>
                    <a:p>
                      <a:r>
                        <a:rPr sz="1200" b="0" i="0">
                          <a:solidFill>
                            <a:srgbClr val="2A2622"/>
                          </a:solidFill>
                          <a:latin typeface="Calibri"/>
                        </a:rPr>
                        <a:t>DM → order conversion</a:t>
                      </a:r>
                    </a:p>
                  </a:txBody>
                  <a:tcPr marL="45720" marR="45720" marT="18288" marB="18288" anchor="t">
                    <a:solidFill>
                      <a:srgbClr val="FFFFFF"/>
                    </a:solidFill>
                  </a:tcPr>
                </a:tc>
                <a:tc>
                  <a:txBody>
                    <a:bodyPr wrap="square"/>
                    <a:lstStyle/>
                    <a:p>
                      <a:r>
                        <a:rPr sz="1200" b="0" i="0">
                          <a:solidFill>
                            <a:srgbClr val="2A2622"/>
                          </a:solidFill>
                          <a:latin typeface="Calibri"/>
                        </a:rPr>
                        <a:t>25–40%</a:t>
                      </a:r>
                    </a:p>
                  </a:txBody>
                  <a:tcPr marL="45720" marR="45720" marT="18288" marB="18288" anchor="t">
                    <a:solidFill>
                      <a:srgbClr val="FFFFFF"/>
                    </a:solidFill>
                  </a:tcPr>
                </a:tc>
                <a:tc>
                  <a:txBody>
                    <a:bodyPr wrap="square"/>
                    <a:lstStyle/>
                    <a:p>
                      <a:r>
                        <a:rPr sz="1200" b="0" i="0">
                          <a:solidFill>
                            <a:srgbClr val="2A2622"/>
                          </a:solidFill>
                          <a:latin typeface="Calibri"/>
                        </a:rPr>
                        <a:t>Script gaps → use </a:t>
                      </a:r>
                      <a:r>
                        <a:rPr sz="1050" b="0" i="0">
                          <a:solidFill>
                            <a:srgbClr val="8F3A22"/>
                          </a:solidFill>
                          <a:latin typeface="Consolas"/>
                        </a:rPr>
                        <a:t>19-first-followers-customers.md</a:t>
                      </a:r>
                      <a:r>
                        <a:rPr sz="1200" b="0" i="0">
                          <a:solidFill>
                            <a:srgbClr val="2A2622"/>
                          </a:solidFill>
                          <a:latin typeface="Calibri"/>
                        </a:rPr>
                        <a:t> DM script</a:t>
                      </a:r>
                    </a:p>
                  </a:txBody>
                  <a:tcPr marL="45720" marR="45720" marT="18288" marB="18288" anchor="t">
                    <a:solidFill>
                      <a:srgbClr val="FFFFFF"/>
                    </a:solidFill>
                  </a:tcPr>
                </a:tc>
              </a:tr>
              <a:tr h="558800">
                <a:tc>
                  <a:txBody>
                    <a:bodyPr wrap="square"/>
                    <a:lstStyle/>
                    <a:p>
                      <a:r>
                        <a:rPr sz="1200" b="0" i="0">
                          <a:solidFill>
                            <a:srgbClr val="2A2622"/>
                          </a:solidFill>
                          <a:latin typeface="Calibri"/>
                        </a:rPr>
                        <a:t>Followers</a:t>
                      </a:r>
                    </a:p>
                  </a:txBody>
                  <a:tcPr marL="45720" marR="45720" marT="18288" marB="18288" anchor="t">
                    <a:solidFill>
                      <a:srgbClr val="F6F1E7"/>
                    </a:solidFill>
                  </a:tcPr>
                </a:tc>
                <a:tc>
                  <a:txBody>
                    <a:bodyPr wrap="square"/>
                    <a:lstStyle/>
                    <a:p>
                      <a:r>
                        <a:rPr sz="1200" b="0" i="0">
                          <a:solidFill>
                            <a:srgbClr val="2A2622"/>
                          </a:solidFill>
                          <a:latin typeface="Calibri"/>
                        </a:rPr>
                        <a:t>1,000–2,000</a:t>
                      </a:r>
                    </a:p>
                  </a:txBody>
                  <a:tcPr marL="45720" marR="45720" marT="18288" marB="18288" anchor="t">
                    <a:solidFill>
                      <a:srgbClr val="F6F1E7"/>
                    </a:solidFill>
                  </a:tcPr>
                </a:tc>
                <a:tc>
                  <a:txBody>
                    <a:bodyPr wrap="square"/>
                    <a:lstStyle/>
                    <a:p>
                      <a:r>
                        <a:rPr sz="1200" b="0" i="0">
                          <a:solidFill>
                            <a:srgbClr val="2A2622"/>
                          </a:solidFill>
                          <a:latin typeface="Calibri"/>
                        </a:rPr>
                        <a:t>Hook retention &lt; 25% at 3s → re-shoot hooks</a:t>
                      </a:r>
                    </a:p>
                  </a:txBody>
                  <a:tcPr marL="45720" marR="45720" marT="18288" marB="18288" anchor="t">
                    <a:solidFill>
                      <a:srgbClr val="F6F1E7"/>
                    </a:solidFill>
                  </a:tcPr>
                </a:tc>
              </a:tr>
              <a:tr h="558800">
                <a:tc>
                  <a:txBody>
                    <a:bodyPr wrap="square"/>
                    <a:lstStyle/>
                    <a:p>
                      <a:r>
                        <a:rPr sz="1200" b="0" i="0">
                          <a:solidFill>
                            <a:srgbClr val="2A2622"/>
                          </a:solidFill>
                          <a:latin typeface="Calibri"/>
                        </a:rPr>
                        <a:t>Real UGC assets</a:t>
                      </a:r>
                    </a:p>
                  </a:txBody>
                  <a:tcPr marL="45720" marR="45720" marT="18288" marB="18288" anchor="t">
                    <a:solidFill>
                      <a:srgbClr val="FFFFFF"/>
                    </a:solidFill>
                  </a:tcPr>
                </a:tc>
                <a:tc>
                  <a:txBody>
                    <a:bodyPr wrap="square"/>
                    <a:lstStyle/>
                    <a:p>
                      <a:r>
                        <a:rPr sz="1200" b="0" i="0">
                          <a:solidFill>
                            <a:srgbClr val="2A2622"/>
                          </a:solidFill>
                          <a:latin typeface="Calibri"/>
                        </a:rPr>
                        <a:t>15+</a:t>
                      </a:r>
                    </a:p>
                  </a:txBody>
                  <a:tcPr marL="45720" marR="45720" marT="18288" marB="18288" anchor="t">
                    <a:solidFill>
                      <a:srgbClr val="FFFFFF"/>
                    </a:solidFill>
                  </a:tcPr>
                </a:tc>
                <a:tc>
                  <a:txBody>
                    <a:bodyPr wrap="square"/>
                    <a:lstStyle/>
                    <a:p>
                      <a:r>
                        <a:rPr sz="1200" b="0" i="0">
                          <a:solidFill>
                            <a:srgbClr val="2A2622"/>
                          </a:solidFill>
                          <a:latin typeface="Calibri"/>
                        </a:rPr>
                        <a:t>Tester/creator pipeline stalled → push D17-style ask</a:t>
                      </a:r>
                    </a:p>
                  </a:txBody>
                  <a:tcPr marL="45720" marR="45720" marT="18288" marB="18288" anchor="t">
                    <a:solidFill>
                      <a:srgbClr val="FFFFFF"/>
                    </a:solidFill>
                  </a:tcPr>
                </a:tc>
              </a:tr>
              <a:tr h="558800">
                <a:tc>
                  <a:txBody>
                    <a:bodyPr wrap="square"/>
                    <a:lstStyle/>
                    <a:p>
                      <a:r>
                        <a:rPr sz="1200" b="0" i="0">
                          <a:solidFill>
                            <a:srgbClr val="2A2622"/>
                          </a:solidFill>
                          <a:latin typeface="Calibri"/>
                        </a:rPr>
                        <a:t>WhatsApp buyer list</a:t>
                      </a:r>
                    </a:p>
                  </a:txBody>
                  <a:tcPr marL="45720" marR="45720" marT="18288" marB="18288" anchor="t">
                    <a:solidFill>
                      <a:srgbClr val="F6F1E7"/>
                    </a:solidFill>
                  </a:tcPr>
                </a:tc>
                <a:tc>
                  <a:txBody>
                    <a:bodyPr wrap="square"/>
                    <a:lstStyle/>
                    <a:p>
                      <a:r>
                        <a:rPr sz="1200" b="0" i="0">
                          <a:solidFill>
                            <a:srgbClr val="2A2622"/>
                          </a:solidFill>
                          <a:latin typeface="Calibri"/>
                        </a:rPr>
                        <a:t>150+</a:t>
                      </a:r>
                    </a:p>
                  </a:txBody>
                  <a:tcPr marL="45720" marR="45720" marT="18288" marB="18288" anchor="t">
                    <a:solidFill>
                      <a:srgbClr val="F6F1E7"/>
                    </a:solidFill>
                  </a:tcPr>
                </a:tc>
                <a:tc>
                  <a:txBody>
                    <a:bodyPr wrap="square"/>
                    <a:lstStyle/>
                    <a:p>
                      <a:r>
                        <a:rPr sz="1200" b="0" i="0">
                          <a:solidFill>
                            <a:srgbClr val="2A2622"/>
                          </a:solidFill>
                          <a:latin typeface="Calibri"/>
                        </a:rPr>
                        <a:t>Post-purchase flow not running → </a:t>
                      </a:r>
                      <a:r>
                        <a:rPr sz="1050" b="0" i="0">
                          <a:solidFill>
                            <a:srgbClr val="8F3A22"/>
                          </a:solidFill>
                          <a:latin typeface="Consolas"/>
                        </a:rPr>
                        <a:t>18-funnel</a:t>
                      </a:r>
                      <a:r>
                        <a:rPr sz="1200" b="0" i="0">
                          <a:solidFill>
                            <a:srgbClr val="2A2622"/>
                          </a:solidFill>
                          <a:latin typeface="Calibri"/>
                        </a:rPr>
                        <a:t> Day-1/7/14 sequence</a:t>
                      </a:r>
                    </a:p>
                  </a:txBody>
                  <a:tcPr marL="45720" marR="45720" marT="18288" marB="18288" anchor="t">
                    <a:solidFill>
                      <a:srgbClr val="F6F1E7"/>
                    </a:solidFill>
                  </a:tcPr>
                </a:tc>
              </a:tr>
              <a:tr h="558800">
                <a:tc>
                  <a:txBody>
                    <a:bodyPr wrap="square"/>
                    <a:lstStyle/>
                    <a:p>
                      <a:r>
                        <a:rPr sz="1200" b="0" i="0">
                          <a:solidFill>
                            <a:srgbClr val="2A2622"/>
                          </a:solidFill>
                          <a:latin typeface="Calibri"/>
                        </a:rPr>
                        <a:t>COD success rate</a:t>
                      </a:r>
                    </a:p>
                  </a:txBody>
                  <a:tcPr marL="45720" marR="45720" marT="18288" marB="18288" anchor="t">
                    <a:solidFill>
                      <a:srgbClr val="FFFFFF"/>
                    </a:solidFill>
                  </a:tcPr>
                </a:tc>
                <a:tc>
                  <a:txBody>
                    <a:bodyPr wrap="square"/>
                    <a:lstStyle/>
                    <a:p>
                      <a:r>
                        <a:rPr sz="1200" b="0" i="0">
                          <a:solidFill>
                            <a:srgbClr val="2A2622"/>
                          </a:solidFill>
                          <a:latin typeface="Calibri"/>
                        </a:rPr>
                        <a:t>≥ 85%</a:t>
                      </a:r>
                    </a:p>
                  </a:txBody>
                  <a:tcPr marL="45720" marR="45720" marT="18288" marB="18288" anchor="t">
                    <a:solidFill>
                      <a:srgbClr val="FFFFFF"/>
                    </a:solidFill>
                  </a:tcPr>
                </a:tc>
                <a:tc>
                  <a:txBody>
                    <a:bodyPr wrap="square"/>
                    <a:lstStyle/>
                    <a:p>
                      <a:r>
                        <a:rPr sz="1200" b="0" i="0">
                          <a:solidFill>
                            <a:srgbClr val="2A2622"/>
                          </a:solidFill>
                          <a:latin typeface="Calibri"/>
                        </a:rPr>
                        <a:t>&lt; 85% = pre-confirmation WhatsApp call missed → add it</a:t>
                      </a:r>
                    </a:p>
                  </a:txBody>
                  <a:tcPr marL="45720" marR="45720" marT="18288" marB="18288" anchor="t">
                    <a:solidFill>
                      <a:srgbClr val="FFFFFF"/>
                    </a:solidFill>
                  </a:tcPr>
                </a:tc>
              </a:tr>
              <a:tr h="558800">
                <a:tc>
                  <a:txBody>
                    <a:bodyPr wrap="square"/>
                    <a:lstStyle/>
                    <a:p>
                      <a:r>
                        <a:rPr sz="1200" b="0" i="0">
                          <a:solidFill>
                            <a:srgbClr val="2A2622"/>
                          </a:solidFill>
                          <a:latin typeface="Calibri"/>
                        </a:rPr>
                        <a:t>First repeat/referral orders</a:t>
                      </a:r>
                    </a:p>
                  </a:txBody>
                  <a:tcPr marL="45720" marR="45720" marT="18288" marB="18288" anchor="t">
                    <a:solidFill>
                      <a:srgbClr val="F6F1E7"/>
                    </a:solidFill>
                  </a:tcPr>
                </a:tc>
                <a:tc>
                  <a:txBody>
                    <a:bodyPr wrap="square"/>
                    <a:lstStyle/>
                    <a:p>
                      <a:r>
                        <a:rPr sz="1200" b="0" i="0">
                          <a:solidFill>
                            <a:srgbClr val="2A2622"/>
                          </a:solidFill>
                          <a:latin typeface="Calibri"/>
                        </a:rPr>
                        <a:t>5–10</a:t>
                      </a:r>
                    </a:p>
                  </a:txBody>
                  <a:tcPr marL="45720" marR="45720" marT="18288" marB="18288" anchor="t">
                    <a:solidFill>
                      <a:srgbClr val="F6F1E7"/>
                    </a:solidFill>
                  </a:tcPr>
                </a:tc>
                <a:tc>
                  <a:txBody>
                    <a:bodyPr wrap="square"/>
                    <a:lstStyle/>
                    <a:p>
                      <a:r>
                        <a:rPr sz="1200" b="0" i="0">
                          <a:solidFill>
                            <a:srgbClr val="2A2622"/>
                          </a:solidFill>
                          <a:latin typeface="Calibri"/>
                        </a:rPr>
                        <a:t>Referral not pushed hard enough → broadcast #2</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DAY 30 — THE NUMBERS THAT MATTER (review these before planning Week 5)</a:t>
            </a:r>
          </a:p>
          <a:p>
            <a:r>
              <a:rPr sz="1200" i="1">
                <a:solidFill>
                  <a:srgbClr val="57504A"/>
                </a:solidFill>
                <a:latin typeface="Calibri"/>
              </a:rPr>
              <a:t>PART 7 — 30-Day Daily Content Calendar (Days 21–30)</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Week 5 (Days 31–60) handoff:</a:t>
            </a:r>
            <a:r>
              <a:rPr sz="1350" b="0" i="0">
                <a:solidFill>
                  <a:srgbClr val="2A2622"/>
                </a:solidFill>
                <a:latin typeface="Calibri"/>
              </a:rPr>
              <a:t> Sunscreen content starts (waitlist), Night Cream seed grows, first retargeting ads live, 5 more creators, ad budget scales to ₹1,000/day on winners. Full detail: </a:t>
            </a:r>
            <a:r>
              <a:rPr sz="1200" b="0" i="0">
                <a:solidFill>
                  <a:srgbClr val="8F3A22"/>
                </a:solidFill>
                <a:latin typeface="Consolas"/>
              </a:rPr>
              <a:t>20-90-day-master-plan.md</a:t>
            </a:r>
            <a:r>
              <a:rPr sz="1350" b="0" i="0">
                <a:solidFill>
                  <a:srgbClr val="2A2622"/>
                </a:solidFill>
                <a:latin typeface="Calibri"/>
              </a:rPr>
              <a: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8</a:t>
            </a:r>
          </a:p>
        </p:txBody>
      </p:sp>
      <p:sp>
        <p:nvSpPr>
          <p:cNvPr id="4" name="TextBox 3"/>
          <p:cNvSpPr txBox="1"/>
          <p:nvPr/>
        </p:nvSpPr>
        <p:spPr>
          <a:xfrm>
            <a:off x="914400" y="2377440"/>
            <a:ext cx="10362895" cy="1645920"/>
          </a:xfrm>
          <a:prstGeom prst="rect">
            <a:avLst/>
          </a:prstGeom>
          <a:noFill/>
        </p:spPr>
        <p:txBody>
          <a:bodyPr wrap="square">
            <a:spAutoFit/>
          </a:bodyPr>
          <a:lstStyle/>
          <a:p>
            <a:r>
              <a:rPr sz="3000" b="1">
                <a:solidFill>
                  <a:srgbClr val="8F3A22"/>
                </a:solidFill>
                <a:latin typeface="Calibri"/>
              </a:rPr>
              <a:t>§6 HOOK STRATEGY + HOOK LIBRARY — RANGAT NATURALS</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Hook Strategy + Hook Library</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Why hooks are the whole game</a:t>
            </a:r>
          </a:p>
          <a:p>
            <a:r>
              <a:rPr sz="1200" i="1">
                <a:solidFill>
                  <a:srgbClr val="57504A"/>
                </a:solidFill>
                <a:latin typeface="Calibri"/>
              </a:rPr>
              <a:t>PART 8 — Hook Strategy + Hook Library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For a zero-followers account, </a:t>
            </a:r>
            <a:r>
              <a:rPr sz="1350" b="1" i="0">
                <a:solidFill>
                  <a:srgbClr val="2A2622"/>
                </a:solidFill>
                <a:latin typeface="Calibri"/>
              </a:rPr>
              <a:t>100% of your reach is earned in the first 2 seconds.</a:t>
            </a:r>
            <a:r>
              <a:rPr sz="1350" b="0" i="0">
                <a:solidFill>
                  <a:srgbClr val="2A2622"/>
                </a:solidFill>
                <a:latin typeface="Calibri"/>
              </a:rPr>
              <a:t> The hook is not a headline — it's the </a:t>
            </a:r>
            <a:r>
              <a:rPr sz="1350" b="0" i="1">
                <a:solidFill>
                  <a:srgbClr val="2A2622"/>
                </a:solidFill>
                <a:latin typeface="Calibri"/>
              </a:rPr>
              <a:t>first spoken line + first on-screen text + first frame</a:t>
            </a:r>
            <a:r>
              <a:rPr sz="1350" b="0" i="0">
                <a:solidFill>
                  <a:srgbClr val="2A2622"/>
                </a:solidFill>
                <a:latin typeface="Calibri"/>
              </a:rPr>
              <a:t>, all saying the same thing in under 2 seconds. Rule: if the hook needs a "welcome" or "so today we will…", it's dead. Start mid-action.</a:t>
            </a:r>
          </a:p>
          <a:p>
            <a:pPr>
              <a:spcAft>
                <a:spcPts val="700"/>
              </a:spcAft>
            </a:pPr>
            <a:r>
              <a:rPr sz="1350" b="1" i="0">
                <a:solidFill>
                  <a:srgbClr val="2A2622"/>
                </a:solidFill>
                <a:latin typeface="Calibri"/>
              </a:rPr>
              <a:t>Hook anatomy (pick the style, fill the blank):</a:t>
            </a:r>
          </a:p>
          <a:p>
            <a:pPr>
              <a:spcAft>
                <a:spcPts val="400"/>
              </a:spcAft>
            </a:pPr>
            <a:r>
              <a:rPr sz="1350" b="1">
                <a:solidFill>
                  <a:srgbClr val="8F3A22"/>
                </a:solidFill>
                <a:latin typeface="Calibri"/>
              </a:rPr>
              <a:t>1.  </a:t>
            </a:r>
            <a:r>
              <a:rPr sz="1350" b="1" i="0">
                <a:solidFill>
                  <a:srgbClr val="2A2622"/>
                </a:solidFill>
                <a:latin typeface="Calibri"/>
              </a:rPr>
              <a:t>Who it's for</a:t>
            </a:r>
            <a:r>
              <a:rPr sz="1350" b="0" i="0">
                <a:solidFill>
                  <a:srgbClr val="2A2622"/>
                </a:solidFill>
                <a:latin typeface="Calibri"/>
              </a:rPr>
              <a:t> (segment callout): "Oily skin wale, ruko…"</a:t>
            </a:r>
          </a:p>
          <a:p>
            <a:pPr>
              <a:spcAft>
                <a:spcPts val="400"/>
              </a:spcAft>
            </a:pPr>
            <a:r>
              <a:rPr sz="1350" b="1">
                <a:solidFill>
                  <a:srgbClr val="8F3A22"/>
                </a:solidFill>
                <a:latin typeface="Calibri"/>
              </a:rPr>
              <a:t>2.  </a:t>
            </a:r>
            <a:r>
              <a:rPr sz="1350" b="1" i="0">
                <a:solidFill>
                  <a:srgbClr val="2A2622"/>
                </a:solidFill>
                <a:latin typeface="Calibri"/>
              </a:rPr>
              <a:t>The tension</a:t>
            </a:r>
            <a:r>
              <a:rPr sz="1350" b="0" i="0">
                <a:solidFill>
                  <a:srgbClr val="2A2622"/>
                </a:solidFill>
                <a:latin typeface="Calibri"/>
              </a:rPr>
              <a:t> (problem/fear/myth): "Yeh galti aap roz karti ho…"</a:t>
            </a:r>
          </a:p>
          <a:p>
            <a:pPr>
              <a:spcAft>
                <a:spcPts val="400"/>
              </a:spcAft>
            </a:pPr>
            <a:r>
              <a:rPr sz="1350" b="1">
                <a:solidFill>
                  <a:srgbClr val="8F3A22"/>
                </a:solidFill>
                <a:latin typeface="Calibri"/>
              </a:rPr>
              <a:t>3.  </a:t>
            </a:r>
            <a:r>
              <a:rPr sz="1350" b="1" i="0">
                <a:solidFill>
                  <a:srgbClr val="2A2622"/>
                </a:solidFill>
                <a:latin typeface="Calibri"/>
              </a:rPr>
              <a:t>The payoff promise</a:t>
            </a:r>
            <a:r>
              <a:rPr sz="1350" b="0" i="0">
                <a:solidFill>
                  <a:srgbClr val="2A2622"/>
                </a:solidFill>
                <a:latin typeface="Calibri"/>
              </a:rPr>
              <a:t> (what they'll get in 30 sec): "60 second me samjho…"</a:t>
            </a:r>
          </a:p>
          <a:p>
            <a:pPr>
              <a:spcAft>
                <a:spcPts val="700"/>
              </a:spcAft>
            </a:pPr>
            <a:r>
              <a:rPr sz="1350" b="1" i="0">
                <a:solidFill>
                  <a:srgbClr val="2A2622"/>
                </a:solidFill>
                <a:latin typeface="Calibri"/>
              </a:rPr>
              <a:t>Retention engineering (apply to every reel):</a:t>
            </a:r>
          </a:p>
          <a:p>
            <a:pPr>
              <a:spcAft>
                <a:spcPts val="400"/>
              </a:spcAft>
            </a:pPr>
            <a:r>
              <a:rPr sz="1350">
                <a:solidFill>
                  <a:srgbClr val="B44A2E"/>
                </a:solidFill>
                <a:latin typeface="Calibri"/>
              </a:rPr>
              <a:t>•  </a:t>
            </a:r>
            <a:r>
              <a:rPr sz="1350" b="0" i="0">
                <a:solidFill>
                  <a:srgbClr val="2A2622"/>
                </a:solidFill>
                <a:latin typeface="Calibri"/>
              </a:rPr>
              <a:t>0–2s: hook (spoken + text + face close)</a:t>
            </a:r>
          </a:p>
          <a:p>
            <a:pPr>
              <a:spcAft>
                <a:spcPts val="400"/>
              </a:spcAft>
            </a:pPr>
            <a:r>
              <a:rPr sz="1350">
                <a:solidFill>
                  <a:srgbClr val="B44A2E"/>
                </a:solidFill>
                <a:latin typeface="Calibri"/>
              </a:rPr>
              <a:t>•  </a:t>
            </a:r>
            <a:r>
              <a:rPr sz="1350" b="0" i="0">
                <a:solidFill>
                  <a:srgbClr val="2A2622"/>
                </a:solidFill>
                <a:latin typeface="Calibri"/>
              </a:rPr>
              <a:t>2–5s: </a:t>
            </a:r>
            <a:r>
              <a:rPr sz="1350" b="1" i="0">
                <a:solidFill>
                  <a:srgbClr val="2A2622"/>
                </a:solidFill>
                <a:latin typeface="Calibri"/>
              </a:rPr>
              <a:t>pattern interrupt</a:t>
            </a:r>
            <a:r>
              <a:rPr sz="1350" b="0" i="0">
                <a:solidFill>
                  <a:srgbClr val="2A2622"/>
                </a:solidFill>
                <a:latin typeface="Calibri"/>
              </a:rPr>
              <a:t> — a cut, a prop, a "wait" ("par ruklo, yeh dekho")</a:t>
            </a:r>
          </a:p>
          <a:p>
            <a:pPr>
              <a:spcAft>
                <a:spcPts val="400"/>
              </a:spcAft>
            </a:pPr>
            <a:r>
              <a:rPr sz="1350">
                <a:solidFill>
                  <a:srgbClr val="B44A2E"/>
                </a:solidFill>
                <a:latin typeface="Calibri"/>
              </a:rPr>
              <a:t>•  </a:t>
            </a:r>
            <a:r>
              <a:rPr sz="1350" b="0" i="0">
                <a:solidFill>
                  <a:srgbClr val="2A2622"/>
                </a:solidFill>
                <a:latin typeface="Calibri"/>
              </a:rPr>
              <a:t>Every 5–7s: new visual or new micro-promise ("aur 2nd cheez zyada important hai")</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Why hooks are the whole game</a:t>
            </a:r>
          </a:p>
          <a:p>
            <a:r>
              <a:rPr sz="1200" i="1">
                <a:solidFill>
                  <a:srgbClr val="57504A"/>
                </a:solidFill>
                <a:latin typeface="Calibri"/>
              </a:rPr>
              <a:t>PART 8 — Hook Strategy + Hook Library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Last 3s: CTA (spoken + text)</a:t>
            </a:r>
          </a:p>
          <a:p>
            <a:pPr>
              <a:spcAft>
                <a:spcPts val="400"/>
              </a:spcAft>
            </a:pPr>
            <a:r>
              <a:rPr sz="1350">
                <a:solidFill>
                  <a:srgbClr val="B44A2E"/>
                </a:solidFill>
                <a:latin typeface="Calibri"/>
              </a:rPr>
              <a:t>•  </a:t>
            </a:r>
            <a:r>
              <a:rPr sz="1350" b="0" i="0">
                <a:solidFill>
                  <a:srgbClr val="2A2622"/>
                </a:solidFill>
                <a:latin typeface="Calibri"/>
              </a:rPr>
              <a:t>Hard cap: 30–45 sec for product/education; 60 sec max for stories.</a:t>
            </a:r>
          </a:p>
          <a:p>
            <a:pPr>
              <a:spcAft>
                <a:spcPts val="700"/>
              </a:spcAft>
            </a:pPr>
            <a:r>
              <a:rPr sz="1350" b="1" i="0">
                <a:solidFill>
                  <a:srgbClr val="2A2622"/>
                </a:solidFill>
                <a:latin typeface="Calibri"/>
              </a:rPr>
              <a:t>Compliance line for hooks:</a:t>
            </a:r>
            <a:r>
              <a:rPr sz="1350" b="0" i="0">
                <a:solidFill>
                  <a:srgbClr val="2A2622"/>
                </a:solidFill>
                <a:latin typeface="Calibri"/>
              </a:rPr>
              <a:t> hooks may create curiosity and name problems; they must NOT promise cures. "Tan hamesha ke liye khatam" ✗ → "Tan-look fresh dikhane ka tarika" ✓.</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LIBRARY — 60+ hooks, by style</a:t>
            </a:r>
          </a:p>
          <a:p>
            <a:r>
              <a:rPr sz="1200" i="1">
                <a:solidFill>
                  <a:srgbClr val="57504A"/>
                </a:solidFill>
                <a:latin typeface="Calibri"/>
              </a:rPr>
              <a:t>PART 8 — Hook Strategy + Hook Library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A. CURIOSITY (stranger-stoppers)</a:t>
            </a:r>
          </a:p>
          <a:p>
            <a:pPr>
              <a:spcAft>
                <a:spcPts val="400"/>
              </a:spcAft>
            </a:pPr>
            <a:r>
              <a:rPr sz="1350" b="1">
                <a:solidFill>
                  <a:srgbClr val="8F3A22"/>
                </a:solidFill>
                <a:latin typeface="Calibri"/>
              </a:rPr>
              <a:t>1.  </a:t>
            </a:r>
            <a:r>
              <a:rPr sz="1350" b="0" i="0">
                <a:solidFill>
                  <a:srgbClr val="2A2622"/>
                </a:solidFill>
                <a:latin typeface="Calibri"/>
              </a:rPr>
              <a:t>"3 mahine humne sirf ek serum dhoondha. Wajah dekho."</a:t>
            </a:r>
          </a:p>
          <a:p>
            <a:pPr>
              <a:spcAft>
                <a:spcPts val="400"/>
              </a:spcAft>
            </a:pPr>
            <a:r>
              <a:rPr sz="1350" b="1">
                <a:solidFill>
                  <a:srgbClr val="8F3A22"/>
                </a:solidFill>
                <a:latin typeface="Calibri"/>
              </a:rPr>
              <a:t>2.  </a:t>
            </a:r>
            <a:r>
              <a:rPr sz="1350" b="0" i="0">
                <a:solidFill>
                  <a:srgbClr val="2A2622"/>
                </a:solidFill>
                <a:latin typeface="Calibri"/>
              </a:rPr>
              <a:t>"Yeh 1 ingredient Indian skin ke liye game-changer hai — 99% log ise galat lagate hain."</a:t>
            </a:r>
          </a:p>
          <a:p>
            <a:pPr>
              <a:spcAft>
                <a:spcPts val="400"/>
              </a:spcAft>
            </a:pPr>
            <a:r>
              <a:rPr sz="1350" b="1">
                <a:solidFill>
                  <a:srgbClr val="8F3A22"/>
                </a:solidFill>
                <a:latin typeface="Calibri"/>
              </a:rPr>
              <a:t>3.  </a:t>
            </a:r>
            <a:r>
              <a:rPr sz="1350" b="0" i="0">
                <a:solidFill>
                  <a:srgbClr val="2A2622"/>
                </a:solidFill>
                <a:latin typeface="Calibri"/>
              </a:rPr>
              <a:t>"Aapke bathroom me ek cheez hai jo aapki skin roz kharab kar rahi hai."</a:t>
            </a:r>
          </a:p>
          <a:p>
            <a:pPr>
              <a:spcAft>
                <a:spcPts val="400"/>
              </a:spcAft>
            </a:pPr>
            <a:r>
              <a:rPr sz="1350" b="1">
                <a:solidFill>
                  <a:srgbClr val="8F3A22"/>
                </a:solidFill>
                <a:latin typeface="Calibri"/>
              </a:rPr>
              <a:t>4.  </a:t>
            </a:r>
            <a:r>
              <a:rPr sz="1350" b="0" i="0">
                <a:solidFill>
                  <a:srgbClr val="2A2622"/>
                </a:solidFill>
                <a:latin typeface="Calibri"/>
              </a:rPr>
              <a:t>"Humne 20 aahaiyon ko 4 hafte tak ek serum lagaya. Aaj asli photos."</a:t>
            </a:r>
          </a:p>
          <a:p>
            <a:pPr>
              <a:spcAft>
                <a:spcPts val="400"/>
              </a:spcAft>
            </a:pPr>
            <a:r>
              <a:rPr sz="1350" b="1">
                <a:solidFill>
                  <a:srgbClr val="8F3A22"/>
                </a:solidFill>
                <a:latin typeface="Calibri"/>
              </a:rPr>
              <a:t>5.  </a:t>
            </a:r>
            <a:r>
              <a:rPr sz="1350" b="0" i="0">
                <a:solidFill>
                  <a:srgbClr val="2A2622"/>
                </a:solidFill>
                <a:latin typeface="Calibri"/>
              </a:rPr>
              <a:t>"Ek chhota brand. Ek sachcha experiment. 4 hafte."</a:t>
            </a:r>
          </a:p>
          <a:p>
            <a:pPr>
              <a:spcAft>
                <a:spcPts val="400"/>
              </a:spcAft>
            </a:pPr>
            <a:r>
              <a:rPr sz="1350" b="1">
                <a:solidFill>
                  <a:srgbClr val="8F3A22"/>
                </a:solidFill>
                <a:latin typeface="Calibri"/>
              </a:rPr>
              <a:t>6.  </a:t>
            </a:r>
            <a:r>
              <a:rPr sz="1350" b="0" i="0">
                <a:solidFill>
                  <a:srgbClr val="2A2622"/>
                </a:solidFill>
                <a:latin typeface="Calibri"/>
              </a:rPr>
              <a:t>"Aapke serum ki bottle ki expiry se zyada important 1 cheez — aaj batati hoon."</a:t>
            </a:r>
          </a:p>
          <a:p>
            <a:pPr>
              <a:spcAft>
                <a:spcPts val="400"/>
              </a:spcAft>
            </a:pPr>
            <a:r>
              <a:rPr sz="1350" b="1">
                <a:solidFill>
                  <a:srgbClr val="8F3A22"/>
                </a:solidFill>
                <a:latin typeface="Calibri"/>
              </a:rPr>
              <a:t>7.  </a:t>
            </a:r>
            <a:r>
              <a:rPr sz="1350" b="0" i="0">
                <a:solidFill>
                  <a:srgbClr val="2A2622"/>
                </a:solidFill>
                <a:latin typeface="Calibri"/>
              </a:rPr>
              <a:t>"Is reel ke 15th second par woh line hai jo 1000 aahaiyon ne DM ki."</a:t>
            </a:r>
          </a:p>
          <a:p>
            <a:pPr>
              <a:spcAft>
                <a:spcPts val="400"/>
              </a:spcAft>
            </a:pPr>
            <a:r>
              <a:rPr sz="1350" b="1">
                <a:solidFill>
                  <a:srgbClr val="8F3A22"/>
                </a:solidFill>
                <a:latin typeface="Calibri"/>
              </a:rPr>
              <a:t>8.  </a:t>
            </a:r>
            <a:r>
              <a:rPr sz="1350" b="0" i="0">
                <a:solidFill>
                  <a:srgbClr val="2A2622"/>
                </a:solidFill>
                <a:latin typeface="Calibri"/>
              </a:rPr>
              <a:t>"Ek drop. Bas itna. Phir 4 hafte."</a:t>
            </a:r>
          </a:p>
          <a:p>
            <a:pPr>
              <a:spcAft>
                <a:spcPts val="400"/>
              </a:spcAft>
            </a:pPr>
            <a:r>
              <a:rPr sz="1350" b="1">
                <a:solidFill>
                  <a:srgbClr val="8F3A22"/>
                </a:solidFill>
                <a:latin typeface="Calibri"/>
              </a:rPr>
              <a:t>9.  </a:t>
            </a:r>
            <a:r>
              <a:rPr sz="1350" b="0" i="0">
                <a:solidFill>
                  <a:srgbClr val="2A2622"/>
                </a:solidFill>
                <a:latin typeface="Calibri"/>
              </a:rPr>
              <a:t>"Humari pehli 100 orders ki photos — koi filter nahi."</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LIBRARY — 60+ hooks, by style</a:t>
            </a:r>
          </a:p>
          <a:p>
            <a:r>
              <a:rPr sz="1200" i="1">
                <a:solidFill>
                  <a:srgbClr val="57504A"/>
                </a:solidFill>
                <a:latin typeface="Calibri"/>
              </a:rPr>
              <a:t>PART 8 — Hook Strategy + Hook Library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10.  </a:t>
            </a:r>
            <a:r>
              <a:rPr sz="1350" b="0" i="0">
                <a:solidFill>
                  <a:srgbClr val="2A2622"/>
                </a:solidFill>
                <a:latin typeface="Calibri"/>
              </a:rPr>
              <a:t>"Yeh 2 products alag alag theek hain — milakar? Kharab. Kaun se? Aage dekho."</a:t>
            </a:r>
          </a:p>
          <a:p>
            <a:pPr>
              <a:spcBef>
                <a:spcPts val="1000"/>
              </a:spcBef>
              <a:spcAft>
                <a:spcPts val="400"/>
              </a:spcAft>
            </a:pPr>
            <a:r>
              <a:rPr sz="1600" b="1" i="0">
                <a:solidFill>
                  <a:srgbClr val="8F3A22"/>
                </a:solidFill>
                <a:latin typeface="Calibri"/>
              </a:rPr>
              <a:t>B. PROBLEM (name the pain in their words)</a:t>
            </a:r>
          </a:p>
          <a:p>
            <a:pPr>
              <a:spcAft>
                <a:spcPts val="400"/>
              </a:spcAft>
            </a:pPr>
            <a:r>
              <a:rPr sz="1350" b="1">
                <a:solidFill>
                  <a:srgbClr val="8F3A22"/>
                </a:solidFill>
                <a:latin typeface="Calibri"/>
              </a:rPr>
              <a:t>11.  </a:t>
            </a:r>
            <a:r>
              <a:rPr sz="1350" b="0" i="0">
                <a:solidFill>
                  <a:srgbClr val="2A2622"/>
                </a:solidFill>
                <a:latin typeface="Calibri"/>
              </a:rPr>
              <a:t>"Gujarat me 40 degree — aapki skin abhi kya kar rahi hai, aapko pata hai?"</a:t>
            </a:r>
          </a:p>
          <a:p>
            <a:pPr>
              <a:spcAft>
                <a:spcPts val="400"/>
              </a:spcAft>
            </a:pPr>
            <a:r>
              <a:rPr sz="1350" b="1">
                <a:solidFill>
                  <a:srgbClr val="8F3A22"/>
                </a:solidFill>
                <a:latin typeface="Calibri"/>
              </a:rPr>
              <a:t>12.  </a:t>
            </a:r>
            <a:r>
              <a:rPr sz="1350" b="0" i="0">
                <a:solidFill>
                  <a:srgbClr val="2A2622"/>
                </a:solidFill>
                <a:latin typeface="Calibri"/>
              </a:rPr>
              <a:t>"Monsoon me oily skin wale logo — aap roz yehi galti karti ho."</a:t>
            </a:r>
          </a:p>
          <a:p>
            <a:pPr>
              <a:spcAft>
                <a:spcPts val="400"/>
              </a:spcAft>
            </a:pPr>
            <a:r>
              <a:rPr sz="1350" b="1">
                <a:solidFill>
                  <a:srgbClr val="8F3A22"/>
                </a:solidFill>
                <a:latin typeface="Calibri"/>
              </a:rPr>
              <a:t>13.  </a:t>
            </a:r>
            <a:r>
              <a:rPr sz="1350" b="0" i="0">
                <a:solidFill>
                  <a:srgbClr val="2A2622"/>
                </a:solidFill>
                <a:latin typeface="Calibri"/>
              </a:rPr>
              <a:t>"Chehra subah theek, shaandh 'thaka hua' — yeh normal nahi."</a:t>
            </a:r>
          </a:p>
          <a:p>
            <a:pPr>
              <a:spcAft>
                <a:spcPts val="400"/>
              </a:spcAft>
            </a:pPr>
            <a:r>
              <a:rPr sz="1350" b="1">
                <a:solidFill>
                  <a:srgbClr val="8F3A22"/>
                </a:solidFill>
                <a:latin typeface="Calibri"/>
              </a:rPr>
              <a:t>14.  </a:t>
            </a:r>
            <a:r>
              <a:rPr sz="1350" b="0" i="0">
                <a:solidFill>
                  <a:srgbClr val="2A2622"/>
                </a:solidFill>
                <a:latin typeface="Calibri"/>
              </a:rPr>
              <a:t>"AC ka kamra + bahar ka dhool — dono se aapki skin ko double kaam."</a:t>
            </a:r>
          </a:p>
          <a:p>
            <a:pPr>
              <a:spcAft>
                <a:spcPts val="400"/>
              </a:spcAft>
            </a:pPr>
            <a:r>
              <a:rPr sz="1350" b="1">
                <a:solidFill>
                  <a:srgbClr val="8F3A22"/>
                </a:solidFill>
                <a:latin typeface="Calibri"/>
              </a:rPr>
              <a:t>15.  </a:t>
            </a:r>
            <a:r>
              <a:rPr sz="1350" b="0" i="0">
                <a:solidFill>
                  <a:srgbClr val="2A2622"/>
                </a:solidFill>
                <a:latin typeface="Calibri"/>
              </a:rPr>
              <a:t>"Pores bade, skin rough — hard water ka role aapne socha?"</a:t>
            </a:r>
          </a:p>
          <a:p>
            <a:pPr>
              <a:spcAft>
                <a:spcPts val="400"/>
              </a:spcAft>
            </a:pPr>
            <a:r>
              <a:rPr sz="1350" b="1">
                <a:solidFill>
                  <a:srgbClr val="8F3A22"/>
                </a:solidFill>
                <a:latin typeface="Calibri"/>
              </a:rPr>
              <a:t>16.  </a:t>
            </a:r>
            <a:r>
              <a:rPr sz="1350" b="0" i="0">
                <a:solidFill>
                  <a:srgbClr val="2A2622"/>
                </a:solidFill>
                <a:latin typeface="Calibri"/>
              </a:rPr>
              <a:t>"Wedding season aa raha hai, aur glow 'kabhi nahi' wala phase?"</a:t>
            </a:r>
          </a:p>
          <a:p>
            <a:pPr>
              <a:spcAft>
                <a:spcPts val="400"/>
              </a:spcAft>
            </a:pPr>
            <a:r>
              <a:rPr sz="1350" b="1">
                <a:solidFill>
                  <a:srgbClr val="8F3A22"/>
                </a:solidFill>
                <a:latin typeface="Calibri"/>
              </a:rPr>
              <a:t>17.  </a:t>
            </a:r>
            <a:r>
              <a:rPr sz="1350" b="0" i="0">
                <a:solidFill>
                  <a:srgbClr val="2A2622"/>
                </a:solidFill>
                <a:latin typeface="Calibri"/>
              </a:rPr>
              <a:t>"10 saal se wahi 3 dark spots? Yeh unka sachcha naam hai."</a:t>
            </a:r>
          </a:p>
          <a:p>
            <a:pPr>
              <a:spcAft>
                <a:spcPts val="400"/>
              </a:spcAft>
            </a:pPr>
            <a:r>
              <a:rPr sz="1350" b="1">
                <a:solidFill>
                  <a:srgbClr val="8F3A22"/>
                </a:solidFill>
                <a:latin typeface="Calibri"/>
              </a:rPr>
              <a:t>18.  </a:t>
            </a:r>
            <a:r>
              <a:rPr sz="1350" b="0" i="0">
                <a:solidFill>
                  <a:srgbClr val="2A2622"/>
                </a:solidFill>
                <a:latin typeface="Calibri"/>
              </a:rPr>
              <a:t>"Nani ke baad pehli baar skincare — kahan se shuru? Yeh dekho."</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LIBRARY — 60+ hooks, by style</a:t>
            </a:r>
          </a:p>
          <a:p>
            <a:r>
              <a:rPr sz="1200" i="1">
                <a:solidFill>
                  <a:srgbClr val="57504A"/>
                </a:solidFill>
                <a:latin typeface="Calibri"/>
              </a:rPr>
              <a:t>PART 8 — Hook Strategy + Hook Library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19.  </a:t>
            </a:r>
            <a:r>
              <a:rPr sz="1350" b="0" i="0">
                <a:solidFill>
                  <a:srgbClr val="2A2622"/>
                </a:solidFill>
                <a:latin typeface="Calibri"/>
              </a:rPr>
              <a:t>"Oily skin + summer = aapki skin abhi 5 cheezein kar rahi hai."</a:t>
            </a:r>
          </a:p>
          <a:p>
            <a:pPr>
              <a:spcAft>
                <a:spcPts val="400"/>
              </a:spcAft>
            </a:pPr>
            <a:r>
              <a:rPr sz="1350" b="1">
                <a:solidFill>
                  <a:srgbClr val="8F3A22"/>
                </a:solidFill>
                <a:latin typeface="Calibri"/>
              </a:rPr>
              <a:t>20.  </a:t>
            </a:r>
            <a:r>
              <a:rPr sz="1350" b="0" i="0">
                <a:solidFill>
                  <a:srgbClr val="2A2622"/>
                </a:solidFill>
                <a:latin typeface="Calibri"/>
              </a:rPr>
              <a:t>"Chehra bhiga bhi dikhta hai, khushk bhi — 'confused skin' ka matlab yehi hai."</a:t>
            </a:r>
          </a:p>
          <a:p>
            <a:pPr>
              <a:spcBef>
                <a:spcPts val="1000"/>
              </a:spcBef>
              <a:spcAft>
                <a:spcPts val="400"/>
              </a:spcAft>
            </a:pPr>
            <a:r>
              <a:rPr sz="1600" b="1" i="0">
                <a:solidFill>
                  <a:srgbClr val="8F3A22"/>
                </a:solidFill>
                <a:latin typeface="Calibri"/>
              </a:rPr>
              <a:t>C. FEAR / LOSS-AVERSION (used sparingly, truthfully)</a:t>
            </a:r>
          </a:p>
          <a:p>
            <a:pPr>
              <a:spcAft>
                <a:spcPts val="400"/>
              </a:spcAft>
            </a:pPr>
            <a:r>
              <a:rPr sz="1350" b="1">
                <a:solidFill>
                  <a:srgbClr val="8F3A22"/>
                </a:solidFill>
                <a:latin typeface="Calibri"/>
              </a:rPr>
              <a:t>21.  </a:t>
            </a:r>
            <a:r>
              <a:rPr sz="1350" b="0" i="0">
                <a:solidFill>
                  <a:srgbClr val="2A2622"/>
                </a:solidFill>
                <a:latin typeface="Calibri"/>
              </a:rPr>
              <a:t>"UV window se bhi aata hai — ghar baithe bhi."</a:t>
            </a:r>
          </a:p>
          <a:p>
            <a:pPr>
              <a:spcAft>
                <a:spcPts val="400"/>
              </a:spcAft>
            </a:pPr>
            <a:r>
              <a:rPr sz="1350" b="1">
                <a:solidFill>
                  <a:srgbClr val="8F3A22"/>
                </a:solidFill>
                <a:latin typeface="Calibri"/>
              </a:rPr>
              <a:t>22.  </a:t>
            </a:r>
            <a:r>
              <a:rPr sz="1350" b="0" i="0">
                <a:solidFill>
                  <a:srgbClr val="2A2622"/>
                </a:solidFill>
                <a:latin typeface="Calibri"/>
              </a:rPr>
              <a:t>"Cloud ke din bhi 80% tak UV aata hai. 'Aaj toh dhoop nahi' — yahi sabse mehngi soch hai."</a:t>
            </a:r>
          </a:p>
          <a:p>
            <a:pPr>
              <a:spcAft>
                <a:spcPts val="400"/>
              </a:spcAft>
            </a:pPr>
            <a:r>
              <a:rPr sz="1350" b="1">
                <a:solidFill>
                  <a:srgbClr val="8F3A22"/>
                </a:solidFill>
                <a:latin typeface="Calibri"/>
              </a:rPr>
              <a:t>23.  </a:t>
            </a:r>
            <a:r>
              <a:rPr sz="1350" b="0" i="0">
                <a:solidFill>
                  <a:srgbClr val="2A2622"/>
                </a:solidFill>
                <a:latin typeface="Calibri"/>
              </a:rPr>
              <a:t>"Aaj ka tan-look = kal ka dark spots ka dikhna. Yeh sequence samjho."</a:t>
            </a:r>
          </a:p>
          <a:p>
            <a:pPr>
              <a:spcAft>
                <a:spcPts val="400"/>
              </a:spcAft>
            </a:pPr>
            <a:r>
              <a:rPr sz="1350" b="1">
                <a:solidFill>
                  <a:srgbClr val="8F3A22"/>
                </a:solidFill>
                <a:latin typeface="Calibri"/>
              </a:rPr>
              <a:t>24.  </a:t>
            </a:r>
            <a:r>
              <a:rPr sz="1350" b="0" i="0">
                <a:solidFill>
                  <a:srgbClr val="2A2622"/>
                </a:solidFill>
                <a:latin typeface="Calibri"/>
              </a:rPr>
              <a:t>"Galat sunscreen = SPF 50 bhi bekar. Yeh 2 galtiyan dekho."</a:t>
            </a:r>
          </a:p>
          <a:p>
            <a:pPr>
              <a:spcAft>
                <a:spcPts val="400"/>
              </a:spcAft>
            </a:pPr>
            <a:r>
              <a:rPr sz="1350" b="1">
                <a:solidFill>
                  <a:srgbClr val="8F3A22"/>
                </a:solidFill>
                <a:latin typeface="Calibri"/>
              </a:rPr>
              <a:t>25.  </a:t>
            </a:r>
            <a:r>
              <a:rPr sz="1350" b="0" i="0">
                <a:solidFill>
                  <a:srgbClr val="2A2622"/>
                </a:solidFill>
                <a:latin typeface="Calibri"/>
              </a:rPr>
              <a:t>"3 din me 'full glow' wala brand? Aapke paise wahi utar jaate hain."</a:t>
            </a:r>
          </a:p>
          <a:p>
            <a:pPr>
              <a:spcAft>
                <a:spcPts val="400"/>
              </a:spcAft>
            </a:pPr>
            <a:r>
              <a:rPr sz="1350" b="1">
                <a:solidFill>
                  <a:srgbClr val="8F3A22"/>
                </a:solidFill>
                <a:latin typeface="Calibri"/>
              </a:rPr>
              <a:t>26.  </a:t>
            </a:r>
            <a:r>
              <a:rPr sz="1350" b="0" i="0">
                <a:solidFill>
                  <a:srgbClr val="2A2622"/>
                </a:solidFill>
                <a:latin typeface="Calibri"/>
              </a:rPr>
              <a:t>"Fake cream ka market itna bada hai ki humne ek reel sirf isliye banai."</a:t>
            </a:r>
          </a:p>
          <a:p>
            <a:pPr>
              <a:spcAft>
                <a:spcPts val="400"/>
              </a:spcAft>
            </a:pPr>
            <a:r>
              <a:rPr sz="1350" b="1">
                <a:solidFill>
                  <a:srgbClr val="8F3A22"/>
                </a:solidFill>
                <a:latin typeface="Calibri"/>
              </a:rPr>
              <a:t>27.  </a:t>
            </a:r>
            <a:r>
              <a:rPr sz="1350" b="0" i="0">
                <a:solidFill>
                  <a:srgbClr val="2A2622"/>
                </a:solidFill>
                <a:latin typeface="Calibri"/>
              </a:rPr>
              <a:t>"Aapki skin barrier ek daam ki cheez hai — yeh 3 cheezein use tod deti hain."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LIBRARY — 60+ hooks, by style</a:t>
            </a:r>
          </a:p>
          <a:p>
            <a:r>
              <a:rPr sz="1200" i="1">
                <a:solidFill>
                  <a:srgbClr val="57504A"/>
                </a:solidFill>
                <a:latin typeface="Calibri"/>
              </a:rPr>
              <a:t>PART 8 — Hook Strategy + Hook Library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28.  </a:t>
            </a:r>
            <a:r>
              <a:rPr sz="1350" b="0" i="0">
                <a:solidFill>
                  <a:srgbClr val="2A2622"/>
                </a:solidFill>
                <a:latin typeface="Calibri"/>
              </a:rPr>
              <a:t>"Pehli baar kisi naye brand se lete ho? Yeh 2 sawaal zaroor puchho."</a:t>
            </a:r>
          </a:p>
          <a:p>
            <a:pPr>
              <a:spcBef>
                <a:spcPts val="1000"/>
              </a:spcBef>
              <a:spcAft>
                <a:spcPts val="400"/>
              </a:spcAft>
            </a:pPr>
            <a:r>
              <a:rPr sz="1600" b="1" i="0">
                <a:solidFill>
                  <a:srgbClr val="8F3A22"/>
                </a:solidFill>
                <a:latin typeface="Calibri"/>
              </a:rPr>
              <a:t>D. BEFORE/AFTER + TRANSFORMATION (only with real, disclosed results)</a:t>
            </a:r>
          </a:p>
          <a:p>
            <a:pPr>
              <a:spcAft>
                <a:spcPts val="400"/>
              </a:spcAft>
            </a:pPr>
            <a:r>
              <a:rPr sz="1350" b="1">
                <a:solidFill>
                  <a:srgbClr val="8F3A22"/>
                </a:solidFill>
                <a:latin typeface="Calibri"/>
              </a:rPr>
              <a:t>29.  </a:t>
            </a:r>
            <a:r>
              <a:rPr sz="1350" b="0" i="0">
                <a:solidFill>
                  <a:srgbClr val="2A2622"/>
                </a:solidFill>
                <a:latin typeface="Calibri"/>
              </a:rPr>
              <a:t>"Day 1. Day 28. Same light, same angle. Dekho khud."</a:t>
            </a:r>
          </a:p>
          <a:p>
            <a:pPr>
              <a:spcAft>
                <a:spcPts val="400"/>
              </a:spcAft>
            </a:pPr>
            <a:r>
              <a:rPr sz="1350" b="1">
                <a:solidFill>
                  <a:srgbClr val="8F3A22"/>
                </a:solidFill>
                <a:latin typeface="Calibri"/>
              </a:rPr>
              <a:t>30.  </a:t>
            </a:r>
            <a:r>
              <a:rPr sz="1350" b="0" i="0">
                <a:solidFill>
                  <a:srgbClr val="2A2622"/>
                </a:solidFill>
                <a:latin typeface="Calibri"/>
              </a:rPr>
              <a:t>"4 hafte pehle main yeh bol rahi thi — aaj yeh." (split screen, disclosed)</a:t>
            </a:r>
          </a:p>
          <a:p>
            <a:pPr>
              <a:spcAft>
                <a:spcPts val="400"/>
              </a:spcAft>
            </a:pPr>
            <a:r>
              <a:rPr sz="1350" b="1">
                <a:solidFill>
                  <a:srgbClr val="8F3A22"/>
                </a:solidFill>
                <a:latin typeface="Calibri"/>
              </a:rPr>
              <a:t>31.  </a:t>
            </a:r>
            <a:r>
              <a:rPr sz="1350" b="0" i="0">
                <a:solidFill>
                  <a:srgbClr val="2A2622"/>
                </a:solidFill>
                <a:latin typeface="Calibri"/>
              </a:rPr>
              <a:t>"20 testers, 4 hafte, 20 kahaniyan. Aaj 3."</a:t>
            </a:r>
          </a:p>
          <a:p>
            <a:pPr>
              <a:spcAft>
                <a:spcPts val="400"/>
              </a:spcAft>
            </a:pPr>
            <a:r>
              <a:rPr sz="1350" b="1">
                <a:solidFill>
                  <a:srgbClr val="8F3A22"/>
                </a:solidFill>
                <a:latin typeface="Calibri"/>
              </a:rPr>
              <a:t>32.  </a:t>
            </a:r>
            <a:r>
              <a:rPr sz="1350" b="0" i="0">
                <a:solidFill>
                  <a:srgbClr val="2A2622"/>
                </a:solidFill>
                <a:latin typeface="Calibri"/>
              </a:rPr>
              <a:t>"Is aahai ne 2 hafte me kya dekha — honest, achi bhi baat, kami bhi."</a:t>
            </a:r>
          </a:p>
          <a:p>
            <a:pPr>
              <a:spcAft>
                <a:spcPts val="400"/>
              </a:spcAft>
            </a:pPr>
            <a:r>
              <a:rPr sz="1350" b="1">
                <a:solidFill>
                  <a:srgbClr val="8F3A22"/>
                </a:solidFill>
                <a:latin typeface="Calibri"/>
              </a:rPr>
              <a:t>33.  </a:t>
            </a:r>
            <a:r>
              <a:rPr sz="1350" b="0" i="0">
                <a:solidFill>
                  <a:srgbClr val="2A2622"/>
                </a:solidFill>
                <a:latin typeface="Calibri"/>
              </a:rPr>
              <a:t>"Hum 'before/after' nahi dikhaate. Hum 'day 1 aur day 28' dikhaate hain — farq padta hai."</a:t>
            </a:r>
          </a:p>
          <a:p>
            <a:pPr>
              <a:spcAft>
                <a:spcPts val="400"/>
              </a:spcAft>
            </a:pPr>
            <a:r>
              <a:rPr sz="1350" b="1">
                <a:solidFill>
                  <a:srgbClr val="8F3A22"/>
                </a:solidFill>
                <a:latin typeface="Calibri"/>
              </a:rPr>
              <a:t>34.  </a:t>
            </a:r>
            <a:r>
              <a:rPr sz="1350" b="0" i="0">
                <a:solidFill>
                  <a:srgbClr val="2A2622"/>
                </a:solidFill>
                <a:latin typeface="Calibri"/>
              </a:rPr>
              <a:t>"Mera chehra nahi, meri routine ka result — 4 hafte, weekly photos."</a:t>
            </a:r>
          </a:p>
          <a:p>
            <a:pPr>
              <a:spcAft>
                <a:spcPts val="400"/>
              </a:spcAft>
            </a:pPr>
            <a:r>
              <a:rPr sz="1350" b="1">
                <a:solidFill>
                  <a:srgbClr val="8F3A22"/>
                </a:solidFill>
                <a:latin typeface="Calibri"/>
              </a:rPr>
              <a:t>35.  </a:t>
            </a:r>
            <a:r>
              <a:rPr sz="1350" b="0" i="0">
                <a:solidFill>
                  <a:srgbClr val="2A2622"/>
                </a:solidFill>
                <a:latin typeface="Calibri"/>
              </a:rPr>
              <a:t>"Same room, same window, 28 din. Aap khud judge karo."</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LIBRARY — 60+ hooks, by style</a:t>
            </a:r>
          </a:p>
          <a:p>
            <a:r>
              <a:rPr sz="1200" i="1">
                <a:solidFill>
                  <a:srgbClr val="57504A"/>
                </a:solidFill>
                <a:latin typeface="Calibri"/>
              </a:rPr>
              <a:t>PART 8 — Hook Strategy + Hook Library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E. MISTAKES / "STOP DOING THIS"</a:t>
            </a:r>
          </a:p>
          <a:p>
            <a:pPr>
              <a:spcAft>
                <a:spcPts val="400"/>
              </a:spcAft>
            </a:pPr>
            <a:r>
              <a:rPr sz="1350" b="1">
                <a:solidFill>
                  <a:srgbClr val="8F3A22"/>
                </a:solidFill>
                <a:latin typeface="Calibri"/>
              </a:rPr>
              <a:t>36.  </a:t>
            </a:r>
            <a:r>
              <a:rPr sz="1350" b="0" i="0">
                <a:solidFill>
                  <a:srgbClr val="2A2622"/>
                </a:solidFill>
                <a:latin typeface="Calibri"/>
              </a:rPr>
              <a:t>"Chehra din me 4 baar raho — ruko. Yeh galti aap bhi karti ho."</a:t>
            </a:r>
          </a:p>
          <a:p>
            <a:pPr>
              <a:spcAft>
                <a:spcPts val="400"/>
              </a:spcAft>
            </a:pPr>
            <a:r>
              <a:rPr sz="1350" b="1">
                <a:solidFill>
                  <a:srgbClr val="8F3A22"/>
                </a:solidFill>
                <a:latin typeface="Calibri"/>
              </a:rPr>
              <a:t>37.  </a:t>
            </a:r>
            <a:r>
              <a:rPr sz="1350" b="0" i="0">
                <a:solidFill>
                  <a:srgbClr val="2A2622"/>
                </a:solidFill>
                <a:latin typeface="Calibri"/>
              </a:rPr>
              <a:t>"SPF sirf bahar jaane par? Yeh soch 2010 ki hai."</a:t>
            </a:r>
          </a:p>
          <a:p>
            <a:pPr>
              <a:spcAft>
                <a:spcPts val="400"/>
              </a:spcAft>
            </a:pPr>
            <a:r>
              <a:rPr sz="1350" b="1">
                <a:solidFill>
                  <a:srgbClr val="8F3A22"/>
                </a:solidFill>
                <a:latin typeface="Calibri"/>
              </a:rPr>
              <a:t>38.  </a:t>
            </a:r>
            <a:r>
              <a:rPr sz="1350" b="0" i="0">
                <a:solidFill>
                  <a:srgbClr val="2A2622"/>
                </a:solidFill>
                <a:latin typeface="Calibri"/>
              </a:rPr>
              <a:t>"Vitamin C serum bheege chehre par? 99% log yahi karte hain."</a:t>
            </a:r>
          </a:p>
          <a:p>
            <a:pPr>
              <a:spcAft>
                <a:spcPts val="400"/>
              </a:spcAft>
            </a:pPr>
            <a:r>
              <a:rPr sz="1350" b="1">
                <a:solidFill>
                  <a:srgbClr val="8F3A22"/>
                </a:solidFill>
                <a:latin typeface="Calibri"/>
              </a:rPr>
              <a:t>39.  </a:t>
            </a:r>
            <a:r>
              <a:rPr sz="1350" b="0" i="0">
                <a:solidFill>
                  <a:srgbClr val="2A2622"/>
                </a:solidFill>
                <a:latin typeface="Calibri"/>
              </a:rPr>
              <a:t>"6 layers ka routine — aap 3 ki aadat nahi daal pati? Yeh dekho."</a:t>
            </a:r>
          </a:p>
          <a:p>
            <a:pPr>
              <a:spcAft>
                <a:spcPts val="400"/>
              </a:spcAft>
            </a:pPr>
            <a:r>
              <a:rPr sz="1350" b="1">
                <a:solidFill>
                  <a:srgbClr val="8F3A22"/>
                </a:solidFill>
                <a:latin typeface="Calibri"/>
              </a:rPr>
              <a:t>40.  </a:t>
            </a:r>
            <a:r>
              <a:rPr sz="1350" b="0" i="0">
                <a:solidFill>
                  <a:srgbClr val="2A2622"/>
                </a:solidFill>
                <a:latin typeface="Calibri"/>
              </a:rPr>
              <a:t>"Aapka sunscreen 2019 ka hai? Khol ke dekho."</a:t>
            </a:r>
          </a:p>
          <a:p>
            <a:pPr>
              <a:spcAft>
                <a:spcPts val="400"/>
              </a:spcAft>
            </a:pPr>
            <a:r>
              <a:rPr sz="1350" b="1">
                <a:solidFill>
                  <a:srgbClr val="8F3A22"/>
                </a:solidFill>
                <a:latin typeface="Calibri"/>
              </a:rPr>
              <a:t>41.  </a:t>
            </a:r>
            <a:r>
              <a:rPr sz="1350" b="0" i="0">
                <a:solidFill>
                  <a:srgbClr val="2A2622"/>
                </a:solidFill>
                <a:latin typeface="Calibri"/>
              </a:rPr>
              <a:t>"Pimple phodna 'chhota' hai — par jab yeh ho toh nahi."</a:t>
            </a:r>
          </a:p>
          <a:p>
            <a:pPr>
              <a:spcAft>
                <a:spcPts val="400"/>
              </a:spcAft>
            </a:pPr>
            <a:r>
              <a:rPr sz="1350" b="1">
                <a:solidFill>
                  <a:srgbClr val="8F3A22"/>
                </a:solidFill>
                <a:latin typeface="Calibri"/>
              </a:rPr>
              <a:t>42.  </a:t>
            </a:r>
            <a:r>
              <a:rPr sz="1350" b="0" i="0">
                <a:solidFill>
                  <a:srgbClr val="2A2622"/>
                </a:solidFill>
                <a:latin typeface="Calibri"/>
              </a:rPr>
              <a:t>"Face wash ka foam zyada = saaf zyada? Myth. Dekho."</a:t>
            </a:r>
          </a:p>
          <a:p>
            <a:pPr>
              <a:spcBef>
                <a:spcPts val="1000"/>
              </a:spcBef>
              <a:spcAft>
                <a:spcPts val="400"/>
              </a:spcAft>
            </a:pPr>
            <a:r>
              <a:rPr sz="1600" b="1" i="0">
                <a:solidFill>
                  <a:srgbClr val="8F3A22"/>
                </a:solidFill>
                <a:latin typeface="Calibri"/>
              </a:rPr>
              <a:t>F. MYTH VS REALITY</a:t>
            </a:r>
          </a:p>
          <a:p>
            <a:pPr>
              <a:spcAft>
                <a:spcPts val="400"/>
              </a:spcAft>
            </a:pPr>
            <a:r>
              <a:rPr sz="1350" b="1">
                <a:solidFill>
                  <a:srgbClr val="8F3A22"/>
                </a:solidFill>
                <a:latin typeface="Calibri"/>
              </a:rPr>
              <a:t>43.  </a:t>
            </a:r>
            <a:r>
              <a:rPr sz="1350" b="0" i="0">
                <a:solidFill>
                  <a:srgbClr val="2A2622"/>
                </a:solidFill>
                <a:latin typeface="Calibri"/>
              </a:rPr>
              <a:t>"'100% herbal' likha hai toh lagao? Yeh sach jano."</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LIBRARY — 60+ hooks, by style</a:t>
            </a:r>
          </a:p>
          <a:p>
            <a:r>
              <a:rPr sz="1200" i="1">
                <a:solidFill>
                  <a:srgbClr val="57504A"/>
                </a:solidFill>
                <a:latin typeface="Calibri"/>
              </a:rPr>
              <a:t>PART 8 — Hook Strategy + Hook Library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44.  </a:t>
            </a:r>
            <a:r>
              <a:rPr sz="1350" b="0" i="0">
                <a:solidFill>
                  <a:srgbClr val="2A2622"/>
                </a:solidFill>
                <a:latin typeface="Calibri"/>
              </a:rPr>
              <a:t>"Vitamin C se chehra orange? Yeh myth kyun chalta hai."</a:t>
            </a:r>
          </a:p>
          <a:p>
            <a:pPr>
              <a:spcAft>
                <a:spcPts val="400"/>
              </a:spcAft>
            </a:pPr>
            <a:r>
              <a:rPr sz="1350" b="1">
                <a:solidFill>
                  <a:srgbClr val="8F3A22"/>
                </a:solidFill>
                <a:latin typeface="Calibri"/>
              </a:rPr>
              <a:t>45.  </a:t>
            </a:r>
            <a:r>
              <a:rPr sz="1350" b="0" i="0">
                <a:solidFill>
                  <a:srgbClr val="2A2622"/>
                </a:solidFill>
                <a:latin typeface="Calibri"/>
              </a:rPr>
              <a:t>"'Sasta serum = kharab serum'? Label padh ke bolte hain."</a:t>
            </a:r>
          </a:p>
          <a:p>
            <a:pPr>
              <a:spcAft>
                <a:spcPts val="400"/>
              </a:spcAft>
            </a:pPr>
            <a:r>
              <a:rPr sz="1350" b="1">
                <a:solidFill>
                  <a:srgbClr val="8F3A22"/>
                </a:solidFill>
                <a:latin typeface="Calibri"/>
              </a:rPr>
              <a:t>46.  </a:t>
            </a:r>
            <a:r>
              <a:rPr sz="1350" b="0" i="0">
                <a:solidFill>
                  <a:srgbClr val="2A2622"/>
                </a:solidFill>
                <a:latin typeface="Calibri"/>
              </a:rPr>
              <a:t>"SPF 50 = SPF 30 se double protection? Nahi. Yeh math dekho."</a:t>
            </a:r>
          </a:p>
          <a:p>
            <a:pPr>
              <a:spcAft>
                <a:spcPts val="400"/>
              </a:spcAft>
            </a:pPr>
            <a:r>
              <a:rPr sz="1350" b="1">
                <a:solidFill>
                  <a:srgbClr val="8F3A22"/>
                </a:solidFill>
                <a:latin typeface="Calibri"/>
              </a:rPr>
              <a:t>47.  </a:t>
            </a:r>
            <a:r>
              <a:rPr sz="1350" b="0" i="0">
                <a:solidFill>
                  <a:srgbClr val="2A2622"/>
                </a:solidFill>
                <a:latin typeface="Calibri"/>
              </a:rPr>
              <a:t>"'Raaton raat glow' — yeh shabd sunte hi page band karo."</a:t>
            </a:r>
          </a:p>
          <a:p>
            <a:pPr>
              <a:spcAft>
                <a:spcPts val="400"/>
              </a:spcAft>
            </a:pPr>
            <a:r>
              <a:rPr sz="1350" b="1">
                <a:solidFill>
                  <a:srgbClr val="8F3A22"/>
                </a:solidFill>
                <a:latin typeface="Calibri"/>
              </a:rPr>
              <a:t>48.  </a:t>
            </a:r>
            <a:r>
              <a:rPr sz="1350" b="0" i="0">
                <a:solidFill>
                  <a:srgbClr val="2A2622"/>
                </a:solidFill>
                <a:latin typeface="Calibri"/>
              </a:rPr>
              <a:t>"Nani ka totka vs lab? Asal jawab dono ka hai."</a:t>
            </a:r>
          </a:p>
          <a:p>
            <a:pPr>
              <a:spcBef>
                <a:spcPts val="1000"/>
              </a:spcBef>
              <a:spcAft>
                <a:spcPts val="400"/>
              </a:spcAft>
            </a:pPr>
            <a:r>
              <a:rPr sz="1600" b="1" i="0">
                <a:solidFill>
                  <a:srgbClr val="8F3A22"/>
                </a:solidFill>
                <a:latin typeface="Calibri"/>
              </a:rPr>
              <a:t>G. UNEXPECTED FACT</a:t>
            </a:r>
          </a:p>
          <a:p>
            <a:pPr>
              <a:spcAft>
                <a:spcPts val="400"/>
              </a:spcAft>
            </a:pPr>
            <a:r>
              <a:rPr sz="1350" b="1">
                <a:solidFill>
                  <a:srgbClr val="8F3A22"/>
                </a:solidFill>
                <a:latin typeface="Calibri"/>
              </a:rPr>
              <a:t>49.  </a:t>
            </a:r>
            <a:r>
              <a:rPr sz="1350" b="0" i="0">
                <a:solidFill>
                  <a:srgbClr val="2A2622"/>
                </a:solidFill>
                <a:latin typeface="Calibri"/>
              </a:rPr>
              <a:t>"Aapki skin 28 din me poori naye ho jaati hai — isliye 28 din ka wait."</a:t>
            </a:r>
          </a:p>
          <a:p>
            <a:pPr>
              <a:spcAft>
                <a:spcPts val="400"/>
              </a:spcAft>
            </a:pPr>
            <a:r>
              <a:rPr sz="1350" b="1">
                <a:solidFill>
                  <a:srgbClr val="8F3A22"/>
                </a:solidFill>
                <a:latin typeface="Calibri"/>
              </a:rPr>
              <a:t>50.  </a:t>
            </a:r>
            <a:r>
              <a:rPr sz="1350" b="0" i="0">
                <a:solidFill>
                  <a:srgbClr val="2A2622"/>
                </a:solidFill>
                <a:latin typeface="Calibri"/>
              </a:rPr>
              <a:t>"Water bhi chemical hai. 'No chemicals' product possible nahi — yeh sach."</a:t>
            </a:r>
          </a:p>
          <a:p>
            <a:pPr>
              <a:spcAft>
                <a:spcPts val="400"/>
              </a:spcAft>
            </a:pPr>
            <a:r>
              <a:rPr sz="1350" b="1">
                <a:solidFill>
                  <a:srgbClr val="8F3A22"/>
                </a:solidFill>
                <a:latin typeface="Calibri"/>
              </a:rPr>
              <a:t>51.  </a:t>
            </a:r>
            <a:r>
              <a:rPr sz="1350" b="0" i="0">
                <a:solidFill>
                  <a:srgbClr val="2A2622"/>
                </a:solidFill>
                <a:latin typeface="Calibri"/>
              </a:rPr>
              <a:t>"Aapke phone me din me chehra 15+ baar chhoota — ab aapko samajh aa gaya."</a:t>
            </a:r>
          </a:p>
          <a:p>
            <a:pPr>
              <a:spcAft>
                <a:spcPts val="400"/>
              </a:spcAft>
            </a:pPr>
            <a:r>
              <a:rPr sz="1350" b="1">
                <a:solidFill>
                  <a:srgbClr val="8F3A22"/>
                </a:solidFill>
                <a:latin typeface="Calibri"/>
              </a:rPr>
              <a:t>52.  </a:t>
            </a:r>
            <a:r>
              <a:rPr sz="1350" b="0" i="0">
                <a:solidFill>
                  <a:srgbClr val="2A2622"/>
                </a:solidFill>
                <a:latin typeface="Calibri"/>
              </a:rPr>
              <a:t>"20% zyada Vitamin C = 20% zyada fayda? Lab kya kehta hai, dekho."</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LIBRARY — 60+ hooks, by style</a:t>
            </a:r>
          </a:p>
          <a:p>
            <a:r>
              <a:rPr sz="1200" i="1">
                <a:solidFill>
                  <a:srgbClr val="57504A"/>
                </a:solidFill>
                <a:latin typeface="Calibri"/>
              </a:rPr>
              <a:t>PART 8 — Hook Strategy + Hook Library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53.  </a:t>
            </a:r>
            <a:r>
              <a:rPr sz="1350" b="0" i="0">
                <a:solidFill>
                  <a:srgbClr val="2A2622"/>
                </a:solidFill>
                <a:latin typeface="Calibri"/>
              </a:rPr>
              <a:t>"Indian skin pe Western routine ka 1 bhaari result — yeh dekho."</a:t>
            </a:r>
          </a:p>
          <a:p>
            <a:pPr>
              <a:spcBef>
                <a:spcPts val="1000"/>
              </a:spcBef>
              <a:spcAft>
                <a:spcPts val="400"/>
              </a:spcAft>
            </a:pPr>
            <a:r>
              <a:rPr sz="1600" b="1" i="0">
                <a:solidFill>
                  <a:srgbClr val="8F3A22"/>
                </a:solidFill>
                <a:latin typeface="Calibri"/>
              </a:rPr>
              <a:t>H. QUESTION (make them answer in comments)</a:t>
            </a:r>
          </a:p>
          <a:p>
            <a:pPr>
              <a:spcAft>
                <a:spcPts val="400"/>
              </a:spcAft>
            </a:pPr>
            <a:r>
              <a:rPr sz="1350" b="1">
                <a:solidFill>
                  <a:srgbClr val="8F3A22"/>
                </a:solidFill>
                <a:latin typeface="Calibri"/>
              </a:rPr>
              <a:t>54.  </a:t>
            </a:r>
            <a:r>
              <a:rPr sz="1350" b="0" i="0">
                <a:solidFill>
                  <a:srgbClr val="2A2622"/>
                </a:solidFill>
                <a:latin typeface="Calibri"/>
              </a:rPr>
              <a:t>"Aapki skin ka sabse bada problem kya hai? Comment karo — aaj ke jawaab uske liye."</a:t>
            </a:r>
          </a:p>
          <a:p>
            <a:pPr>
              <a:spcAft>
                <a:spcPts val="400"/>
              </a:spcAft>
            </a:pPr>
            <a:r>
              <a:rPr sz="1350" b="1">
                <a:solidFill>
                  <a:srgbClr val="8F3A22"/>
                </a:solidFill>
                <a:latin typeface="Calibri"/>
              </a:rPr>
              <a:t>55.  </a:t>
            </a:r>
            <a:r>
              <a:rPr sz="1350" b="0" i="0">
                <a:solidFill>
                  <a:srgbClr val="2A2622"/>
                </a:solidFill>
                <a:latin typeface="Calibri"/>
              </a:rPr>
              <a:t>"SPF 30 ya SPF 50? Aap kaunsi lagati ho — aur kyun?"</a:t>
            </a:r>
          </a:p>
          <a:p>
            <a:pPr>
              <a:spcAft>
                <a:spcPts val="400"/>
              </a:spcAft>
            </a:pPr>
            <a:r>
              <a:rPr sz="1350" b="1">
                <a:solidFill>
                  <a:srgbClr val="8F3A22"/>
                </a:solidFill>
                <a:latin typeface="Calibri"/>
              </a:rPr>
              <a:t>56.  </a:t>
            </a:r>
            <a:r>
              <a:rPr sz="1350" b="0" i="0">
                <a:solidFill>
                  <a:srgbClr val="2A2622"/>
                </a:solidFill>
                <a:latin typeface="Calibri"/>
              </a:rPr>
              <a:t>"Oily skin pe moisturizer? Haan ya nahi? Comment karo."</a:t>
            </a:r>
          </a:p>
          <a:p>
            <a:pPr>
              <a:spcAft>
                <a:spcPts val="400"/>
              </a:spcAft>
            </a:pPr>
            <a:r>
              <a:rPr sz="1350" b="1">
                <a:solidFill>
                  <a:srgbClr val="8F3A22"/>
                </a:solidFill>
                <a:latin typeface="Calibri"/>
              </a:rPr>
              <a:t>57.  </a:t>
            </a:r>
            <a:r>
              <a:rPr sz="1350" b="0" i="0">
                <a:solidFill>
                  <a:srgbClr val="2A2622"/>
                </a:solidFill>
                <a:latin typeface="Calibri"/>
              </a:rPr>
              <a:t>"Kya aap bhi 'bahar jaane par' sunscreen lagati ho? Sach bolo."</a:t>
            </a:r>
          </a:p>
          <a:p>
            <a:pPr>
              <a:spcAft>
                <a:spcPts val="400"/>
              </a:spcAft>
            </a:pPr>
            <a:r>
              <a:rPr sz="1350" b="1">
                <a:solidFill>
                  <a:srgbClr val="8F3A22"/>
                </a:solidFill>
                <a:latin typeface="Calibri"/>
              </a:rPr>
              <a:t>58.  </a:t>
            </a:r>
            <a:r>
              <a:rPr sz="1350" b="0" i="0">
                <a:solidFill>
                  <a:srgbClr val="2A2622"/>
                </a:solidFill>
                <a:latin typeface="Calibri"/>
              </a:rPr>
              <a:t>"Aapka routine me kitne products hain? 3 se zyada? Ruko."</a:t>
            </a:r>
          </a:p>
          <a:p>
            <a:pPr>
              <a:spcBef>
                <a:spcPts val="1000"/>
              </a:spcBef>
              <a:spcAft>
                <a:spcPts val="400"/>
              </a:spcAft>
            </a:pPr>
            <a:r>
              <a:rPr sz="1600" b="1" i="0">
                <a:solidFill>
                  <a:srgbClr val="8F3A22"/>
                </a:solidFill>
                <a:latin typeface="Calibri"/>
              </a:rPr>
              <a:t>I. CONTROVERSY-ADJACENT (bold but safe — no attacking named brands)</a:t>
            </a:r>
          </a:p>
          <a:p>
            <a:pPr>
              <a:spcAft>
                <a:spcPts val="400"/>
              </a:spcAft>
            </a:pPr>
            <a:r>
              <a:rPr sz="1350" b="1">
                <a:solidFill>
                  <a:srgbClr val="8F3A22"/>
                </a:solidFill>
                <a:latin typeface="Calibri"/>
              </a:rPr>
              <a:t>59.  </a:t>
            </a:r>
            <a:r>
              <a:rPr sz="1350" b="0" i="0">
                <a:solidFill>
                  <a:srgbClr val="2A2622"/>
                </a:solidFill>
                <a:latin typeface="Calibri"/>
              </a:rPr>
              <a:t>"2000 ki imported cream vs 500 ki Indian — hum ingredient list khol ke batate hain."</a:t>
            </a:r>
          </a:p>
          <a:p>
            <a:pPr>
              <a:spcAft>
                <a:spcPts val="400"/>
              </a:spcAft>
            </a:pPr>
            <a:r>
              <a:rPr sz="1350" b="1">
                <a:solidFill>
                  <a:srgbClr val="8F3A22"/>
                </a:solidFill>
                <a:latin typeface="Calibri"/>
              </a:rPr>
              <a:t>60.  </a:t>
            </a:r>
            <a:r>
              <a:rPr sz="1350" b="0" i="0">
                <a:solidFill>
                  <a:srgbClr val="2A2622"/>
                </a:solidFill>
                <a:latin typeface="Calibri"/>
              </a:rPr>
              <a:t>"Hum 'anti-Ayurveda' nahi, 'anti-blind-totka' hain. Farq padta hai."</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LIBRARY — 60+ hooks, by style</a:t>
            </a:r>
          </a:p>
          <a:p>
            <a:r>
              <a:rPr sz="1200" i="1">
                <a:solidFill>
                  <a:srgbClr val="57504A"/>
                </a:solidFill>
                <a:latin typeface="Calibri"/>
              </a:rPr>
              <a:t>PART 8 — Hook Strategy + Hook Library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61.  </a:t>
            </a:r>
            <a:r>
              <a:rPr sz="1350" b="0" i="0">
                <a:solidFill>
                  <a:srgbClr val="2A2622"/>
                </a:solidFill>
                <a:latin typeface="Calibri"/>
              </a:rPr>
              <a:t>"Bade brands 3000 charge karte hain humari 1/3 cheez ke liye — hum wahi dikhate hain."</a:t>
            </a:r>
          </a:p>
          <a:p>
            <a:pPr>
              <a:spcAft>
                <a:spcPts val="400"/>
              </a:spcAft>
            </a:pPr>
            <a:r>
              <a:rPr sz="1350" b="1">
                <a:solidFill>
                  <a:srgbClr val="8F3A22"/>
                </a:solidFill>
                <a:latin typeface="Calibri"/>
              </a:rPr>
              <a:t>62.  </a:t>
            </a:r>
            <a:r>
              <a:rPr sz="1350" b="0" i="0">
                <a:solidFill>
                  <a:srgbClr val="2A2622"/>
                </a:solidFill>
                <a:latin typeface="Calibri"/>
              </a:rPr>
              <a:t>"'Sasta' word se humein darr nahi — 'sasta soch' se darr hai. Aaj samjhaienge."</a:t>
            </a:r>
          </a:p>
          <a:p>
            <a:pPr>
              <a:spcBef>
                <a:spcPts val="1000"/>
              </a:spcBef>
              <a:spcAft>
                <a:spcPts val="400"/>
              </a:spcAft>
            </a:pPr>
            <a:r>
              <a:rPr sz="1600" b="1" i="0">
                <a:solidFill>
                  <a:srgbClr val="8F3A22"/>
                </a:solidFill>
                <a:latin typeface="Calibri"/>
              </a:rPr>
              <a:t>J. RELATABLE / SITUATIONAL (share machines)</a:t>
            </a:r>
          </a:p>
          <a:p>
            <a:pPr>
              <a:spcAft>
                <a:spcPts val="400"/>
              </a:spcAft>
            </a:pPr>
            <a:r>
              <a:rPr sz="1350" b="1">
                <a:solidFill>
                  <a:srgbClr val="8F3A22"/>
                </a:solidFill>
                <a:latin typeface="Calibri"/>
              </a:rPr>
              <a:t>63.  </a:t>
            </a:r>
            <a:r>
              <a:rPr sz="1350" b="0" i="0">
                <a:solidFill>
                  <a:srgbClr val="2A2622"/>
                </a:solidFill>
                <a:latin typeface="Calibri"/>
              </a:rPr>
              <a:t>"Gujarati ghar me pehli baar 'skincare' shuru ki? Watch this."</a:t>
            </a:r>
          </a:p>
          <a:p>
            <a:pPr>
              <a:spcAft>
                <a:spcPts val="400"/>
              </a:spcAft>
            </a:pPr>
            <a:r>
              <a:rPr sz="1350" b="1">
                <a:solidFill>
                  <a:srgbClr val="8F3A22"/>
                </a:solidFill>
                <a:latin typeface="Calibri"/>
              </a:rPr>
              <a:t>64.  </a:t>
            </a:r>
            <a:r>
              <a:rPr sz="1350" b="0" i="0">
                <a:solidFill>
                  <a:srgbClr val="2A2622"/>
                </a:solidFill>
                <a:latin typeface="Calibri"/>
              </a:rPr>
              <a:t>"Maa: 'Cream kya hai?' Mene: 'Skin ke liye.' Maa: 'Nani ke waqt chehra kharab tha?'"</a:t>
            </a:r>
          </a:p>
          <a:p>
            <a:pPr>
              <a:spcAft>
                <a:spcPts val="400"/>
              </a:spcAft>
            </a:pPr>
            <a:r>
              <a:rPr sz="1350" b="1">
                <a:solidFill>
                  <a:srgbClr val="8F3A22"/>
                </a:solidFill>
                <a:latin typeface="Calibri"/>
              </a:rPr>
              <a:t>65.  </a:t>
            </a:r>
            <a:r>
              <a:rPr sz="1350" b="0" i="0">
                <a:solidFill>
                  <a:srgbClr val="2A2622"/>
                </a:solidFill>
                <a:latin typeface="Calibri"/>
              </a:rPr>
              <a:t>"Boyfriend: 'Tum kitne products lagati ho?' (8 layers wala reel)"</a:t>
            </a:r>
          </a:p>
          <a:p>
            <a:pPr>
              <a:spcAft>
                <a:spcPts val="400"/>
              </a:spcAft>
            </a:pPr>
            <a:r>
              <a:rPr sz="1350" b="1">
                <a:solidFill>
                  <a:srgbClr val="8F3A22"/>
                </a:solidFill>
                <a:latin typeface="Calibri"/>
              </a:rPr>
              <a:t>66.  </a:t>
            </a:r>
            <a:r>
              <a:rPr sz="1350" b="0" i="0">
                <a:solidFill>
                  <a:srgbClr val="2A2622"/>
                </a:solidFill>
                <a:latin typeface="Calibri"/>
              </a:rPr>
              <a:t>"Office me 8 ghante, ghar aakar 'ab skincare' — 10 products ki line."</a:t>
            </a:r>
          </a:p>
          <a:p>
            <a:pPr>
              <a:spcAft>
                <a:spcPts val="400"/>
              </a:spcAft>
            </a:pPr>
            <a:r>
              <a:rPr sz="1350" b="1">
                <a:solidFill>
                  <a:srgbClr val="8F3A22"/>
                </a:solidFill>
                <a:latin typeface="Calibri"/>
              </a:rPr>
              <a:t>67.  </a:t>
            </a:r>
            <a:r>
              <a:rPr sz="1350" b="0" i="0">
                <a:solidFill>
                  <a:srgbClr val="2A2622"/>
                </a:solidFill>
                <a:latin typeface="Calibri"/>
              </a:rPr>
              <a:t>"Gujarat me shaadi ka season — 2 hafte pehle 'glow kar li' wala pressure."</a:t>
            </a:r>
          </a:p>
          <a:p>
            <a:pPr>
              <a:spcAft>
                <a:spcPts val="400"/>
              </a:spcAft>
            </a:pPr>
            <a:r>
              <a:rPr sz="1350" b="1">
                <a:solidFill>
                  <a:srgbClr val="8F3A22"/>
                </a:solidFill>
                <a:latin typeface="Calibri"/>
              </a:rPr>
              <a:t>68.  </a:t>
            </a:r>
            <a:r>
              <a:rPr sz="1350" b="0" i="0">
                <a:solidFill>
                  <a:srgbClr val="2A2622"/>
                </a:solidFill>
                <a:latin typeface="Calibri"/>
              </a:rPr>
              <a:t>"Chai break + 2 minute — haan, itne me routine ho jaata hai."</a:t>
            </a:r>
          </a:p>
          <a:p>
            <a:pPr>
              <a:spcAft>
                <a:spcPts val="400"/>
              </a:spcAft>
            </a:pPr>
            <a:r>
              <a:rPr sz="1350" b="1">
                <a:solidFill>
                  <a:srgbClr val="8F3A22"/>
                </a:solidFill>
                <a:latin typeface="Calibri"/>
              </a:rPr>
              <a:t>69.  </a:t>
            </a:r>
            <a:r>
              <a:rPr sz="1350" b="0" i="0">
                <a:solidFill>
                  <a:srgbClr val="2A2622"/>
                </a:solidFill>
                <a:latin typeface="Calibri"/>
              </a:rPr>
              <a:t>"Diwali aate hi 'naya main' wala plan — skin wala bhi."</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LIBRARY — 60+ hooks, by style</a:t>
            </a:r>
          </a:p>
          <a:p>
            <a:r>
              <a:rPr sz="1200" i="1">
                <a:solidFill>
                  <a:srgbClr val="57504A"/>
                </a:solidFill>
                <a:latin typeface="Calibri"/>
              </a:rPr>
              <a:t>PART 8 — Hook Strategy + Hook Library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70.  </a:t>
            </a:r>
            <a:r>
              <a:rPr sz="1350" b="0" i="0">
                <a:solidFill>
                  <a:srgbClr val="2A2622"/>
                </a:solidFill>
                <a:latin typeface="Calibri"/>
              </a:rPr>
              <a:t>"Exam season me chehra dekha toh hi pata chala."</a:t>
            </a:r>
          </a:p>
          <a:p>
            <a:pPr>
              <a:spcBef>
                <a:spcPts val="1000"/>
              </a:spcBef>
              <a:spcAft>
                <a:spcPts val="400"/>
              </a:spcAft>
            </a:pPr>
            <a:r>
              <a:rPr sz="1600" b="1" i="0">
                <a:solidFill>
                  <a:srgbClr val="8F3A22"/>
                </a:solidFill>
                <a:latin typeface="Calibri"/>
              </a:rPr>
              <a:t>K. STORYTELLING / FOUNDER</a:t>
            </a:r>
          </a:p>
          <a:p>
            <a:pPr>
              <a:spcAft>
                <a:spcPts val="400"/>
              </a:spcAft>
            </a:pPr>
            <a:r>
              <a:rPr sz="1350" b="1">
                <a:solidFill>
                  <a:srgbClr val="8F3A22"/>
                </a:solidFill>
                <a:latin typeface="Calibri"/>
              </a:rPr>
              <a:t>71.  </a:t>
            </a:r>
            <a:r>
              <a:rPr sz="1350" b="0" i="0">
                <a:solidFill>
                  <a:srgbClr val="2A2622"/>
                </a:solidFill>
                <a:latin typeface="Calibri"/>
              </a:rPr>
              <a:t>"Brand banana kitna mushkil tha — koi reel nahi batati. Main bataati hoon."</a:t>
            </a:r>
          </a:p>
          <a:p>
            <a:pPr>
              <a:spcAft>
                <a:spcPts val="400"/>
              </a:spcAft>
            </a:pPr>
            <a:r>
              <a:rPr sz="1350" b="1">
                <a:solidFill>
                  <a:srgbClr val="8F3A22"/>
                </a:solidFill>
                <a:latin typeface="Calibri"/>
              </a:rPr>
              <a:t>72.  </a:t>
            </a:r>
            <a:r>
              <a:rPr sz="1350" b="0" i="0">
                <a:solidFill>
                  <a:srgbClr val="2A2622"/>
                </a:solidFill>
                <a:latin typeface="Calibri"/>
              </a:rPr>
              <a:t>"Pehla formula? Reject. Yeh kahani suno."</a:t>
            </a:r>
          </a:p>
          <a:p>
            <a:pPr>
              <a:spcAft>
                <a:spcPts val="400"/>
              </a:spcAft>
            </a:pPr>
            <a:r>
              <a:rPr sz="1350" b="1">
                <a:solidFill>
                  <a:srgbClr val="8F3A22"/>
                </a:solidFill>
                <a:latin typeface="Calibri"/>
              </a:rPr>
              <a:t>73.  </a:t>
            </a:r>
            <a:r>
              <a:rPr sz="1350" b="0" i="0">
                <a:solidFill>
                  <a:srgbClr val="2A2622"/>
                </a:solidFill>
                <a:latin typeface="Calibri"/>
              </a:rPr>
              <a:t>"Main Gujarat se hoon — aur isliye humara pehla customer Gujarat hai."</a:t>
            </a:r>
          </a:p>
          <a:p>
            <a:pPr>
              <a:spcAft>
                <a:spcPts val="400"/>
              </a:spcAft>
            </a:pPr>
            <a:r>
              <a:rPr sz="1350" b="1">
                <a:solidFill>
                  <a:srgbClr val="8F3A22"/>
                </a:solidFill>
                <a:latin typeface="Calibri"/>
              </a:rPr>
              <a:t>74.  </a:t>
            </a:r>
            <a:r>
              <a:rPr sz="1350" b="0" i="0">
                <a:solidFill>
                  <a:srgbClr val="2A2622"/>
                </a:solidFill>
                <a:latin typeface="Calibri"/>
              </a:rPr>
              <a:t>"20 aahaiyon ne 4 hafte humara product pehla try kiya. Unka farz tha honest baat karna."</a:t>
            </a:r>
          </a:p>
          <a:p>
            <a:pPr>
              <a:spcAft>
                <a:spcPts val="400"/>
              </a:spcAft>
            </a:pPr>
            <a:r>
              <a:rPr sz="1350" b="1">
                <a:solidFill>
                  <a:srgbClr val="8F3A22"/>
                </a:solidFill>
                <a:latin typeface="Calibri"/>
              </a:rPr>
              <a:t>75.  </a:t>
            </a:r>
            <a:r>
              <a:rPr sz="1350" b="0" i="0">
                <a:solidFill>
                  <a:srgbClr val="2A2622"/>
                </a:solidFill>
                <a:latin typeface="Calibri"/>
              </a:rPr>
              <a:t>"Launch se 1 din pehle 100 boxes — aaj packing ka asli video."</a:t>
            </a:r>
          </a:p>
          <a:p>
            <a:pPr>
              <a:spcBef>
                <a:spcPts val="1000"/>
              </a:spcBef>
              <a:spcAft>
                <a:spcPts val="400"/>
              </a:spcAft>
            </a:pPr>
            <a:r>
              <a:rPr sz="1600" b="1" i="0">
                <a:solidFill>
                  <a:srgbClr val="8F3A22"/>
                </a:solidFill>
                <a:latin typeface="Calibri"/>
              </a:rPr>
              <a:t>L. PRODUCT DEMONSTRATION / CHALLENGE</a:t>
            </a:r>
          </a:p>
          <a:p>
            <a:pPr>
              <a:spcAft>
                <a:spcPts val="400"/>
              </a:spcAft>
            </a:pPr>
            <a:r>
              <a:rPr sz="1350" b="1">
                <a:solidFill>
                  <a:srgbClr val="8F3A22"/>
                </a:solidFill>
                <a:latin typeface="Calibri"/>
              </a:rPr>
              <a:t>76.  </a:t>
            </a:r>
            <a:r>
              <a:rPr sz="1350" b="0" i="0">
                <a:solidFill>
                  <a:srgbClr val="2A2622"/>
                </a:solidFill>
                <a:latin typeface="Calibri"/>
              </a:rPr>
              <a:t>"10 second. Ek drop. Phir aap khud dekhogi."</a:t>
            </a:r>
          </a:p>
          <a:p>
            <a:pPr>
              <a:spcAft>
                <a:spcPts val="400"/>
              </a:spcAft>
            </a:pPr>
            <a:r>
              <a:rPr sz="1350" b="1">
                <a:solidFill>
                  <a:srgbClr val="8F3A22"/>
                </a:solidFill>
                <a:latin typeface="Calibri"/>
              </a:rPr>
              <a:t>77.  </a:t>
            </a:r>
            <a:r>
              <a:rPr sz="1350" b="0" i="0">
                <a:solidFill>
                  <a:srgbClr val="2A2622"/>
                </a:solidFill>
                <a:latin typeface="Calibri"/>
              </a:rPr>
              <a:t>"Ek haath pe 3 drops, doosre pe 10 — farq khud dekho."</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LIBRARY — 60+ hooks, by style</a:t>
            </a:r>
          </a:p>
          <a:p>
            <a:r>
              <a:rPr sz="1200" i="1">
                <a:solidFill>
                  <a:srgbClr val="57504A"/>
                </a:solidFill>
                <a:latin typeface="Calibri"/>
              </a:rPr>
              <a:t>PART 8 — Hook Strategy + Hook Library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78.  </a:t>
            </a:r>
            <a:r>
              <a:rPr sz="1350" b="0" i="0">
                <a:solidFill>
                  <a:srgbClr val="2A2622"/>
                </a:solidFill>
                <a:latin typeface="Calibri"/>
              </a:rPr>
              <a:t>"Is serum ko 30 second raho haath pe — absorb dekho."</a:t>
            </a:r>
          </a:p>
          <a:p>
            <a:pPr>
              <a:spcAft>
                <a:spcPts val="400"/>
              </a:spcAft>
            </a:pPr>
            <a:r>
              <a:rPr sz="1350" b="1">
                <a:solidFill>
                  <a:srgbClr val="8F3A22"/>
                </a:solidFill>
                <a:latin typeface="Calibri"/>
              </a:rPr>
              <a:t>79.  </a:t>
            </a:r>
            <a:r>
              <a:rPr sz="1350" b="0" i="0">
                <a:solidFill>
                  <a:srgbClr val="2A2622"/>
                </a:solidFill>
                <a:latin typeface="Calibri"/>
              </a:rPr>
              <a:t>"Challenge: 7 din, 3 steps, roz subah 6:45. Day 7 pe wapas aao."</a:t>
            </a:r>
          </a:p>
          <a:p>
            <a:pPr>
              <a:spcAft>
                <a:spcPts val="400"/>
              </a:spcAft>
            </a:pPr>
            <a:r>
              <a:rPr sz="1350" b="1">
                <a:solidFill>
                  <a:srgbClr val="8F3A22"/>
                </a:solidFill>
                <a:latin typeface="Calibri"/>
              </a:rPr>
              <a:t>80.  </a:t>
            </a:r>
            <a:r>
              <a:rPr sz="1350" b="0" i="0">
                <a:solidFill>
                  <a:srgbClr val="2A2622"/>
                </a:solidFill>
                <a:latin typeface="Calibri"/>
              </a:rPr>
              <a:t>"Texture ka test: chikna? Tight? 5 second me pata chalega."</a:t>
            </a:r>
          </a:p>
          <a:p>
            <a:pPr>
              <a:spcBef>
                <a:spcPts val="1000"/>
              </a:spcBef>
              <a:spcAft>
                <a:spcPts val="400"/>
              </a:spcAft>
            </a:pPr>
            <a:r>
              <a:rPr sz="1600" b="1" i="0">
                <a:solidFill>
                  <a:srgbClr val="8F3A22"/>
                </a:solidFill>
                <a:latin typeface="Calibri"/>
              </a:rPr>
              <a:t>M. SOCIAL PROOF</a:t>
            </a:r>
          </a:p>
          <a:p>
            <a:pPr>
              <a:spcAft>
                <a:spcPts val="400"/>
              </a:spcAft>
            </a:pPr>
            <a:r>
              <a:rPr sz="1350" b="1">
                <a:solidFill>
                  <a:srgbClr val="8F3A22"/>
                </a:solidFill>
                <a:latin typeface="Calibri"/>
              </a:rPr>
              <a:t>81.  </a:t>
            </a:r>
            <a:r>
              <a:rPr sz="1350" b="0" i="0">
                <a:solidFill>
                  <a:srgbClr val="2A2622"/>
                </a:solidFill>
                <a:latin typeface="Calibri"/>
              </a:rPr>
              <a:t>"Is aahai ne order karne se 4 din pehle 4 baar delete kiya. Yeh uski kahani hai."</a:t>
            </a:r>
          </a:p>
          <a:p>
            <a:pPr>
              <a:spcAft>
                <a:spcPts val="400"/>
              </a:spcAft>
            </a:pPr>
            <a:r>
              <a:rPr sz="1350" b="1">
                <a:solidFill>
                  <a:srgbClr val="8F3A22"/>
                </a:solidFill>
                <a:latin typeface="Calibri"/>
              </a:rPr>
              <a:t>82.  </a:t>
            </a:r>
            <a:r>
              <a:rPr sz="1350" b="0" i="0">
                <a:solidFill>
                  <a:srgbClr val="2A2622"/>
                </a:solidFill>
                <a:latin typeface="Calibri"/>
              </a:rPr>
              <a:t>"Pehli parcel. Pehli aahai. Asli reaction."</a:t>
            </a:r>
          </a:p>
          <a:p>
            <a:pPr>
              <a:spcAft>
                <a:spcPts val="400"/>
              </a:spcAft>
            </a:pPr>
            <a:r>
              <a:rPr sz="1350" b="1">
                <a:solidFill>
                  <a:srgbClr val="8F3A22"/>
                </a:solidFill>
                <a:latin typeface="Calibri"/>
              </a:rPr>
              <a:t>83.  </a:t>
            </a:r>
            <a:r>
              <a:rPr sz="1350" b="0" i="0">
                <a:solidFill>
                  <a:srgbClr val="2A2622"/>
                </a:solidFill>
                <a:latin typeface="Calibri"/>
              </a:rPr>
              <a:t>"Humari page pe 1 bhi fake review nahi — isliye yeh 1 review bhi original hai."</a:t>
            </a:r>
          </a:p>
          <a:p>
            <a:pPr>
              <a:spcAft>
                <a:spcPts val="400"/>
              </a:spcAft>
            </a:pPr>
            <a:r>
              <a:rPr sz="1350" b="1">
                <a:solidFill>
                  <a:srgbClr val="8F3A22"/>
                </a:solidFill>
                <a:latin typeface="Calibri"/>
              </a:rPr>
              <a:t>84.  </a:t>
            </a:r>
            <a:r>
              <a:rPr sz="1350" b="0" i="0">
                <a:solidFill>
                  <a:srgbClr val="2A2622"/>
                </a:solidFill>
                <a:latin typeface="Calibri"/>
              </a:rPr>
              <a:t>"[City] se aaya pehla order — aaj parcel khulte hue dekho."</a:t>
            </a:r>
          </a:p>
          <a:p>
            <a:pPr>
              <a:spcAft>
                <a:spcPts val="400"/>
              </a:spcAft>
            </a:pPr>
            <a:r>
              <a:rPr sz="1350" b="1">
                <a:solidFill>
                  <a:srgbClr val="8F3A22"/>
                </a:solidFill>
                <a:latin typeface="Calibri"/>
              </a:rPr>
              <a:t>85.  </a:t>
            </a:r>
            <a:r>
              <a:rPr sz="1350" b="0" i="0">
                <a:solidFill>
                  <a:srgbClr val="2A2622"/>
                </a:solidFill>
                <a:latin typeface="Calibri"/>
              </a:rPr>
              <a:t>"20 testers me se 18 ne kaha: 'continue karungi.' 2 ne kaha: 'mujhe nahi pasand.' Dono ki baat suno."</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LIBRARY — 60+ hooks, by style</a:t>
            </a:r>
          </a:p>
          <a:p>
            <a:r>
              <a:rPr sz="1200" i="1">
                <a:solidFill>
                  <a:srgbClr val="57504A"/>
                </a:solidFill>
                <a:latin typeface="Calibri"/>
              </a:rPr>
              <a:t>PART 8 — Hook Strategy + Hook Library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N. COMPARISON (brand-neutral, never naming &amp; bashing)</a:t>
            </a:r>
          </a:p>
          <a:p>
            <a:pPr>
              <a:spcAft>
                <a:spcPts val="400"/>
              </a:spcAft>
            </a:pPr>
            <a:r>
              <a:rPr sz="1350" b="1">
                <a:solidFill>
                  <a:srgbClr val="8F3A22"/>
                </a:solidFill>
                <a:latin typeface="Calibri"/>
              </a:rPr>
              <a:t>86.  </a:t>
            </a:r>
            <a:r>
              <a:rPr sz="1350" b="0" i="0">
                <a:solidFill>
                  <a:srgbClr val="2A2622"/>
                </a:solidFill>
                <a:latin typeface="Calibri"/>
              </a:rPr>
              <a:t>"Imported 2000 vs Indian 500 — ingredient list khol ke comparison."</a:t>
            </a:r>
          </a:p>
          <a:p>
            <a:pPr>
              <a:spcAft>
                <a:spcPts val="400"/>
              </a:spcAft>
            </a:pPr>
            <a:r>
              <a:rPr sz="1350" b="1">
                <a:solidFill>
                  <a:srgbClr val="8F3A22"/>
                </a:solidFill>
                <a:latin typeface="Calibri"/>
              </a:rPr>
              <a:t>87.  </a:t>
            </a:r>
            <a:r>
              <a:rPr sz="1350" b="0" i="0">
                <a:solidFill>
                  <a:srgbClr val="2A2622"/>
                </a:solidFill>
                <a:latin typeface="Calibri"/>
              </a:rPr>
              <a:t>"SPF 30 vs SPF 50 — math samjho, phir khud decide karo."</a:t>
            </a:r>
          </a:p>
          <a:p>
            <a:pPr>
              <a:spcAft>
                <a:spcPts val="400"/>
              </a:spcAft>
            </a:pPr>
            <a:r>
              <a:rPr sz="1350" b="1">
                <a:solidFill>
                  <a:srgbClr val="8F3A22"/>
                </a:solidFill>
                <a:latin typeface="Calibri"/>
              </a:rPr>
              <a:t>88.  </a:t>
            </a:r>
            <a:r>
              <a:rPr sz="1350" b="0" i="0">
                <a:solidFill>
                  <a:srgbClr val="2A2622"/>
                </a:solidFill>
                <a:latin typeface="Calibri"/>
              </a:rPr>
              <a:t>"Gel moisturizer vs cream — aapki skin kaunsi chahiye, 30 sec me."</a:t>
            </a:r>
          </a:p>
          <a:p>
            <a:pPr>
              <a:spcAft>
                <a:spcPts val="400"/>
              </a:spcAft>
            </a:pPr>
            <a:r>
              <a:rPr sz="1350" b="1">
                <a:solidFill>
                  <a:srgbClr val="8F3A22"/>
                </a:solidFill>
                <a:latin typeface="Calibri"/>
              </a:rPr>
              <a:t>89.  </a:t>
            </a:r>
            <a:r>
              <a:rPr sz="1350" b="0" i="0">
                <a:solidFill>
                  <a:srgbClr val="2A2622"/>
                </a:solidFill>
                <a:latin typeface="Calibri"/>
              </a:rPr>
              <a:t>"Ubtan vs serum — dono ki jagah alag hai. Yeh dekho."</a:t>
            </a:r>
          </a:p>
          <a:p>
            <a:pPr>
              <a:spcAft>
                <a:spcPts val="400"/>
              </a:spcAft>
            </a:pPr>
            <a:r>
              <a:rPr sz="1350" b="1">
                <a:solidFill>
                  <a:srgbClr val="8F3A22"/>
                </a:solidFill>
                <a:latin typeface="Calibri"/>
              </a:rPr>
              <a:t>90.  </a:t>
            </a:r>
            <a:r>
              <a:rPr sz="1350" b="0" i="0">
                <a:solidFill>
                  <a:srgbClr val="2A2622"/>
                </a:solidFill>
                <a:latin typeface="Calibri"/>
              </a:rPr>
              <a:t>"10% VC vs 20% VC — zyada = behtar? Lab kya kehta hai."</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HOOK SELECTION MATRIX (which style when)</a:t>
            </a:r>
          </a:p>
          <a:p>
            <a:r>
              <a:rPr sz="1200" i="1">
                <a:solidFill>
                  <a:srgbClr val="57504A"/>
                </a:solidFill>
                <a:latin typeface="Calibri"/>
              </a:rPr>
              <a:t>PART 8 — Hook Strategy + Hook Library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3" cy="5029200"/>
        </p:xfrm>
        <a:graphic>
          <a:graphicData uri="http://schemas.openxmlformats.org/drawingml/2006/table">
            <a:tbl>
              <a:tblPr firstRow="1" bandRow="1">
                <a:tableStyleId>{5C22544A-7EE6-4342-B048-85BDC9FD1C3A}</a:tableStyleId>
              </a:tblPr>
              <a:tblGrid>
                <a:gridCol w="2887903"/>
                <a:gridCol w="5414819"/>
                <a:gridCol w="3248891"/>
              </a:tblGrid>
              <a:tr h="718457">
                <a:tc>
                  <a:txBody>
                    <a:bodyPr wrap="square"/>
                    <a:lstStyle/>
                    <a:p>
                      <a:r>
                        <a:rPr sz="1200" b="1" i="0">
                          <a:solidFill>
                            <a:srgbClr val="FFFFFF"/>
                          </a:solidFill>
                          <a:latin typeface="Calibri"/>
                        </a:rPr>
                        <a:t>Post job</a:t>
                      </a:r>
                    </a:p>
                  </a:txBody>
                  <a:tcPr marL="45720" marR="45720" marT="18288" marB="18288" anchor="t">
                    <a:solidFill>
                      <a:srgbClr val="B44A2E"/>
                    </a:solidFill>
                  </a:tcPr>
                </a:tc>
                <a:tc>
                  <a:txBody>
                    <a:bodyPr wrap="square"/>
                    <a:lstStyle/>
                    <a:p>
                      <a:r>
                        <a:rPr sz="1200" b="1" i="0">
                          <a:solidFill>
                            <a:srgbClr val="FFFFFF"/>
                          </a:solidFill>
                          <a:latin typeface="Calibri"/>
                        </a:rPr>
                        <a:t>Best styles</a:t>
                      </a:r>
                    </a:p>
                  </a:txBody>
                  <a:tcPr marL="45720" marR="45720" marT="18288" marB="18288" anchor="t">
                    <a:solidFill>
                      <a:srgbClr val="B44A2E"/>
                    </a:solidFill>
                  </a:tcPr>
                </a:tc>
                <a:tc>
                  <a:txBody>
                    <a:bodyPr wrap="square"/>
                    <a:lstStyle/>
                    <a:p>
                      <a:r>
                        <a:rPr sz="1200" b="1" i="0">
                          <a:solidFill>
                            <a:srgbClr val="FFFFFF"/>
                          </a:solidFill>
                          <a:latin typeface="Calibri"/>
                        </a:rPr>
                        <a:t>Why</a:t>
                      </a:r>
                    </a:p>
                  </a:txBody>
                  <a:tcPr marL="45720" marR="45720" marT="18288" marB="18288" anchor="t">
                    <a:solidFill>
                      <a:srgbClr val="B44A2E"/>
                    </a:solidFill>
                  </a:tcPr>
                </a:tc>
              </a:tr>
              <a:tr h="718457">
                <a:tc>
                  <a:txBody>
                    <a:bodyPr wrap="square"/>
                    <a:lstStyle/>
                    <a:p>
                      <a:r>
                        <a:rPr sz="1200" b="0" i="0">
                          <a:solidFill>
                            <a:srgbClr val="2A2622"/>
                          </a:solidFill>
                          <a:latin typeface="Calibri"/>
                        </a:rPr>
                        <a:t>Reach new strangers (Pillar 1/6)</a:t>
                      </a:r>
                    </a:p>
                  </a:txBody>
                  <a:tcPr marL="45720" marR="45720" marT="18288" marB="18288" anchor="t">
                    <a:solidFill>
                      <a:srgbClr val="FFFFFF"/>
                    </a:solidFill>
                  </a:tcPr>
                </a:tc>
                <a:tc>
                  <a:txBody>
                    <a:bodyPr wrap="square"/>
                    <a:lstStyle/>
                    <a:p>
                      <a:r>
                        <a:rPr sz="1200" b="0" i="0">
                          <a:solidFill>
                            <a:srgbClr val="2A2622"/>
                          </a:solidFill>
                          <a:latin typeface="Calibri"/>
                        </a:rPr>
                        <a:t>Problem, Relatable, Curiosity, Story</a:t>
                      </a:r>
                    </a:p>
                  </a:txBody>
                  <a:tcPr marL="45720" marR="45720" marT="18288" marB="18288" anchor="t">
                    <a:solidFill>
                      <a:srgbClr val="FFFFFF"/>
                    </a:solidFill>
                  </a:tcPr>
                </a:tc>
                <a:tc>
                  <a:txBody>
                    <a:bodyPr wrap="square"/>
                    <a:lstStyle/>
                    <a:p>
                      <a:r>
                        <a:rPr sz="1200" b="0" i="0">
                          <a:solidFill>
                            <a:srgbClr val="2A2622"/>
                          </a:solidFill>
                          <a:latin typeface="Calibri"/>
                        </a:rPr>
                        <a:t>High CTR on cold feed; emotion first</a:t>
                      </a:r>
                    </a:p>
                  </a:txBody>
                  <a:tcPr marL="45720" marR="45720" marT="18288" marB="18288" anchor="t">
                    <a:solidFill>
                      <a:srgbClr val="FFFFFF"/>
                    </a:solidFill>
                  </a:tcPr>
                </a:tc>
              </a:tr>
              <a:tr h="718457">
                <a:tc>
                  <a:txBody>
                    <a:bodyPr wrap="square"/>
                    <a:lstStyle/>
                    <a:p>
                      <a:r>
                        <a:rPr sz="1200" b="0" i="0">
                          <a:solidFill>
                            <a:srgbClr val="2A2622"/>
                          </a:solidFill>
                          <a:latin typeface="Calibri"/>
                        </a:rPr>
                        <a:t>Build authority (Pillar 2)</a:t>
                      </a:r>
                    </a:p>
                  </a:txBody>
                  <a:tcPr marL="45720" marR="45720" marT="18288" marB="18288" anchor="t">
                    <a:solidFill>
                      <a:srgbClr val="F6F1E7"/>
                    </a:solidFill>
                  </a:tcPr>
                </a:tc>
                <a:tc>
                  <a:txBody>
                    <a:bodyPr wrap="square"/>
                    <a:lstStyle/>
                    <a:p>
                      <a:r>
                        <a:rPr sz="1200" b="0" i="0">
                          <a:solidFill>
                            <a:srgbClr val="2A2622"/>
                          </a:solidFill>
                          <a:latin typeface="Calibri"/>
                        </a:rPr>
                        <a:t>Myth, Fact, Mistake, Question</a:t>
                      </a:r>
                    </a:p>
                  </a:txBody>
                  <a:tcPr marL="45720" marR="45720" marT="18288" marB="18288" anchor="t">
                    <a:solidFill>
                      <a:srgbClr val="F6F1E7"/>
                    </a:solidFill>
                  </a:tcPr>
                </a:tc>
                <a:tc>
                  <a:txBody>
                    <a:bodyPr wrap="square"/>
                    <a:lstStyle/>
                    <a:p>
                      <a:r>
                        <a:rPr sz="1200" b="0" i="0">
                          <a:solidFill>
                            <a:srgbClr val="2A2622"/>
                          </a:solidFill>
                          <a:latin typeface="Calibri"/>
                        </a:rPr>
                        <a:t>Saves + search; "smart brand" signal</a:t>
                      </a:r>
                    </a:p>
                  </a:txBody>
                  <a:tcPr marL="45720" marR="45720" marT="18288" marB="18288" anchor="t">
                    <a:solidFill>
                      <a:srgbClr val="F6F1E7"/>
                    </a:solidFill>
                  </a:tcPr>
                </a:tc>
              </a:tr>
              <a:tr h="718457">
                <a:tc>
                  <a:txBody>
                    <a:bodyPr wrap="square"/>
                    <a:lstStyle/>
                    <a:p>
                      <a:r>
                        <a:rPr sz="1200" b="0" i="0">
                          <a:solidFill>
                            <a:srgbClr val="2A2622"/>
                          </a:solidFill>
                          <a:latin typeface="Calibri"/>
                        </a:rPr>
                        <a:t>Product desire (Pillar 3)</a:t>
                      </a:r>
                    </a:p>
                  </a:txBody>
                  <a:tcPr marL="45720" marR="45720" marT="18288" marB="18288" anchor="t">
                    <a:solidFill>
                      <a:srgbClr val="FFFFFF"/>
                    </a:solidFill>
                  </a:tcPr>
                </a:tc>
                <a:tc>
                  <a:txBody>
                    <a:bodyPr wrap="square"/>
                    <a:lstStyle/>
                    <a:p>
                      <a:r>
                        <a:rPr sz="1200" b="0" i="0">
                          <a:solidFill>
                            <a:srgbClr val="2A2622"/>
                          </a:solidFill>
                          <a:latin typeface="Calibri"/>
                        </a:rPr>
                        <a:t>Demo, Comparison, Curiosity, Challenge</a:t>
                      </a:r>
                    </a:p>
                  </a:txBody>
                  <a:tcPr marL="45720" marR="45720" marT="18288" marB="18288" anchor="t">
                    <a:solidFill>
                      <a:srgbClr val="FFFFFF"/>
                    </a:solidFill>
                  </a:tcPr>
                </a:tc>
                <a:tc>
                  <a:txBody>
                    <a:bodyPr wrap="square"/>
                    <a:lstStyle/>
                    <a:p>
                      <a:r>
                        <a:rPr sz="1200" b="0" i="0">
                          <a:solidFill>
                            <a:srgbClr val="2A2622"/>
                          </a:solidFill>
                          <a:latin typeface="Calibri"/>
                        </a:rPr>
                        <a:t>Sensory + proof; ad-ready</a:t>
                      </a:r>
                    </a:p>
                  </a:txBody>
                  <a:tcPr marL="45720" marR="45720" marT="18288" marB="18288" anchor="t">
                    <a:solidFill>
                      <a:srgbClr val="FFFFFF"/>
                    </a:solidFill>
                  </a:tcPr>
                </a:tc>
              </a:tr>
              <a:tr h="718457">
                <a:tc>
                  <a:txBody>
                    <a:bodyPr wrap="square"/>
                    <a:lstStyle/>
                    <a:p>
                      <a:r>
                        <a:rPr sz="1200" b="0" i="0">
                          <a:solidFill>
                            <a:srgbClr val="2A2622"/>
                          </a:solidFill>
                          <a:latin typeface="Calibri"/>
                        </a:rPr>
                        <a:t>Trust (Pillar 4/5)</a:t>
                      </a:r>
                    </a:p>
                  </a:txBody>
                  <a:tcPr marL="45720" marR="45720" marT="18288" marB="18288" anchor="t">
                    <a:solidFill>
                      <a:srgbClr val="F6F1E7"/>
                    </a:solidFill>
                  </a:tcPr>
                </a:tc>
                <a:tc>
                  <a:txBody>
                    <a:bodyPr wrap="square"/>
                    <a:lstStyle/>
                    <a:p>
                      <a:r>
                        <a:rPr sz="1200" b="0" i="0">
                          <a:solidFill>
                            <a:srgbClr val="2A2622"/>
                          </a:solidFill>
                          <a:latin typeface="Calibri"/>
                        </a:rPr>
                        <a:t>Social proof, Before/after (disclosed), Story</a:t>
                      </a:r>
                    </a:p>
                  </a:txBody>
                  <a:tcPr marL="45720" marR="45720" marT="18288" marB="18288" anchor="t">
                    <a:solidFill>
                      <a:srgbClr val="F6F1E7"/>
                    </a:solidFill>
                  </a:tcPr>
                </a:tc>
                <a:tc>
                  <a:txBody>
                    <a:bodyPr wrap="square"/>
                    <a:lstStyle/>
                    <a:p>
                      <a:r>
                        <a:rPr sz="1200" b="0" i="0">
                          <a:solidFill>
                            <a:srgbClr val="2A2622"/>
                          </a:solidFill>
                          <a:latin typeface="Calibri"/>
                        </a:rPr>
                        <a:t>Converts evaluators; UGC voice</a:t>
                      </a:r>
                    </a:p>
                  </a:txBody>
                  <a:tcPr marL="45720" marR="45720" marT="18288" marB="18288" anchor="t">
                    <a:solidFill>
                      <a:srgbClr val="F6F1E7"/>
                    </a:solidFill>
                  </a:tcPr>
                </a:tc>
              </a:tr>
              <a:tr h="718457">
                <a:tc>
                  <a:txBody>
                    <a:bodyPr wrap="square"/>
                    <a:lstStyle/>
                    <a:p>
                      <a:r>
                        <a:rPr sz="1200" b="0" i="0">
                          <a:solidFill>
                            <a:srgbClr val="2A2622"/>
                          </a:solidFill>
                          <a:latin typeface="Calibri"/>
                        </a:rPr>
                        <a:t>Sales (Pillar 7)</a:t>
                      </a:r>
                    </a:p>
                  </a:txBody>
                  <a:tcPr marL="45720" marR="45720" marT="18288" marB="18288" anchor="t">
                    <a:solidFill>
                      <a:srgbClr val="FFFFFF"/>
                    </a:solidFill>
                  </a:tcPr>
                </a:tc>
                <a:tc>
                  <a:txBody>
                    <a:bodyPr wrap="square"/>
                    <a:lstStyle/>
                    <a:p>
                      <a:r>
                        <a:rPr sz="1200" b="0" i="0">
                          <a:solidFill>
                            <a:srgbClr val="2A2622"/>
                          </a:solidFill>
                          <a:latin typeface="Calibri"/>
                        </a:rPr>
                        <a:t>Social proof, Problem→offer, Curiosity ("100 me X seat"), Comparison</a:t>
                      </a:r>
                    </a:p>
                  </a:txBody>
                  <a:tcPr marL="45720" marR="45720" marT="18288" marB="18288" anchor="t">
                    <a:solidFill>
                      <a:srgbClr val="FFFFFF"/>
                    </a:solidFill>
                  </a:tcPr>
                </a:tc>
                <a:tc>
                  <a:txBody>
                    <a:bodyPr wrap="square"/>
                    <a:lstStyle/>
                    <a:p>
                      <a:r>
                        <a:rPr sz="1200" b="0" i="0">
                          <a:solidFill>
                            <a:srgbClr val="2A2622"/>
                          </a:solidFill>
                          <a:latin typeface="Calibri"/>
                        </a:rPr>
                        <a:t>Direct action; pair with offer</a:t>
                      </a:r>
                    </a:p>
                  </a:txBody>
                  <a:tcPr marL="45720" marR="45720" marT="18288" marB="18288" anchor="t">
                    <a:solidFill>
                      <a:srgbClr val="FFFFFF"/>
                    </a:solidFill>
                  </a:tcPr>
                </a:tc>
              </a:tr>
              <a:tr h="718458">
                <a:tc>
                  <a:txBody>
                    <a:bodyPr wrap="square"/>
                    <a:lstStyle/>
                    <a:p>
                      <a:r>
                        <a:rPr sz="1200" b="0" i="0">
                          <a:solidFill>
                            <a:srgbClr val="2A2622"/>
                          </a:solidFill>
                          <a:latin typeface="Calibri"/>
                        </a:rPr>
                        <a:t>Retargeting ads</a:t>
                      </a:r>
                    </a:p>
                  </a:txBody>
                  <a:tcPr marL="45720" marR="45720" marT="18288" marB="18288" anchor="t">
                    <a:solidFill>
                      <a:srgbClr val="F6F1E7"/>
                    </a:solidFill>
                  </a:tcPr>
                </a:tc>
                <a:tc>
                  <a:txBody>
                    <a:bodyPr wrap="square"/>
                    <a:lstStyle/>
                    <a:p>
                      <a:r>
                        <a:rPr sz="1200" b="0" i="0">
                          <a:solidFill>
                            <a:srgbClr val="2A2622"/>
                          </a:solidFill>
                          <a:latin typeface="Calibri"/>
                        </a:rPr>
                        <a:t>Before/after, Social proof, Mistake, "X seat left"</a:t>
                      </a:r>
                    </a:p>
                  </a:txBody>
                  <a:tcPr marL="45720" marR="45720" marT="18288" marB="18288" anchor="t">
                    <a:solidFill>
                      <a:srgbClr val="F6F1E7"/>
                    </a:solidFill>
                  </a:tcPr>
                </a:tc>
                <a:tc>
                  <a:txBody>
                    <a:bodyPr wrap="square"/>
                    <a:lstStyle/>
                    <a:p>
                      <a:r>
                        <a:rPr sz="1200" b="0" i="0">
                          <a:solidFill>
                            <a:srgbClr val="2A2622"/>
                          </a:solidFill>
                          <a:latin typeface="Calibri"/>
                        </a:rPr>
                        <a:t>They already know you; nudge + proof</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HOOK SELECTION MATRIX (which style when)</a:t>
            </a:r>
          </a:p>
          <a:p>
            <a:r>
              <a:rPr sz="1200" i="1">
                <a:solidFill>
                  <a:srgbClr val="57504A"/>
                </a:solidFill>
                <a:latin typeface="Calibri"/>
              </a:rPr>
              <a:t>PART 8 — Hook Strategy + Hook Library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Rotation rule:</a:t>
            </a:r>
            <a:r>
              <a:rPr sz="1350" b="0" i="0">
                <a:solidFill>
                  <a:srgbClr val="2A2622"/>
                </a:solidFill>
                <a:latin typeface="Calibri"/>
              </a:rPr>
              <a:t> never use the same hook style 2 reels in a row; never reuse a hook in the same month. Keep a spreadsheet: hook used / date / CTR / DMs. Kill bottom-10 hooks, rewrite top-10 with new angles.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9</a:t>
            </a:r>
          </a:p>
        </p:txBody>
      </p:sp>
      <p:sp>
        <p:nvSpPr>
          <p:cNvPr id="4" name="TextBox 3"/>
          <p:cNvSpPr txBox="1"/>
          <p:nvPr/>
        </p:nvSpPr>
        <p:spPr>
          <a:xfrm>
            <a:off x="914400" y="2377440"/>
            <a:ext cx="10362895" cy="1645920"/>
          </a:xfrm>
          <a:prstGeom prst="rect">
            <a:avLst/>
          </a:prstGeom>
          <a:noFill/>
        </p:spPr>
        <p:txBody>
          <a:bodyPr wrap="square">
            <a:spAutoFit/>
          </a:bodyPr>
          <a:lstStyle/>
          <a:p>
            <a:r>
              <a:rPr sz="3000" b="1">
                <a:solidFill>
                  <a:srgbClr val="8F3A22"/>
                </a:solidFill>
                <a:latin typeface="Calibri"/>
              </a:rPr>
              <a:t>§7 SAFE BEFORE/AFTER + §8 UGC STRATEGY — RANGAT NATURALS</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Safe Before/After + UGC Strategy (20 Reels)</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BEFORE/AFTER — SAFE, REAL, CONVEYING (Section 7)</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The 3 laws (non-negotiable)</a:t>
            </a:r>
          </a:p>
          <a:p>
            <a:pPr>
              <a:spcAft>
                <a:spcPts val="400"/>
              </a:spcAft>
            </a:pPr>
            <a:r>
              <a:rPr sz="1350" b="1">
                <a:solidFill>
                  <a:srgbClr val="8F3A22"/>
                </a:solidFill>
                <a:latin typeface="Calibri"/>
              </a:rPr>
              <a:t>1.  </a:t>
            </a:r>
            <a:r>
              <a:rPr sz="1350" b="1" i="0">
                <a:solidFill>
                  <a:srgbClr val="2A2622"/>
                </a:solidFill>
                <a:latin typeface="Calibri"/>
              </a:rPr>
              <a:t>Only real, documented, disclosed.</a:t>
            </a:r>
            <a:r>
              <a:rPr sz="1350" b="0" i="0">
                <a:solidFill>
                  <a:srgbClr val="2A2622"/>
                </a:solidFill>
                <a:latin typeface="Calibri"/>
              </a:rPr>
              <a:t> If you can't produce the original date-stamped photos on request, you don't post them.</a:t>
            </a:r>
          </a:p>
          <a:p>
            <a:pPr>
              <a:spcAft>
                <a:spcPts val="400"/>
              </a:spcAft>
            </a:pPr>
            <a:r>
              <a:rPr sz="1350" b="1">
                <a:solidFill>
                  <a:srgbClr val="8F3A22"/>
                </a:solidFill>
                <a:latin typeface="Calibri"/>
              </a:rPr>
              <a:t>2.  </a:t>
            </a:r>
            <a:r>
              <a:rPr sz="1350" b="1" i="0">
                <a:solidFill>
                  <a:srgbClr val="2A2622"/>
                </a:solidFill>
                <a:latin typeface="Calibri"/>
              </a:rPr>
              <a:t>No editing that changes skin.</a:t>
            </a:r>
            <a:r>
              <a:rPr sz="1350" b="0" i="0">
                <a:solidFill>
                  <a:srgbClr val="2A2622"/>
                </a:solidFill>
                <a:latin typeface="Calibri"/>
              </a:rPr>
              <a:t> Same light, same angle, same crop. Allowed: identical light/brightness on both frames, crop, date stamp. Not allowed: beauty filters, whitening, spot-removal, "before" darkened to look worse.</a:t>
            </a:r>
          </a:p>
          <a:p>
            <a:pPr>
              <a:spcAft>
                <a:spcPts val="400"/>
              </a:spcAft>
            </a:pPr>
            <a:r>
              <a:rPr sz="1350" b="1">
                <a:solidFill>
                  <a:srgbClr val="8F3A22"/>
                </a:solidFill>
                <a:latin typeface="Calibri"/>
              </a:rPr>
              <a:t>3.  </a:t>
            </a:r>
            <a:r>
              <a:rPr sz="1350" b="1" i="0">
                <a:solidFill>
                  <a:srgbClr val="2A2622"/>
                </a:solidFill>
                <a:latin typeface="Calibri"/>
              </a:rPr>
              <a:t>Mandatory on-screen disclosure, always, both frames:</a:t>
            </a:r>
          </a:p>
          <a:p>
            <a:pPr>
              <a:spcBef>
                <a:spcPts val="600"/>
              </a:spcBef>
              <a:spcAft>
                <a:spcPts val="600"/>
              </a:spcAft>
            </a:pPr>
            <a:r>
              <a:rPr sz="1250" b="0" i="1">
                <a:solidFill>
                  <a:srgbClr val="57504A"/>
                </a:solidFill>
                <a:latin typeface="Calibri"/>
              </a:rPr>
              <a:t>“"Day 1 → Day 28 · 4 hafte daily use · </a:t>
            </a:r>
            <a:r>
              <a:rPr sz="1250" b="1" i="1">
                <a:solidFill>
                  <a:srgbClr val="57504A"/>
                </a:solidFill>
                <a:latin typeface="Calibri"/>
              </a:rPr>
              <a:t>Results may vary</a:t>
            </a:r>
            <a:r>
              <a:rPr sz="1250" b="0" i="1">
                <a:solidFill>
                  <a:srgbClr val="57504A"/>
                </a:solidFill>
                <a:latin typeface="Calibri"/>
              </a:rPr>
              <a:t> · Real customer, consent ke saath"”</a:t>
            </a:r>
          </a:p>
          <a:p>
            <a:pPr>
              <a:spcBef>
                <a:spcPts val="1000"/>
              </a:spcBef>
              <a:spcAft>
                <a:spcPts val="400"/>
              </a:spcAft>
            </a:pPr>
            <a:r>
              <a:rPr sz="1600" b="1" i="0">
                <a:solidFill>
                  <a:srgbClr val="8F3A22"/>
                </a:solidFill>
                <a:latin typeface="Calibri"/>
              </a:rPr>
              <a:t>What types of before/after you CAN use (safe list)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BEFORE/AFTER — SAFE, REAL, CONVEYING (Section 7)</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3" cy="5029200"/>
        </p:xfrm>
        <a:graphic>
          <a:graphicData uri="http://schemas.openxmlformats.org/drawingml/2006/table">
            <a:tbl>
              <a:tblPr firstRow="1" bandRow="1">
                <a:tableStyleId>{5C22544A-7EE6-4342-B048-85BDC9FD1C3A}</a:tableStyleId>
              </a:tblPr>
              <a:tblGrid>
                <a:gridCol w="2328954"/>
                <a:gridCol w="5310016"/>
                <a:gridCol w="3912643"/>
              </a:tblGrid>
              <a:tr h="718457">
                <a:tc>
                  <a:txBody>
                    <a:bodyPr wrap="square"/>
                    <a:lstStyle/>
                    <a:p>
                      <a:r>
                        <a:rPr sz="1200" b="1" i="0">
                          <a:solidFill>
                            <a:srgbClr val="FFFFFF"/>
                          </a:solidFill>
                          <a:latin typeface="Calibri"/>
                        </a:rPr>
                        <a:t>Type</a:t>
                      </a:r>
                    </a:p>
                  </a:txBody>
                  <a:tcPr marL="45720" marR="45720" marT="18288" marB="18288" anchor="t">
                    <a:solidFill>
                      <a:srgbClr val="B44A2E"/>
                    </a:solidFill>
                  </a:tcPr>
                </a:tc>
                <a:tc>
                  <a:txBody>
                    <a:bodyPr wrap="square"/>
                    <a:lstStyle/>
                    <a:p>
                      <a:r>
                        <a:rPr sz="1200" b="1" i="0">
                          <a:solidFill>
                            <a:srgbClr val="FFFFFF"/>
                          </a:solidFill>
                          <a:latin typeface="Calibri"/>
                        </a:rPr>
                        <a:t>What it shows</a:t>
                      </a:r>
                    </a:p>
                  </a:txBody>
                  <a:tcPr marL="45720" marR="45720" marT="18288" marB="18288" anchor="t">
                    <a:solidFill>
                      <a:srgbClr val="B44A2E"/>
                    </a:solidFill>
                  </a:tcPr>
                </a:tc>
                <a:tc>
                  <a:txBody>
                    <a:bodyPr wrap="square"/>
                    <a:lstStyle/>
                    <a:p>
                      <a:r>
                        <a:rPr sz="1200" b="1" i="0">
                          <a:solidFill>
                            <a:srgbClr val="FFFFFF"/>
                          </a:solidFill>
                          <a:latin typeface="Calibri"/>
                        </a:rPr>
                        <a:t>Safe because</a:t>
                      </a:r>
                    </a:p>
                  </a:txBody>
                  <a:tcPr marL="45720" marR="45720" marT="18288" marB="18288" anchor="t">
                    <a:solidFill>
                      <a:srgbClr val="B44A2E"/>
                    </a:solidFill>
                  </a:tcPr>
                </a:tc>
              </a:tr>
              <a:tr h="718457">
                <a:tc>
                  <a:txBody>
                    <a:bodyPr wrap="square"/>
                    <a:lstStyle/>
                    <a:p>
                      <a:r>
                        <a:rPr sz="1200" b="1" i="0">
                          <a:solidFill>
                            <a:srgbClr val="2A2622"/>
                          </a:solidFill>
                          <a:latin typeface="Calibri"/>
                        </a:rPr>
                        <a:t>4-week program grid</a:t>
                      </a:r>
                    </a:p>
                  </a:txBody>
                  <a:tcPr marL="45720" marR="45720" marT="18288" marB="18288" anchor="t">
                    <a:solidFill>
                      <a:srgbClr val="FFFFFF"/>
                    </a:solidFill>
                  </a:tcPr>
                </a:tc>
                <a:tc>
                  <a:txBody>
                    <a:bodyPr wrap="square"/>
                    <a:lstStyle/>
                    <a:p>
                      <a:r>
                        <a:rPr sz="1200" b="0" i="0">
                          <a:solidFill>
                            <a:srgbClr val="2A2622"/>
                          </a:solidFill>
                          <a:latin typeface="Calibri"/>
                        </a:rPr>
                        <a:t>Day 1 / 7 / 14 / 28, same conditions, 2–3 real faces</a:t>
                      </a:r>
                    </a:p>
                  </a:txBody>
                  <a:tcPr marL="45720" marR="45720" marT="18288" marB="18288" anchor="t">
                    <a:solidFill>
                      <a:srgbClr val="FFFFFF"/>
                    </a:solidFill>
                  </a:tcPr>
                </a:tc>
                <a:tc>
                  <a:txBody>
                    <a:bodyPr wrap="square"/>
                    <a:lstStyle/>
                    <a:p>
                      <a:r>
                        <a:rPr sz="1200" b="0" i="0">
                          <a:solidFill>
                            <a:srgbClr val="2A2622"/>
                          </a:solidFill>
                          <a:latin typeface="Calibri"/>
                        </a:rPr>
                        <a:t>Time documented, no single "miracle" claim</a:t>
                      </a:r>
                    </a:p>
                  </a:txBody>
                  <a:tcPr marL="45720" marR="45720" marT="18288" marB="18288" anchor="t">
                    <a:solidFill>
                      <a:srgbClr val="FFFFFF"/>
                    </a:solidFill>
                  </a:tcPr>
                </a:tc>
              </a:tr>
              <a:tr h="718457">
                <a:tc>
                  <a:txBody>
                    <a:bodyPr wrap="square"/>
                    <a:lstStyle/>
                    <a:p>
                      <a:r>
                        <a:rPr sz="1200" b="1" i="0">
                          <a:solidFill>
                            <a:srgbClr val="2A2622"/>
                          </a:solidFill>
                          <a:latin typeface="Calibri"/>
                        </a:rPr>
                        <a:t>Week-by-week series</a:t>
                      </a:r>
                    </a:p>
                  </a:txBody>
                  <a:tcPr marL="45720" marR="45720" marT="18288" marB="18288" anchor="t">
                    <a:solidFill>
                      <a:srgbClr val="F6F1E7"/>
                    </a:solidFill>
                  </a:tcPr>
                </a:tc>
                <a:tc>
                  <a:txBody>
                    <a:bodyPr wrap="square"/>
                    <a:lstStyle/>
                    <a:p>
                      <a:r>
                        <a:rPr sz="1200" b="0" i="0">
                          <a:solidFill>
                            <a:srgbClr val="2A2622"/>
                          </a:solidFill>
                          <a:latin typeface="Calibri"/>
                        </a:rPr>
                        <a:t>One tester, one week per post ("Week 3 update")</a:t>
                      </a:r>
                    </a:p>
                  </a:txBody>
                  <a:tcPr marL="45720" marR="45720" marT="18288" marB="18288" anchor="t">
                    <a:solidFill>
                      <a:srgbClr val="F6F1E7"/>
                    </a:solidFill>
                  </a:tcPr>
                </a:tc>
                <a:tc>
                  <a:txBody>
                    <a:bodyPr wrap="square"/>
                    <a:lstStyle/>
                    <a:p>
                      <a:r>
                        <a:rPr sz="1200" b="0" i="0">
                          <a:solidFill>
                            <a:srgbClr val="2A2622"/>
                          </a:solidFill>
                          <a:latin typeface="Calibri"/>
                        </a:rPr>
                        <a:t>Serial = believable, builds a show</a:t>
                      </a:r>
                    </a:p>
                  </a:txBody>
                  <a:tcPr marL="45720" marR="45720" marT="18288" marB="18288" anchor="t">
                    <a:solidFill>
                      <a:srgbClr val="F6F1E7"/>
                    </a:solidFill>
                  </a:tcPr>
                </a:tc>
              </a:tr>
              <a:tr h="718457">
                <a:tc>
                  <a:txBody>
                    <a:bodyPr wrap="square"/>
                    <a:lstStyle/>
                    <a:p>
                      <a:r>
                        <a:rPr sz="1200" b="1" i="0">
                          <a:solidFill>
                            <a:srgbClr val="2A2622"/>
                          </a:solidFill>
                          <a:latin typeface="Calibri"/>
                        </a:rPr>
                        <a:t>Texture/finish comparison</a:t>
                      </a:r>
                    </a:p>
                  </a:txBody>
                  <a:tcPr marL="45720" marR="45720" marT="18288" marB="18288" anchor="t">
                    <a:solidFill>
                      <a:srgbClr val="FFFFFF"/>
                    </a:solidFill>
                  </a:tcPr>
                </a:tc>
                <a:tc>
                  <a:txBody>
                    <a:bodyPr wrap="square"/>
                    <a:lstStyle/>
                    <a:p>
                      <a:r>
                        <a:rPr sz="1200" b="0" i="0">
                          <a:solidFill>
                            <a:srgbClr val="2A2622"/>
                          </a:solidFill>
                          <a:latin typeface="Calibri"/>
                        </a:rPr>
                        <a:t>Same hand/back-of-hand: skin feel, glow-look, absorption</a:t>
                      </a:r>
                    </a:p>
                  </a:txBody>
                  <a:tcPr marL="45720" marR="45720" marT="18288" marB="18288" anchor="t">
                    <a:solidFill>
                      <a:srgbClr val="FFFFFF"/>
                    </a:solidFill>
                  </a:tcPr>
                </a:tc>
                <a:tc>
                  <a:txBody>
                    <a:bodyPr wrap="square"/>
                    <a:lstStyle/>
                    <a:p>
                      <a:r>
                        <a:rPr sz="1200" b="0" i="0">
                          <a:solidFill>
                            <a:srgbClr val="2A2622"/>
                          </a:solidFill>
                          <a:latin typeface="Calibri"/>
                        </a:rPr>
                        <a:t>No face-claim; sensory proof</a:t>
                      </a:r>
                    </a:p>
                  </a:txBody>
                  <a:tcPr marL="45720" marR="45720" marT="18288" marB="18288" anchor="t">
                    <a:solidFill>
                      <a:srgbClr val="FFFFFF"/>
                    </a:solidFill>
                  </a:tcPr>
                </a:tc>
              </a:tr>
              <a:tr h="718457">
                <a:tc>
                  <a:txBody>
                    <a:bodyPr wrap="square"/>
                    <a:lstStyle/>
                    <a:p>
                      <a:r>
                        <a:rPr sz="1200" b="1" i="0">
                          <a:solidFill>
                            <a:srgbClr val="2A2622"/>
                          </a:solidFill>
                          <a:latin typeface="Calibri"/>
                        </a:rPr>
                        <a:t>Tester's own words</a:t>
                      </a:r>
                    </a:p>
                  </a:txBody>
                  <a:tcPr marL="45720" marR="45720" marT="18288" marB="18288" anchor="t">
                    <a:solidFill>
                      <a:srgbClr val="F6F1E7"/>
                    </a:solidFill>
                  </a:tcPr>
                </a:tc>
                <a:tc>
                  <a:txBody>
                    <a:bodyPr wrap="square"/>
                    <a:lstStyle/>
                    <a:p>
                      <a:r>
                        <a:rPr sz="1200" b="0" i="0">
                          <a:solidFill>
                            <a:srgbClr val="2A2622"/>
                          </a:solidFill>
                          <a:latin typeface="Calibri"/>
                        </a:rPr>
                        <a:t>"Fresh lagta hai," "dull-look kam" (her phrase, not ours)</a:t>
                      </a:r>
                    </a:p>
                  </a:txBody>
                  <a:tcPr marL="45720" marR="45720" marT="18288" marB="18288" anchor="t">
                    <a:solidFill>
                      <a:srgbClr val="F6F1E7"/>
                    </a:solidFill>
                  </a:tcPr>
                </a:tc>
                <a:tc>
                  <a:txBody>
                    <a:bodyPr wrap="square"/>
                    <a:lstStyle/>
                    <a:p>
                      <a:r>
                        <a:rPr sz="1200" b="0" i="0">
                          <a:solidFill>
                            <a:srgbClr val="2A2622"/>
                          </a:solidFill>
                          <a:latin typeface="Calibri"/>
                        </a:rPr>
                        <a:t>Customer's language, attributed</a:t>
                      </a:r>
                    </a:p>
                  </a:txBody>
                  <a:tcPr marL="45720" marR="45720" marT="18288" marB="18288" anchor="t">
                    <a:solidFill>
                      <a:srgbClr val="F6F1E7"/>
                    </a:solidFill>
                  </a:tcPr>
                </a:tc>
              </a:tr>
              <a:tr h="718457">
                <a:tc>
                  <a:txBody>
                    <a:bodyPr wrap="square"/>
                    <a:lstStyle/>
                    <a:p>
                      <a:r>
                        <a:rPr sz="1200" b="1" i="0">
                          <a:solidFill>
                            <a:srgbClr val="2A2622"/>
                          </a:solidFill>
                          <a:latin typeface="Calibri"/>
                        </a:rPr>
                        <a:t>Numbers we can defend</a:t>
                      </a:r>
                    </a:p>
                  </a:txBody>
                  <a:tcPr marL="45720" marR="45720" marT="18288" marB="18288" anchor="t">
                    <a:solidFill>
                      <a:srgbClr val="FFFFFF"/>
                    </a:solidFill>
                  </a:tcPr>
                </a:tc>
                <a:tc>
                  <a:txBody>
                    <a:bodyPr wrap="square"/>
                    <a:lstStyle/>
                    <a:p>
                      <a:r>
                        <a:rPr sz="1200" b="0" i="0">
                          <a:solidFill>
                            <a:srgbClr val="2A2622"/>
                          </a:solidFill>
                          <a:latin typeface="Calibri"/>
                        </a:rPr>
                        <a:t>"20 testers me se 17 ne kaha: continue karungi"</a:t>
                      </a:r>
                    </a:p>
                  </a:txBody>
                  <a:tcPr marL="45720" marR="45720" marT="18288" marB="18288" anchor="t">
                    <a:solidFill>
                      <a:srgbClr val="FFFFFF"/>
                    </a:solidFill>
                  </a:tcPr>
                </a:tc>
                <a:tc>
                  <a:txBody>
                    <a:bodyPr wrap="square"/>
                    <a:lstStyle/>
                    <a:p>
                      <a:r>
                        <a:rPr sz="1200" b="0" i="0">
                          <a:solidFill>
                            <a:srgbClr val="2A2622"/>
                          </a:solidFill>
                          <a:latin typeface="Calibri"/>
                        </a:rPr>
                        <a:t>Survey of our own program, stated as such</a:t>
                      </a:r>
                    </a:p>
                  </a:txBody>
                  <a:tcPr marL="45720" marR="45720" marT="18288" marB="18288" anchor="t">
                    <a:solidFill>
                      <a:srgbClr val="FFFFFF"/>
                    </a:solidFill>
                  </a:tcPr>
                </a:tc>
              </a:tr>
              <a:tr h="718458">
                <a:tc>
                  <a:txBody>
                    <a:bodyPr wrap="square"/>
                    <a:lstStyle/>
                    <a:p>
                      <a:r>
                        <a:rPr sz="1200" b="1" i="0">
                          <a:solidFill>
                            <a:srgbClr val="2A2622"/>
                          </a:solidFill>
                          <a:latin typeface="Calibri"/>
                        </a:rPr>
                        <a:t>Routine consistency proof</a:t>
                      </a:r>
                    </a:p>
                  </a:txBody>
                  <a:tcPr marL="45720" marR="45720" marT="18288" marB="18288" anchor="t">
                    <a:solidFill>
                      <a:srgbClr val="F6F1E7"/>
                    </a:solidFill>
                  </a:tcPr>
                </a:tc>
                <a:tc>
                  <a:txBody>
                    <a:bodyPr wrap="square"/>
                    <a:lstStyle/>
                    <a:p>
                      <a:r>
                        <a:rPr sz="1200" b="0" i="0">
                          <a:solidFill>
                            <a:srgbClr val="2A2622"/>
                          </a:solidFill>
                          <a:latin typeface="Calibri"/>
                        </a:rPr>
                        <a:t>"Roz subah 6:45 — 28 din ka habit" (habit, not miracle)</a:t>
                      </a:r>
                    </a:p>
                  </a:txBody>
                  <a:tcPr marL="45720" marR="45720" marT="18288" marB="18288" anchor="t">
                    <a:solidFill>
                      <a:srgbClr val="F6F1E7"/>
                    </a:solidFill>
                  </a:tcPr>
                </a:tc>
                <a:tc>
                  <a:txBody>
                    <a:bodyPr wrap="square"/>
                    <a:lstStyle/>
                    <a:p>
                      <a:r>
                        <a:rPr sz="1200" b="0" i="0">
                          <a:solidFill>
                            <a:srgbClr val="2A2622"/>
                          </a:solidFill>
                          <a:latin typeface="Calibri"/>
                        </a:rPr>
                        <a:t>Honest framing</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BEFORE/AFTER — SAFE, REAL, CONVEYING (Section 7)</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What you must NEVER do (the kill list)</a:t>
            </a:r>
          </a:p>
          <a:p>
            <a:pPr>
              <a:spcAft>
                <a:spcPts val="400"/>
              </a:spcAft>
            </a:pPr>
            <a:r>
              <a:rPr sz="1350">
                <a:solidFill>
                  <a:srgbClr val="B44A2E"/>
                </a:solidFill>
                <a:latin typeface="Calibri"/>
              </a:rPr>
              <a:t>•  </a:t>
            </a:r>
            <a:r>
              <a:rPr sz="1350" b="0" i="0">
                <a:solidFill>
                  <a:srgbClr val="2A2622"/>
                </a:solidFill>
                <a:latin typeface="Calibri"/>
              </a:rPr>
              <a:t>✗ Fake/staged before/after (stock photos, AI "transformations" of real faces)</a:t>
            </a:r>
          </a:p>
          <a:p>
            <a:pPr>
              <a:spcAft>
                <a:spcPts val="400"/>
              </a:spcAft>
            </a:pPr>
            <a:r>
              <a:rPr sz="1350">
                <a:solidFill>
                  <a:srgbClr val="B44A2E"/>
                </a:solidFill>
                <a:latin typeface="Calibri"/>
              </a:rPr>
              <a:t>•  </a:t>
            </a:r>
            <a:r>
              <a:rPr sz="1350" b="0" i="0">
                <a:solidFill>
                  <a:srgbClr val="2A2622"/>
                </a:solidFill>
                <a:latin typeface="Calibri"/>
              </a:rPr>
              <a:t>✗ "Before" photos taken in bad light / "after" in ring light (that's a fake)</a:t>
            </a:r>
          </a:p>
          <a:p>
            <a:pPr>
              <a:spcAft>
                <a:spcPts val="400"/>
              </a:spcAft>
            </a:pPr>
            <a:r>
              <a:rPr sz="1350">
                <a:solidFill>
                  <a:srgbClr val="B44A2E"/>
                </a:solidFill>
                <a:latin typeface="Calibri"/>
              </a:rPr>
              <a:t>•  </a:t>
            </a:r>
            <a:r>
              <a:rPr sz="1350" b="0" i="0">
                <a:solidFill>
                  <a:srgbClr val="2A2622"/>
                </a:solidFill>
                <a:latin typeface="Calibri"/>
              </a:rPr>
              <a:t>✗ Claims: "tan removed," "pigmentation gone," "spots erased," "acne cured," "100% results"</a:t>
            </a:r>
          </a:p>
          <a:p>
            <a:pPr>
              <a:spcAft>
                <a:spcPts val="400"/>
              </a:spcAft>
            </a:pPr>
            <a:r>
              <a:rPr sz="1350">
                <a:solidFill>
                  <a:srgbClr val="B44A2E"/>
                </a:solidFill>
                <a:latin typeface="Calibri"/>
              </a:rPr>
              <a:t>•  </a:t>
            </a:r>
            <a:r>
              <a:rPr sz="1350" b="0" i="0">
                <a:solidFill>
                  <a:srgbClr val="2A2622"/>
                </a:solidFill>
                <a:latin typeface="Calibri"/>
              </a:rPr>
              <a:t>✗ Before/after of a </a:t>
            </a:r>
            <a:r>
              <a:rPr sz="1350" b="0" i="1">
                <a:solidFill>
                  <a:srgbClr val="2A2622"/>
                </a:solidFill>
                <a:latin typeface="Calibri"/>
              </a:rPr>
              <a:t>different person</a:t>
            </a:r>
            <a:r>
              <a:rPr sz="1350" b="0" i="0">
                <a:solidFill>
                  <a:srgbClr val="2A2622"/>
                </a:solidFill>
                <a:latin typeface="Calibri"/>
              </a:rPr>
              <a:t> or a different skin area</a:t>
            </a:r>
          </a:p>
          <a:p>
            <a:pPr>
              <a:spcAft>
                <a:spcPts val="400"/>
              </a:spcAft>
            </a:pPr>
            <a:r>
              <a:rPr sz="1350">
                <a:solidFill>
                  <a:srgbClr val="B44A2E"/>
                </a:solidFill>
                <a:latin typeface="Calibri"/>
              </a:rPr>
              <a:t>•  </a:t>
            </a:r>
            <a:r>
              <a:rPr sz="1350" b="0" i="0">
                <a:solidFill>
                  <a:srgbClr val="2A2622"/>
                </a:solidFill>
                <a:latin typeface="Calibri"/>
              </a:rPr>
              <a:t>✗ "3 days me result" framing for anything that needs 4+ weeks</a:t>
            </a:r>
          </a:p>
          <a:p>
            <a:pPr>
              <a:spcAft>
                <a:spcPts val="400"/>
              </a:spcAft>
            </a:pPr>
            <a:r>
              <a:rPr sz="1350">
                <a:solidFill>
                  <a:srgbClr val="B44A2E"/>
                </a:solidFill>
                <a:latin typeface="Calibri"/>
              </a:rPr>
              <a:t>•  </a:t>
            </a:r>
            <a:r>
              <a:rPr sz="1350" b="0" i="0">
                <a:solidFill>
                  <a:srgbClr val="2A2622"/>
                </a:solidFill>
                <a:latin typeface="Calibri"/>
              </a:rPr>
              <a:t>✗ AI-enhanced "glow" on the after frame</a:t>
            </a:r>
          </a:p>
          <a:p>
            <a:pPr>
              <a:spcAft>
                <a:spcPts val="400"/>
              </a:spcAft>
            </a:pPr>
            <a:r>
              <a:rPr sz="1350">
                <a:solidFill>
                  <a:srgbClr val="B44A2E"/>
                </a:solidFill>
                <a:latin typeface="Calibri"/>
              </a:rPr>
              <a:t>•  </a:t>
            </a:r>
            <a:r>
              <a:rPr sz="1350" b="0" i="0">
                <a:solidFill>
                  <a:srgbClr val="2A2622"/>
                </a:solidFill>
                <a:latin typeface="Calibri"/>
              </a:rPr>
              <a:t>✗ Implying medical outcomes (anti-aging = "age-look," never "reverses aging")</a:t>
            </a:r>
          </a:p>
          <a:p>
            <a:pPr>
              <a:spcBef>
                <a:spcPts val="1000"/>
              </a:spcBef>
              <a:spcAft>
                <a:spcPts val="400"/>
              </a:spcAft>
            </a:pPr>
            <a:r>
              <a:rPr sz="1600" b="1" i="0">
                <a:solidFill>
                  <a:srgbClr val="8F3A22"/>
                </a:solidFill>
                <a:latin typeface="Calibri"/>
              </a:rPr>
              <a:t>Transformation period: the honest timeline</a:t>
            </a:r>
          </a:p>
          <a:p>
            <a:pPr>
              <a:spcAft>
                <a:spcPts val="400"/>
              </a:spcAft>
            </a:pPr>
            <a:r>
              <a:rPr sz="1350">
                <a:solidFill>
                  <a:srgbClr val="B44A2E"/>
                </a:solidFill>
                <a:latin typeface="Calibri"/>
              </a:rPr>
              <a:t>•  </a:t>
            </a:r>
            <a:r>
              <a:rPr sz="1350" b="1" i="0">
                <a:solidFill>
                  <a:srgbClr val="2A2622"/>
                </a:solidFill>
                <a:latin typeface="Calibri"/>
              </a:rPr>
              <a:t>Minimum real program: 28 days daily use.</a:t>
            </a:r>
            <a:r>
              <a:rPr sz="1350" b="0" i="0">
                <a:solidFill>
                  <a:srgbClr val="2A2622"/>
                </a:solidFill>
                <a:latin typeface="Calibri"/>
              </a:rPr>
              <a:t> Skin turnover ~28 days — it's also a great educational point (Hook #49).</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BEFORE/AFTER — SAFE, REAL, CONVEYING (Section 7)</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Show:</a:t>
            </a:r>
            <a:r>
              <a:rPr sz="1350" b="0" i="0">
                <a:solidFill>
                  <a:srgbClr val="2A2622"/>
                </a:solidFill>
                <a:latin typeface="Calibri"/>
              </a:rPr>
              <a:t> Day 1, Day 7 (honest: "abhi kuch nahi, bas habit ban raha"), Day 14 (early feel: freshness), Day 28 (look: even tone-look, fresh-look). </a:t>
            </a:r>
            <a:r>
              <a:rPr sz="1350" b="1" i="0">
                <a:solidFill>
                  <a:srgbClr val="2A2622"/>
                </a:solidFill>
                <a:latin typeface="Calibri"/>
              </a:rPr>
              <a:t>Showing Day 7's "nothing yet" is what makes Day 28 believable</a:t>
            </a:r>
            <a:r>
              <a:rPr sz="1350" b="0" i="0">
                <a:solidFill>
                  <a:srgbClr val="2A2622"/>
                </a:solidFill>
                <a:latin typeface="Calibri"/>
              </a:rPr>
              <a:t> — most fake content skips it.</a:t>
            </a:r>
          </a:p>
          <a:p>
            <a:pPr>
              <a:spcAft>
                <a:spcPts val="400"/>
              </a:spcAft>
            </a:pPr>
            <a:r>
              <a:rPr sz="1350">
                <a:solidFill>
                  <a:srgbClr val="B44A2E"/>
                </a:solidFill>
                <a:latin typeface="Calibri"/>
              </a:rPr>
              <a:t>•  </a:t>
            </a:r>
            <a:r>
              <a:rPr sz="1350" b="1" i="0">
                <a:solidFill>
                  <a:srgbClr val="2A2622"/>
                </a:solidFill>
                <a:latin typeface="Calibri"/>
              </a:rPr>
              <a:t>Batch the program:</a:t>
            </a:r>
            <a:r>
              <a:rPr sz="1350" b="0" i="0">
                <a:solidFill>
                  <a:srgbClr val="2A2622"/>
                </a:solidFill>
                <a:latin typeface="Calibri"/>
              </a:rPr>
              <a:t> 20 testers at launch, then a new cohort of 10 every month (recruit from Founding-100 buyers who agree — ₹200 off next order as incentive + their consent form).</a:t>
            </a:r>
          </a:p>
          <a:p>
            <a:pPr>
              <a:spcBef>
                <a:spcPts val="1000"/>
              </a:spcBef>
              <a:spcAft>
                <a:spcPts val="400"/>
              </a:spcAft>
            </a:pPr>
            <a:r>
              <a:rPr sz="1600" b="1" i="0">
                <a:solidFill>
                  <a:srgbClr val="8F3A22"/>
                </a:solidFill>
                <a:latin typeface="Calibri"/>
              </a:rPr>
              <a:t>How to make it convincing without fakes</a:t>
            </a:r>
          </a:p>
          <a:p>
            <a:pPr>
              <a:spcAft>
                <a:spcPts val="400"/>
              </a:spcAft>
            </a:pPr>
            <a:r>
              <a:rPr sz="1350" b="1">
                <a:solidFill>
                  <a:srgbClr val="8F3A22"/>
                </a:solidFill>
                <a:latin typeface="Calibri"/>
              </a:rPr>
              <a:t>1.  </a:t>
            </a:r>
            <a:r>
              <a:rPr sz="1350" b="1" i="0">
                <a:solidFill>
                  <a:srgbClr val="2A2622"/>
                </a:solidFill>
                <a:latin typeface="Calibri"/>
              </a:rPr>
              <a:t>Show the unglamorous middle</a:t>
            </a:r>
            <a:r>
              <a:rPr sz="1350" b="0" i="0">
                <a:solidFill>
                  <a:srgbClr val="2A2622"/>
                </a:solidFill>
                <a:latin typeface="Calibri"/>
              </a:rPr>
              <a:t> (Day 7 "kuch nahi dikha" line) — fakes can't do this.</a:t>
            </a:r>
          </a:p>
          <a:p>
            <a:pPr>
              <a:spcAft>
                <a:spcPts val="400"/>
              </a:spcAft>
            </a:pPr>
            <a:r>
              <a:rPr sz="1350" b="1">
                <a:solidFill>
                  <a:srgbClr val="8F3A22"/>
                </a:solidFill>
                <a:latin typeface="Calibri"/>
              </a:rPr>
              <a:t>2.  </a:t>
            </a:r>
            <a:r>
              <a:rPr sz="1350" b="1" i="0">
                <a:solidFill>
                  <a:srgbClr val="2A2622"/>
                </a:solidFill>
                <a:latin typeface="Calibri"/>
              </a:rPr>
              <a:t>Date stamps + location</a:t>
            </a:r>
            <a:r>
              <a:rPr sz="1350" b="0" i="0">
                <a:solidFill>
                  <a:srgbClr val="2A2622"/>
                </a:solidFill>
                <a:latin typeface="Calibri"/>
              </a:rPr>
              <a:t> on every frame.</a:t>
            </a:r>
          </a:p>
          <a:p>
            <a:pPr>
              <a:spcAft>
                <a:spcPts val="400"/>
              </a:spcAft>
            </a:pPr>
            <a:r>
              <a:rPr sz="1350" b="1">
                <a:solidFill>
                  <a:srgbClr val="8F3A22"/>
                </a:solidFill>
                <a:latin typeface="Calibri"/>
              </a:rPr>
              <a:t>3.  </a:t>
            </a:r>
            <a:r>
              <a:rPr sz="1350" b="1" i="0">
                <a:solidFill>
                  <a:srgbClr val="2A2622"/>
                </a:solidFill>
                <a:latin typeface="Calibri"/>
              </a:rPr>
              <a:t>One honest negative per 3 positives</a:t>
            </a:r>
            <a:r>
              <a:rPr sz="1350" b="0" i="0">
                <a:solidFill>
                  <a:srgbClr val="2A2622"/>
                </a:solidFill>
                <a:latin typeface="Calibri"/>
              </a:rPr>
              <a:t> (dry patch, irritation week, "mujhe nahi pasand" tester).</a:t>
            </a:r>
          </a:p>
          <a:p>
            <a:pPr>
              <a:spcAft>
                <a:spcPts val="400"/>
              </a:spcAft>
            </a:pPr>
            <a:r>
              <a:rPr sz="1350" b="1">
                <a:solidFill>
                  <a:srgbClr val="8F3A22"/>
                </a:solidFill>
                <a:latin typeface="Calibri"/>
              </a:rPr>
              <a:t>4.  </a:t>
            </a:r>
            <a:r>
              <a:rPr sz="1350" b="1" i="0">
                <a:solidFill>
                  <a:srgbClr val="2A2622"/>
                </a:solidFill>
                <a:latin typeface="Calibri"/>
              </a:rPr>
              <a:t>Let the customer say it, not you</a:t>
            </a:r>
            <a:r>
              <a:rPr sz="1350" b="0" i="0">
                <a:solidFill>
                  <a:srgbClr val="2A2622"/>
                </a:solidFill>
                <a:latin typeface="Calibri"/>
              </a:rPr>
              <a:t> — her words, her face, her room.</a:t>
            </a:r>
          </a:p>
          <a:p>
            <a:pPr>
              <a:spcAft>
                <a:spcPts val="400"/>
              </a:spcAft>
            </a:pPr>
            <a:r>
              <a:rPr sz="1350" b="1">
                <a:solidFill>
                  <a:srgbClr val="8F3A22"/>
                </a:solidFill>
                <a:latin typeface="Calibri"/>
              </a:rPr>
              <a:t>5.  </a:t>
            </a:r>
            <a:r>
              <a:rPr sz="1350" b="1" i="0">
                <a:solidFill>
                  <a:srgbClr val="2A2622"/>
                </a:solidFill>
                <a:latin typeface="Calibri"/>
              </a:rPr>
              <a:t>Consent form</a:t>
            </a:r>
            <a:r>
              <a:rPr sz="1350" b="0" i="0">
                <a:solidFill>
                  <a:srgbClr val="2A2622"/>
                </a:solidFill>
                <a:latin typeface="Calibri"/>
              </a:rPr>
              <a:t> (1 page: name, city, photos for IG/ads, "I used RANGAT for X days, results are my own experience"). Store with order.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BEFORE/AFTER — SAFE, REAL, CONVEYING (Section 7)</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6.  </a:t>
            </a:r>
            <a:r>
              <a:rPr sz="1350" b="1" i="0">
                <a:solidFill>
                  <a:srgbClr val="2A2622"/>
                </a:solidFill>
                <a:latin typeface="Calibri"/>
              </a:rPr>
              <a:t>Same-frame discipline:</a:t>
            </a:r>
            <a:r>
              <a:rPr sz="1350" b="0" i="0">
                <a:solidFill>
                  <a:srgbClr val="2A2622"/>
                </a:solidFill>
                <a:latin typeface="Calibri"/>
              </a:rPr>
              <a:t> shoot Day-1 photos the day product is delivered, with a printed "Day 1" card held in frame (the card in-frame = instant credibility).</a:t>
            </a:r>
          </a:p>
          <a:p>
            <a:pPr>
              <a:spcAft>
                <a:spcPts val="400"/>
              </a:spcAft>
            </a:pPr>
            <a:r>
              <a:rPr sz="1350" b="1">
                <a:solidFill>
                  <a:srgbClr val="8F3A22"/>
                </a:solidFill>
                <a:latin typeface="Calibri"/>
              </a:rPr>
              <a:t>7.  </a:t>
            </a:r>
            <a:r>
              <a:rPr sz="1350" b="1" i="0">
                <a:solidFill>
                  <a:srgbClr val="2A2622"/>
                </a:solidFill>
                <a:latin typeface="Calibri"/>
              </a:rPr>
              <a:t>Repeat the disclaimer without shame.</a:t>
            </a:r>
            <a:r>
              <a:rPr sz="1350" b="0" i="0">
                <a:solidFill>
                  <a:srgbClr val="2A2622"/>
                </a:solidFill>
                <a:latin typeface="Calibri"/>
              </a:rPr>
              <a:t> "Results may vary" on every frame, every time. Brands that over-disclose are trusted more.</a:t>
            </a:r>
          </a:p>
          <a:p>
            <a:pPr>
              <a:spcBef>
                <a:spcPts val="1000"/>
              </a:spcBef>
              <a:spcAft>
                <a:spcPts val="400"/>
              </a:spcAft>
            </a:pPr>
            <a:r>
              <a:rPr sz="1600" b="1" i="0">
                <a:solidFill>
                  <a:srgbClr val="8F3A22"/>
                </a:solidFill>
                <a:latin typeface="Calibri"/>
              </a:rPr>
              <a:t>The 4-week documentation SOP (per tester)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BEFORE/AFTER — SAFE, REAL, CONVEYING (Section 7)</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3" cy="5029200"/>
        </p:xfrm>
        <a:graphic>
          <a:graphicData uri="http://schemas.openxmlformats.org/drawingml/2006/table">
            <a:tbl>
              <a:tblPr firstRow="1" bandRow="1">
                <a:tableStyleId>{5C22544A-7EE6-4342-B048-85BDC9FD1C3A}</a:tableStyleId>
              </a:tblPr>
              <a:tblGrid>
                <a:gridCol w="1164868"/>
                <a:gridCol w="5824343"/>
                <a:gridCol w="4562402"/>
              </a:tblGrid>
              <a:tr h="1005840">
                <a:tc>
                  <a:txBody>
                    <a:bodyPr wrap="square"/>
                    <a:lstStyle/>
                    <a:p>
                      <a:r>
                        <a:rPr sz="1200" b="1" i="0">
                          <a:solidFill>
                            <a:srgbClr val="FFFFFF"/>
                          </a:solidFill>
                          <a:latin typeface="Calibri"/>
                        </a:rPr>
                        <a:t>Day</a:t>
                      </a:r>
                    </a:p>
                  </a:txBody>
                  <a:tcPr marL="45720" marR="45720" marT="18288" marB="18288" anchor="t">
                    <a:solidFill>
                      <a:srgbClr val="B44A2E"/>
                    </a:solidFill>
                  </a:tcPr>
                </a:tc>
                <a:tc>
                  <a:txBody>
                    <a:bodyPr wrap="square"/>
                    <a:lstStyle/>
                    <a:p>
                      <a:r>
                        <a:rPr sz="1200" b="1" i="0">
                          <a:solidFill>
                            <a:srgbClr val="FFFFFF"/>
                          </a:solidFill>
                          <a:latin typeface="Calibri"/>
                        </a:rPr>
                        <a:t>Shoot</a:t>
                      </a:r>
                    </a:p>
                  </a:txBody>
                  <a:tcPr marL="45720" marR="45720" marT="18288" marB="18288" anchor="t">
                    <a:solidFill>
                      <a:srgbClr val="B44A2E"/>
                    </a:solidFill>
                  </a:tcPr>
                </a:tc>
                <a:tc>
                  <a:txBody>
                    <a:bodyPr wrap="square"/>
                    <a:lstStyle/>
                    <a:p>
                      <a:r>
                        <a:rPr sz="1200" b="1" i="0">
                          <a:solidFill>
                            <a:srgbClr val="FFFFFF"/>
                          </a:solidFill>
                          <a:latin typeface="Calibri"/>
                        </a:rPr>
                        <a:t>Ask</a:t>
                      </a:r>
                    </a:p>
                  </a:txBody>
                  <a:tcPr marL="45720" marR="45720" marT="18288" marB="18288" anchor="t">
                    <a:solidFill>
                      <a:srgbClr val="B44A2E"/>
                    </a:solidFill>
                  </a:tcPr>
                </a:tc>
              </a:tr>
              <a:tr h="1005840">
                <a:tc>
                  <a:txBody>
                    <a:bodyPr wrap="square"/>
                    <a:lstStyle/>
                    <a:p>
                      <a:r>
                        <a:rPr sz="1200" b="0" i="0">
                          <a:solidFill>
                            <a:srgbClr val="2A2622"/>
                          </a:solidFill>
                          <a:latin typeface="Calibri"/>
                        </a:rPr>
                        <a:t>1 (delivery)</a:t>
                      </a:r>
                    </a:p>
                  </a:txBody>
                  <a:tcPr marL="45720" marR="45720" marT="18288" marB="18288" anchor="t">
                    <a:solidFill>
                      <a:srgbClr val="FFFFFF"/>
                    </a:solidFill>
                  </a:tcPr>
                </a:tc>
                <a:tc>
                  <a:txBody>
                    <a:bodyPr wrap="square"/>
                    <a:lstStyle/>
                    <a:p>
                      <a:r>
                        <a:rPr sz="1200" b="0" i="0">
                          <a:solidFill>
                            <a:srgbClr val="2A2622"/>
                          </a:solidFill>
                          <a:latin typeface="Calibri"/>
                        </a:rPr>
                        <a:t>Full face, same window light, "Day 1" card in frame, back-of-hand</a:t>
                      </a:r>
                    </a:p>
                  </a:txBody>
                  <a:tcPr marL="45720" marR="45720" marT="18288" marB="18288" anchor="t">
                    <a:solidFill>
                      <a:srgbClr val="FFFFFF"/>
                    </a:solidFill>
                  </a:tcPr>
                </a:tc>
                <a:tc>
                  <a:txBody>
                    <a:bodyPr wrap="square"/>
                    <a:lstStyle/>
                    <a:p>
                      <a:r>
                        <a:rPr sz="1200" b="0" i="0">
                          <a:solidFill>
                            <a:srgbClr val="2A2622"/>
                          </a:solidFill>
                          <a:latin typeface="Calibri"/>
                        </a:rPr>
                        <a:t>"Kya expect karti ho?"</a:t>
                      </a:r>
                    </a:p>
                  </a:txBody>
                  <a:tcPr marL="45720" marR="45720" marT="18288" marB="18288" anchor="t">
                    <a:solidFill>
                      <a:srgbClr val="FFFFFF"/>
                    </a:solidFill>
                  </a:tcPr>
                </a:tc>
              </a:tr>
              <a:tr h="1005840">
                <a:tc>
                  <a:txBody>
                    <a:bodyPr wrap="square"/>
                    <a:lstStyle/>
                    <a:p>
                      <a:r>
                        <a:rPr sz="1200" b="0" i="0">
                          <a:solidFill>
                            <a:srgbClr val="2A2622"/>
                          </a:solidFill>
                          <a:latin typeface="Calibri"/>
                        </a:rPr>
                        <a:t>7</a:t>
                      </a:r>
                    </a:p>
                  </a:txBody>
                  <a:tcPr marL="45720" marR="45720" marT="18288" marB="18288" anchor="t">
                    <a:solidFill>
                      <a:srgbClr val="F6F1E7"/>
                    </a:solidFill>
                  </a:tcPr>
                </a:tc>
                <a:tc>
                  <a:txBody>
                    <a:bodyPr wrap="square"/>
                    <a:lstStyle/>
                    <a:p>
                      <a:r>
                        <a:rPr sz="1200" b="0" i="0">
                          <a:solidFill>
                            <a:srgbClr val="2A2622"/>
                          </a:solidFill>
                          <a:latin typeface="Calibri"/>
                        </a:rPr>
                        <a:t>Same setup</a:t>
                      </a:r>
                    </a:p>
                  </a:txBody>
                  <a:tcPr marL="45720" marR="45720" marT="18288" marB="18288" anchor="t">
                    <a:solidFill>
                      <a:srgbClr val="F6F1E7"/>
                    </a:solidFill>
                  </a:tcPr>
                </a:tc>
                <a:tc>
                  <a:txBody>
                    <a:bodyPr wrap="square"/>
                    <a:lstStyle/>
                    <a:p>
                      <a:r>
                        <a:rPr sz="1200" b="0" i="0">
                          <a:solidFill>
                            <a:srgbClr val="2A2622"/>
                          </a:solidFill>
                          <a:latin typeface="Calibri"/>
                        </a:rPr>
                        <a:t>"Kya change feel hua? (honest, even 'nothing')"</a:t>
                      </a:r>
                    </a:p>
                  </a:txBody>
                  <a:tcPr marL="45720" marR="45720" marT="18288" marB="18288" anchor="t">
                    <a:solidFill>
                      <a:srgbClr val="F6F1E7"/>
                    </a:solidFill>
                  </a:tcPr>
                </a:tc>
              </a:tr>
              <a:tr h="1005840">
                <a:tc>
                  <a:txBody>
                    <a:bodyPr wrap="square"/>
                    <a:lstStyle/>
                    <a:p>
                      <a:r>
                        <a:rPr sz="1200" b="0" i="0">
                          <a:solidFill>
                            <a:srgbClr val="2A2622"/>
                          </a:solidFill>
                          <a:latin typeface="Calibri"/>
                        </a:rPr>
                        <a:t>14</a:t>
                      </a:r>
                    </a:p>
                  </a:txBody>
                  <a:tcPr marL="45720" marR="45720" marT="18288" marB="18288" anchor="t">
                    <a:solidFill>
                      <a:srgbClr val="FFFFFF"/>
                    </a:solidFill>
                  </a:tcPr>
                </a:tc>
                <a:tc>
                  <a:txBody>
                    <a:bodyPr wrap="square"/>
                    <a:lstStyle/>
                    <a:p>
                      <a:r>
                        <a:rPr sz="1200" b="0" i="0">
                          <a:solidFill>
                            <a:srgbClr val="2A2622"/>
                          </a:solidFill>
                          <a:latin typeface="Calibri"/>
                        </a:rPr>
                        <a:t>Same setup</a:t>
                      </a:r>
                    </a:p>
                  </a:txBody>
                  <a:tcPr marL="45720" marR="45720" marT="18288" marB="18288" anchor="t">
                    <a:solidFill>
                      <a:srgbClr val="FFFFFF"/>
                    </a:solidFill>
                  </a:tcPr>
                </a:tc>
                <a:tc>
                  <a:txBody>
                    <a:bodyPr wrap="square"/>
                    <a:lstStyle/>
                    <a:p>
                      <a:r>
                        <a:rPr sz="1200" b="0" i="0">
                          <a:solidFill>
                            <a:srgbClr val="2A2622"/>
                          </a:solidFill>
                          <a:latin typeface="Calibri"/>
                        </a:rPr>
                        <a:t>"Fresh/dull me kya farq?"</a:t>
                      </a:r>
                    </a:p>
                  </a:txBody>
                  <a:tcPr marL="45720" marR="45720" marT="18288" marB="18288" anchor="t">
                    <a:solidFill>
                      <a:srgbClr val="FFFFFF"/>
                    </a:solidFill>
                  </a:tcPr>
                </a:tc>
              </a:tr>
              <a:tr h="1005840">
                <a:tc>
                  <a:txBody>
                    <a:bodyPr wrap="square"/>
                    <a:lstStyle/>
                    <a:p>
                      <a:r>
                        <a:rPr sz="1200" b="0" i="0">
                          <a:solidFill>
                            <a:srgbClr val="2A2622"/>
                          </a:solidFill>
                          <a:latin typeface="Calibri"/>
                        </a:rPr>
                        <a:t>28</a:t>
                      </a:r>
                    </a:p>
                  </a:txBody>
                  <a:tcPr marL="45720" marR="45720" marT="18288" marB="18288" anchor="t">
                    <a:solidFill>
                      <a:srgbClr val="F6F1E7"/>
                    </a:solidFill>
                  </a:tcPr>
                </a:tc>
                <a:tc>
                  <a:txBody>
                    <a:bodyPr wrap="square"/>
                    <a:lstStyle/>
                    <a:p>
                      <a:r>
                        <a:rPr sz="1200" b="0" i="0">
                          <a:solidFill>
                            <a:srgbClr val="2A2622"/>
                          </a:solidFill>
                          <a:latin typeface="Calibri"/>
                        </a:rPr>
                        <a:t>Same setup + short 30-sec video to camera</a:t>
                      </a:r>
                    </a:p>
                  </a:txBody>
                  <a:tcPr marL="45720" marR="45720" marT="18288" marB="18288" anchor="t">
                    <a:solidFill>
                      <a:srgbClr val="F6F1E7"/>
                    </a:solidFill>
                  </a:tcPr>
                </a:tc>
                <a:tc>
                  <a:txBody>
                    <a:bodyPr wrap="square"/>
                    <a:lstStyle/>
                    <a:p>
                      <a:r>
                        <a:rPr sz="1200" b="0" i="0">
                          <a:solidFill>
                            <a:srgbClr val="2A2622"/>
                          </a:solidFill>
                          <a:latin typeface="Calibri"/>
                        </a:rPr>
                        <a:t>"Kya continue karogi? Kisko recommend karogi?"</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BEFORE/AFTER — SAFE, REAL, CONVEYING (Section 7)</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Photography rules: no makeup, front window light (or fixed lamp position marked with tape), phone at same height (mark on wall), 20-min gap from product use, 3 photos each time (pick the sharpest, never retouch).</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Creator mix (20 total):</a:t>
            </a:r>
            <a:r>
              <a:rPr sz="1350" b="0" i="0">
                <a:solidFill>
                  <a:srgbClr val="2A2622"/>
                </a:solidFill>
                <a:latin typeface="Calibri"/>
              </a:rPr>
              <a:t> 4 girl creators (Gujarati/Hindi), 2 male, 2 Gen-Z college, 2 working professionals, 1 Gujarati + Hindi bilingual creator, 1 Hindi-speaking (non-Gujarat, e.g., Delhi/MP), 1 skincare-niche creator, 3 mixed (couple/gifting/ASMR/quiz), 1 challenge-series opener.</a:t>
            </a:r>
          </a:p>
          <a:p>
            <a:pPr>
              <a:spcAft>
                <a:spcPts val="700"/>
              </a:spcAft>
            </a:pPr>
            <a:r>
              <a:rPr sz="1350" b="1" i="0">
                <a:solidFill>
                  <a:srgbClr val="2A2622"/>
                </a:solidFill>
                <a:latin typeface="Calibri"/>
              </a:rPr>
              <a:t>Standard structure for all 20:</a:t>
            </a:r>
            <a:r>
              <a:rPr sz="1350" b="0" i="0">
                <a:solidFill>
                  <a:srgbClr val="2A2622"/>
                </a:solidFill>
                <a:latin typeface="Calibri"/>
              </a:rPr>
              <a:t> HOOK (0–2s) → SCENE 1 (context/problem) → SCENE 2 (product in real routine) → SCENE 3 (honest take) → PRODUCT SHOT (3 sec, label visible, natural setting) → CTA (last 3s, spoken + text).</a:t>
            </a:r>
          </a:p>
          <a:p>
            <a:pPr>
              <a:spcAft>
                <a:spcPts val="700"/>
              </a:spcAft>
            </a:pPr>
            <a:r>
              <a:rPr sz="1350" b="1" i="0">
                <a:solidFill>
                  <a:srgbClr val="2A2622"/>
                </a:solidFill>
                <a:latin typeface="Calibri"/>
              </a:rPr>
              <a:t>Payment/terms (all):</a:t>
            </a:r>
            <a:r>
              <a:rPr sz="1350" b="0" i="0">
                <a:solidFill>
                  <a:srgbClr val="2A2622"/>
                </a:solidFill>
                <a:latin typeface="Calibri"/>
              </a:rPr>
              <a:t> product free + ₹500–₹2,000 (by follower size) + 20% affiliate code on first 20 sales + written permission to run as Meta ad (₹100 bonus per ad use, stated upfront). Consent = 1 message template (in </a:t>
            </a:r>
            <a:r>
              <a:rPr sz="1200" b="0" i="0">
                <a:solidFill>
                  <a:srgbClr val="8F3A22"/>
                </a:solidFill>
                <a:latin typeface="Consolas"/>
              </a:rPr>
              <a:t>12-gujarat-first.md</a:t>
            </a:r>
            <a:r>
              <a:rPr sz="1350" b="0" i="0">
                <a:solidFill>
                  <a:srgbClr val="2A2622"/>
                </a:solidFill>
                <a:latin typeface="Calibri"/>
              </a:rPr>
              <a:t>).</a:t>
            </a:r>
          </a:p>
          <a:p>
            <a:pPr>
              <a:spcBef>
                <a:spcPts val="1000"/>
              </a:spcBef>
              <a:spcAft>
                <a:spcPts val="400"/>
              </a:spcAft>
            </a:pPr>
            <a:r>
              <a:rPr sz="1600" b="1" i="0">
                <a:solidFill>
                  <a:srgbClr val="8F3A22"/>
                </a:solidFill>
                <a:latin typeface="Calibri"/>
              </a:rPr>
              <a:t>UGC #1 — Girl creator, Ahmedabad, 24 (Gujarati)</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"Gujarat me monsoon — chehra dull, phir 40 degree. Main kiya? Bas 2 cheezein."</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Waking up, hair down, looking tired at mirror: "Mausam dekho — skin thaki hui."</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Morning counter: wash (60 sec) → 3 drops RANGAT serum → spread → moisturizer. Quick cuts, real counter, chai glass in frame.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"2 hafte ho gaye — fresh feel aaya hai. Koi overnight nahi, honest."</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Serum bottle on counter, morning light, 3 sec, label readable.</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as scenes; ends: "Gujarat ma mausam aam che — skin ka dhyan bhi aam che. RANGAT — aamee skin, aamno liye."</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"GLOW likho DM me — unka launch chal raha hai." (text: DM "GLOW")</a:t>
            </a:r>
          </a:p>
          <a:p>
            <a:pPr>
              <a:spcBef>
                <a:spcPts val="1000"/>
              </a:spcBef>
              <a:spcAft>
                <a:spcPts val="400"/>
              </a:spcAft>
            </a:pPr>
            <a:r>
              <a:rPr sz="1600" b="1" i="0">
                <a:solidFill>
                  <a:srgbClr val="8F3A22"/>
                </a:solidFill>
                <a:latin typeface="Calibri"/>
              </a:rPr>
              <a:t>UGC #2 — Male creator, working professional, 28 (Hindi)</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"Main office me 9 baaje jaata, 8 baaje aata — par abhi bhi skin ka ek 2-minute ka time nikalta hoon. Yeh hai kaise."</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Morning rush: keys, bag, office T-shirt. "Time nahi hota — time banata hai routine."</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Bathroom mirror: RANGAT Face Wash, 60 sec, quick. "Yahi mera full step 1 hai."</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"Oily skin, SG Highway ka dhool — face wash bina main 4 baje tak shine karta. Ab nahi."</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Face Wash bottle, sink, towel,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punchline: "Grooming = 2 minute, nahi toh 2 din bhi nahi."</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"Mard bhi skin ke liye — link bio me, COD bhi hai." (text: WhatsApp link in bio)</a:t>
            </a:r>
          </a:p>
          <a:p>
            <a:pPr>
              <a:spcBef>
                <a:spcPts val="1000"/>
              </a:spcBef>
              <a:spcAft>
                <a:spcPts val="400"/>
              </a:spcAft>
            </a:pPr>
            <a:r>
              <a:rPr sz="1600" b="1" i="0">
                <a:solidFill>
                  <a:srgbClr val="8F3A22"/>
                </a:solidFill>
                <a:latin typeface="Calibri"/>
              </a:rPr>
              <a:t>UGC #3 — Gen-Z college creator, 20 (Hindi)</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"Exam season + outdoor classes = tan-look + dullness. College pehli baar serum try kiya — budget ke andar."</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Hostel room, books, tired face: "5 baje tak exam, phir 7 baje class — skin pehle hi haar gayi."</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Hostels sink: wash + 2 drops serum before study break: "2 minute, chai break me."</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smiling: "Honest — maine 600 me leliya, kyunki 2000 wali afford bhi nahi karti aur chahiye bhi nahi. 2 hafte me fresh lagti hoon."</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Serum on study table with books/phone, 3 sec.</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"College girl budget: 600. Result: fresh."</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"Students — COD hai, ghar par bhi order kar sakti ho." (text: DM GLOW)</a:t>
            </a:r>
          </a:p>
          <a:p>
            <a:pPr>
              <a:spcBef>
                <a:spcPts val="1000"/>
              </a:spcBef>
              <a:spcAft>
                <a:spcPts val="400"/>
              </a:spcAft>
            </a:pPr>
            <a:r>
              <a:rPr sz="1600" b="1" i="0">
                <a:solidFill>
                  <a:srgbClr val="8F3A22"/>
                </a:solidFill>
                <a:latin typeface="Calibri"/>
              </a:rPr>
              <a:t>UGC #4 — Working professional woman, 30, Ahmedabad (Hindi)</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"30 ki umar, 10 saal ka office — ab skincare 'try' nahi, 'maintain' hai. Meri 6:45 ki routine dekho."</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Alarm 6:20, quick get-ready, office outfit.</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Mirror, 3 steps timed (wash → serum → SPF): "6:45 se 6:55. Baaki time make-up ka."</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"Mujhe long routines nahi chahiye. 3 sahi steps, roz — bas. 4 hafte RANGAT use kar rahi hoon, dull-look kam hua hai."</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All 3 products in a row on counter,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"Time kam hai, skin ka respect zyada."</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"Routin chahiye toh GLOW DM karo — 3-product kit bhi hai." (text: DM GLOW)</a:t>
            </a:r>
          </a:p>
          <a:p>
            <a:pPr>
              <a:spcBef>
                <a:spcPts val="1000"/>
              </a:spcBef>
              <a:spcAft>
                <a:spcPts val="400"/>
              </a:spcAft>
            </a:pPr>
            <a:r>
              <a:rPr sz="1600" b="1" i="0">
                <a:solidFill>
                  <a:srgbClr val="8F3A22"/>
                </a:solidFill>
                <a:latin typeface="Calibri"/>
              </a:rPr>
              <a:t>UGC #5 — Gujarati + Hindi bilingual creator, 25 (Gujarati-first)</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"Nani ke totke vs aaj ka science — RANGAT ne dono ko ek saath rakha. Aaj proof dikhau."</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Kitchen, nani/mom in frame: "Nani: 'Haldi ubtan hai, bas.' Main: 'Haan nani — aur phir yeh bhi.'" (product in hand, no fight, love)</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Counter: face wash + serum routine, 20 sec, calm.</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(Gujarati → Hindi): "Aamaare ghar ke totke ma samajh chhe — par 2026 ma skin ko sahi ingredient bhi chahiye. RANGAT che yehi che. Aamee skin, aamno liye."</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Serum beside a small bowl of ubtan/haldi (visual: both worlds),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as scene; bilingual punchline.</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"Gujarat walo — aamaare brand, aamno liye. GLOW DM karo." (text: DM GLOW)</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UGC #6 — Skincare-niche creator, 27 (Hindi, 30k+ beauty niche)</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"Main 200+ products review karti hoon — is naye brand se mujhe 1 cheez pasand aayi."</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Shelf of products (her niche context), picks RANGAT bottle.</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Label close-up + palm test: "10% Vitamin C, simple list, batch card hai — 3 cheezein jo main hamesha check karti hoon."</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"Verdict: 2 hafte — fresh-look aaya, irritation nahi. Price bhi aam. Naya brand hai, isliye 1 kaam karke hi bol rahi hoon: 4 hafte baad dobara review aayega."</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Bottle + label macro,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"Naya brand = naya review. Yeh pehla hai."</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"Follow karo 4-hafte wale review ke liye + DM GLOW inke launch ke liye." (text: DM GLOW)</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UGC #7 — College girl, 19, Surat (Hindi + light Gujarati)</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"Surat me 'diamond city' hustle — par mera budget student hai. Pehla serum 600 me."</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College canteen/commute: "Poora din bahar, dhool, dhoop — skin kharab."</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Room: wash + serum, 20 sec, phone timer visible.</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"Pehli baar serum lagaya toh socha kya hoga. 2 hafte — fresh feel, aur sabse achha: koi tightness nahi. Student proof."</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Serum on bed/table with ID card (blurred),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"Student budget, real result feel."</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"Surat wale students — COD hai, ghar par milega." (text: DM GLOW)</a:t>
            </a:r>
          </a:p>
          <a:p>
            <a:pPr>
              <a:spcBef>
                <a:spcPts val="1000"/>
              </a:spcBef>
              <a:spcAft>
                <a:spcPts val="400"/>
              </a:spcAft>
            </a:pPr>
            <a:r>
              <a:rPr sz="1600" b="1" i="0">
                <a:solidFill>
                  <a:srgbClr val="8F3A22"/>
                </a:solidFill>
                <a:latin typeface="Calibri"/>
              </a:rPr>
              <a:t>UGC #8 — Male college creator, 21, Vadodara (Hindi)</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"Bro, face wash actually karta hai? 2 hafte ka test — result me aao."</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Hostel mess/hangout: "Log kehte hain 'mard ko kya cream.'" (relatable)</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Sink: 60-sec wash, morning: "60 second. Bas."</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"2 hafte — shine kam, face fresh. Koi magic nahi, bas 60 second roz. Try karo khud."</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Face Wash, sink, towel,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"Test: 14 din. Verdict: 60 second ka kaam."</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"Link bio me. COD. Mard bhi skin." (text: WhatsApp link)</a:t>
            </a:r>
          </a:p>
          <a:p>
            <a:pPr>
              <a:spcBef>
                <a:spcPts val="1000"/>
              </a:spcBef>
              <a:spcAft>
                <a:spcPts val="400"/>
              </a:spcAft>
            </a:pPr>
            <a:r>
              <a:rPr sz="1600" b="1" i="0">
                <a:solidFill>
                  <a:srgbClr val="8F3A22"/>
                </a:solidFill>
                <a:latin typeface="Calibri"/>
              </a:rPr>
              <a:t>UGC #9 — New mom, 28, Rajkot (Gujarati)</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"Baby ke baad skin 'mujhse' khaali ho gayi thi. Main kiya? 2 hafte, 2 cheezein."</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Home, baby sleeping (no baby's face): "Sone ka time hi apna time hai."</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7 AM baby-nap window: wash + serum, 20 sec, real kitchen light.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"Koi miracle nahi — par 2 hafte me woh 'thaka hua' look kam hua hai. Honest. Aur haan, baby-safe nahi bolte — face par, apne time par."</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Serum on kitchen counter with baby bottle silhouette (no face),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"Maa ka time chhota hai — isliye routine bhi."</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"Naye maa — aapki turn. GLOW DM karo." (text: DM GLOW)</a:t>
            </a:r>
          </a:p>
          <a:p>
            <a:pPr>
              <a:spcBef>
                <a:spcPts val="1000"/>
              </a:spcBef>
              <a:spcAft>
                <a:spcPts val="400"/>
              </a:spcAft>
            </a:pPr>
            <a:r>
              <a:rPr sz="1600" b="1" i="0">
                <a:solidFill>
                  <a:srgbClr val="8F3A22"/>
                </a:solidFill>
                <a:latin typeface="Calibri"/>
              </a:rPr>
              <a:t>UGC #10 — Couple, 27/29, Ahmedabad (Hindi)</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"Humne ek doosre ke liye skincare gift kiya — ab dono 2 minute roz karti/karte hain."</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Both in frame, laughing: "Gift idea: skin."</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Split: her (serum routine) / his (face wash), same bathroom, 20 sec each.</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together: "2 hafte — dono fresh. Aur sabse achha: ab ek doosre ko yaad dilate hain."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His + her products side by side,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"Gift nahi, routine ka gift."</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"Gift box banate hain — WhatsApp par batao. (Diwali se pehle.)" (text: WhatsApp link)</a:t>
            </a:r>
          </a:p>
          <a:p>
            <a:pPr>
              <a:spcBef>
                <a:spcPts val="1000"/>
              </a:spcBef>
              <a:spcAft>
                <a:spcPts val="400"/>
              </a:spcAft>
            </a:pPr>
            <a:r>
              <a:rPr sz="1600" b="1" i="0">
                <a:solidFill>
                  <a:srgbClr val="8F3A22"/>
                </a:solidFill>
                <a:latin typeface="Calibri"/>
              </a:rPr>
              <a:t>UGC #11 — Beauty shelf creator, 26 (Hindi)</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"Mera shelf 3000 wali products se bharpoor hai — phir bhi 600 wali RANGAT bottle par ruk gayi."</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Shelf tour, hand stops on RANGAT.</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"Label padho saath me:" reads key lines, palm test.</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"Naya brand, Indian, batch card, aam price. 2 hafte — fresh feel. Shelf pe ab permanent jagah hai."</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Bottle on her shelf among others, 3 sec.</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"Price tag nahi, label padho."</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"Shelf add karna ho? DM GLOW." (text: DM GLOW)</a:t>
            </a:r>
          </a:p>
          <a:p>
            <a:pPr>
              <a:spcBef>
                <a:spcPts val="1000"/>
              </a:spcBef>
              <a:spcAft>
                <a:spcPts val="400"/>
              </a:spcAft>
            </a:pPr>
            <a:r>
              <a:rPr sz="1600" b="1" i="0">
                <a:solidFill>
                  <a:srgbClr val="8F3A22"/>
                </a:solidFill>
                <a:latin typeface="Calibri"/>
              </a:rPr>
              <a:t>UGC #12 — Gen-Z "POV" creator, 21 (Hindi)</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"POV: aapne 500 ke andar serum dhunda — aur mile bhi."</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Phone scrolling (cart, prices) → "2000, 1500, 1200…" → RANGAT page.</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Unboxing: parcel → box → serum + free face wash mini.</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pointing: "600 me, COD, free mini, aur 2 hafte me fresh feel. POV done."</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Unboxed items laid out,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"Budget: 600. Vibe: fresh."</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"POV me join karo — GLOW DM." (text: DM GLOW)</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UGC #13 — Young professional, 26, Surat (Hindi)</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"Surat wale hustle jaante hain. 9 se 9, phir bhi skin ko 2 minute milte hain. Yeh kaise? Watch."</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Morning: office, commute, quick.</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Hotel/guest-house bathroom: wash + serum, 20 sec.</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"Diamond city me time sasta nahi — isliye routine sasta hai. 2 minute, 2 products, roz."</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Counter,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"Hustle + glow dono chahiye?"</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"Link bio. COD. Aage badho." (text: WhatsApp link)</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UGC #14 — College cultural-fest creator, 20, Vadodara (Hindi)</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"Cultural fest 2 hafte baad — aur 'glow kar lo' wala pressure shuru. Main kya kar rahi hoon (bina 10 products ke)."</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College, festival posters, friends: "Fest wale pressure dekho."</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Dorm: 3-step routine, 20 sec: "Yahi. Bas yahi."</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"2 hafte me fresh-look aata hai — isliye 2 hafte pehle shuru karo, 2 din pehle nahi. RANGAT ke saath, budget ke andar."</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Products + fest invite in frame,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"Glow plan = 2 hafte pehle, 3 steps."</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"Fest glow chahiye? GLOW DM — kit bhi hai." (text: DM GLOW)</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UGC #15 — Girl creator, 24, Rajkot (Gujarati + Hindi)</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"Rajkot: garmi me oil, sardiyon me dry. Ek hi skin, 2 alag pareshani. Meri 1 solution dekho."</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Window: "Aaj garmi, kal sardi — yehi hai Gujarat."</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Counter: wash → serum → (season swap: gel/cream) 20 sec.</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"Season ke saath bas 1 product badlata hoon — serum yahi, moisturizer wahi. 2 hafte me consistent fresh feel."</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Serum + both moisturizers,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"Aamaare mausam badle, routine wahi."</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"Rajkot walo — GLOW DM karo." (text: DM GLOW)</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UGC #16 — Skincare educator, 29 (Hindi, educational tone)</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"10% Vitamin C — lab kya kehta hai, aur aapka skin kya karega? 45 second ka class."</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Desk, whiteboard: "Topic: Vitamin C, 10%."</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Whiteboard points (3): bright-look / even tone-look / 10% = benefit-irritation balance.</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"RANGAT ki bottle isliye choose ki kyunki list simple hai, batch card hai, 10% hai. Class over. Homework: 4 hafte daily use."</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Bottle + whiteboard,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"Theory + practice, dono."</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"Class notes save karo + DM GLOW practice ke liye." (text: DM GLOW)</a:t>
            </a:r>
          </a:p>
          <a:p>
            <a:pPr>
              <a:spcBef>
                <a:spcPts val="1000"/>
              </a:spcBef>
              <a:spcAft>
                <a:spcPts val="400"/>
              </a:spcAft>
            </a:pPr>
            <a:r>
              <a:rPr sz="1600" b="1" i="0">
                <a:solidFill>
                  <a:srgbClr val="8F3A22"/>
                </a:solidFill>
                <a:latin typeface="Calibri"/>
              </a:rPr>
              <a:t>UGC #17 — Comedy creator, 23 (Hindi)</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"Girl math: 600 ka serum = roz ka ek chai. Lekin chai 15 minute me khatam, serum 4 hafte chalta hai."</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Canteen chai, phone calc: "Chai ₹50 × 12 din = ₹600."</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"Chai: 15 min me khatam. Serum: 4 hafte, roz, 2 drops." (split visual)</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chai in hand: "Math done. Ab chai bhi piungi, serum bhi. Budget: ek chai kam, skin: fresh."</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Serum + chai glass,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"Girl math, but it works."</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"Apni girl math karo — GLOW DM." (text: DM GLOW)</a:t>
            </a:r>
          </a:p>
          <a:p>
            <a:pPr>
              <a:spcBef>
                <a:spcPts val="1000"/>
              </a:spcBef>
              <a:spcAft>
                <a:spcPts val="400"/>
              </a:spcAft>
            </a:pPr>
            <a:r>
              <a:rPr sz="1600" b="1" i="0">
                <a:solidFill>
                  <a:srgbClr val="8F3A22"/>
                </a:solidFill>
                <a:latin typeface="Calibri"/>
              </a:rPr>
              <a:t>UGC #18 — Morning routine ASMR creator, 25 (minimal Hindi, mostly visuals)</a:t>
            </a:r>
          </a:p>
          <a:p>
            <a:pPr>
              <a:spcAft>
                <a:spcPts val="400"/>
              </a:spcAft>
            </a:pPr>
            <a:r>
              <a:rPr sz="1350">
                <a:solidFill>
                  <a:srgbClr val="B44A2E"/>
                </a:solidFill>
                <a:latin typeface="Calibri"/>
              </a:rPr>
              <a:t>•  </a:t>
            </a:r>
            <a:r>
              <a:rPr sz="1350" b="1" i="0">
                <a:solidFill>
                  <a:srgbClr val="2A2622"/>
                </a:solidFill>
                <a:latin typeface="Calibri"/>
              </a:rPr>
              <a:t>HOOK (text-only, 1 sec):</a:t>
            </a:r>
            <a:r>
              <a:rPr sz="1350" b="0" i="0">
                <a:solidFill>
                  <a:srgbClr val="2A2622"/>
                </a:solidFill>
                <a:latin typeface="Calibri"/>
              </a:rPr>
              <a:t> "6:45 AM. 3 steps. 2 minutes."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Dark room → lamp on (no music, soft ambient): wash, water sound.</a:t>
            </a:r>
          </a:p>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Serum drops (ASMR close-up) → spread → moisturizer. No talking.</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Window light, fresh face, coffee: text "Yahi poora plan hai."</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3 products in row, soft light,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none — text captions only: "Step 1: wash 60s" / "Step 2: serum, 3 drops" / "Step 3: moisturize."</a:t>
            </a:r>
          </a:p>
          <a:p>
            <a:pPr>
              <a:spcAft>
                <a:spcPts val="400"/>
              </a:spcAft>
            </a:pPr>
            <a:r>
              <a:rPr sz="1350">
                <a:solidFill>
                  <a:srgbClr val="B44A2E"/>
                </a:solidFill>
                <a:latin typeface="Calibri"/>
              </a:rPr>
              <a:t>•  </a:t>
            </a:r>
            <a:r>
              <a:rPr sz="1350" b="1" i="0">
                <a:solidFill>
                  <a:srgbClr val="2A2622"/>
                </a:solidFill>
                <a:latin typeface="Calibri"/>
              </a:rPr>
              <a:t>CTA (text):</a:t>
            </a:r>
            <a:r>
              <a:rPr sz="1350" b="0" i="0">
                <a:solidFill>
                  <a:srgbClr val="2A2622"/>
                </a:solidFill>
                <a:latin typeface="Calibri"/>
              </a:rPr>
              <a:t> "Routin chahiye? DM GLOW." (text: DM "GLOW")</a:t>
            </a:r>
          </a:p>
          <a:p>
            <a:pPr>
              <a:spcBef>
                <a:spcPts val="1000"/>
              </a:spcBef>
              <a:spcAft>
                <a:spcPts val="400"/>
              </a:spcAft>
            </a:pPr>
            <a:r>
              <a:rPr sz="1600" b="1" i="0">
                <a:solidFill>
                  <a:srgbClr val="8F3A22"/>
                </a:solidFill>
                <a:latin typeface="Calibri"/>
              </a:rPr>
              <a:t>UGC #19 — Quiz/interactive creator, 27 (Hindi)</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"Aapka skin type kya hai — 4 sawaal me pata chala. Last answer 90% log galat dete hain."</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To camera: "Sawaal 1: Subah uthne par chehra? (shine / tight / normal)"</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"Sawaal 2: Din me? Sawaal 3: Raat? Sawaal 4: Naye product par reaction?" (fast, on-screen options)</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"Jawaab: oily / dry / combination / sensitive — aur har ek ka routine alag. Mera? Combination — isliye yeh 3 products." (shows RANGAT trio)</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Trio on table,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"Pehle type, phir products — is order me."</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"Apna type comment karo — main routine bataungi. Aur GLOW DM = launch offer." (text: DM GLOW)</a:t>
            </a:r>
          </a:p>
          <a:p>
            <a:pPr>
              <a:spcBef>
                <a:spcPts val="1000"/>
              </a:spcBef>
              <a:spcAft>
                <a:spcPts val="400"/>
              </a:spcAft>
            </a:pPr>
            <a:r>
              <a:rPr sz="1600" b="1" i="0">
                <a:solidFill>
                  <a:srgbClr val="8F3A22"/>
                </a:solidFill>
                <a:latin typeface="Calibri"/>
              </a:rPr>
              <a:t>UGC #20 — Challenge-series OPENER, tester, 26 (Hindi) — the long-tail asset</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"Main 30 din tak roz subah RANGAT Vitamin C lagau gi — din 1 se 30 tak, same light, same angle. Aaj din 1."</a:t>
            </a:r>
          </a:p>
          <a:p>
            <a:pPr>
              <a:spcAft>
                <a:spcPts val="400"/>
              </a:spcAft>
            </a:pPr>
            <a:r>
              <a:rPr sz="1350">
                <a:solidFill>
                  <a:srgbClr val="B44A2E"/>
                </a:solidFill>
                <a:latin typeface="Calibri"/>
              </a:rPr>
              <a:t>•  </a:t>
            </a:r>
            <a:r>
              <a:rPr sz="1350" b="1" i="0">
                <a:solidFill>
                  <a:srgbClr val="2A2622"/>
                </a:solidFill>
                <a:latin typeface="Calibri"/>
              </a:rPr>
              <a:t>SCENE 1:</a:t>
            </a:r>
            <a:r>
              <a:rPr sz="1350" b="0" i="0">
                <a:solidFill>
                  <a:srgbClr val="2A2622"/>
                </a:solidFill>
                <a:latin typeface="Calibri"/>
              </a:rPr>
              <a:t> "Day 1 card" in frame, plain face, window: "Koi filter nahi, koi skip nahi. Daily update is page par."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SCENE 2:</a:t>
            </a:r>
            <a:r>
              <a:rPr sz="1350" b="0" i="0">
                <a:solidFill>
                  <a:srgbClr val="2A2622"/>
                </a:solidFill>
                <a:latin typeface="Calibri"/>
              </a:rPr>
              <a:t> Morning routine, 20 sec.</a:t>
            </a:r>
          </a:p>
          <a:p>
            <a:pPr>
              <a:spcAft>
                <a:spcPts val="400"/>
              </a:spcAft>
            </a:pPr>
            <a:r>
              <a:rPr sz="1350">
                <a:solidFill>
                  <a:srgbClr val="B44A2E"/>
                </a:solidFill>
                <a:latin typeface="Calibri"/>
              </a:rPr>
              <a:t>•  </a:t>
            </a:r>
            <a:r>
              <a:rPr sz="1350" b="1" i="0">
                <a:solidFill>
                  <a:srgbClr val="2A2622"/>
                </a:solidFill>
                <a:latin typeface="Calibri"/>
              </a:rPr>
              <a:t>SCENE 3:</a:t>
            </a:r>
            <a:r>
              <a:rPr sz="1350" b="0" i="0">
                <a:solidFill>
                  <a:srgbClr val="2A2622"/>
                </a:solidFill>
                <a:latin typeface="Calibri"/>
              </a:rPr>
              <a:t> To camera: "Din 7, 14, 30 — photos aayengi. Kya dikhega, nahi pata. Yahi toh asli hai."</a:t>
            </a:r>
          </a:p>
          <a:p>
            <a:pPr>
              <a:spcAft>
                <a:spcPts val="400"/>
              </a:spcAft>
            </a:pPr>
            <a:r>
              <a:rPr sz="1350">
                <a:solidFill>
                  <a:srgbClr val="B44A2E"/>
                </a:solidFill>
                <a:latin typeface="Calibri"/>
              </a:rPr>
              <a:t>•  </a:t>
            </a:r>
            <a:r>
              <a:rPr sz="1350" b="1" i="0">
                <a:solidFill>
                  <a:srgbClr val="2A2622"/>
                </a:solidFill>
                <a:latin typeface="Calibri"/>
              </a:rPr>
              <a:t>PRODUCT SHOT:</a:t>
            </a:r>
            <a:r>
              <a:rPr sz="1350" b="0" i="0">
                <a:solidFill>
                  <a:srgbClr val="2A2622"/>
                </a:solidFill>
                <a:latin typeface="Calibri"/>
              </a:rPr>
              <a:t> Bottle + "Day 1" card, 3 sec.</a:t>
            </a:r>
          </a:p>
          <a:p>
            <a:pPr>
              <a:spcAft>
                <a:spcPts val="400"/>
              </a:spcAft>
            </a:pPr>
            <a:r>
              <a:rPr sz="1350">
                <a:solidFill>
                  <a:srgbClr val="B44A2E"/>
                </a:solidFill>
                <a:latin typeface="Calibri"/>
              </a:rPr>
              <a:t>•  </a:t>
            </a:r>
            <a:r>
              <a:rPr sz="1350" b="1" i="0">
                <a:solidFill>
                  <a:srgbClr val="2A2622"/>
                </a:solidFill>
                <a:latin typeface="Calibri"/>
              </a:rPr>
              <a:t>DIALOGUE/VO:</a:t>
            </a:r>
            <a:r>
              <a:rPr sz="1350" b="0" i="0">
                <a:solidFill>
                  <a:srgbClr val="2A2622"/>
                </a:solidFill>
                <a:latin typeface="Calibri"/>
              </a:rPr>
              <a:t> per scene; "30 din, 1 sachchi camera."</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"Follow karo — din 30 tak milte hain. (Aur GLOW DM se khud try karo.)" (text: DM GLOW)</a:t>
            </a:r>
          </a:p>
          <a:p>
            <a:pPr>
              <a:spcAft>
                <a:spcPts val="700"/>
              </a:spcAft>
            </a:pPr>
            <a:r>
              <a:rPr sz="1350" b="1" i="0">
                <a:solidFill>
                  <a:srgbClr val="2A2622"/>
                </a:solidFill>
                <a:latin typeface="Calibri"/>
              </a:rPr>
              <a:t>Note:</a:t>
            </a:r>
            <a:r>
              <a:rPr sz="1350" b="0" i="0">
                <a:solidFill>
                  <a:srgbClr val="2A2622"/>
                </a:solidFill>
                <a:latin typeface="Calibri"/>
              </a:rPr>
              <a:t> UGC #20 is a </a:t>
            </a:r>
            <a:r>
              <a:rPr sz="1350" b="0" i="1">
                <a:solidFill>
                  <a:srgbClr val="2A2622"/>
                </a:solidFill>
                <a:latin typeface="Calibri"/>
              </a:rPr>
              <a:t>serial</a:t>
            </a:r>
            <a:r>
              <a:rPr sz="1350" b="0" i="0">
                <a:solidFill>
                  <a:srgbClr val="2A2622"/>
                </a:solidFill>
                <a:latin typeface="Calibri"/>
              </a:rPr>
              <a:t> — 30 daily posts from one person = the single biggest trust asset you can run (a "show"). Budget 1 dedicated creator for it; every weekly update also feeds retargeting ads.</a:t>
            </a:r>
          </a:p>
          <a:p>
            <a:pPr>
              <a:spcBef>
                <a:spcPts val="1000"/>
              </a:spcBef>
              <a:spcAft>
                <a:spcPts val="400"/>
              </a:spcAft>
            </a:pPr>
            <a:r>
              <a:rPr sz="1600" b="1" i="0">
                <a:solidFill>
                  <a:srgbClr val="8F3A22"/>
                </a:solidFill>
                <a:latin typeface="Calibri"/>
              </a:rPr>
              <a:t>UGC operations rules</a:t>
            </a:r>
          </a:p>
          <a:p>
            <a:pPr>
              <a:spcAft>
                <a:spcPts val="400"/>
              </a:spcAft>
            </a:pPr>
            <a:r>
              <a:rPr sz="1350" b="1">
                <a:solidFill>
                  <a:srgbClr val="8F3A22"/>
                </a:solidFill>
                <a:latin typeface="Calibri"/>
              </a:rPr>
              <a:t>1.  </a:t>
            </a:r>
            <a:r>
              <a:rPr sz="1350" b="1" i="0">
                <a:solidFill>
                  <a:srgbClr val="2A2622"/>
                </a:solidFill>
                <a:latin typeface="Calibri"/>
              </a:rPr>
              <a:t>Brief, not script:</a:t>
            </a:r>
            <a:r>
              <a:rPr sz="1350" b="0" i="0">
                <a:solidFill>
                  <a:srgbClr val="2A2622"/>
                </a:solidFill>
                <a:latin typeface="Calibri"/>
              </a:rPr>
              <a:t> give creators 3 prompts (problem / routine / honest take) + 4 hard rules (no medical claims, no "cure/remove/gone," always "results may vary" on B/A, no fake discounts). They talk in their own words.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20 UGC REELS — RANGAT NATURALS (Section 8)</a:t>
            </a:r>
          </a:p>
          <a:p>
            <a:r>
              <a:rPr sz="1200" i="1">
                <a:solidFill>
                  <a:srgbClr val="57504A"/>
                </a:solidFill>
                <a:latin typeface="Calibri"/>
              </a:rPr>
              <a:t>PART 9 — Safe Before/After + UGC Strategy (20 Reels)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2.  </a:t>
            </a:r>
            <a:r>
              <a:rPr sz="1350" b="1" i="0">
                <a:solidFill>
                  <a:srgbClr val="2A2622"/>
                </a:solidFill>
                <a:latin typeface="Calibri"/>
              </a:rPr>
              <a:t>Permission first, in writing:</a:t>
            </a:r>
            <a:r>
              <a:rPr sz="1350" b="0" i="0">
                <a:solidFill>
                  <a:srgbClr val="2A2622"/>
                </a:solidFill>
                <a:latin typeface="Calibri"/>
              </a:rPr>
              <a:t> 1 WhatsApp template: "Main RANGAT NATURALS ke liye [date] se [product] use kar rahi hoon, apni asli experience ke saath. Aap is video ko IG + Meta ads me chala sakte ho. — [Name, city, consent]." Store with the video file.</a:t>
            </a:r>
          </a:p>
          <a:p>
            <a:pPr>
              <a:spcAft>
                <a:spcPts val="400"/>
              </a:spcAft>
            </a:pPr>
            <a:r>
              <a:rPr sz="1350" b="1">
                <a:solidFill>
                  <a:srgbClr val="8F3A22"/>
                </a:solidFill>
                <a:latin typeface="Calibri"/>
              </a:rPr>
              <a:t>3.  </a:t>
            </a:r>
            <a:r>
              <a:rPr sz="1350" b="1" i="0">
                <a:solidFill>
                  <a:srgbClr val="2A2622"/>
                </a:solidFill>
                <a:latin typeface="Calibri"/>
              </a:rPr>
              <a:t>Repurpose matrix (per UGC video):</a:t>
            </a:r>
            <a:r>
              <a:rPr sz="1350" b="0" i="0">
                <a:solidFill>
                  <a:srgbClr val="2A2622"/>
                </a:solidFill>
                <a:latin typeface="Calibri"/>
              </a:rPr>
              <a:t> (a) their reel (collab) (b) our reel (repost w/ credit) (c) 2 ad cuts (15s + 30s) (d) 3 quote cards (Stories/retargeting) (e) 1 YT Short. </a:t>
            </a:r>
            <a:r>
              <a:rPr sz="1350" b="1" i="0">
                <a:solidFill>
                  <a:srgbClr val="2A2622"/>
                </a:solidFill>
                <a:latin typeface="Calibri"/>
              </a:rPr>
              <a:t>1 shoot = 6 assets.</a:t>
            </a:r>
          </a:p>
          <a:p>
            <a:pPr>
              <a:spcAft>
                <a:spcPts val="400"/>
              </a:spcAft>
            </a:pPr>
            <a:r>
              <a:rPr sz="1350" b="1">
                <a:solidFill>
                  <a:srgbClr val="8F3A22"/>
                </a:solidFill>
                <a:latin typeface="Calibri"/>
              </a:rPr>
              <a:t>4.  </a:t>
            </a:r>
            <a:r>
              <a:rPr sz="1350" b="1" i="0">
                <a:solidFill>
                  <a:srgbClr val="2A2622"/>
                </a:solidFill>
                <a:latin typeface="Calibri"/>
              </a:rPr>
              <a:t>Cadence:</a:t>
            </a:r>
            <a:r>
              <a:rPr sz="1350" b="0" i="0">
                <a:solidFill>
                  <a:srgbClr val="2A2622"/>
                </a:solidFill>
                <a:latin typeface="Calibri"/>
              </a:rPr>
              <a:t> 2–4 new UGC posts/week from Week 3; by Day 90: 40–60 in the bank.</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10</a:t>
            </a:r>
          </a:p>
        </p:txBody>
      </p:sp>
      <p:sp>
        <p:nvSpPr>
          <p:cNvPr id="4" name="TextBox 3"/>
          <p:cNvSpPr txBox="1"/>
          <p:nvPr/>
        </p:nvSpPr>
        <p:spPr>
          <a:xfrm>
            <a:off x="914400" y="2377440"/>
            <a:ext cx="10362895" cy="1645920"/>
          </a:xfrm>
          <a:prstGeom prst="rect">
            <a:avLst/>
          </a:prstGeom>
          <a:noFill/>
        </p:spPr>
        <p:txBody>
          <a:bodyPr wrap="square">
            <a:spAutoFit/>
          </a:bodyPr>
          <a:lstStyle/>
          <a:p>
            <a:r>
              <a:rPr sz="2400" b="1">
                <a:solidFill>
                  <a:srgbClr val="8F3A22"/>
                </a:solidFill>
                <a:latin typeface="Calibri"/>
              </a:rPr>
              <a:t>§9 AI-GENERATED CREATOR IMAGES + UGC VIDEO PROMPTS — RANGAT NATURALS</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AI UGC Images + Video Prompts</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How this fits (and where it can't)</a:t>
            </a:r>
          </a:p>
          <a:p>
            <a:r>
              <a:rPr sz="1200" i="1">
                <a:solidFill>
                  <a:srgbClr val="57504A"/>
                </a:solidFill>
                <a:latin typeface="Calibri"/>
              </a:rPr>
              <a:t>PART 10 — AI UGC Images + Video Prompts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AI UGC is your </a:t>
            </a:r>
            <a:r>
              <a:rPr sz="1350" b="1" i="0">
                <a:solidFill>
                  <a:srgbClr val="2A2622"/>
                </a:solidFill>
                <a:latin typeface="Calibri"/>
              </a:rPr>
              <a:t>creative factory for testing</a:t>
            </a:r>
            <a:r>
              <a:rPr sz="1350" b="0" i="0">
                <a:solidFill>
                  <a:srgbClr val="2A2622"/>
                </a:solidFill>
                <a:latin typeface="Calibri"/>
              </a:rPr>
              <a:t> — fast, cheap variants to find hooks/angles that humans then shoot for scale. Rules of the road:</a:t>
            </a:r>
          </a:p>
          <a:p>
            <a:pPr>
              <a:spcAft>
                <a:spcPts val="400"/>
              </a:spcAft>
            </a:pPr>
            <a:r>
              <a:rPr sz="1350" b="1">
                <a:solidFill>
                  <a:srgbClr val="8F3A22"/>
                </a:solidFill>
                <a:latin typeface="Calibri"/>
              </a:rPr>
              <a:t>1.  </a:t>
            </a:r>
            <a:r>
              <a:rPr sz="1350" b="1" i="0">
                <a:solidFill>
                  <a:srgbClr val="2A2622"/>
                </a:solidFill>
                <a:latin typeface="Calibri"/>
              </a:rPr>
              <a:t>Never pass AI video off as a real customer.</a:t>
            </a:r>
            <a:r>
              <a:rPr sz="1350" b="0" i="0">
                <a:solidFill>
                  <a:srgbClr val="2A2622"/>
                </a:solidFill>
                <a:latin typeface="Calibri"/>
              </a:rPr>
              <a:t> In the UGC slot, AI-generated "creator" videos must be labeled or used only as </a:t>
            </a:r>
            <a:r>
              <a:rPr sz="1350" b="0" i="1">
                <a:solidFill>
                  <a:srgbClr val="2A2622"/>
                </a:solidFill>
                <a:latin typeface="Calibri"/>
              </a:rPr>
              <a:t>concept/teaser</a:t>
            </a:r>
            <a:r>
              <a:rPr sz="1350" b="0" i="0">
                <a:solidFill>
                  <a:srgbClr val="2A2622"/>
                </a:solidFill>
                <a:latin typeface="Calibri"/>
              </a:rPr>
              <a:t> assets (e.g., "aapki kahani bhi yahan ho sakti hai" style). Real testimonials, real before/after = humans only. (Also protects you under ASCI/Meta policies.)</a:t>
            </a:r>
          </a:p>
          <a:p>
            <a:pPr>
              <a:spcAft>
                <a:spcPts val="400"/>
              </a:spcAft>
            </a:pPr>
            <a:r>
              <a:rPr sz="1350" b="1">
                <a:solidFill>
                  <a:srgbClr val="8F3A22"/>
                </a:solidFill>
                <a:latin typeface="Calibri"/>
              </a:rPr>
              <a:t>2.  </a:t>
            </a:r>
            <a:r>
              <a:rPr sz="1350" b="1" i="0">
                <a:solidFill>
                  <a:srgbClr val="2A2622"/>
                </a:solidFill>
                <a:latin typeface="Calibri"/>
              </a:rPr>
              <a:t>AI video models butcher brand text.</a:t>
            </a:r>
            <a:r>
              <a:rPr sz="1350" b="0" i="0">
                <a:solidFill>
                  <a:srgbClr val="2A2622"/>
                </a:solidFill>
                <a:latin typeface="Calibri"/>
              </a:rPr>
              <a:t> Do NOT ask the model to render "RANGAT NATURALS" on a label or on-screen text. Generate the video WITHOUT readable label text (plain label or blurred), then add: the real label (product insert or real bottle), on-screen hook text, captions, and CTA </a:t>
            </a:r>
            <a:r>
              <a:rPr sz="1350" b="1" i="0">
                <a:solidFill>
                  <a:srgbClr val="2A2622"/>
                </a:solidFill>
                <a:latin typeface="Calibri"/>
              </a:rPr>
              <a:t>in CapCut/Premiere</a:t>
            </a:r>
            <a:r>
              <a:rPr sz="1350" b="0" i="0">
                <a:solidFill>
                  <a:srgbClr val="2A2622"/>
                </a:solidFill>
                <a:latin typeface="Calibri"/>
              </a:rPr>
              <a:t>. This is the workflow — every prompt below assumes it.</a:t>
            </a:r>
          </a:p>
          <a:p>
            <a:pPr>
              <a:spcAft>
                <a:spcPts val="400"/>
              </a:spcAft>
            </a:pPr>
            <a:r>
              <a:rPr sz="1350" b="1">
                <a:solidFill>
                  <a:srgbClr val="8F3A22"/>
                </a:solidFill>
                <a:latin typeface="Calibri"/>
              </a:rPr>
              <a:t>3.  </a:t>
            </a:r>
            <a:r>
              <a:rPr sz="1350" b="1" i="0">
                <a:solidFill>
                  <a:srgbClr val="2A2622"/>
                </a:solidFill>
                <a:latin typeface="Calibri"/>
              </a:rPr>
              <a:t>Consistency lock:</a:t>
            </a:r>
            <a:r>
              <a:rPr sz="1350" b="0" i="0">
                <a:solidFill>
                  <a:srgbClr val="2A2622"/>
                </a:solidFill>
                <a:latin typeface="Calibri"/>
              </a:rPr>
              <a:t> define ONE virtual character sheet and reuse it across prompts (same face, hair, outfit) so a "character" appears in 5–10 videos — a recurring face builds parasocial trust, even if AI.</a:t>
            </a:r>
          </a:p>
          <a:p>
            <a:pPr>
              <a:spcAft>
                <a:spcPts val="400"/>
              </a:spcAft>
            </a:pPr>
            <a:r>
              <a:rPr sz="1350" b="1">
                <a:solidFill>
                  <a:srgbClr val="8F3A22"/>
                </a:solidFill>
                <a:latin typeface="Calibri"/>
              </a:rPr>
              <a:t>4.  </a:t>
            </a:r>
            <a:r>
              <a:rPr sz="1350" b="1" i="0">
                <a:solidFill>
                  <a:srgbClr val="2A2622"/>
                </a:solidFill>
                <a:latin typeface="Calibri"/>
              </a:rPr>
              <a:t>Skin realism is the whole point:</a:t>
            </a:r>
            <a:r>
              <a:rPr sz="1350" b="0" i="0">
                <a:solidFill>
                  <a:srgbClr val="2A2622"/>
                </a:solidFill>
                <a:latin typeface="Calibri"/>
              </a:rPr>
              <a:t> no beauty filters, no smooth skin — the prompts enforce "natural skin texture, visible pores, no retouch."</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How this fits (and where it can't)</a:t>
            </a:r>
          </a:p>
          <a:p>
            <a:r>
              <a:rPr sz="1200" i="1">
                <a:solidFill>
                  <a:srgbClr val="57504A"/>
                </a:solidFill>
                <a:latin typeface="Calibri"/>
              </a:rPr>
              <a:t>PART 10 — AI UGC Images + Video Prompts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5.  </a:t>
            </a:r>
            <a:r>
              <a:rPr sz="1350" b="1" i="0">
                <a:solidFill>
                  <a:srgbClr val="2A2622"/>
                </a:solidFill>
                <a:latin typeface="Calibri"/>
              </a:rPr>
              <a:t>Use AI images for:</a:t>
            </a:r>
            <a:r>
              <a:rPr sz="1350" b="0" i="0">
                <a:solidFill>
                  <a:srgbClr val="2A2622"/>
                </a:solidFill>
                <a:latin typeface="Calibri"/>
              </a:rPr>
              <a:t> profile placeholder shots, carousel visuals, flat-lays, "in a real Indian home" backgrounds, ad statics (labeled as brand visuals).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CHARACTER SHEET (paste into every prompt)</a:t>
            </a:r>
          </a:p>
          <a:p>
            <a:r>
              <a:rPr sz="1200" i="1">
                <a:solidFill>
                  <a:srgbClr val="57504A"/>
                </a:solidFill>
                <a:latin typeface="Calibri"/>
              </a:rPr>
              <a:t>PART 10 — AI UGC Images + Video Prompts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600"/>
              </a:spcBef>
              <a:spcAft>
                <a:spcPts val="600"/>
              </a:spcAft>
            </a:pPr>
            <a:r>
              <a:rPr sz="1250" b="0" i="1">
                <a:solidFill>
                  <a:srgbClr val="57504A"/>
                </a:solidFill>
                <a:latin typeface="Calibri"/>
              </a:rPr>
              <a:t>“</a:t>
            </a:r>
            <a:r>
              <a:rPr sz="1250" b="1" i="1">
                <a:solidFill>
                  <a:srgbClr val="57504A"/>
                </a:solidFill>
                <a:latin typeface="Calibri"/>
              </a:rPr>
              <a:t>CHARACTER:</a:t>
            </a:r>
            <a:r>
              <a:rPr sz="1250" b="0" i="1">
                <a:solidFill>
                  <a:srgbClr val="57504A"/>
                </a:solidFill>
                <a:latin typeface="Calibri"/>
              </a:rPr>
              <a:t> Indian woman, 26 years old, medium-tan (Indian) skin tone with natural texture and visible pores, light brown eyes, shoulder-length straight hair, small nose stud, no makeup or very minimal (tinted lip only), wearing a simple beige cotton kurta. Warm, calm, slightly smiling. </a:t>
            </a:r>
            <a:r>
              <a:rPr sz="1250" b="1" i="1">
                <a:solidFill>
                  <a:srgbClr val="57504A"/>
                </a:solidFill>
                <a:latin typeface="Calibri"/>
              </a:rPr>
              <a:t>No beauty filter, no skin smoothing, no airbrushing — realistic, slightly imperfect, natural.</a:t>
            </a:r>
            <a:r>
              <a:rPr sz="1250" b="0" i="1">
                <a:solidFill>
                  <a:srgbClr val="57504A"/>
                </a:solidFill>
                <a:latin typeface="Calibri"/>
              </a:rPr>
              <a:t>”</a:t>
            </a:r>
          </a:p>
          <a:p>
            <a:pPr>
              <a:spcAft>
                <a:spcPts val="700"/>
              </a:spcAft>
            </a:pPr>
            <a:r>
              <a:rPr sz="1350" b="0" i="1">
                <a:solidFill>
                  <a:srgbClr val="2A2622"/>
                </a:solidFill>
                <a:latin typeface="Calibri"/>
              </a:rPr>
              <a:t>(Male variant: Indian man, 28, light stubble, short black hair, white T-shirt, natural skin texture.)</a:t>
            </a:r>
            <a:r>
              <a:rPr sz="1350" b="0" i="0">
                <a:solidFill>
                  <a:srgbClr val="2A2622"/>
                </a:solidFill>
                <a:latin typeface="Calibri"/>
              </a:rPr>
              <a:t> </a:t>
            </a:r>
            <a:r>
              <a:rPr sz="1350" b="0" i="1">
                <a:solidFill>
                  <a:srgbClr val="2A2622"/>
                </a:solidFill>
                <a:latin typeface="Calibri"/>
              </a:rPr>
              <a:t>(Gen-Z variant: Indian woman, 20, college hoodie over kurta, ponytail, no makeup, natural skin.)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VIDEO PROMPTS — by length</a:t>
            </a:r>
          </a:p>
          <a:p>
            <a:r>
              <a:rPr sz="1200" i="1">
                <a:solidFill>
                  <a:srgbClr val="57504A"/>
                </a:solidFill>
                <a:latin typeface="Calibri"/>
              </a:rPr>
              <a:t>PART 10 — AI UGC Images + Video Prompts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5-SECOND REEL (hook-only / pattern-interrupt)</a:t>
            </a:r>
          </a:p>
          <a:p>
            <a:pPr>
              <a:spcAft>
                <a:spcPts val="700"/>
              </a:spcAft>
            </a:pPr>
            <a:r>
              <a:rPr sz="1350" b="1" i="0">
                <a:solidFill>
                  <a:srgbClr val="2A2622"/>
                </a:solidFill>
                <a:latin typeface="Calibri"/>
              </a:rPr>
              <a:t>Prompt A (texture hook):</a:t>
            </a:r>
          </a:p>
          <a:p>
            <a:pPr>
              <a:spcBef>
                <a:spcPts val="600"/>
              </a:spcBef>
              <a:spcAft>
                <a:spcPts val="600"/>
              </a:spcAft>
            </a:pPr>
            <a:r>
              <a:rPr sz="1250" b="0" i="1">
                <a:solidFill>
                  <a:srgbClr val="57504A"/>
                </a:solidFill>
                <a:latin typeface="Calibri"/>
              </a:rPr>
              <a:t>“AI video, 5 seconds, 9:16 vertical, UGC selfie style. Indian woman, 26, [CHARACTER SHEET], sitting at a home bathroom counter in soft window daylight, morning. She looks at the camera with mild curiosity, then holds up a small amber skincare bottle (label plain, no text) toward the camera. Handheld phone camera, slight natural shake, front-facing angle at eye level. One gesture: raises the bottle 10 cm and tilts it gently. Background: real Indian bathroom — white tile, a glass of water, a towel, a small plant; slightly lived-in, not staged. Lighting: single soft window light, warm morning tone, gentle shadows. Expression shift: neutral → slight knowing smile. No on-screen text, no logo, no music. Natural ambient sound only.”</a:t>
            </a:r>
          </a:p>
          <a:p>
            <a:pPr>
              <a:spcAft>
                <a:spcPts val="700"/>
              </a:spcAft>
            </a:pPr>
            <a:r>
              <a:rPr sz="1350" b="1" i="0">
                <a:solidFill>
                  <a:srgbClr val="2A2622"/>
                </a:solidFill>
                <a:latin typeface="Calibri"/>
              </a:rPr>
              <a:t>Post-production (CapCut):</a:t>
            </a:r>
            <a:r>
              <a:rPr sz="1350" b="0" i="0">
                <a:solidFill>
                  <a:srgbClr val="2A2622"/>
                </a:solidFill>
                <a:latin typeface="Calibri"/>
              </a:rPr>
              <a:t> add frame-1 text: </a:t>
            </a:r>
            <a:r>
              <a:rPr sz="1350" b="1" i="0">
                <a:solidFill>
                  <a:srgbClr val="2A2622"/>
                </a:solidFill>
                <a:latin typeface="Calibri"/>
              </a:rPr>
              <a:t>"Ek drop. Bas itna."</a:t>
            </a:r>
            <a:r>
              <a:rPr sz="1350" b="0" i="0">
                <a:solidFill>
                  <a:srgbClr val="2A2622"/>
                </a:solidFill>
                <a:latin typeface="Calibri"/>
              </a:rPr>
              <a:t> + final frame: product label overlay + "RANGAT NATURALS — DM GLOW". Hook audio: her voice: "10 second. Ek drop."</a:t>
            </a:r>
          </a:p>
          <a:p>
            <a:pPr>
              <a:spcAft>
                <a:spcPts val="700"/>
              </a:spcAft>
            </a:pPr>
            <a:r>
              <a:rPr sz="1350" b="1" i="0">
                <a:solidFill>
                  <a:srgbClr val="2A2622"/>
                </a:solidFill>
                <a:latin typeface="Calibri"/>
              </a:rPr>
              <a:t>Prompt B (mirror hook):</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VIDEO PROMPTS — by length</a:t>
            </a:r>
          </a:p>
          <a:p>
            <a:r>
              <a:rPr sz="1200" i="1">
                <a:solidFill>
                  <a:srgbClr val="57504A"/>
                </a:solidFill>
                <a:latin typeface="Calibri"/>
              </a:rPr>
              <a:t>PART 10 — AI UGC Images + Video Prompts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600"/>
              </a:spcBef>
              <a:spcAft>
                <a:spcPts val="600"/>
              </a:spcAft>
            </a:pPr>
            <a:r>
              <a:rPr sz="1250" b="0" i="1">
                <a:solidFill>
                  <a:srgbClr val="57504A"/>
                </a:solidFill>
                <a:latin typeface="Calibri"/>
              </a:rPr>
              <a:t>“AI video, 5 seconds, 9:16, UGC mirror-selfie style. Indian woman 26, [CHARACTER SHEET], in front of a home mirror with a round mirror light, early morning, slightly tired but fresh face, natural skin. She touches her cheek with two fingers and looks at the camera through the mirror with a "wait, did you see that?" expression. Handheld phone, mirror angle, minor shake. Background: typical Indian bedroom mirror, clothes on chair, window light. Lighting: cool-morning window light + warm ring light, realistic mix. No text, no logo. Natural sound.”</a:t>
            </a:r>
          </a:p>
          <a:p>
            <a:pPr>
              <a:spcAft>
                <a:spcPts val="700"/>
              </a:spcAft>
            </a:pPr>
            <a:r>
              <a:rPr sz="1350" b="1" i="0">
                <a:solidFill>
                  <a:srgbClr val="2A2622"/>
                </a:solidFill>
                <a:latin typeface="Calibri"/>
              </a:rPr>
              <a:t>Post-production:</a:t>
            </a:r>
            <a:r>
              <a:rPr sz="1350" b="0" i="0">
                <a:solidFill>
                  <a:srgbClr val="2A2622"/>
                </a:solidFill>
                <a:latin typeface="Calibri"/>
              </a:rPr>
              <a:t> text: </a:t>
            </a:r>
            <a:r>
              <a:rPr sz="1350" b="1" i="0">
                <a:solidFill>
                  <a:srgbClr val="2A2622"/>
                </a:solidFill>
                <a:latin typeface="Calibri"/>
              </a:rPr>
              <a:t>"Chehra thaka hua? Aaj badalenge plan."</a:t>
            </a:r>
            <a:r>
              <a:rPr sz="1350" b="0" i="0">
                <a:solidFill>
                  <a:srgbClr val="2A2622"/>
                </a:solidFill>
                <a:latin typeface="Calibri"/>
              </a:rPr>
              <a:t> → CTA text: "DM GLOW".</a:t>
            </a:r>
          </a:p>
          <a:p>
            <a:pPr>
              <a:spcBef>
                <a:spcPts val="1000"/>
              </a:spcBef>
              <a:spcAft>
                <a:spcPts val="400"/>
              </a:spcAft>
            </a:pPr>
            <a:r>
              <a:rPr sz="1600" b="1" i="0">
                <a:solidFill>
                  <a:srgbClr val="8F3A22"/>
                </a:solidFill>
                <a:latin typeface="Calibri"/>
              </a:rPr>
              <a:t>8-SECOND REEL (problem → product reveal)</a:t>
            </a:r>
          </a:p>
          <a:p>
            <a:pPr>
              <a:spcAft>
                <a:spcPts val="700"/>
              </a:spcAft>
            </a:pPr>
            <a:r>
              <a:rPr sz="1350" b="1" i="0">
                <a:solidFill>
                  <a:srgbClr val="2A2622"/>
                </a:solidFill>
                <a:latin typeface="Calibri"/>
              </a:rPr>
              <a:t>Prompt C:</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VIDEO PROMPTS — by length</a:t>
            </a:r>
          </a:p>
          <a:p>
            <a:r>
              <a:rPr sz="1200" i="1">
                <a:solidFill>
                  <a:srgbClr val="57504A"/>
                </a:solidFill>
                <a:latin typeface="Calibri"/>
              </a:rPr>
              <a:t>PART 10 — AI UGC Images + Video Prompts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600"/>
              </a:spcBef>
              <a:spcAft>
                <a:spcPts val="600"/>
              </a:spcAft>
            </a:pPr>
            <a:r>
              <a:rPr sz="1250" b="0" i="1">
                <a:solidFill>
                  <a:srgbClr val="57504A"/>
                </a:solidFill>
                <a:latin typeface="Calibri"/>
              </a:rPr>
              <a:t>“AI video, 8 seconds, 9:16, UGC handheld. Indian woman 26, [CHARACTER SHEET], Indian home living room, afternoon window light. Cut 1 (0–3s): she looks at phone with a small frown, then puts it down, exhales, looks at camera — "tired face" moment. Cut 2 (3–5s): quick cut to her hand opening a small amber skincare bottle (plain label), one pump of cream into palm, close-up of texture spreading, natural skin. Cut 3 (5–8s): back to face, she smiles calmly, lightly pats her cheek. Handheld phone feel, natural shake, eye-level. Background: real Indian home — wooden table, a chai glass, curtain with daylight. Warm afternoon light, soft shadows. No on-screen text, no logo, no heavy audio.”</a:t>
            </a:r>
          </a:p>
          <a:p>
            <a:pPr>
              <a:spcAft>
                <a:spcPts val="700"/>
              </a:spcAft>
            </a:pPr>
            <a:r>
              <a:rPr sz="1350" b="1" i="0">
                <a:solidFill>
                  <a:srgbClr val="2A2622"/>
                </a:solidFill>
                <a:latin typeface="Calibri"/>
              </a:rPr>
              <a:t>Post-production:</a:t>
            </a:r>
            <a:r>
              <a:rPr sz="1350" b="0" i="0">
                <a:solidFill>
                  <a:srgbClr val="2A2622"/>
                </a:solidFill>
                <a:latin typeface="Calibri"/>
              </a:rPr>
              <a:t> text track: 0–3s "40° bahar, AC andar — skin beech me." → 3–5s "Humara jawab: 2 drops." → 5–8s "RANGAT — aamee skin, aamno liye." + CTA card 1s: "DM 'GLOW' · COD". Voice (real, recorded): "Monsoon me skin thakti hai. Yeh 2 drops uska din theek karte hain."</a:t>
            </a:r>
          </a:p>
          <a:p>
            <a:pPr>
              <a:spcAft>
                <a:spcPts val="700"/>
              </a:spcAft>
            </a:pPr>
            <a:r>
              <a:rPr sz="1350" b="1" i="0">
                <a:solidFill>
                  <a:srgbClr val="2A2622"/>
                </a:solidFill>
                <a:latin typeface="Calibri"/>
              </a:rPr>
              <a:t>Prompt D (male):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VIDEO PROMPTS — by length</a:t>
            </a:r>
          </a:p>
          <a:p>
            <a:r>
              <a:rPr sz="1200" i="1">
                <a:solidFill>
                  <a:srgbClr val="57504A"/>
                </a:solidFill>
                <a:latin typeface="Calibri"/>
              </a:rPr>
              <a:t>PART 10 — AI UGC Images + Video Prompts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600"/>
              </a:spcBef>
              <a:spcAft>
                <a:spcPts val="600"/>
              </a:spcAft>
            </a:pPr>
            <a:r>
              <a:rPr sz="1250" b="0" i="1">
                <a:solidFill>
                  <a:srgbClr val="57504A"/>
                </a:solidFill>
                <a:latin typeface="Calibri"/>
              </a:rPr>
              <a:t>“AI video, 8 seconds, 9:16, UGC handheld. Indian man 28 [male sheet], hotel-room bathroom, morning. Cut 1 (0–3s): he looks at mirror with shine on forehead, wipes with towel, slight "ugh" face. Cut 2 (3–5s): close-up: lather of a white face-wash cream in palm, realistic foam, natural hand. Cut 3 (5–8s): he pats his face dry, gives the camera a small confident nod. Handheld, mirror + face mix, slight shake. Background: guesthouse bathroom, towel, soap dish. Cool morning light from window. No text, no logo.”</a:t>
            </a:r>
          </a:p>
          <a:p>
            <a:pPr>
              <a:spcAft>
                <a:spcPts val="700"/>
              </a:spcAft>
            </a:pPr>
            <a:r>
              <a:rPr sz="1350" b="1" i="0">
                <a:solidFill>
                  <a:srgbClr val="2A2622"/>
                </a:solidFill>
                <a:latin typeface="Calibri"/>
              </a:rPr>
              <a:t>Post-production:</a:t>
            </a:r>
            <a:r>
              <a:rPr sz="1350" b="0" i="0">
                <a:solidFill>
                  <a:srgbClr val="2A2622"/>
                </a:solidFill>
                <a:latin typeface="Calibri"/>
              </a:rPr>
              <a:t> text: "9 se 9 office. 60 second skin." → "Mard bhi skin." → CTA "WhatsApp link in bio".</a:t>
            </a:r>
          </a:p>
          <a:p>
            <a:pPr>
              <a:spcBef>
                <a:spcPts val="1000"/>
              </a:spcBef>
              <a:spcAft>
                <a:spcPts val="400"/>
              </a:spcAft>
            </a:pPr>
            <a:r>
              <a:rPr sz="1600" b="1" i="0">
                <a:solidFill>
                  <a:srgbClr val="8F3A22"/>
                </a:solidFill>
                <a:latin typeface="Calibri"/>
              </a:rPr>
              <a:t>10-SECOND REEL (problem → routine → result-promise)</a:t>
            </a:r>
          </a:p>
          <a:p>
            <a:pPr>
              <a:spcAft>
                <a:spcPts val="700"/>
              </a:spcAft>
            </a:pPr>
            <a:r>
              <a:rPr sz="1350" b="1" i="0">
                <a:solidFill>
                  <a:srgbClr val="2A2622"/>
                </a:solidFill>
                <a:latin typeface="Calibri"/>
              </a:rPr>
              <a:t>Prompt E (hero product routine):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VIDEO PROMPTS — by length</a:t>
            </a:r>
          </a:p>
          <a:p>
            <a:r>
              <a:rPr sz="1200" i="1">
                <a:solidFill>
                  <a:srgbClr val="57504A"/>
                </a:solidFill>
                <a:latin typeface="Calibri"/>
              </a:rPr>
              <a:t>PART 10 — AI UGC Images + Video Prompts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600"/>
              </a:spcBef>
              <a:spcAft>
                <a:spcPts val="600"/>
              </a:spcAft>
            </a:pPr>
            <a:r>
              <a:rPr sz="1250" b="0" i="1">
                <a:solidFill>
                  <a:srgbClr val="57504A"/>
                </a:solidFill>
                <a:latin typeface="Calibri"/>
              </a:rPr>
              <a:t>“AI video, 10 seconds, 9:16, UGC handheld, morning Indian home. Indian woman 26 [CHARACTER SHEET]. Cut 1 (0–2s): at bathroom mirror, slightly tired face, natural skin, looks at camera. Cut 2 (2–4s): face-wash lather on cheek, water splash, quick wash, towel pat — realistic fast motion. Cut 3 (4–7s): close-up: 3 drops of a clear serum (plain amber bottle) fall onto back of hand, she spreads it, absorption visible, natural skin texture. Cut 4 (7–10s): medium shot: she looks at camera, calm confident half-smile, touches cheek lightly. Handheld phone, eye-level, natural shake, one continuous "morning" flow. Background: Indian bathroom + counter, window daylight, a chai glass on the sill. Warm morning light. No on-screen text, no logo. Natural ambient sound (water, soft room tone).”</a:t>
            </a:r>
          </a:p>
          <a:p>
            <a:pPr>
              <a:spcAft>
                <a:spcPts val="700"/>
              </a:spcAft>
            </a:pPr>
            <a:r>
              <a:rPr sz="1350" b="1" i="0">
                <a:solidFill>
                  <a:srgbClr val="2A2622"/>
                </a:solidFill>
                <a:latin typeface="Calibri"/>
              </a:rPr>
              <a:t>Post-production:</a:t>
            </a:r>
            <a:r>
              <a:rPr sz="1350" b="0" i="0">
                <a:solidFill>
                  <a:srgbClr val="2A2622"/>
                </a:solidFill>
                <a:latin typeface="Calibri"/>
              </a:rPr>
              <a:t> text sequence: "Step 1: 60 sec wash" → "Step 2: 3 drops, khurrak chehre par" → "Step 3: roz. 4 hafte. Watch it." → CTA: "DM 'GLOW' — launch me FREE Face Wash mini + COD". Voiceover (real, 9 sec): "60 second ka wash, 3 drops ka serum, roz subah. 4 hafte me aap khud farq dekhogi. Results har kisi me alag — yahi humari sachai hai."</a:t>
            </a:r>
          </a:p>
          <a:p>
            <a:pPr>
              <a:spcAft>
                <a:spcPts val="700"/>
              </a:spcAft>
            </a:pPr>
            <a:r>
              <a:rPr sz="1350" b="1" i="0">
                <a:solidFill>
                  <a:srgbClr val="2A2622"/>
                </a:solidFill>
                <a:latin typeface="Calibri"/>
              </a:rPr>
              <a:t>Prompt F (before/after-concept, LA-BELED, no claim):</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VIDEO PROMPTS — by length</a:t>
            </a:r>
          </a:p>
          <a:p>
            <a:r>
              <a:rPr sz="1200" i="1">
                <a:solidFill>
                  <a:srgbClr val="57504A"/>
                </a:solidFill>
                <a:latin typeface="Calibri"/>
              </a:rPr>
              <a:t>PART 10 — AI UGC Images + Video Prompts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600"/>
              </a:spcBef>
              <a:spcAft>
                <a:spcPts val="600"/>
              </a:spcAft>
            </a:pPr>
            <a:r>
              <a:rPr sz="1250" b="0" i="1">
                <a:solidFill>
                  <a:srgbClr val="57504A"/>
                </a:solidFill>
                <a:latin typeface="Calibri"/>
              </a:rPr>
              <a:t>“AI video, 10 seconds, 9:16, UGC split-screen concept. Indian woman 26 [CHARACTER SHEET], same room, same window light both sides. Left half: slightly dull tired morning face, flat expression, "day-1" vibe. Right half: same woman, same light, fresher calmer face, relaxed smile, "week-4" vibe (subtle, natural difference only — no glow effects, no filters). She holds a plain amber bottle in the right half. Handheld, static with micro-shake. Background: same Indian bedroom window, curtain. Natural morning light, identical on both sides. No text, no logo, no effects, no beauty retouch.”</a:t>
            </a:r>
          </a:p>
          <a:p>
            <a:pPr>
              <a:spcAft>
                <a:spcPts val="700"/>
              </a:spcAft>
            </a:pPr>
            <a:r>
              <a:rPr sz="1350" b="1" i="0">
                <a:solidFill>
                  <a:srgbClr val="2A2622"/>
                </a:solidFill>
                <a:latin typeface="Calibri"/>
              </a:rPr>
              <a:t>Post-production:</a:t>
            </a:r>
            <a:r>
              <a:rPr sz="1350" b="0" i="0">
                <a:solidFill>
                  <a:srgbClr val="2A2622"/>
                </a:solidFill>
                <a:latin typeface="Calibri"/>
              </a:rPr>
              <a:t> text: "Day 1 → Week 4 (concept — asli program ke photos aapke liye aane wale hain)" → bottom bar ALWAYS: "Real customer program · Results may vary". </a:t>
            </a:r>
            <a:r>
              <a:rPr sz="1350" b="1" i="0">
                <a:solidFill>
                  <a:srgbClr val="2A2622"/>
                </a:solidFill>
                <a:latin typeface="Calibri"/>
              </a:rPr>
              <a:t>Use only as teaser for the real tester program — never as a customer result.</a:t>
            </a:r>
            <a:r>
              <a:rPr sz="1350" b="0" i="0">
                <a:solidFill>
                  <a:srgbClr val="2A2622"/>
                </a:solidFill>
                <a:latin typeface="Calibri"/>
              </a:rPr>
              <a:t> CTA: "4-hafte program me kaise ho? DM GLOW."</a:t>
            </a:r>
          </a:p>
          <a:p>
            <a:pPr>
              <a:spcBef>
                <a:spcPts val="1000"/>
              </a:spcBef>
              <a:spcAft>
                <a:spcPts val="400"/>
              </a:spcAft>
            </a:pPr>
            <a:r>
              <a:rPr sz="1600" b="1" i="0">
                <a:solidFill>
                  <a:srgbClr val="8F3A22"/>
                </a:solidFill>
                <a:latin typeface="Calibri"/>
              </a:rPr>
              <a:t>15-SECOND REEL (full mini-story: context → doubt → routine → honest take)</a:t>
            </a:r>
          </a:p>
          <a:p>
            <a:pPr>
              <a:spcAft>
                <a:spcPts val="700"/>
              </a:spcAft>
            </a:pPr>
            <a:r>
              <a:rPr sz="1350" b="1" i="0">
                <a:solidFill>
                  <a:srgbClr val="2A2622"/>
                </a:solidFill>
                <a:latin typeface="Calibri"/>
              </a:rPr>
              <a:t>Prompt G (the "skeptic" story — strongest ad format):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VIDEO PROMPTS — by length</a:t>
            </a:r>
          </a:p>
          <a:p>
            <a:r>
              <a:rPr sz="1200" i="1">
                <a:solidFill>
                  <a:srgbClr val="57504A"/>
                </a:solidFill>
                <a:latin typeface="Calibri"/>
              </a:rPr>
              <a:t>PART 10 — AI UGC Images + Video Prompts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600"/>
              </a:spcBef>
              <a:spcAft>
                <a:spcPts val="600"/>
              </a:spcAft>
            </a:pPr>
            <a:r>
              <a:rPr sz="1250" b="0" i="1">
                <a:solidFill>
                  <a:srgbClr val="57504A"/>
                </a:solidFill>
                <a:latin typeface="Calibri"/>
              </a:rPr>
              <a:t>“AI video, 15 seconds, 9:16, UGC handheld, realistic Indian home. Indian woman 26 [CHARACTER SHEET]. Cut 1 (0–3s): sitting on bed, holding a phone, skeptical slight frown, looking at camera as if questioning (a new brand, first time). Cut 2 (3–5s): cut to a small parcel on the floor, she opens it, pulls out a small box — natural lighting, real parcel tape. Cut 3 (5–9s): bathroom counter, morning: quick face wash, then 3 drops serum on hand, spread, pat — close-up on natural skin texture. Cut 4 (9–13s): medium shot, mirror, she looks at herself, small surprised-positive shift, then looks at camera. Cut 5 (13–15s): close-up, calm smile, slight nod — "honest, it's okay" expression. Handheld phone, natural shake, eye-level throughout. Background: Indian bedroom (bed, clothes, window) + bathroom counter (chai glass, towel). Warm morning window light, consistent. No on-screen text, no logo, no music. Ambient room sound, soft water sound in cut 3.”</a:t>
            </a:r>
          </a:p>
          <a:p>
            <a:pPr>
              <a:spcAft>
                <a:spcPts val="700"/>
              </a:spcAft>
            </a:pPr>
            <a:r>
              <a:rPr sz="1350" b="1" i="0">
                <a:solidFill>
                  <a:srgbClr val="2A2622"/>
                </a:solidFill>
                <a:latin typeface="Calibri"/>
              </a:rPr>
              <a:t>Post-production:</a:t>
            </a:r>
            <a:r>
              <a:rPr sz="1350" b="0" i="0">
                <a:solidFill>
                  <a:srgbClr val="2A2622"/>
                </a:solidFill>
                <a:latin typeface="Calibri"/>
              </a:rPr>
              <a:t> text track: 0–3s "Naya brand. Pehli baar. Doubt tha." → 3–5s "COD tha. Parcel aaya." → 5–9s "Roz subah, 2 minute." → 9–15s "2 hafte — fresh feel. Honest: koi overnight nahi." → bottom bar: "Real customer story format · Results may vary" → CTA card 1.5s: "DM 'GLOW' · COD · Free Face Wash mini". Voiceover (real, female, 14 sec): "Naya brand tha, maine bhi socha nahi tha. COD tha, toh liya. Roz subah 2 minute — wash, 3 drops. 2 hafte ho gaye, fresh feel aaya hai. Koi magic nahi — bas consistent routine. Aap bhi try kar sakti ho — GLOW likho DM me."</a:t>
            </a:r>
          </a:p>
          <a:p>
            <a:pPr>
              <a:spcAft>
                <a:spcPts val="700"/>
              </a:spcAft>
            </a:pPr>
            <a:r>
              <a:rPr sz="1350" b="1" i="0">
                <a:solidFill>
                  <a:srgbClr val="2A2622"/>
                </a:solidFill>
                <a:latin typeface="Calibri"/>
              </a:rPr>
              <a:t>Prompt H (Gujarati flavor — cultural context, LA-BELED):</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VIDEO PROMPTS — by length</a:t>
            </a:r>
          </a:p>
          <a:p>
            <a:r>
              <a:rPr sz="1200" i="1">
                <a:solidFill>
                  <a:srgbClr val="57504A"/>
                </a:solidFill>
                <a:latin typeface="Calibri"/>
              </a:rPr>
              <a:t>PART 10 — AI UGC Images + Video Prompts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600"/>
              </a:spcBef>
              <a:spcAft>
                <a:spcPts val="600"/>
              </a:spcAft>
            </a:pPr>
            <a:r>
              <a:rPr sz="1250" b="0" i="1">
                <a:solidFill>
                  <a:srgbClr val="57504A"/>
                </a:solidFill>
                <a:latin typeface="Calibri"/>
              </a:rPr>
              <a:t>“AI video, 15 seconds, 9:16, UGC handheld, warm Indian home. Indian woman 26 [CHARACTER SHEET]. Cut 1 (0–3s): kitchen counter, morning, she stirs a chai glass while talking to camera, relaxed, slight smile, real home background (copper utensils, a window). Cut 2 (3–6s): close-up: hand with a small amber bottle (plain label), she pumps a small cream onto fingers, shows it to camera, natural skin. Cut 3 (6–10s): bathroom mirror, quick routine: wash, spread cream on cheek, towel, fresh look. Cut 4 (10–13s): back at kitchen, chai in hand, she sips, looks at camera with a warm confident smile. Cut 5 (13–15s): close-up: calm smile, slight nod, "yehi toh hai" expression. Handheld, natural shake, eye-level. Background: real Gujarati/Indian home kitchen (terracotta tones, window light, small plant). Warm golden morning light. No text, no logo. Natural ambient: chai sound, light room tone.”</a:t>
            </a:r>
          </a:p>
          <a:p>
            <a:pPr>
              <a:spcAft>
                <a:spcPts val="700"/>
              </a:spcAft>
            </a:pPr>
            <a:r>
              <a:rPr sz="1350" b="1" i="0">
                <a:solidFill>
                  <a:srgbClr val="2A2622"/>
                </a:solidFill>
                <a:latin typeface="Calibri"/>
              </a:rPr>
              <a:t>Post-production:</a:t>
            </a:r>
            <a:r>
              <a:rPr sz="1350" b="0" i="0">
                <a:solidFill>
                  <a:srgbClr val="2A2622"/>
                </a:solidFill>
                <a:latin typeface="Calibri"/>
              </a:rPr>
              <a:t> text: 0–3s "Gujarat ma: chai break + 2 minute." → 3–6s "Ek drop. Bas itna." → 6–10s "Roz subah — yahi routine." → 10–15s "RANGAT — aamee skin, aamno liye." → CTA card: "DM 'GLOW' · COD · Pehli 100 orders". Voiceover (real, Gujarati-accented Hindi, 14 sec): "Gujarat ma subah ka plan simple che — chai, phir 2 minute apne liye. Ek drop serum, thodi moisturizer. Yehi hai hamari skin ki jaank."</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IMAGE PROMPTS (creator images / carousel / ad statics)</a:t>
            </a:r>
          </a:p>
          <a:p>
            <a:r>
              <a:rPr sz="1200" i="1">
                <a:solidFill>
                  <a:srgbClr val="57504A"/>
                </a:solidFill>
                <a:latin typeface="Calibri"/>
              </a:rPr>
              <a:t>PART 10 — AI UGC Images + Video Prompts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  </a:t>
            </a:r>
            <a:r>
              <a:rPr sz="1350" b="1" i="0">
                <a:solidFill>
                  <a:srgbClr val="2A2622"/>
                </a:solidFill>
                <a:latin typeface="Calibri"/>
              </a:rPr>
              <a:t>Flat-lay (brand):</a:t>
            </a:r>
            <a:r>
              <a:rPr sz="1350" b="0" i="0">
                <a:solidFill>
                  <a:srgbClr val="2A2622"/>
                </a:solidFill>
                <a:latin typeface="Calibri"/>
              </a:rPr>
              <a:t> "Top-down flat lay, Indian home wooden table, morning window light: small amber serum bottle with PLAIN label (no text), a white face wash tube with plain label, cream moisturizer jar, a hand spreading cream texture on wood, a chai glass, a small green plant, terracotta tones, soft warm light, natural texture, no text, no logo, photorealistic, 4:5."</a:t>
            </a:r>
          </a:p>
          <a:p>
            <a:pPr>
              <a:spcAft>
                <a:spcPts val="400"/>
              </a:spcAft>
            </a:pPr>
            <a:r>
              <a:rPr sz="1350" b="1">
                <a:solidFill>
                  <a:srgbClr val="8F3A22"/>
                </a:solidFill>
                <a:latin typeface="Calibri"/>
              </a:rPr>
              <a:t>2.  </a:t>
            </a:r>
            <a:r>
              <a:rPr sz="1350" b="1" i="0">
                <a:solidFill>
                  <a:srgbClr val="2A2622"/>
                </a:solidFill>
                <a:latin typeface="Calibri"/>
              </a:rPr>
              <a:t>Creator portrait (profile/about):</a:t>
            </a:r>
            <a:r>
              <a:rPr sz="1350" b="0" i="0">
                <a:solidFill>
                  <a:srgbClr val="2A2622"/>
                </a:solidFill>
                <a:latin typeface="Calibri"/>
              </a:rPr>
              <a:t> "[CHARACTER SHEET] Indian home background, soft window light, holding a plain amber skincare bottle, warm calm smile, candid UGC feel, photorealistic, natural skin texture, no text, no logo, 4:5."</a:t>
            </a:r>
          </a:p>
          <a:p>
            <a:pPr>
              <a:spcAft>
                <a:spcPts val="400"/>
              </a:spcAft>
            </a:pPr>
            <a:r>
              <a:rPr sz="1350" b="1">
                <a:solidFill>
                  <a:srgbClr val="8F3A22"/>
                </a:solidFill>
                <a:latin typeface="Calibri"/>
              </a:rPr>
              <a:t>3.  </a:t>
            </a:r>
            <a:r>
              <a:rPr sz="1350" b="1" i="0">
                <a:solidFill>
                  <a:srgbClr val="2A2622"/>
                </a:solidFill>
                <a:latin typeface="Calibri"/>
              </a:rPr>
              <a:t>Texture macro:</a:t>
            </a:r>
            <a:r>
              <a:rPr sz="1350" b="0" i="0">
                <a:solidFill>
                  <a:srgbClr val="2A2622"/>
                </a:solidFill>
                <a:latin typeface="Calibri"/>
              </a:rPr>
              <a:t> "Extreme macro photo: 3 drops of clear serum on the back of a natural Indian hand (medium-tan skin, visible pores, no retouch), morning window light, soft terracotta background, photorealistic, no text."</a:t>
            </a:r>
          </a:p>
          <a:p>
            <a:pPr>
              <a:spcAft>
                <a:spcPts val="400"/>
              </a:spcAft>
            </a:pPr>
            <a:r>
              <a:rPr sz="1350" b="1">
                <a:solidFill>
                  <a:srgbClr val="8F3A22"/>
                </a:solidFill>
                <a:latin typeface="Calibri"/>
              </a:rPr>
              <a:t>4.  </a:t>
            </a:r>
            <a:r>
              <a:rPr sz="1350" b="1" i="0">
                <a:solidFill>
                  <a:srgbClr val="2A2622"/>
                </a:solidFill>
                <a:latin typeface="Calibri"/>
              </a:rPr>
              <a:t>In-context (ad static):</a:t>
            </a:r>
            <a:r>
              <a:rPr sz="1350" b="0" i="0">
                <a:solidFill>
                  <a:srgbClr val="2A2622"/>
                </a:solidFill>
                <a:latin typeface="Calibri"/>
              </a:rPr>
              <a:t> "[CHARACTER SHEET] Indian bedroom, morning, sitting by window applying cream to cheek, candid, phone-selfie angle, natural skin, warm light, plain-labeled skincare bottles on bedside table, no text, no logo, 4:5."</a:t>
            </a:r>
          </a:p>
          <a:p>
            <a:pPr>
              <a:spcAft>
                <a:spcPts val="400"/>
              </a:spcAft>
            </a:pPr>
            <a:r>
              <a:rPr sz="1350" b="1">
                <a:solidFill>
                  <a:srgbClr val="8F3A22"/>
                </a:solidFill>
                <a:latin typeface="Calibri"/>
              </a:rPr>
              <a:t>5.  </a:t>
            </a:r>
            <a:r>
              <a:rPr sz="1350" b="1" i="0">
                <a:solidFill>
                  <a:srgbClr val="2A2622"/>
                </a:solidFill>
                <a:latin typeface="Calibri"/>
              </a:rPr>
              <a:t>Packaging/box:</a:t>
            </a:r>
            <a:r>
              <a:rPr sz="1350" b="0" i="0">
                <a:solidFill>
                  <a:srgbClr val="2A2622"/>
                </a:solidFill>
                <a:latin typeface="Calibri"/>
              </a:rPr>
              <a:t> "Small kraft skincare gift box on a terracotta surface, open, showing a plain-labeled amber bottle and a small tube, a handwritten-style (unreadable) thank-you card, warm Indian home light, photorealistic, no readable text, no logo, 4:5."</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GENERATION WORKFLOW (per batch)</a:t>
            </a:r>
          </a:p>
          <a:p>
            <a:r>
              <a:rPr sz="1200" i="1">
                <a:solidFill>
                  <a:srgbClr val="57504A"/>
                </a:solidFill>
                <a:latin typeface="Calibri"/>
              </a:rPr>
              <a:t>PART 10 — AI UGC Images + Video Prompts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  </a:t>
            </a:r>
            <a:r>
              <a:rPr sz="1350" b="0" i="0">
                <a:solidFill>
                  <a:srgbClr val="2A2622"/>
                </a:solidFill>
                <a:latin typeface="Calibri"/>
              </a:rPr>
              <a:t>Lock character sheet → generate 6–10 images (pick 2 consistent "faces" if the model drifts; keep the better one as THE character).</a:t>
            </a:r>
          </a:p>
          <a:p>
            <a:pPr>
              <a:spcAft>
                <a:spcPts val="400"/>
              </a:spcAft>
            </a:pPr>
            <a:r>
              <a:rPr sz="1350" b="1">
                <a:solidFill>
                  <a:srgbClr val="8F3A22"/>
                </a:solidFill>
                <a:latin typeface="Calibri"/>
              </a:rPr>
              <a:t>2.  </a:t>
            </a:r>
            <a:r>
              <a:rPr sz="1350" b="0" i="0">
                <a:solidFill>
                  <a:srgbClr val="2A2622"/>
                </a:solidFill>
                <a:latin typeface="Calibri"/>
              </a:rPr>
              <a:t>Generate 2 videos per length tier (5/8/10/15s) per hook idea → pick best 1 per hook.</a:t>
            </a:r>
          </a:p>
          <a:p>
            <a:pPr>
              <a:spcAft>
                <a:spcPts val="400"/>
              </a:spcAft>
            </a:pPr>
            <a:r>
              <a:rPr sz="1350" b="1">
                <a:solidFill>
                  <a:srgbClr val="8F3A22"/>
                </a:solidFill>
                <a:latin typeface="Calibri"/>
              </a:rPr>
              <a:t>3.  </a:t>
            </a:r>
            <a:r>
              <a:rPr sz="1350" b="0" i="0">
                <a:solidFill>
                  <a:srgbClr val="2A2622"/>
                </a:solidFill>
                <a:latin typeface="Calibri"/>
              </a:rPr>
              <a:t>CapCut: cut to exact length, add hook text (frame 1), captions, product-label insert (real bottle overlay), RANGAT bottom-corner logo, CTA card, voiceover (real voice, recorded — never TTS for UGC slot), trending audio at 15%.</a:t>
            </a:r>
          </a:p>
          <a:p>
            <a:pPr>
              <a:spcAft>
                <a:spcPts val="400"/>
              </a:spcAft>
            </a:pPr>
            <a:r>
              <a:rPr sz="1350" b="1">
                <a:solidFill>
                  <a:srgbClr val="8F3A22"/>
                </a:solidFill>
                <a:latin typeface="Calibri"/>
              </a:rPr>
              <a:t>4.  </a:t>
            </a:r>
            <a:r>
              <a:rPr sz="1350" b="0" i="0">
                <a:solidFill>
                  <a:srgbClr val="2A2622"/>
                </a:solidFill>
                <a:latin typeface="Calibri"/>
              </a:rPr>
              <a:t>Export 9:16 1080x1920. Name files: </a:t>
            </a:r>
            <a:r>
              <a:rPr sz="1200" b="0" i="0">
                <a:solidFill>
                  <a:srgbClr val="8F3A22"/>
                </a:solidFill>
                <a:latin typeface="Consolas"/>
              </a:rPr>
              <a:t>RANGAT_AI_[hook]_[len]s_v1.mp4</a:t>
            </a:r>
            <a:r>
              <a:rPr sz="1350" b="0" i="0">
                <a:solidFill>
                  <a:srgbClr val="2A2622"/>
                </a:solidFill>
                <a:latin typeface="Calibri"/>
              </a:rPr>
              <a:t>.</a:t>
            </a:r>
          </a:p>
          <a:p>
            <a:pPr>
              <a:spcAft>
                <a:spcPts val="400"/>
              </a:spcAft>
            </a:pPr>
            <a:r>
              <a:rPr sz="1350" b="1">
                <a:solidFill>
                  <a:srgbClr val="8F3A22"/>
                </a:solidFill>
                <a:latin typeface="Calibri"/>
              </a:rPr>
              <a:t>5.  </a:t>
            </a:r>
            <a:r>
              <a:rPr sz="1350" b="1" i="0">
                <a:solidFill>
                  <a:srgbClr val="2A2622"/>
                </a:solidFill>
                <a:latin typeface="Calibri"/>
              </a:rPr>
              <a:t>Labeling:</a:t>
            </a:r>
            <a:r>
              <a:rPr sz="1350" b="0" i="0">
                <a:solidFill>
                  <a:srgbClr val="2A2622"/>
                </a:solidFill>
                <a:latin typeface="Calibri"/>
              </a:rPr>
              <a:t> if used in the UGC/testimonial position → use only as "concept/story-format" assets or as ad creative clearly not claiming to be a real customer. Real testimonial slots = real humans only.</a:t>
            </a:r>
          </a:p>
          <a:p>
            <a:pPr>
              <a:spcAft>
                <a:spcPts val="400"/>
              </a:spcAft>
            </a:pPr>
            <a:r>
              <a:rPr sz="1350" b="1">
                <a:solidFill>
                  <a:srgbClr val="8F3A22"/>
                </a:solidFill>
                <a:latin typeface="Calibri"/>
              </a:rPr>
              <a:t>6.  </a:t>
            </a:r>
            <a:r>
              <a:rPr sz="1350" b="0" i="0">
                <a:solidFill>
                  <a:srgbClr val="2A2622"/>
                </a:solidFill>
                <a:latin typeface="Calibri"/>
              </a:rPr>
              <a:t>Track in the same sheet as human creatives (hook / format / CTR / ATC) so AI vs human performance is comparable.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VOLUME (pair with 21-production-system.md)</a:t>
            </a:r>
          </a:p>
          <a:p>
            <a:r>
              <a:rPr sz="1200" i="1">
                <a:solidFill>
                  <a:srgbClr val="57504A"/>
                </a:solidFill>
                <a:latin typeface="Calibri"/>
              </a:rPr>
              <a:t>PART 10 — AI UGC Images + Video Prompts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2 AI batch days/month: ~10–15 AI UGC videos + 8–12 AI images per batch.</a:t>
            </a:r>
          </a:p>
          <a:p>
            <a:pPr>
              <a:spcAft>
                <a:spcPts val="400"/>
              </a:spcAft>
            </a:pPr>
            <a:r>
              <a:rPr sz="1350">
                <a:solidFill>
                  <a:srgbClr val="B44A2E"/>
                </a:solidFill>
                <a:latin typeface="Calibri"/>
              </a:rPr>
              <a:t>•  </a:t>
            </a:r>
            <a:r>
              <a:rPr sz="1350" b="0" i="0">
                <a:solidFill>
                  <a:srgbClr val="2A2622"/>
                </a:solidFill>
                <a:latin typeface="Calibri"/>
              </a:rPr>
              <a:t>Use AI for: ad A/B variants, hook testing, teaser/concept posts, carousel visuals.</a:t>
            </a:r>
          </a:p>
          <a:p>
            <a:pPr>
              <a:spcAft>
                <a:spcPts val="400"/>
              </a:spcAft>
            </a:pPr>
            <a:r>
              <a:rPr sz="1350">
                <a:solidFill>
                  <a:srgbClr val="B44A2E"/>
                </a:solidFill>
                <a:latin typeface="Calibri"/>
              </a:rPr>
              <a:t>•  </a:t>
            </a:r>
            <a:r>
              <a:rPr sz="1350" b="0" i="0">
                <a:solidFill>
                  <a:srgbClr val="2A2622"/>
                </a:solidFill>
                <a:latin typeface="Calibri"/>
              </a:rPr>
              <a:t>Use humans for: anything that says "customer says / tester says / real result."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11</a:t>
            </a:r>
          </a:p>
        </p:txBody>
      </p:sp>
      <p:sp>
        <p:nvSpPr>
          <p:cNvPr id="4" name="TextBox 3"/>
          <p:cNvSpPr txBox="1"/>
          <p:nvPr/>
        </p:nvSpPr>
        <p:spPr>
          <a:xfrm>
            <a:off x="914400" y="2377440"/>
            <a:ext cx="10362895" cy="1645920"/>
          </a:xfrm>
          <a:prstGeom prst="rect">
            <a:avLst/>
          </a:prstGeom>
          <a:noFill/>
        </p:spPr>
        <p:txBody>
          <a:bodyPr wrap="square">
            <a:spAutoFit/>
          </a:bodyPr>
          <a:lstStyle/>
          <a:p>
            <a:r>
              <a:rPr sz="2400" b="1">
                <a:solidFill>
                  <a:srgbClr val="8F3A22"/>
                </a:solidFill>
                <a:latin typeface="Calibri"/>
              </a:rPr>
              <a:t>§10 PRODUCT-SPECIFIC CONTENT — RANGAT NATURALS: HERO 4 (LAUNCH PHASE)</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Product-Specific Content — Hero 4</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Launch sequence &amp; focus (do NOT sell all at once)</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2" cy="5029200"/>
        </p:xfrm>
        <a:graphic>
          <a:graphicData uri="http://schemas.openxmlformats.org/drawingml/2006/table">
            <a:tbl>
              <a:tblPr firstRow="1" bandRow="1">
                <a:tableStyleId>{5C22544A-7EE6-4342-B048-85BDC9FD1C3A}</a:tableStyleId>
              </a:tblPr>
              <a:tblGrid>
                <a:gridCol w="367885"/>
                <a:gridCol w="4414629"/>
                <a:gridCol w="3237395"/>
                <a:gridCol w="3531703"/>
              </a:tblGrid>
              <a:tr h="718457">
                <a:tc>
                  <a:txBody>
                    <a:bodyPr wrap="square"/>
                    <a:lstStyle/>
                    <a:p>
                      <a:r>
                        <a:rPr sz="1200" b="1" i="0">
                          <a:solidFill>
                            <a:srgbClr val="FFFFFF"/>
                          </a:solidFill>
                          <a:latin typeface="Calibri"/>
                        </a:rPr>
                        <a:t>Wave</a:t>
                      </a:r>
                    </a:p>
                  </a:txBody>
                  <a:tcPr marL="45720" marR="45720" marT="18288" marB="18288" anchor="t">
                    <a:solidFill>
                      <a:srgbClr val="B44A2E"/>
                    </a:solidFill>
                  </a:tcPr>
                </a:tc>
                <a:tc>
                  <a:txBody>
                    <a:bodyPr wrap="square"/>
                    <a:lstStyle/>
                    <a:p>
                      <a:r>
                        <a:rPr sz="1200" b="1" i="0">
                          <a:solidFill>
                            <a:srgbClr val="FFFFFF"/>
                          </a:solidFill>
                          <a:latin typeface="Calibri"/>
                        </a:rPr>
                        <a:t>Product</a:t>
                      </a:r>
                    </a:p>
                  </a:txBody>
                  <a:tcPr marL="45720" marR="45720" marT="18288" marB="18288" anchor="t">
                    <a:solidFill>
                      <a:srgbClr val="B44A2E"/>
                    </a:solidFill>
                  </a:tcPr>
                </a:tc>
                <a:tc>
                  <a:txBody>
                    <a:bodyPr wrap="square"/>
                    <a:lstStyle/>
                    <a:p>
                      <a:r>
                        <a:rPr sz="1200" b="1" i="0">
                          <a:solidFill>
                            <a:srgbClr val="FFFFFF"/>
                          </a:solidFill>
                          <a:latin typeface="Calibri"/>
                        </a:rPr>
                        <a:t>When</a:t>
                      </a:r>
                    </a:p>
                  </a:txBody>
                  <a:tcPr marL="45720" marR="45720" marT="18288" marB="18288" anchor="t">
                    <a:solidFill>
                      <a:srgbClr val="B44A2E"/>
                    </a:solidFill>
                  </a:tcPr>
                </a:tc>
                <a:tc>
                  <a:txBody>
                    <a:bodyPr wrap="square"/>
                    <a:lstStyle/>
                    <a:p>
                      <a:r>
                        <a:rPr sz="1200" b="1" i="0">
                          <a:solidFill>
                            <a:srgbClr val="FFFFFF"/>
                          </a:solidFill>
                          <a:latin typeface="Calibri"/>
                        </a:rPr>
                        <a:t>Role</a:t>
                      </a:r>
                    </a:p>
                  </a:txBody>
                  <a:tcPr marL="45720" marR="45720" marT="18288" marB="18288" anchor="t">
                    <a:solidFill>
                      <a:srgbClr val="B44A2E"/>
                    </a:solidFill>
                  </a:tcPr>
                </a:tc>
              </a:tr>
              <a:tr h="718457">
                <a:tc>
                  <a:txBody>
                    <a:bodyPr wrap="square"/>
                    <a:lstStyle/>
                    <a:p>
                      <a:r>
                        <a:rPr sz="1200" b="1" i="0">
                          <a:solidFill>
                            <a:srgbClr val="2A2622"/>
                          </a:solidFill>
                          <a:latin typeface="Calibri"/>
                        </a:rPr>
                        <a:t>1</a:t>
                      </a:r>
                    </a:p>
                  </a:txBody>
                  <a:tcPr marL="45720" marR="45720" marT="18288" marB="18288" anchor="t">
                    <a:solidFill>
                      <a:srgbClr val="FFFFFF"/>
                    </a:solidFill>
                  </a:tcPr>
                </a:tc>
                <a:tc>
                  <a:txBody>
                    <a:bodyPr wrap="square"/>
                    <a:lstStyle/>
                    <a:p>
                      <a:r>
                        <a:rPr sz="1200" b="1" i="0">
                          <a:solidFill>
                            <a:srgbClr val="2A2622"/>
                          </a:solidFill>
                          <a:latin typeface="Calibri"/>
                        </a:rPr>
                        <a:t>Vitamin C Serum 10%</a:t>
                      </a:r>
                    </a:p>
                  </a:txBody>
                  <a:tcPr marL="45720" marR="45720" marT="18288" marB="18288" anchor="t">
                    <a:solidFill>
                      <a:srgbClr val="FFFFFF"/>
                    </a:solidFill>
                  </a:tcPr>
                </a:tc>
                <a:tc>
                  <a:txBody>
                    <a:bodyPr wrap="square"/>
                    <a:lstStyle/>
                    <a:p>
                      <a:r>
                        <a:rPr sz="1200" b="0" i="0">
                          <a:solidFill>
                            <a:srgbClr val="2A2622"/>
                          </a:solidFill>
                          <a:latin typeface="Calibri"/>
                        </a:rPr>
                        <a:t>Day 21 (launch)</a:t>
                      </a:r>
                    </a:p>
                  </a:txBody>
                  <a:tcPr marL="45720" marR="45720" marT="18288" marB="18288" anchor="t">
                    <a:solidFill>
                      <a:srgbClr val="FFFFFF"/>
                    </a:solidFill>
                  </a:tcPr>
                </a:tc>
                <a:tc>
                  <a:txBody>
                    <a:bodyPr wrap="square"/>
                    <a:lstStyle/>
                    <a:p>
                      <a:r>
                        <a:rPr sz="1200" b="0" i="0">
                          <a:solidFill>
                            <a:srgbClr val="2A2622"/>
                          </a:solidFill>
                          <a:latin typeface="Calibri"/>
                        </a:rPr>
                        <a:t>HERO — attention, glow story, ad workhorse</a:t>
                      </a:r>
                    </a:p>
                  </a:txBody>
                  <a:tcPr marL="45720" marR="45720" marT="18288" marB="18288" anchor="t">
                    <a:solidFill>
                      <a:srgbClr val="FFFFFF"/>
                    </a:solidFill>
                  </a:tcPr>
                </a:tc>
              </a:tr>
              <a:tr h="718457">
                <a:tc>
                  <a:txBody>
                    <a:bodyPr wrap="square"/>
                    <a:lstStyle/>
                    <a:p>
                      <a:r>
                        <a:rPr sz="1200" b="1" i="0">
                          <a:solidFill>
                            <a:srgbClr val="2A2622"/>
                          </a:solidFill>
                          <a:latin typeface="Calibri"/>
                        </a:rPr>
                        <a:t>1</a:t>
                      </a:r>
                    </a:p>
                  </a:txBody>
                  <a:tcPr marL="45720" marR="45720" marT="18288" marB="18288" anchor="t">
                    <a:solidFill>
                      <a:srgbClr val="F6F1E7"/>
                    </a:solidFill>
                  </a:tcPr>
                </a:tc>
                <a:tc>
                  <a:txBody>
                    <a:bodyPr wrap="square"/>
                    <a:lstStyle/>
                    <a:p>
                      <a:r>
                        <a:rPr sz="1200" b="1" i="0">
                          <a:solidFill>
                            <a:srgbClr val="2A2622"/>
                          </a:solidFill>
                          <a:latin typeface="Calibri"/>
                        </a:rPr>
                        <a:t>Face Wash</a:t>
                      </a:r>
                    </a:p>
                  </a:txBody>
                  <a:tcPr marL="45720" marR="45720" marT="18288" marB="18288" anchor="t">
                    <a:solidFill>
                      <a:srgbClr val="F6F1E7"/>
                    </a:solidFill>
                  </a:tcPr>
                </a:tc>
                <a:tc>
                  <a:txBody>
                    <a:bodyPr wrap="square"/>
                    <a:lstStyle/>
                    <a:p>
                      <a:r>
                        <a:rPr sz="1200" b="0" i="0">
                          <a:solidFill>
                            <a:srgbClr val="2A2622"/>
                          </a:solidFill>
                          <a:latin typeface="Calibri"/>
                        </a:rPr>
                        <a:t>Day 21 (as free mini + standalone entry SKU)</a:t>
                      </a:r>
                    </a:p>
                  </a:txBody>
                  <a:tcPr marL="45720" marR="45720" marT="18288" marB="18288" anchor="t">
                    <a:solidFill>
                      <a:srgbClr val="F6F1E7"/>
                    </a:solidFill>
                  </a:tcPr>
                </a:tc>
                <a:tc>
                  <a:txBody>
                    <a:bodyPr wrap="square"/>
                    <a:lstStyle/>
                    <a:p>
                      <a:r>
                        <a:rPr sz="1200" b="0" i="0">
                          <a:solidFill>
                            <a:srgbClr val="2A2622"/>
                          </a:solidFill>
                          <a:latin typeface="Calibri"/>
                        </a:rPr>
                        <a:t>Low-ticket entry (₹199–299) — "try us risk-free"</a:t>
                      </a:r>
                    </a:p>
                  </a:txBody>
                  <a:tcPr marL="45720" marR="45720" marT="18288" marB="18288" anchor="t">
                    <a:solidFill>
                      <a:srgbClr val="F6F1E7"/>
                    </a:solidFill>
                  </a:tcPr>
                </a:tc>
              </a:tr>
              <a:tr h="718457">
                <a:tc>
                  <a:txBody>
                    <a:bodyPr wrap="square"/>
                    <a:lstStyle/>
                    <a:p>
                      <a:r>
                        <a:rPr sz="1200" b="1" i="0">
                          <a:solidFill>
                            <a:srgbClr val="2A2622"/>
                          </a:solidFill>
                          <a:latin typeface="Calibri"/>
                        </a:rPr>
                        <a:t>1</a:t>
                      </a:r>
                    </a:p>
                  </a:txBody>
                  <a:tcPr marL="45720" marR="45720" marT="18288" marB="18288" anchor="t">
                    <a:solidFill>
                      <a:srgbClr val="FFFFFF"/>
                    </a:solidFill>
                  </a:tcPr>
                </a:tc>
                <a:tc>
                  <a:txBody>
                    <a:bodyPr wrap="square"/>
                    <a:lstStyle/>
                    <a:p>
                      <a:r>
                        <a:rPr sz="1200" b="1" i="0">
                          <a:solidFill>
                            <a:srgbClr val="2A2622"/>
                          </a:solidFill>
                          <a:latin typeface="Calibri"/>
                        </a:rPr>
                        <a:t>Moisturizer</a:t>
                      </a:r>
                      <a:r>
                        <a:rPr sz="1200" b="0" i="0">
                          <a:solidFill>
                            <a:srgbClr val="2A2622"/>
                          </a:solidFill>
                          <a:latin typeface="Calibri"/>
                        </a:rPr>
                        <a:t> (gel-cream)</a:t>
                      </a:r>
                    </a:p>
                  </a:txBody>
                  <a:tcPr marL="45720" marR="45720" marT="18288" marB="18288" anchor="t">
                    <a:solidFill>
                      <a:srgbClr val="FFFFFF"/>
                    </a:solidFill>
                  </a:tcPr>
                </a:tc>
                <a:tc>
                  <a:txBody>
                    <a:bodyPr wrap="square"/>
                    <a:lstStyle/>
                    <a:p>
                      <a:r>
                        <a:rPr sz="1200" b="0" i="0">
                          <a:solidFill>
                            <a:srgbClr val="2A2622"/>
                          </a:solidFill>
                          <a:latin typeface="Calibri"/>
                        </a:rPr>
                        <a:t>Day 31 (kit bundle push)</a:t>
                      </a:r>
                    </a:p>
                  </a:txBody>
                  <a:tcPr marL="45720" marR="45720" marT="18288" marB="18288" anchor="t">
                    <a:solidFill>
                      <a:srgbClr val="FFFFFF"/>
                    </a:solidFill>
                  </a:tcPr>
                </a:tc>
                <a:tc>
                  <a:txBody>
                    <a:bodyPr wrap="square"/>
                    <a:lstStyle/>
                    <a:p>
                      <a:r>
                        <a:rPr sz="1200" b="0" i="0">
                          <a:solidFill>
                            <a:srgbClr val="2A2622"/>
                          </a:solidFill>
                          <a:latin typeface="Calibri"/>
                        </a:rPr>
                        <a:t>Completes the 3-step routine; AOV builder</a:t>
                      </a:r>
                    </a:p>
                  </a:txBody>
                  <a:tcPr marL="45720" marR="45720" marT="18288" marB="18288" anchor="t">
                    <a:solidFill>
                      <a:srgbClr val="FFFFFF"/>
                    </a:solidFill>
                  </a:tcPr>
                </a:tc>
              </a:tr>
              <a:tr h="718457">
                <a:tc>
                  <a:txBody>
                    <a:bodyPr wrap="square"/>
                    <a:lstStyle/>
                    <a:p>
                      <a:r>
                        <a:rPr sz="1200" b="1" i="0">
                          <a:solidFill>
                            <a:srgbClr val="2A2622"/>
                          </a:solidFill>
                          <a:latin typeface="Calibri"/>
                        </a:rPr>
                        <a:t>2</a:t>
                      </a:r>
                    </a:p>
                  </a:txBody>
                  <a:tcPr marL="45720" marR="45720" marT="18288" marB="18288" anchor="t">
                    <a:solidFill>
                      <a:srgbClr val="F6F1E7"/>
                    </a:solidFill>
                  </a:tcPr>
                </a:tc>
                <a:tc>
                  <a:txBody>
                    <a:bodyPr wrap="square"/>
                    <a:lstStyle/>
                    <a:p>
                      <a:r>
                        <a:rPr sz="1200" b="1" i="0">
                          <a:solidFill>
                            <a:srgbClr val="2A2622"/>
                          </a:solidFill>
                          <a:latin typeface="Calibri"/>
                        </a:rPr>
                        <a:t>Sunscreen SPF 50</a:t>
                      </a:r>
                    </a:p>
                  </a:txBody>
                  <a:tcPr marL="45720" marR="45720" marT="18288" marB="18288" anchor="t">
                    <a:solidFill>
                      <a:srgbClr val="F6F1E7"/>
                    </a:solidFill>
                  </a:tcPr>
                </a:tc>
                <a:tc>
                  <a:txBody>
                    <a:bodyPr wrap="square"/>
                    <a:lstStyle/>
                    <a:p>
                      <a:r>
                        <a:rPr sz="1200" b="0" i="0">
                          <a:solidFill>
                            <a:srgbClr val="2A2622"/>
                          </a:solidFill>
                          <a:latin typeface="Calibri"/>
                        </a:rPr>
                        <a:t>Day 45–60 (waitlist seeded from D18)</a:t>
                      </a:r>
                    </a:p>
                  </a:txBody>
                  <a:tcPr marL="45720" marR="45720" marT="18288" marB="18288" anchor="t">
                    <a:solidFill>
                      <a:srgbClr val="F6F1E7"/>
                    </a:solidFill>
                  </a:tcPr>
                </a:tc>
                <a:tc>
                  <a:txBody>
                    <a:bodyPr wrap="square"/>
                    <a:lstStyle/>
                    <a:p>
                      <a:r>
                        <a:rPr sz="1200" b="0" i="0">
                          <a:solidFill>
                            <a:srgbClr val="2A2622"/>
                          </a:solidFill>
                          <a:latin typeface="Calibri"/>
                        </a:rPr>
                        <a:t>Month-2 hero; Gujarat heat + wedding season</a:t>
                      </a:r>
                    </a:p>
                  </a:txBody>
                  <a:tcPr marL="45720" marR="45720" marT="18288" marB="18288" anchor="t">
                    <a:solidFill>
                      <a:srgbClr val="F6F1E7"/>
                    </a:solidFill>
                  </a:tcPr>
                </a:tc>
              </a:tr>
              <a:tr h="718457">
                <a:tc>
                  <a:txBody>
                    <a:bodyPr wrap="square"/>
                    <a:lstStyle/>
                    <a:p>
                      <a:r>
                        <a:rPr sz="1200" b="1" i="0">
                          <a:solidFill>
                            <a:srgbClr val="2A2622"/>
                          </a:solidFill>
                          <a:latin typeface="Calibri"/>
                        </a:rPr>
                        <a:t>3</a:t>
                      </a:r>
                    </a:p>
                  </a:txBody>
                  <a:tcPr marL="45720" marR="45720" marT="18288" marB="18288" anchor="t">
                    <a:solidFill>
                      <a:srgbClr val="FFFFFF"/>
                    </a:solidFill>
                  </a:tcPr>
                </a:tc>
                <a:tc>
                  <a:txBody>
                    <a:bodyPr wrap="square"/>
                    <a:lstStyle/>
                    <a:p>
                      <a:r>
                        <a:rPr sz="1200" b="1" i="0">
                          <a:solidFill>
                            <a:srgbClr val="2A2622"/>
                          </a:solidFill>
                          <a:latin typeface="Calibri"/>
                        </a:rPr>
                        <a:t>Night Cream</a:t>
                      </a:r>
                    </a:p>
                  </a:txBody>
                  <a:tcPr marL="45720" marR="45720" marT="18288" marB="18288" anchor="t">
                    <a:solidFill>
                      <a:srgbClr val="FFFFFF"/>
                    </a:solidFill>
                  </a:tcPr>
                </a:tc>
                <a:tc>
                  <a:txBody>
                    <a:bodyPr wrap="square"/>
                    <a:lstStyle/>
                    <a:p>
                      <a:r>
                        <a:rPr sz="1200" b="0" i="0">
                          <a:solidFill>
                            <a:srgbClr val="2A2622"/>
                          </a:solidFill>
                          <a:latin typeface="Calibri"/>
                        </a:rPr>
                        <a:t>Day 75–90 (seeded from D28)</a:t>
                      </a:r>
                    </a:p>
                  </a:txBody>
                  <a:tcPr marL="45720" marR="45720" marT="18288" marB="18288" anchor="t">
                    <a:solidFill>
                      <a:srgbClr val="FFFFFF"/>
                    </a:solidFill>
                  </a:tcPr>
                </a:tc>
                <a:tc>
                  <a:txBody>
                    <a:bodyPr wrap="square"/>
                    <a:lstStyle/>
                    <a:p>
                      <a:r>
                        <a:rPr sz="1200" b="0" i="0">
                          <a:solidFill>
                            <a:srgbClr val="2A2622"/>
                          </a:solidFill>
                          <a:latin typeface="Calibri"/>
                        </a:rPr>
                        <a:t>Month-3; repeat-purchase anchor</a:t>
                      </a:r>
                    </a:p>
                  </a:txBody>
                  <a:tcPr marL="45720" marR="45720" marT="18288" marB="18288" anchor="t">
                    <a:solidFill>
                      <a:srgbClr val="FFFFFF"/>
                    </a:solidFill>
                  </a:tcPr>
                </a:tc>
              </a:tr>
              <a:tr h="718458">
                <a:tc>
                  <a:txBody>
                    <a:bodyPr wrap="square"/>
                    <a:lstStyle/>
                    <a:p>
                      <a:r>
                        <a:rPr sz="1200" b="0" i="0">
                          <a:solidFill>
                            <a:srgbClr val="2A2622"/>
                          </a:solidFill>
                          <a:latin typeface="Calibri"/>
                        </a:rPr>
                        <a:t>Later</a:t>
                      </a:r>
                    </a:p>
                  </a:txBody>
                  <a:tcPr marL="45720" marR="45720" marT="18288" marB="18288" anchor="t">
                    <a:solidFill>
                      <a:srgbClr val="F6F1E7"/>
                    </a:solidFill>
                  </a:tcPr>
                </a:tc>
                <a:tc>
                  <a:txBody>
                    <a:bodyPr wrap="square"/>
                    <a:lstStyle/>
                    <a:p>
                      <a:r>
                        <a:rPr sz="1200" b="0" i="0">
                          <a:solidFill>
                            <a:srgbClr val="2A2622"/>
                          </a:solidFill>
                          <a:latin typeface="Calibri"/>
                        </a:rPr>
                        <a:t>Lip Care (Nov–Dec winter), Hair Care (post-monsoon fall season), Body Care (winter)</a:t>
                      </a:r>
                    </a:p>
                  </a:txBody>
                  <a:tcPr marL="45720" marR="45720" marT="18288" marB="18288" anchor="t">
                    <a:solidFill>
                      <a:srgbClr val="F6F1E7"/>
                    </a:solidFill>
                  </a:tcPr>
                </a:tc>
                <a:tc>
                  <a:txBody>
                    <a:bodyPr wrap="square"/>
                    <a:lstStyle/>
                    <a:p>
                      <a:r>
                        <a:rPr sz="1200" b="0" i="0">
                          <a:solidFill>
                            <a:srgbClr val="2A2622"/>
                          </a:solidFill>
                          <a:latin typeface="Calibri"/>
                        </a:rPr>
                        <a:t>Month 4+</a:t>
                      </a:r>
                    </a:p>
                  </a:txBody>
                  <a:tcPr marL="45720" marR="45720" marT="18288" marB="18288" anchor="t">
                    <a:solidFill>
                      <a:srgbClr val="F6F1E7"/>
                    </a:solidFill>
                  </a:tcPr>
                </a:tc>
                <a:tc>
                  <a:txBody>
                    <a:bodyPr wrap="square"/>
                    <a:lstStyle/>
                    <a:p>
                      <a:r>
                        <a:rPr sz="1200" b="0" i="0">
                          <a:solidFill>
                            <a:srgbClr val="2A2622"/>
                          </a:solidFill>
                          <a:latin typeface="Calibri"/>
                        </a:rPr>
                        <a:t>Seasonal waves</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Launch sequence &amp; focus (do NOT sell all at once)</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Rule:</a:t>
            </a:r>
            <a:r>
              <a:rPr sz="1350" b="0" i="0">
                <a:solidFill>
                  <a:srgbClr val="2A2622"/>
                </a:solidFill>
                <a:latin typeface="Calibri"/>
              </a:rPr>
              <a:t> one hero at a time. The hero gets 50% of product content, 50% of ad creative. Secondary products appear only inside the hero's routine (as "step 2" etc.).</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1: VITAMIN C SERUM 10% (the hero)</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10 Reel ideas</a:t>
            </a:r>
          </a:p>
          <a:p>
            <a:pPr>
              <a:spcAft>
                <a:spcPts val="400"/>
              </a:spcAft>
            </a:pPr>
            <a:r>
              <a:rPr sz="1350" b="1">
                <a:solidFill>
                  <a:srgbClr val="8F3A22"/>
                </a:solidFill>
                <a:latin typeface="Calibri"/>
              </a:rPr>
              <a:t>1.  </a:t>
            </a:r>
            <a:r>
              <a:rPr sz="1350" b="1" i="0">
                <a:solidFill>
                  <a:srgbClr val="2A2622"/>
                </a:solidFill>
                <a:latin typeface="Calibri"/>
              </a:rPr>
              <a:t>"3 mahine, 1 serum"</a:t>
            </a:r>
            <a:r>
              <a:rPr sz="1350" b="0" i="0">
                <a:solidFill>
                  <a:srgbClr val="2A2622"/>
                </a:solidFill>
                <a:latin typeface="Calibri"/>
              </a:rPr>
              <a:t> — the search story (why 10%, why this base, 20 testers). [Story/proof]</a:t>
            </a:r>
          </a:p>
          <a:p>
            <a:pPr>
              <a:spcAft>
                <a:spcPts val="400"/>
              </a:spcAft>
            </a:pPr>
            <a:r>
              <a:rPr sz="1350" b="1">
                <a:solidFill>
                  <a:srgbClr val="8F3A22"/>
                </a:solidFill>
                <a:latin typeface="Calibri"/>
              </a:rPr>
              <a:t>2.  </a:t>
            </a:r>
            <a:r>
              <a:rPr sz="1350" b="1" i="0">
                <a:solidFill>
                  <a:srgbClr val="2A2622"/>
                </a:solidFill>
                <a:latin typeface="Calibri"/>
              </a:rPr>
              <a:t>"10 second. Ek drop."</a:t>
            </a:r>
            <a:r>
              <a:rPr sz="1350" b="0" i="0">
                <a:solidFill>
                  <a:srgbClr val="2A2622"/>
                </a:solidFill>
                <a:latin typeface="Calibri"/>
              </a:rPr>
              <a:t> — macro texture drop + absorption ASMR. [Desire]</a:t>
            </a:r>
          </a:p>
          <a:p>
            <a:pPr>
              <a:spcAft>
                <a:spcPts val="400"/>
              </a:spcAft>
            </a:pPr>
            <a:r>
              <a:rPr sz="1350" b="1">
                <a:solidFill>
                  <a:srgbClr val="8F3A22"/>
                </a:solidFill>
                <a:latin typeface="Calibri"/>
              </a:rPr>
              <a:t>3.  </a:t>
            </a:r>
            <a:r>
              <a:rPr sz="1350" b="1" i="0">
                <a:solidFill>
                  <a:srgbClr val="2A2622"/>
                </a:solidFill>
                <a:latin typeface="Calibri"/>
              </a:rPr>
              <a:t>"99% log serum galat lagate hain"</a:t>
            </a:r>
            <a:r>
              <a:rPr sz="1350" b="0" i="0">
                <a:solidFill>
                  <a:srgbClr val="2A2622"/>
                </a:solidFill>
                <a:latin typeface="Calibri"/>
              </a:rPr>
              <a:t> — 5-step how-to (dry face, 3–4 drops, pat, moisturize, SPF). [Save-bait]</a:t>
            </a:r>
          </a:p>
          <a:p>
            <a:pPr>
              <a:spcAft>
                <a:spcPts val="400"/>
              </a:spcAft>
            </a:pPr>
            <a:r>
              <a:rPr sz="1350" b="1">
                <a:solidFill>
                  <a:srgbClr val="8F3A22"/>
                </a:solidFill>
                <a:latin typeface="Calibri"/>
              </a:rPr>
              <a:t>4.  </a:t>
            </a:r>
            <a:r>
              <a:rPr sz="1350" b="1" i="0">
                <a:solidFill>
                  <a:srgbClr val="2A2622"/>
                </a:solidFill>
                <a:latin typeface="Calibri"/>
              </a:rPr>
              <a:t>"Chehra subah theek, shaandh thaka hua?"</a:t>
            </a:r>
            <a:r>
              <a:rPr sz="1350" b="0" i="0">
                <a:solidFill>
                  <a:srgbClr val="2A2622"/>
                </a:solidFill>
                <a:latin typeface="Calibri"/>
              </a:rPr>
              <a:t> — problem → "yeh 4 hafte ka plan hai" (VC + SPF duo). [Problem]</a:t>
            </a:r>
          </a:p>
          <a:p>
            <a:pPr>
              <a:spcAft>
                <a:spcPts val="400"/>
              </a:spcAft>
            </a:pPr>
            <a:r>
              <a:rPr sz="1350" b="1">
                <a:solidFill>
                  <a:srgbClr val="8F3A22"/>
                </a:solidFill>
                <a:latin typeface="Calibri"/>
              </a:rPr>
              <a:t>5.  </a:t>
            </a:r>
            <a:r>
              <a:rPr sz="1350" b="1" i="0">
                <a:solidFill>
                  <a:srgbClr val="2A2622"/>
                </a:solidFill>
                <a:latin typeface="Calibri"/>
              </a:rPr>
              <a:t>"10% ya 20%? Zyada = behtar?"</a:t>
            </a:r>
            <a:r>
              <a:rPr sz="1350" b="0" i="0">
                <a:solidFill>
                  <a:srgbClr val="2A2622"/>
                </a:solidFill>
                <a:latin typeface="Calibri"/>
              </a:rPr>
              <a:t> — the concentration math, whiteboard. [Education]</a:t>
            </a:r>
          </a:p>
          <a:p>
            <a:pPr>
              <a:spcAft>
                <a:spcPts val="400"/>
              </a:spcAft>
            </a:pPr>
            <a:r>
              <a:rPr sz="1350" b="1">
                <a:solidFill>
                  <a:srgbClr val="8F3A22"/>
                </a:solidFill>
                <a:latin typeface="Calibri"/>
              </a:rPr>
              <a:t>6.  </a:t>
            </a:r>
            <a:r>
              <a:rPr sz="1350" b="1" i="0">
                <a:solidFill>
                  <a:srgbClr val="2A2622"/>
                </a:solidFill>
                <a:latin typeface="Calibri"/>
              </a:rPr>
              <a:t>"Day 1 → Day 28"</a:t>
            </a:r>
            <a:r>
              <a:rPr sz="1350" b="0" i="0">
                <a:solidFill>
                  <a:srgbClr val="2A2622"/>
                </a:solidFill>
                <a:latin typeface="Calibri"/>
              </a:rPr>
              <a:t> — real tester program, disclosed. [Proof]</a:t>
            </a:r>
          </a:p>
          <a:p>
            <a:pPr>
              <a:spcAft>
                <a:spcPts val="400"/>
              </a:spcAft>
            </a:pPr>
            <a:r>
              <a:rPr sz="1350" b="1">
                <a:solidFill>
                  <a:srgbClr val="8F3A22"/>
                </a:solidFill>
                <a:latin typeface="Calibri"/>
              </a:rPr>
              <a:t>7.  </a:t>
            </a:r>
            <a:r>
              <a:rPr sz="1350" b="1" i="0">
                <a:solidFill>
                  <a:srgbClr val="2A2622"/>
                </a:solidFill>
                <a:latin typeface="Calibri"/>
              </a:rPr>
              <a:t>"Vitamin C se orange chehra? Myth."</a:t>
            </a:r>
            <a:r>
              <a:rPr sz="1350" b="0" i="0">
                <a:solidFill>
                  <a:srgbClr val="2A2622"/>
                </a:solidFill>
                <a:latin typeface="Calibri"/>
              </a:rPr>
              <a:t> — 3 real reasons the myth exists. [Myth]</a:t>
            </a:r>
          </a:p>
          <a:p>
            <a:pPr>
              <a:spcAft>
                <a:spcPts val="400"/>
              </a:spcAft>
            </a:pPr>
            <a:r>
              <a:rPr sz="1350" b="1">
                <a:solidFill>
                  <a:srgbClr val="8F3A22"/>
                </a:solidFill>
                <a:latin typeface="Calibri"/>
              </a:rPr>
              <a:t>8.  </a:t>
            </a:r>
            <a:r>
              <a:rPr sz="1350" b="1" i="0">
                <a:solidFill>
                  <a:srgbClr val="2A2622"/>
                </a:solidFill>
                <a:latin typeface="Calibri"/>
              </a:rPr>
              <a:t>"20 testers, 3 kahaniyan"</a:t>
            </a:r>
            <a:r>
              <a:rPr sz="1350" b="0" i="0">
                <a:solidFill>
                  <a:srgbClr val="2A2622"/>
                </a:solidFill>
                <a:latin typeface="Calibri"/>
              </a:rPr>
              <a:t> — 3 faces, honest mixed results. [Trust]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1: VITAMIN C SERUM 10% (the hero)</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9.  </a:t>
            </a:r>
            <a:r>
              <a:rPr sz="1350" b="1" i="0">
                <a:solidFill>
                  <a:srgbClr val="2A2622"/>
                </a:solidFill>
                <a:latin typeface="Calibri"/>
              </a:rPr>
              <a:t>"Subah 6:45 — 3-step routine"</a:t>
            </a:r>
            <a:r>
              <a:rPr sz="1350" b="0" i="0">
                <a:solidFill>
                  <a:srgbClr val="2A2622"/>
                </a:solidFill>
                <a:latin typeface="Calibri"/>
              </a:rPr>
              <a:t> — VC inside the 60-sec routine. [Routine]</a:t>
            </a:r>
          </a:p>
          <a:p>
            <a:pPr>
              <a:spcAft>
                <a:spcPts val="400"/>
              </a:spcAft>
            </a:pPr>
            <a:r>
              <a:rPr sz="1350" b="1">
                <a:solidFill>
                  <a:srgbClr val="8F3A22"/>
                </a:solidFill>
                <a:latin typeface="Calibri"/>
              </a:rPr>
              <a:t>10.  </a:t>
            </a:r>
            <a:r>
              <a:rPr sz="1350" b="1" i="0">
                <a:solidFill>
                  <a:srgbClr val="2A2622"/>
                </a:solidFill>
                <a:latin typeface="Calibri"/>
              </a:rPr>
              <a:t>"Monsoon dullness wale, ruko"</a:t>
            </a:r>
            <a:r>
              <a:rPr sz="1350" b="0" i="0">
                <a:solidFill>
                  <a:srgbClr val="2A2622"/>
                </a:solidFill>
                <a:latin typeface="Calibri"/>
              </a:rPr>
              <a:t> — season-specific VC reel (Sep–Nov angle: post-monsoon glow, wedding season prep). [Seasonal]</a:t>
            </a:r>
          </a:p>
          <a:p>
            <a:pPr>
              <a:spcBef>
                <a:spcPts val="1000"/>
              </a:spcBef>
              <a:spcAft>
                <a:spcPts val="400"/>
              </a:spcAft>
            </a:pPr>
            <a:r>
              <a:rPr sz="1600" b="1" i="0">
                <a:solidFill>
                  <a:srgbClr val="8F3A22"/>
                </a:solidFill>
                <a:latin typeface="Calibri"/>
              </a:rPr>
              <a:t>5 Carousel ideas</a:t>
            </a:r>
          </a:p>
          <a:p>
            <a:pPr>
              <a:spcAft>
                <a:spcPts val="400"/>
              </a:spcAft>
            </a:pPr>
            <a:r>
              <a:rPr sz="1350" b="1">
                <a:solidFill>
                  <a:srgbClr val="8F3A22"/>
                </a:solidFill>
                <a:latin typeface="Calibri"/>
              </a:rPr>
              <a:t>1.  </a:t>
            </a:r>
            <a:r>
              <a:rPr sz="1350" b="0" i="0">
                <a:solidFill>
                  <a:srgbClr val="2A2622"/>
                </a:solidFill>
                <a:latin typeface="Calibri"/>
              </a:rPr>
              <a:t>"Vitamin C kya karta hai — 60 second science" (7 slides, from Day 10) — save-bait.</a:t>
            </a:r>
          </a:p>
          <a:p>
            <a:pPr>
              <a:spcAft>
                <a:spcPts val="400"/>
              </a:spcAft>
            </a:pPr>
            <a:r>
              <a:rPr sz="1350" b="1">
                <a:solidFill>
                  <a:srgbClr val="8F3A22"/>
                </a:solidFill>
                <a:latin typeface="Calibri"/>
              </a:rPr>
              <a:t>2.  </a:t>
            </a:r>
            <a:r>
              <a:rPr sz="1350" b="0" i="0">
                <a:solidFill>
                  <a:srgbClr val="2A2622"/>
                </a:solidFill>
                <a:latin typeface="Calibri"/>
              </a:rPr>
              <a:t>"VC serum shopping guide: label pe kya padhna hai (concentration, form, storage)" — authority.</a:t>
            </a:r>
          </a:p>
          <a:p>
            <a:pPr>
              <a:spcAft>
                <a:spcPts val="400"/>
              </a:spcAft>
            </a:pPr>
            <a:r>
              <a:rPr sz="1350" b="1">
                <a:solidFill>
                  <a:srgbClr val="8F3A22"/>
                </a:solidFill>
                <a:latin typeface="Calibri"/>
              </a:rPr>
              <a:t>3.  </a:t>
            </a:r>
            <a:r>
              <a:rPr sz="1350" b="0" i="0">
                <a:solidFill>
                  <a:srgbClr val="2A2622"/>
                </a:solidFill>
                <a:latin typeface="Calibri"/>
              </a:rPr>
              <a:t>"Day 1/7/14/28 program photos" (disclosed) — proof grid.</a:t>
            </a:r>
          </a:p>
          <a:p>
            <a:pPr>
              <a:spcAft>
                <a:spcPts val="400"/>
              </a:spcAft>
            </a:pPr>
            <a:r>
              <a:rPr sz="1350" b="1">
                <a:solidFill>
                  <a:srgbClr val="8F3A22"/>
                </a:solidFill>
                <a:latin typeface="Calibri"/>
              </a:rPr>
              <a:t>4.  </a:t>
            </a:r>
            <a:r>
              <a:rPr sz="1350" b="0" i="0">
                <a:solidFill>
                  <a:srgbClr val="2A2622"/>
                </a:solidFill>
                <a:latin typeface="Calibri"/>
              </a:rPr>
              <a:t>"Serum + SPF duo: kyun, kab, kaise" — routine.</a:t>
            </a:r>
          </a:p>
          <a:p>
            <a:pPr>
              <a:spcAft>
                <a:spcPts val="400"/>
              </a:spcAft>
            </a:pPr>
            <a:r>
              <a:rPr sz="1350" b="1">
                <a:solidFill>
                  <a:srgbClr val="8F3A22"/>
                </a:solidFill>
                <a:latin typeface="Calibri"/>
              </a:rPr>
              <a:t>5.  </a:t>
            </a:r>
            <a:r>
              <a:rPr sz="1350" b="0" i="0">
                <a:solidFill>
                  <a:srgbClr val="2A2622"/>
                </a:solidFill>
                <a:latin typeface="Calibri"/>
              </a:rPr>
              <a:t>"Founding 100: box me kya hai" (offer) — sales.</a:t>
            </a:r>
          </a:p>
          <a:p>
            <a:pPr>
              <a:spcBef>
                <a:spcPts val="1000"/>
              </a:spcBef>
              <a:spcAft>
                <a:spcPts val="400"/>
              </a:spcAft>
            </a:pPr>
            <a:r>
              <a:rPr sz="1600" b="1" i="0">
                <a:solidFill>
                  <a:srgbClr val="8F3A22"/>
                </a:solidFill>
                <a:latin typeface="Calibri"/>
              </a:rPr>
              <a:t>5 Story ideas</a:t>
            </a:r>
          </a:p>
          <a:p>
            <a:pPr>
              <a:spcAft>
                <a:spcPts val="400"/>
              </a:spcAft>
            </a:pPr>
            <a:r>
              <a:rPr sz="1350" b="1">
                <a:solidFill>
                  <a:srgbClr val="8F3A22"/>
                </a:solidFill>
                <a:latin typeface="Calibri"/>
              </a:rPr>
              <a:t>1.  </a:t>
            </a:r>
            <a:r>
              <a:rPr sz="1350" b="0" i="0">
                <a:solidFill>
                  <a:srgbClr val="2A2622"/>
                </a:solidFill>
                <a:latin typeface="Calibri"/>
              </a:rPr>
              <a:t>Poll: "Serum kab lagati ho? Subah ☑️ / Raat ☑️" → answer: subah + SPF.</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1: VITAMIN C SERUM 10% (the hero)</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2.  </a:t>
            </a:r>
            <a:r>
              <a:rPr sz="1350" b="0" i="0">
                <a:solidFill>
                  <a:srgbClr val="2A2622"/>
                </a:solidFill>
                <a:latin typeface="Calibri"/>
              </a:rPr>
              <a:t>Question box: "Vitamin C se kya galti karte ho?" → best 3 answered on camera (Q&amp;A reel feed).</a:t>
            </a:r>
          </a:p>
          <a:p>
            <a:pPr>
              <a:spcAft>
                <a:spcPts val="400"/>
              </a:spcAft>
            </a:pPr>
            <a:r>
              <a:rPr sz="1350" b="1">
                <a:solidFill>
                  <a:srgbClr val="8F3A22"/>
                </a:solidFill>
                <a:latin typeface="Calibri"/>
              </a:rPr>
              <a:t>3.  </a:t>
            </a:r>
            <a:r>
              <a:rPr sz="1350" b="0" i="0">
                <a:solidFill>
                  <a:srgbClr val="2A2622"/>
                </a:solidFill>
                <a:latin typeface="Calibri"/>
              </a:rPr>
              <a:t>Texture close-up + quiz: "Kitne drops sahi hain? a) 1 b) 3–4 c) jitna mile" → answer 3–4.</a:t>
            </a:r>
          </a:p>
          <a:p>
            <a:pPr>
              <a:spcAft>
                <a:spcPts val="400"/>
              </a:spcAft>
            </a:pPr>
            <a:r>
              <a:rPr sz="1350" b="1">
                <a:solidFill>
                  <a:srgbClr val="8F3A22"/>
                </a:solidFill>
                <a:latin typeface="Calibri"/>
              </a:rPr>
              <a:t>4.  </a:t>
            </a:r>
            <a:r>
              <a:rPr sz="1350" b="0" i="0">
                <a:solidFill>
                  <a:srgbClr val="2A2622"/>
                </a:solidFill>
                <a:latin typeface="Calibri"/>
              </a:rPr>
              <a:t>Tester day-28 photo (consent + disclaimer) + "apna bhi? GLOW DM."</a:t>
            </a:r>
          </a:p>
          <a:p>
            <a:pPr>
              <a:spcAft>
                <a:spcPts val="400"/>
              </a:spcAft>
            </a:pPr>
            <a:r>
              <a:rPr sz="1350" b="1">
                <a:solidFill>
                  <a:srgbClr val="8F3A22"/>
                </a:solidFill>
                <a:latin typeface="Calibri"/>
              </a:rPr>
              <a:t>5.  </a:t>
            </a:r>
            <a:r>
              <a:rPr sz="1350" b="0" i="0">
                <a:solidFill>
                  <a:srgbClr val="2A2622"/>
                </a:solidFill>
                <a:latin typeface="Calibri"/>
              </a:rPr>
              <a:t>Countdown (launch/offer) + DM CTA card "GLOW."</a:t>
            </a:r>
          </a:p>
          <a:p>
            <a:pPr>
              <a:spcBef>
                <a:spcPts val="1000"/>
              </a:spcBef>
              <a:spcAft>
                <a:spcPts val="400"/>
              </a:spcAft>
            </a:pPr>
            <a:r>
              <a:rPr sz="1600" b="1" i="0">
                <a:solidFill>
                  <a:srgbClr val="8F3A22"/>
                </a:solidFill>
                <a:latin typeface="Calibri"/>
              </a:rPr>
              <a:t>5 Sales posts</a:t>
            </a:r>
          </a:p>
          <a:p>
            <a:pPr>
              <a:spcAft>
                <a:spcPts val="400"/>
              </a:spcAft>
            </a:pPr>
            <a:r>
              <a:rPr sz="1350" b="1">
                <a:solidFill>
                  <a:srgbClr val="8F3A22"/>
                </a:solidFill>
                <a:latin typeface="Calibri"/>
              </a:rPr>
              <a:t>1.  </a:t>
            </a:r>
            <a:r>
              <a:rPr sz="1350" b="1" i="0">
                <a:solidFill>
                  <a:srgbClr val="2A2622"/>
                </a:solidFill>
                <a:latin typeface="Calibri"/>
              </a:rPr>
              <a:t>Founding 100 announcement</a:t>
            </a:r>
            <a:r>
              <a:rPr sz="1350" b="0" i="0">
                <a:solidFill>
                  <a:srgbClr val="2A2622"/>
                </a:solidFill>
                <a:latin typeface="Calibri"/>
              </a:rPr>
              <a:t> (the launch reel/carousel) — offer + COD + free mini.</a:t>
            </a:r>
          </a:p>
          <a:p>
            <a:pPr>
              <a:spcAft>
                <a:spcPts val="400"/>
              </a:spcAft>
            </a:pPr>
            <a:r>
              <a:rPr sz="1350" b="1">
                <a:solidFill>
                  <a:srgbClr val="8F3A22"/>
                </a:solidFill>
                <a:latin typeface="Calibri"/>
              </a:rPr>
              <a:t>2.  </a:t>
            </a:r>
            <a:r>
              <a:rPr sz="1350" b="0" i="0">
                <a:solidFill>
                  <a:srgbClr val="2A2622"/>
                </a:solidFill>
                <a:latin typeface="Calibri"/>
              </a:rPr>
              <a:t>"X/100 seat bachi" — real stock count + what's in the box. (Once/week max.)</a:t>
            </a:r>
          </a:p>
          <a:p>
            <a:pPr>
              <a:spcAft>
                <a:spcPts val="400"/>
              </a:spcAft>
            </a:pPr>
            <a:r>
              <a:rPr sz="1350" b="1">
                <a:solidFill>
                  <a:srgbClr val="8F3A22"/>
                </a:solidFill>
                <a:latin typeface="Calibri"/>
              </a:rPr>
              <a:t>3.  </a:t>
            </a:r>
            <a:r>
              <a:rPr sz="1350" b="0" i="0">
                <a:solidFill>
                  <a:srgbClr val="2A2622"/>
                </a:solidFill>
                <a:latin typeface="Calibri"/>
              </a:rPr>
              <a:t>"Kit time: Serum + Face Wash + Moisturizer = 3-step complete, ek box me" — bundle AOV play.</a:t>
            </a:r>
          </a:p>
          <a:p>
            <a:pPr>
              <a:spcAft>
                <a:spcPts val="400"/>
              </a:spcAft>
            </a:pPr>
            <a:r>
              <a:rPr sz="1350" b="1">
                <a:solidFill>
                  <a:srgbClr val="8F3A22"/>
                </a:solidFill>
                <a:latin typeface="Calibri"/>
              </a:rPr>
              <a:t>4.  </a:t>
            </a:r>
            <a:r>
              <a:rPr sz="1350" b="0" i="0">
                <a:solidFill>
                  <a:srgbClr val="2A2622"/>
                </a:solidFill>
                <a:latin typeface="Calibri"/>
              </a:rPr>
              <a:t>Referral post: "Do ₹100, lo ₹100" + first-customer photo.</a:t>
            </a:r>
          </a:p>
          <a:p>
            <a:pPr>
              <a:spcAft>
                <a:spcPts val="400"/>
              </a:spcAft>
            </a:pPr>
            <a:r>
              <a:rPr sz="1350" b="1">
                <a:solidFill>
                  <a:srgbClr val="8F3A22"/>
                </a:solidFill>
                <a:latin typeface="Calibri"/>
              </a:rPr>
              <a:t>5.  </a:t>
            </a:r>
            <a:r>
              <a:rPr sz="1350" b="0" i="0">
                <a:solidFill>
                  <a:srgbClr val="2A2622"/>
                </a:solidFill>
                <a:latin typeface="Calibri"/>
              </a:rPr>
              <a:t>"Batch 2 waitlist" (when 100 sells out) — urgency via real scarcity + waitlist CTA.</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2: FACE WASH (the entry ticket)</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Positioning: "Pehla step, pehla bharosa." The lowest-risk product (₹199–299) = the "try RANGAT without thinking" item. For men: "60 second, bas."</a:t>
            </a:r>
          </a:p>
          <a:p>
            <a:pPr>
              <a:spcBef>
                <a:spcPts val="1000"/>
              </a:spcBef>
              <a:spcAft>
                <a:spcPts val="400"/>
              </a:spcAft>
            </a:pPr>
            <a:r>
              <a:rPr sz="1600" b="1" i="0">
                <a:solidFill>
                  <a:srgbClr val="8F3A22"/>
                </a:solidFill>
                <a:latin typeface="Calibri"/>
              </a:rPr>
              <a:t>10 Reel ideas</a:t>
            </a:r>
          </a:p>
          <a:p>
            <a:pPr>
              <a:spcAft>
                <a:spcPts val="400"/>
              </a:spcAft>
            </a:pPr>
            <a:r>
              <a:rPr sz="1350" b="1">
                <a:solidFill>
                  <a:srgbClr val="8F3A22"/>
                </a:solidFill>
                <a:latin typeface="Calibri"/>
              </a:rPr>
              <a:t>1.  </a:t>
            </a:r>
            <a:r>
              <a:rPr sz="1350" b="1" i="0">
                <a:solidFill>
                  <a:srgbClr val="2A2622"/>
                </a:solidFill>
                <a:latin typeface="Calibri"/>
              </a:rPr>
              <a:t>"Chehra 4 baar raho — ruko."</a:t>
            </a:r>
            <a:r>
              <a:rPr sz="1350" b="0" i="0">
                <a:solidFill>
                  <a:srgbClr val="2A2622"/>
                </a:solidFill>
                <a:latin typeface="Calibri"/>
              </a:rPr>
              <a:t> — over-washing mistake; 60-sec correct method. [Mistake]</a:t>
            </a:r>
          </a:p>
          <a:p>
            <a:pPr>
              <a:spcAft>
                <a:spcPts val="400"/>
              </a:spcAft>
            </a:pPr>
            <a:r>
              <a:rPr sz="1350" b="1">
                <a:solidFill>
                  <a:srgbClr val="8F3A22"/>
                </a:solidFill>
                <a:latin typeface="Calibri"/>
              </a:rPr>
              <a:t>2.  </a:t>
            </a:r>
            <a:r>
              <a:rPr sz="1350" b="1" i="0">
                <a:solidFill>
                  <a:srgbClr val="2A2622"/>
                </a:solidFill>
                <a:latin typeface="Calibri"/>
              </a:rPr>
              <a:t>"Foam zyada = saaf zyada? Myth."</a:t>
            </a:r>
            <a:r>
              <a:rPr sz="1350" b="0" i="0">
                <a:solidFill>
                  <a:srgbClr val="2A2622"/>
                </a:solidFill>
                <a:latin typeface="Calibri"/>
              </a:rPr>
              <a:t> — what actually cleans vs irritates. [Myth]</a:t>
            </a:r>
          </a:p>
          <a:p>
            <a:pPr>
              <a:spcAft>
                <a:spcPts val="400"/>
              </a:spcAft>
            </a:pPr>
            <a:r>
              <a:rPr sz="1350" b="1">
                <a:solidFill>
                  <a:srgbClr val="8F3A22"/>
                </a:solidFill>
                <a:latin typeface="Calibri"/>
              </a:rPr>
              <a:t>3.  </a:t>
            </a:r>
            <a:r>
              <a:rPr sz="1350" b="1" i="0">
                <a:solidFill>
                  <a:srgbClr val="2A2622"/>
                </a:solidFill>
                <a:latin typeface="Calibri"/>
              </a:rPr>
              <a:t>"60 second timer wala reel"</a:t>
            </a:r>
            <a:r>
              <a:rPr sz="1350" b="0" i="0">
                <a:solidFill>
                  <a:srgbClr val="2A2622"/>
                </a:solidFill>
                <a:latin typeface="Calibri"/>
              </a:rPr>
              <a:t> — actual 60-sec wash timed on screen. [Demo]</a:t>
            </a:r>
          </a:p>
          <a:p>
            <a:pPr>
              <a:spcAft>
                <a:spcPts val="400"/>
              </a:spcAft>
            </a:pPr>
            <a:r>
              <a:rPr sz="1350" b="1">
                <a:solidFill>
                  <a:srgbClr val="8F3A22"/>
                </a:solidFill>
                <a:latin typeface="Calibri"/>
              </a:rPr>
              <a:t>4.  </a:t>
            </a:r>
            <a:r>
              <a:rPr sz="1350" b="1" i="0">
                <a:solidFill>
                  <a:srgbClr val="2A2622"/>
                </a:solidFill>
                <a:latin typeface="Calibri"/>
              </a:rPr>
              <a:t>"Gunguna paani, nahi garam."</a:t>
            </a:r>
            <a:r>
              <a:rPr sz="1350" b="0" i="0">
                <a:solidFill>
                  <a:srgbClr val="2A2622"/>
                </a:solidFill>
                <a:latin typeface="Calibri"/>
              </a:rPr>
              <a:t> — water temperature education. [Education]</a:t>
            </a:r>
          </a:p>
          <a:p>
            <a:pPr>
              <a:spcAft>
                <a:spcPts val="400"/>
              </a:spcAft>
            </a:pPr>
            <a:r>
              <a:rPr sz="1350" b="1">
                <a:solidFill>
                  <a:srgbClr val="8F3A22"/>
                </a:solidFill>
                <a:latin typeface="Calibri"/>
              </a:rPr>
              <a:t>5.  </a:t>
            </a:r>
            <a:r>
              <a:rPr sz="1350" b="1" i="0">
                <a:solidFill>
                  <a:srgbClr val="2A2622"/>
                </a:solidFill>
                <a:latin typeface="Calibri"/>
              </a:rPr>
              <a:t>"Hard water + galat soap = tight face"</a:t>
            </a:r>
            <a:r>
              <a:rPr sz="1350" b="0" i="0">
                <a:solidFill>
                  <a:srgbClr val="2A2622"/>
                </a:solidFill>
                <a:latin typeface="Calibri"/>
              </a:rPr>
              <a:t> — the Gujarat hard-water angle. [Problem]</a:t>
            </a:r>
          </a:p>
          <a:p>
            <a:pPr>
              <a:spcAft>
                <a:spcPts val="400"/>
              </a:spcAft>
            </a:pPr>
            <a:r>
              <a:rPr sz="1350" b="1">
                <a:solidFill>
                  <a:srgbClr val="8F3A22"/>
                </a:solidFill>
                <a:latin typeface="Calibri"/>
              </a:rPr>
              <a:t>6.  </a:t>
            </a:r>
            <a:r>
              <a:rPr sz="1350" b="1" i="0">
                <a:solidFill>
                  <a:srgbClr val="2A2622"/>
                </a:solidFill>
                <a:latin typeface="Calibri"/>
              </a:rPr>
              <a:t>"Mard bhi skin: 60 second"</a:t>
            </a:r>
            <a:r>
              <a:rPr sz="1350" b="0" i="0">
                <a:solidFill>
                  <a:srgbClr val="2A2622"/>
                </a:solidFill>
                <a:latin typeface="Calibri"/>
              </a:rPr>
              <a:t> — male creator version (SG Highway dhool, office). [Segment]</a:t>
            </a:r>
          </a:p>
          <a:p>
            <a:pPr>
              <a:spcAft>
                <a:spcPts val="400"/>
              </a:spcAft>
            </a:pPr>
            <a:r>
              <a:rPr sz="1350" b="1">
                <a:solidFill>
                  <a:srgbClr val="8F3A22"/>
                </a:solidFill>
                <a:latin typeface="Calibri"/>
              </a:rPr>
              <a:t>7.  </a:t>
            </a:r>
            <a:r>
              <a:rPr sz="1350" b="1" i="0">
                <a:solidFill>
                  <a:srgbClr val="2A2622"/>
                </a:solidFill>
                <a:latin typeface="Calibri"/>
              </a:rPr>
              <a:t>"Acne-prone: face wash kaise choose?"</a:t>
            </a:r>
            <a:r>
              <a:rPr sz="1350" b="0" i="0">
                <a:solidFill>
                  <a:srgbClr val="2A2622"/>
                </a:solidFill>
                <a:latin typeface="Calibri"/>
              </a:rPr>
              <a:t> — gentle vs harsh, what to look for. [Segment]</a:t>
            </a:r>
          </a:p>
          <a:p>
            <a:pPr>
              <a:spcAft>
                <a:spcPts val="400"/>
              </a:spcAft>
            </a:pPr>
            <a:r>
              <a:rPr sz="1350" b="1">
                <a:solidFill>
                  <a:srgbClr val="8F3A22"/>
                </a:solidFill>
                <a:latin typeface="Calibri"/>
              </a:rPr>
              <a:t>8.  </a:t>
            </a:r>
            <a:r>
              <a:rPr sz="1350" b="1" i="0">
                <a:solidFill>
                  <a:srgbClr val="2A2622"/>
                </a:solidFill>
                <a:latin typeface="Calibri"/>
              </a:rPr>
              <a:t>"Morning vs night: kya alag hai?"</a:t>
            </a:r>
            <a:r>
              <a:rPr sz="1350" b="0" i="0">
                <a:solidFill>
                  <a:srgbClr val="2A2622"/>
                </a:solidFill>
                <a:latin typeface="Calibri"/>
              </a:rPr>
              <a:t> — wash routine split. [Education]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2: FACE WASH (the entry ticket)</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9.  </a:t>
            </a:r>
            <a:r>
              <a:rPr sz="1350" b="1" i="0">
                <a:solidFill>
                  <a:srgbClr val="2A2622"/>
                </a:solidFill>
                <a:latin typeface="Calibri"/>
              </a:rPr>
              <a:t>"Free mini ka asli kaam"</a:t>
            </a:r>
            <a:r>
              <a:rPr sz="1350" b="0" i="0">
                <a:solidFill>
                  <a:srgbClr val="2A2622"/>
                </a:solidFill>
                <a:latin typeface="Calibri"/>
              </a:rPr>
              <a:t> — "Founding 100 me free Face Wash mini — kyunki pehla step sabse zaroori hai." [Offer hook]</a:t>
            </a:r>
          </a:p>
          <a:p>
            <a:pPr>
              <a:spcAft>
                <a:spcPts val="400"/>
              </a:spcAft>
            </a:pPr>
            <a:r>
              <a:rPr sz="1350" b="1">
                <a:solidFill>
                  <a:srgbClr val="8F3A22"/>
                </a:solidFill>
                <a:latin typeface="Calibri"/>
              </a:rPr>
              <a:t>10.  </a:t>
            </a:r>
            <a:r>
              <a:rPr sz="1350" b="1" i="0">
                <a:solidFill>
                  <a:srgbClr val="2A2622"/>
                </a:solidFill>
                <a:latin typeface="Calibri"/>
              </a:rPr>
              <a:t>"Wash ke baad 60 second ka rule"</a:t>
            </a:r>
            <a:r>
              <a:rPr sz="1350" b="0" i="0">
                <a:solidFill>
                  <a:srgbClr val="2A2622"/>
                </a:solidFill>
                <a:latin typeface="Calibri"/>
              </a:rPr>
              <a:t> — damp vs dry face before serum (links to VC). [Routine bridge]</a:t>
            </a:r>
          </a:p>
          <a:p>
            <a:pPr>
              <a:spcBef>
                <a:spcPts val="1000"/>
              </a:spcBef>
              <a:spcAft>
                <a:spcPts val="400"/>
              </a:spcAft>
            </a:pPr>
            <a:r>
              <a:rPr sz="1600" b="1" i="0">
                <a:solidFill>
                  <a:srgbClr val="8F3A22"/>
                </a:solidFill>
                <a:latin typeface="Calibri"/>
              </a:rPr>
              <a:t>5 Carousel ideas</a:t>
            </a:r>
          </a:p>
          <a:p>
            <a:pPr>
              <a:spcAft>
                <a:spcPts val="400"/>
              </a:spcAft>
            </a:pPr>
            <a:r>
              <a:rPr sz="1350" b="1">
                <a:solidFill>
                  <a:srgbClr val="8F3A22"/>
                </a:solidFill>
                <a:latin typeface="Calibri"/>
              </a:rPr>
              <a:t>1.  </a:t>
            </a:r>
            <a:r>
              <a:rPr sz="1350" b="0" i="0">
                <a:solidFill>
                  <a:srgbClr val="2A2622"/>
                </a:solidFill>
                <a:latin typeface="Calibri"/>
              </a:rPr>
              <a:t>"Face wash shopping: label pe 4 cheezein dekho (pH, surfactant, fragrance, price logic)."</a:t>
            </a:r>
          </a:p>
          <a:p>
            <a:pPr>
              <a:spcAft>
                <a:spcPts val="400"/>
              </a:spcAft>
            </a:pPr>
            <a:r>
              <a:rPr sz="1350" b="1">
                <a:solidFill>
                  <a:srgbClr val="8F3A22"/>
                </a:solidFill>
                <a:latin typeface="Calibri"/>
              </a:rPr>
              <a:t>2.  </a:t>
            </a:r>
            <a:r>
              <a:rPr sz="1350" b="0" i="0">
                <a:solidFill>
                  <a:srgbClr val="2A2622"/>
                </a:solidFill>
                <a:latin typeface="Calibri"/>
              </a:rPr>
              <a:t>"Oily / Dry / Sensitive / Combo — 4 skin, 4 wash approaches."</a:t>
            </a:r>
          </a:p>
          <a:p>
            <a:pPr>
              <a:spcAft>
                <a:spcPts val="400"/>
              </a:spcAft>
            </a:pPr>
            <a:r>
              <a:rPr sz="1350" b="1">
                <a:solidFill>
                  <a:srgbClr val="8F3A22"/>
                </a:solidFill>
                <a:latin typeface="Calibri"/>
              </a:rPr>
              <a:t>3.  </a:t>
            </a:r>
            <a:r>
              <a:rPr sz="1350" b="0" i="0">
                <a:solidFill>
                  <a:srgbClr val="2A2622"/>
                </a:solidFill>
                <a:latin typeface="Calibri"/>
              </a:rPr>
              <a:t>"60-second method, step by step" (save-bait).</a:t>
            </a:r>
          </a:p>
          <a:p>
            <a:pPr>
              <a:spcAft>
                <a:spcPts val="400"/>
              </a:spcAft>
            </a:pPr>
            <a:r>
              <a:rPr sz="1350" b="1">
                <a:solidFill>
                  <a:srgbClr val="8F3A22"/>
                </a:solidFill>
                <a:latin typeface="Calibri"/>
              </a:rPr>
              <a:t>4.  </a:t>
            </a:r>
            <a:r>
              <a:rPr sz="1350" b="0" i="0">
                <a:solidFill>
                  <a:srgbClr val="2A2622"/>
                </a:solidFill>
                <a:latin typeface="Calibri"/>
              </a:rPr>
              <a:t>"Mard ka 60-second face wash guide" (male segment).</a:t>
            </a:r>
          </a:p>
          <a:p>
            <a:pPr>
              <a:spcAft>
                <a:spcPts val="400"/>
              </a:spcAft>
            </a:pPr>
            <a:r>
              <a:rPr sz="1350" b="1">
                <a:solidFill>
                  <a:srgbClr val="8F3A22"/>
                </a:solidFill>
                <a:latin typeface="Calibri"/>
              </a:rPr>
              <a:t>5.  </a:t>
            </a:r>
            <a:r>
              <a:rPr sz="1350" b="0" i="0">
                <a:solidFill>
                  <a:srgbClr val="2A2622"/>
                </a:solidFill>
                <a:latin typeface="Calibri"/>
              </a:rPr>
              <a:t>"Wash + Serum + Moisturizer: yahi poora morning plan" (routine bundle).</a:t>
            </a:r>
          </a:p>
          <a:p>
            <a:pPr>
              <a:spcBef>
                <a:spcPts val="1000"/>
              </a:spcBef>
              <a:spcAft>
                <a:spcPts val="400"/>
              </a:spcAft>
            </a:pPr>
            <a:r>
              <a:rPr sz="1600" b="1" i="0">
                <a:solidFill>
                  <a:srgbClr val="8F3A22"/>
                </a:solidFill>
                <a:latin typeface="Calibri"/>
              </a:rPr>
              <a:t>5 Story ideas</a:t>
            </a:r>
          </a:p>
          <a:p>
            <a:pPr>
              <a:spcAft>
                <a:spcPts val="400"/>
              </a:spcAft>
            </a:pPr>
            <a:r>
              <a:rPr sz="1350" b="1">
                <a:solidFill>
                  <a:srgbClr val="8F3A22"/>
                </a:solidFill>
                <a:latin typeface="Calibri"/>
              </a:rPr>
              <a:t>1.  </a:t>
            </a:r>
            <a:r>
              <a:rPr sz="1350" b="0" i="0">
                <a:solidFill>
                  <a:srgbClr val="2A2622"/>
                </a:solidFill>
                <a:latin typeface="Calibri"/>
              </a:rPr>
              <a:t>Quiz: "Garam paani ya gunguna? ☑️" → answer + why.</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2: FACE WASH (the entry ticket)</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2.  </a:t>
            </a:r>
            <a:r>
              <a:rPr sz="1350" b="0" i="0">
                <a:solidFill>
                  <a:srgbClr val="2A2622"/>
                </a:solidFill>
                <a:latin typeface="Calibri"/>
              </a:rPr>
              <a:t>Poll: "Aap din me kitni baar face wash karti ho? 1/2/3+" → answer: 2 max.</a:t>
            </a:r>
          </a:p>
          <a:p>
            <a:pPr>
              <a:spcAft>
                <a:spcPts val="400"/>
              </a:spcAft>
            </a:pPr>
            <a:r>
              <a:rPr sz="1350" b="1">
                <a:solidFill>
                  <a:srgbClr val="8F3A22"/>
                </a:solidFill>
                <a:latin typeface="Calibri"/>
              </a:rPr>
              <a:t>3.  </a:t>
            </a:r>
            <a:r>
              <a:rPr sz="1350" b="0" i="0">
                <a:solidFill>
                  <a:srgbClr val="2A2622"/>
                </a:solidFill>
                <a:latin typeface="Calibri"/>
              </a:rPr>
              <a:t>Timer story: "60 second challenge — aaj try karo, kal update bhejo." (UGC bait)</a:t>
            </a:r>
          </a:p>
          <a:p>
            <a:pPr>
              <a:spcAft>
                <a:spcPts val="400"/>
              </a:spcAft>
            </a:pPr>
            <a:r>
              <a:rPr sz="1350" b="1">
                <a:solidFill>
                  <a:srgbClr val="8F3A22"/>
                </a:solidFill>
                <a:latin typeface="Calibri"/>
              </a:rPr>
              <a:t>4.  </a:t>
            </a:r>
            <a:r>
              <a:rPr sz="1350" b="0" i="0">
                <a:solidFill>
                  <a:srgbClr val="2A2622"/>
                </a:solidFill>
                <a:latin typeface="Calibri"/>
              </a:rPr>
              <a:t>UGC repost: male creator's 60-sec clip.</a:t>
            </a:r>
          </a:p>
          <a:p>
            <a:pPr>
              <a:spcAft>
                <a:spcPts val="400"/>
              </a:spcAft>
            </a:pPr>
            <a:r>
              <a:rPr sz="1350" b="1">
                <a:solidFill>
                  <a:srgbClr val="8F3A22"/>
                </a:solidFill>
                <a:latin typeface="Calibri"/>
              </a:rPr>
              <a:t>5.  </a:t>
            </a:r>
            <a:r>
              <a:rPr sz="1350" b="0" i="0">
                <a:solidFill>
                  <a:srgbClr val="2A2622"/>
                </a:solidFill>
                <a:latin typeface="Calibri"/>
              </a:rPr>
              <a:t>"Free mini kya hai? Dekho" + CTA GLOW.</a:t>
            </a:r>
          </a:p>
          <a:p>
            <a:pPr>
              <a:spcBef>
                <a:spcPts val="1000"/>
              </a:spcBef>
              <a:spcAft>
                <a:spcPts val="400"/>
              </a:spcAft>
            </a:pPr>
            <a:r>
              <a:rPr sz="1600" b="1" i="0">
                <a:solidFill>
                  <a:srgbClr val="8F3A22"/>
                </a:solidFill>
                <a:latin typeface="Calibri"/>
              </a:rPr>
              <a:t>5 Sales posts</a:t>
            </a:r>
          </a:p>
          <a:p>
            <a:pPr>
              <a:spcAft>
                <a:spcPts val="400"/>
              </a:spcAft>
            </a:pPr>
            <a:r>
              <a:rPr sz="1350" b="1">
                <a:solidFill>
                  <a:srgbClr val="8F3A22"/>
                </a:solidFill>
                <a:latin typeface="Calibri"/>
              </a:rPr>
              <a:t>1.  </a:t>
            </a:r>
            <a:r>
              <a:rPr sz="1350" b="0" i="0">
                <a:solidFill>
                  <a:srgbClr val="2A2622"/>
                </a:solidFill>
                <a:latin typeface="Calibri"/>
              </a:rPr>
              <a:t>Standalone launch: "Pehla step, pehla bharosa — ₹249, COD, free shipping on 2+." (Entry price.)</a:t>
            </a:r>
          </a:p>
          <a:p>
            <a:pPr>
              <a:spcAft>
                <a:spcPts val="400"/>
              </a:spcAft>
            </a:pPr>
            <a:r>
              <a:rPr sz="1350" b="1">
                <a:solidFill>
                  <a:srgbClr val="8F3A22"/>
                </a:solidFill>
                <a:latin typeface="Calibri"/>
              </a:rPr>
              <a:t>2.  </a:t>
            </a:r>
            <a:r>
              <a:rPr sz="1350" b="0" i="0">
                <a:solidFill>
                  <a:srgbClr val="2A2622"/>
                </a:solidFill>
                <a:latin typeface="Calibri"/>
              </a:rPr>
              <a:t>"Founding 100 me FREE Face Wash mini" — explain the mini (size, 7-day trial).</a:t>
            </a:r>
          </a:p>
          <a:p>
            <a:pPr>
              <a:spcAft>
                <a:spcPts val="400"/>
              </a:spcAft>
            </a:pPr>
            <a:r>
              <a:rPr sz="1350" b="1">
                <a:solidFill>
                  <a:srgbClr val="8F3A22"/>
                </a:solidFill>
                <a:latin typeface="Calibri"/>
              </a:rPr>
              <a:t>3.  </a:t>
            </a:r>
            <a:r>
              <a:rPr sz="1350" b="0" i="0">
                <a:solidFill>
                  <a:srgbClr val="2A2622"/>
                </a:solidFill>
                <a:latin typeface="Calibri"/>
              </a:rPr>
              <a:t>"Student/first-skin-care pack: Face Wash + Serum" — lowest bundle.</a:t>
            </a:r>
          </a:p>
          <a:p>
            <a:pPr>
              <a:spcAft>
                <a:spcPts val="400"/>
              </a:spcAft>
            </a:pPr>
            <a:r>
              <a:rPr sz="1350" b="1">
                <a:solidFill>
                  <a:srgbClr val="8F3A22"/>
                </a:solidFill>
                <a:latin typeface="Calibri"/>
              </a:rPr>
              <a:t>4.  </a:t>
            </a:r>
            <a:r>
              <a:rPr sz="1350" b="0" i="0">
                <a:solidFill>
                  <a:srgbClr val="2A2622"/>
                </a:solidFill>
                <a:latin typeface="Calibri"/>
              </a:rPr>
              <a:t>Male-targeted: "60 second. Mard bhi skin. COD." (Run to male interest stack later.)</a:t>
            </a:r>
          </a:p>
          <a:p>
            <a:pPr>
              <a:spcAft>
                <a:spcPts val="400"/>
              </a:spcAft>
            </a:pPr>
            <a:r>
              <a:rPr sz="1350" b="1">
                <a:solidFill>
                  <a:srgbClr val="8F3A22"/>
                </a:solidFill>
                <a:latin typeface="Calibri"/>
              </a:rPr>
              <a:t>5.  </a:t>
            </a:r>
            <a:r>
              <a:rPr sz="1350" b="0" i="0">
                <a:solidFill>
                  <a:srgbClr val="2A2622"/>
                </a:solidFill>
                <a:latin typeface="Calibri"/>
              </a:rPr>
              <a:t>"Acne-prone walo ke liye: gentle wash — kya alag hai" (careful: "gentle, formulated for sensitive skin," no acne-treatment claims).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3: MOISTURIZER / GEL-CREAM (the routine completer)</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Positioning: "Serum ke bina moisturizer adhuri routine hai — aur oily skin ko bhi chahiye." (Kills the "oily skin needs no moisturizer" myth — huge in Gujarat heat.)</a:t>
            </a:r>
          </a:p>
          <a:p>
            <a:pPr>
              <a:spcBef>
                <a:spcPts val="1000"/>
              </a:spcBef>
              <a:spcAft>
                <a:spcPts val="400"/>
              </a:spcAft>
            </a:pPr>
            <a:r>
              <a:rPr sz="1600" b="1" i="0">
                <a:solidFill>
                  <a:srgbClr val="8F3A22"/>
                </a:solidFill>
                <a:latin typeface="Calibri"/>
              </a:rPr>
              <a:t>10 Reel ideas</a:t>
            </a:r>
          </a:p>
          <a:p>
            <a:pPr>
              <a:spcAft>
                <a:spcPts val="400"/>
              </a:spcAft>
            </a:pPr>
            <a:r>
              <a:rPr sz="1350" b="1">
                <a:solidFill>
                  <a:srgbClr val="8F3A22"/>
                </a:solidFill>
                <a:latin typeface="Calibri"/>
              </a:rPr>
              <a:t>1.  </a:t>
            </a:r>
            <a:r>
              <a:rPr sz="1350" b="1" i="0">
                <a:solidFill>
                  <a:srgbClr val="2A2622"/>
                </a:solidFill>
                <a:latin typeface="Calibri"/>
              </a:rPr>
              <a:t>"Oily skin pe moisturizer? Nahi. Haan."</a:t>
            </a:r>
            <a:r>
              <a:rPr sz="1350" b="0" i="0">
                <a:solidFill>
                  <a:srgbClr val="2A2622"/>
                </a:solidFill>
                <a:latin typeface="Calibri"/>
              </a:rPr>
              <a:t> — the myth-killer, skin-barrier science in 40 sec. [Myth]</a:t>
            </a:r>
          </a:p>
          <a:p>
            <a:pPr>
              <a:spcAft>
                <a:spcPts val="400"/>
              </a:spcAft>
            </a:pPr>
            <a:r>
              <a:rPr sz="1350" b="1">
                <a:solidFill>
                  <a:srgbClr val="8F3A22"/>
                </a:solidFill>
                <a:latin typeface="Calibri"/>
              </a:rPr>
              <a:t>2.  </a:t>
            </a:r>
            <a:r>
              <a:rPr sz="1350" b="1" i="0">
                <a:solidFill>
                  <a:srgbClr val="2A2622"/>
                </a:solidFill>
                <a:latin typeface="Calibri"/>
              </a:rPr>
              <a:t>"Gel vs cream: aapka skin kaunsa?"</a:t>
            </a:r>
            <a:r>
              <a:rPr sz="1350" b="0" i="0">
                <a:solidFill>
                  <a:srgbClr val="2A2622"/>
                </a:solidFill>
                <a:latin typeface="Calibri"/>
              </a:rPr>
              <a:t> — 3-question quiz format. [Education]</a:t>
            </a:r>
          </a:p>
          <a:p>
            <a:pPr>
              <a:spcAft>
                <a:spcPts val="400"/>
              </a:spcAft>
            </a:pPr>
            <a:r>
              <a:rPr sz="1350" b="1">
                <a:solidFill>
                  <a:srgbClr val="8F3A22"/>
                </a:solidFill>
                <a:latin typeface="Calibri"/>
              </a:rPr>
              <a:t>3.  </a:t>
            </a:r>
            <a:r>
              <a:rPr sz="1350" b="1" i="0">
                <a:solidFill>
                  <a:srgbClr val="2A2622"/>
                </a:solidFill>
                <a:latin typeface="Calibri"/>
              </a:rPr>
              <a:t>"Tightness = dehydration, dryness nahi"</a:t>
            </a:r>
            <a:r>
              <a:rPr sz="1350" b="0" i="0">
                <a:solidFill>
                  <a:srgbClr val="2A2622"/>
                </a:solidFill>
                <a:latin typeface="Calibri"/>
              </a:rPr>
              <a:t> — the most-misunderstood feeling. [Problem]</a:t>
            </a:r>
          </a:p>
          <a:p>
            <a:pPr>
              <a:spcAft>
                <a:spcPts val="400"/>
              </a:spcAft>
            </a:pPr>
            <a:r>
              <a:rPr sz="1350" b="1">
                <a:solidFill>
                  <a:srgbClr val="8F3A22"/>
                </a:solidFill>
                <a:latin typeface="Calibri"/>
              </a:rPr>
              <a:t>4.  </a:t>
            </a:r>
            <a:r>
              <a:rPr sz="1350" b="1" i="0">
                <a:solidFill>
                  <a:srgbClr val="2A2622"/>
                </a:solidFill>
                <a:latin typeface="Calibri"/>
              </a:rPr>
              <a:t>"AC ka kamra, 8 ghante, tight face"</a:t>
            </a:r>
            <a:r>
              <a:rPr sz="1350" b="0" i="0">
                <a:solidFill>
                  <a:srgbClr val="2A2622"/>
                </a:solidFill>
                <a:latin typeface="Calibri"/>
              </a:rPr>
              <a:t> — indoor dehydration angle. [Problem]</a:t>
            </a:r>
          </a:p>
          <a:p>
            <a:pPr>
              <a:spcAft>
                <a:spcPts val="400"/>
              </a:spcAft>
            </a:pPr>
            <a:r>
              <a:rPr sz="1350" b="1">
                <a:solidFill>
                  <a:srgbClr val="8F3A22"/>
                </a:solidFill>
                <a:latin typeface="Calibri"/>
              </a:rPr>
              <a:t>5.  </a:t>
            </a:r>
            <a:r>
              <a:rPr sz="1350" b="1" i="0">
                <a:solidFill>
                  <a:srgbClr val="2A2622"/>
                </a:solidFill>
                <a:latin typeface="Calibri"/>
              </a:rPr>
              <a:t>"Serum ke baad 60 second ka wait — kyun?"</a:t>
            </a:r>
            <a:r>
              <a:rPr sz="1350" b="0" i="0">
                <a:solidFill>
                  <a:srgbClr val="2A2622"/>
                </a:solidFill>
                <a:latin typeface="Calibri"/>
              </a:rPr>
              <a:t> — layering order. [Education]</a:t>
            </a:r>
          </a:p>
          <a:p>
            <a:pPr>
              <a:spcAft>
                <a:spcPts val="400"/>
              </a:spcAft>
            </a:pPr>
            <a:r>
              <a:rPr sz="1350" b="1">
                <a:solidFill>
                  <a:srgbClr val="8F3A22"/>
                </a:solidFill>
                <a:latin typeface="Calibri"/>
              </a:rPr>
              <a:t>6.  </a:t>
            </a:r>
            <a:r>
              <a:rPr sz="1350" b="1" i="0">
                <a:solidFill>
                  <a:srgbClr val="2A2622"/>
                </a:solidFill>
                <a:latin typeface="Calibri"/>
              </a:rPr>
              <a:t>"Monsoon me bhi moisturizer? Haan — gel type"</a:t>
            </a:r>
            <a:r>
              <a:rPr sz="1350" b="0" i="0">
                <a:solidFill>
                  <a:srgbClr val="2A2622"/>
                </a:solidFill>
                <a:latin typeface="Calibri"/>
              </a:rPr>
              <a:t> — seasonal. [Seasonal]</a:t>
            </a:r>
          </a:p>
          <a:p>
            <a:pPr>
              <a:spcAft>
                <a:spcPts val="400"/>
              </a:spcAft>
            </a:pPr>
            <a:r>
              <a:rPr sz="1350" b="1">
                <a:solidFill>
                  <a:srgbClr val="8F3A22"/>
                </a:solidFill>
                <a:latin typeface="Calibri"/>
              </a:rPr>
              <a:t>7.  </a:t>
            </a:r>
            <a:r>
              <a:rPr sz="1350" b="1" i="0">
                <a:solidFill>
                  <a:srgbClr val="2A2622"/>
                </a:solidFill>
                <a:latin typeface="Calibri"/>
              </a:rPr>
              <a:t>"Texture test: gel cream haath pe"</a:t>
            </a:r>
            <a:r>
              <a:rPr sz="1350" b="0" i="0">
                <a:solidFill>
                  <a:srgbClr val="2A2622"/>
                </a:solidFill>
                <a:latin typeface="Calibri"/>
              </a:rPr>
              <a:t> — absorption ASMR. [Demo]</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3: MOISTURIZER / GEL-CREAM (the routine completer)</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8.  </a:t>
            </a:r>
            <a:r>
              <a:rPr sz="1350" b="1" i="0">
                <a:solidFill>
                  <a:srgbClr val="2A2622"/>
                </a:solidFill>
                <a:latin typeface="Calibri"/>
              </a:rPr>
              <a:t>"Winter me dryness: gel ya cream?"</a:t>
            </a:r>
            <a:r>
              <a:rPr sz="1350" b="0" i="0">
                <a:solidFill>
                  <a:srgbClr val="2A2622"/>
                </a:solidFill>
                <a:latin typeface="Calibri"/>
              </a:rPr>
              <a:t> — season switch education (Rajkot winter hook). [Seasonal]</a:t>
            </a:r>
          </a:p>
          <a:p>
            <a:pPr>
              <a:spcAft>
                <a:spcPts val="400"/>
              </a:spcAft>
            </a:pPr>
            <a:r>
              <a:rPr sz="1350" b="1">
                <a:solidFill>
                  <a:srgbClr val="8F3A22"/>
                </a:solidFill>
                <a:latin typeface="Calibri"/>
              </a:rPr>
              <a:t>9.  </a:t>
            </a:r>
            <a:r>
              <a:rPr sz="1350" b="1" i="0">
                <a:solidFill>
                  <a:srgbClr val="2A2622"/>
                </a:solidFill>
                <a:latin typeface="Calibri"/>
              </a:rPr>
              <a:t>"Nani ke totke ke baad moisturizer kyun?"</a:t>
            </a:r>
            <a:r>
              <a:rPr sz="1350" b="0" i="0">
                <a:solidFill>
                  <a:srgbClr val="2A2622"/>
                </a:solidFill>
                <a:latin typeface="Calibri"/>
              </a:rPr>
              <a:t> — cultural bridge: "oil nahi, hydration." [Relatable]</a:t>
            </a:r>
          </a:p>
          <a:p>
            <a:pPr>
              <a:spcAft>
                <a:spcPts val="400"/>
              </a:spcAft>
            </a:pPr>
            <a:r>
              <a:rPr sz="1350" b="1">
                <a:solidFill>
                  <a:srgbClr val="8F3A22"/>
                </a:solidFill>
                <a:latin typeface="Calibri"/>
              </a:rPr>
              <a:t>10.  </a:t>
            </a:r>
            <a:r>
              <a:rPr sz="1350" b="1" i="0">
                <a:solidFill>
                  <a:srgbClr val="2A2622"/>
                </a:solidFill>
                <a:latin typeface="Calibri"/>
              </a:rPr>
              <a:t>"60-sec routine — step 3"</a:t>
            </a:r>
            <a:r>
              <a:rPr sz="1350" b="0" i="0">
                <a:solidFill>
                  <a:srgbClr val="2A2622"/>
                </a:solidFill>
                <a:latin typeface="Calibri"/>
              </a:rPr>
              <a:t> — inside the 3-step (kit logic). [Routine]</a:t>
            </a:r>
          </a:p>
          <a:p>
            <a:pPr>
              <a:spcBef>
                <a:spcPts val="1000"/>
              </a:spcBef>
              <a:spcAft>
                <a:spcPts val="400"/>
              </a:spcAft>
            </a:pPr>
            <a:r>
              <a:rPr sz="1600" b="1" i="0">
                <a:solidFill>
                  <a:srgbClr val="8F3A22"/>
                </a:solidFill>
                <a:latin typeface="Calibri"/>
              </a:rPr>
              <a:t>5 Carousel ideas</a:t>
            </a:r>
          </a:p>
          <a:p>
            <a:pPr>
              <a:spcAft>
                <a:spcPts val="400"/>
              </a:spcAft>
            </a:pPr>
            <a:r>
              <a:rPr sz="1350" b="1">
                <a:solidFill>
                  <a:srgbClr val="8F3A22"/>
                </a:solidFill>
                <a:latin typeface="Calibri"/>
              </a:rPr>
              <a:t>1.  </a:t>
            </a:r>
            <a:r>
              <a:rPr sz="1350" b="0" i="0">
                <a:solidFill>
                  <a:srgbClr val="2A2622"/>
                </a:solidFill>
                <a:latin typeface="Calibri"/>
              </a:rPr>
              <a:t>"Dehydrated vs dry skin: kaise pata chalega (4 signs each)."</a:t>
            </a:r>
          </a:p>
          <a:p>
            <a:pPr>
              <a:spcAft>
                <a:spcPts val="400"/>
              </a:spcAft>
            </a:pPr>
            <a:r>
              <a:rPr sz="1350" b="1">
                <a:solidFill>
                  <a:srgbClr val="8F3A22"/>
                </a:solidFill>
                <a:latin typeface="Calibri"/>
              </a:rPr>
              <a:t>2.  </a:t>
            </a:r>
            <a:r>
              <a:rPr sz="1350" b="0" i="0">
                <a:solidFill>
                  <a:srgbClr val="2A2622"/>
                </a:solidFill>
                <a:latin typeface="Calibri"/>
              </a:rPr>
              <a:t>"Layering order: wash → serum → moisturizer → SPF (kyun yahi order)."</a:t>
            </a:r>
          </a:p>
          <a:p>
            <a:pPr>
              <a:spcAft>
                <a:spcPts val="400"/>
              </a:spcAft>
            </a:pPr>
            <a:r>
              <a:rPr sz="1350" b="1">
                <a:solidFill>
                  <a:srgbClr val="8F3A22"/>
                </a:solidFill>
                <a:latin typeface="Calibri"/>
              </a:rPr>
              <a:t>3.  </a:t>
            </a:r>
            <a:r>
              <a:rPr sz="1350" b="0" i="0">
                <a:solidFill>
                  <a:srgbClr val="2A2622"/>
                </a:solidFill>
                <a:latin typeface="Calibri"/>
              </a:rPr>
              <a:t>"Gel/cream/cream-gel: 3 types, 3 skin types, 3 seasons."</a:t>
            </a:r>
          </a:p>
          <a:p>
            <a:pPr>
              <a:spcAft>
                <a:spcPts val="400"/>
              </a:spcAft>
            </a:pPr>
            <a:r>
              <a:rPr sz="1350" b="1">
                <a:solidFill>
                  <a:srgbClr val="8F3A22"/>
                </a:solidFill>
                <a:latin typeface="Calibri"/>
              </a:rPr>
              <a:t>4.  </a:t>
            </a:r>
            <a:r>
              <a:rPr sz="1350" b="0" i="0">
                <a:solidFill>
                  <a:srgbClr val="2A2622"/>
                </a:solidFill>
                <a:latin typeface="Calibri"/>
              </a:rPr>
              <a:t>"AC-life walo ki moisture guide" (office women).</a:t>
            </a:r>
          </a:p>
          <a:p>
            <a:pPr>
              <a:spcAft>
                <a:spcPts val="400"/>
              </a:spcAft>
            </a:pPr>
            <a:r>
              <a:rPr sz="1350" b="1">
                <a:solidFill>
                  <a:srgbClr val="8F3A22"/>
                </a:solidFill>
                <a:latin typeface="Calibri"/>
              </a:rPr>
              <a:t>5.  </a:t>
            </a:r>
            <a:r>
              <a:rPr sz="1350" b="0" i="0">
                <a:solidFill>
                  <a:srgbClr val="2A2622"/>
                </a:solidFill>
                <a:latin typeface="Calibri"/>
              </a:rPr>
              <a:t>"Kit: 3 products, 60 second, roz" (bundle sales).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3: MOISTURIZER / GEL-CREAM (the routine completer)</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5 Story ideas</a:t>
            </a:r>
          </a:p>
          <a:p>
            <a:pPr>
              <a:spcAft>
                <a:spcPts val="400"/>
              </a:spcAft>
            </a:pPr>
            <a:r>
              <a:rPr sz="1350" b="1">
                <a:solidFill>
                  <a:srgbClr val="8F3A22"/>
                </a:solidFill>
                <a:latin typeface="Calibri"/>
              </a:rPr>
              <a:t>1.  </a:t>
            </a:r>
            <a:r>
              <a:rPr sz="1350" b="0" i="0">
                <a:solidFill>
                  <a:srgbClr val="2A2622"/>
                </a:solidFill>
                <a:latin typeface="Calibri"/>
              </a:rPr>
              <a:t>Poll: "Aapki skin: tight ☑️ / oily ☑️ / dono (combo) ☑️" → "dono = combo, yeh aapka routine."</a:t>
            </a:r>
          </a:p>
          <a:p>
            <a:pPr>
              <a:spcAft>
                <a:spcPts val="400"/>
              </a:spcAft>
            </a:pPr>
            <a:r>
              <a:rPr sz="1350" b="1">
                <a:solidFill>
                  <a:srgbClr val="8F3A22"/>
                </a:solidFill>
                <a:latin typeface="Calibri"/>
              </a:rPr>
              <a:t>2.  </a:t>
            </a:r>
            <a:r>
              <a:rPr sz="1350" b="0" i="0">
                <a:solidFill>
                  <a:srgbClr val="2A2622"/>
                </a:solidFill>
                <a:latin typeface="Calibri"/>
              </a:rPr>
              <a:t>Quiz: "Serum ke baad moisturizer kitne time baad? a) turant b) 30 sec c) 10 min" → b.</a:t>
            </a:r>
          </a:p>
          <a:p>
            <a:pPr>
              <a:spcAft>
                <a:spcPts val="400"/>
              </a:spcAft>
            </a:pPr>
            <a:r>
              <a:rPr sz="1350" b="1">
                <a:solidFill>
                  <a:srgbClr val="8F3A22"/>
                </a:solidFill>
                <a:latin typeface="Calibri"/>
              </a:rPr>
              <a:t>3.  </a:t>
            </a:r>
            <a:r>
              <a:rPr sz="1350" b="0" i="0">
                <a:solidFill>
                  <a:srgbClr val="2A2622"/>
                </a:solidFill>
                <a:latin typeface="Calibri"/>
              </a:rPr>
              <a:t>Texture ASMR story (2 frames) + "try karna ho? GLOW."</a:t>
            </a:r>
          </a:p>
          <a:p>
            <a:pPr>
              <a:spcAft>
                <a:spcPts val="400"/>
              </a:spcAft>
            </a:pPr>
            <a:r>
              <a:rPr sz="1350" b="1">
                <a:solidFill>
                  <a:srgbClr val="8F3A22"/>
                </a:solidFill>
                <a:latin typeface="Calibri"/>
              </a:rPr>
              <a:t>4.  </a:t>
            </a:r>
            <a:r>
              <a:rPr sz="1350" b="0" i="0">
                <a:solidFill>
                  <a:srgbClr val="2A2622"/>
                </a:solidFill>
                <a:latin typeface="Calibri"/>
              </a:rPr>
              <a:t>UGC: Gen-Z "girl math chai vs serum" clip.</a:t>
            </a:r>
          </a:p>
          <a:p>
            <a:pPr>
              <a:spcAft>
                <a:spcPts val="400"/>
              </a:spcAft>
            </a:pPr>
            <a:r>
              <a:rPr sz="1350" b="1">
                <a:solidFill>
                  <a:srgbClr val="8F3A22"/>
                </a:solidFill>
                <a:latin typeface="Calibri"/>
              </a:rPr>
              <a:t>5.  </a:t>
            </a:r>
            <a:r>
              <a:rPr sz="1350" b="0" i="0">
                <a:solidFill>
                  <a:srgbClr val="2A2622"/>
                </a:solidFill>
                <a:latin typeface="Calibri"/>
              </a:rPr>
              <a:t>Countdown + DM CTA (kit offer).</a:t>
            </a:r>
          </a:p>
          <a:p>
            <a:pPr>
              <a:spcBef>
                <a:spcPts val="1000"/>
              </a:spcBef>
              <a:spcAft>
                <a:spcPts val="400"/>
              </a:spcAft>
            </a:pPr>
            <a:r>
              <a:rPr sz="1600" b="1" i="0">
                <a:solidFill>
                  <a:srgbClr val="8F3A22"/>
                </a:solidFill>
                <a:latin typeface="Calibri"/>
              </a:rPr>
              <a:t>5 Sales posts</a:t>
            </a:r>
          </a:p>
          <a:p>
            <a:pPr>
              <a:spcAft>
                <a:spcPts val="400"/>
              </a:spcAft>
            </a:pPr>
            <a:r>
              <a:rPr sz="1350" b="1">
                <a:solidFill>
                  <a:srgbClr val="8F3A22"/>
                </a:solidFill>
                <a:latin typeface="Calibri"/>
              </a:rPr>
              <a:t>1.  </a:t>
            </a:r>
            <a:r>
              <a:rPr sz="1350" b="0" i="0">
                <a:solidFill>
                  <a:srgbClr val="2A2622"/>
                </a:solidFill>
                <a:latin typeface="Calibri"/>
              </a:rPr>
              <a:t>"Routine complete karo: Serum + Moisturizer = 2/3 steps, ek box me" (bundle).</a:t>
            </a:r>
          </a:p>
          <a:p>
            <a:pPr>
              <a:spcAft>
                <a:spcPts val="400"/>
              </a:spcAft>
            </a:pPr>
            <a:r>
              <a:rPr sz="1350" b="1">
                <a:solidFill>
                  <a:srgbClr val="8F3A22"/>
                </a:solidFill>
                <a:latin typeface="Calibri"/>
              </a:rPr>
              <a:t>2.  </a:t>
            </a:r>
            <a:r>
              <a:rPr sz="1350" b="0" i="0">
                <a:solidFill>
                  <a:srgbClr val="2A2622"/>
                </a:solidFill>
                <a:latin typeface="Calibri"/>
              </a:rPr>
              <a:t>"Oily skin walo: gel moisturizer, ₹X, COD" (segment-specific).</a:t>
            </a:r>
          </a:p>
          <a:p>
            <a:pPr>
              <a:spcAft>
                <a:spcPts val="400"/>
              </a:spcAft>
            </a:pPr>
            <a:r>
              <a:rPr sz="1350" b="1">
                <a:solidFill>
                  <a:srgbClr val="8F3A22"/>
                </a:solidFill>
                <a:latin typeface="Calibri"/>
              </a:rPr>
              <a:t>3.  </a:t>
            </a:r>
            <a:r>
              <a:rPr sz="1350" b="0" i="0">
                <a:solidFill>
                  <a:srgbClr val="2A2622"/>
                </a:solidFill>
                <a:latin typeface="Calibri"/>
              </a:rPr>
              <a:t>"Winter ready: cream version agle mahine — waitlist me jao" (seasonal tease).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192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3: MOISTURIZER / GEL-CREAM (the routine completer)</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4.  </a:t>
            </a:r>
            <a:r>
              <a:rPr sz="1350" b="0" i="0">
                <a:solidFill>
                  <a:srgbClr val="2A2622"/>
                </a:solidFill>
                <a:latin typeface="Calibri"/>
              </a:rPr>
              <a:t>"3-step kit — sab kuch ek box me, free shipping" (AOV play).</a:t>
            </a:r>
          </a:p>
          <a:p>
            <a:pPr>
              <a:spcAft>
                <a:spcPts val="400"/>
              </a:spcAft>
            </a:pPr>
            <a:r>
              <a:rPr sz="1350" b="1">
                <a:solidFill>
                  <a:srgbClr val="8F3A22"/>
                </a:solidFill>
                <a:latin typeface="Calibri"/>
              </a:rPr>
              <a:t>5.  </a:t>
            </a:r>
            <a:r>
              <a:rPr sz="1350" b="0" i="0">
                <a:solidFill>
                  <a:srgbClr val="2A2622"/>
                </a:solidFill>
                <a:latin typeface="Calibri"/>
              </a:rPr>
              <a:t>"Maa ke liye gifting box: Serum + Moisturizer + card" (Diwali seed).</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193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4: SUNSCREEN SPF 50 (Month-2 hero)</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Positioning: "Gujarat ke mausam ke liye. Tan-look, dark-spots-ka-dikhna, age-look — teeno se related, sabse sasta step." Launch window: Day 45–60 (late Sep–Oct = pre-wedding-season prep + "winter sunscreen bhi chahiye" education).</a:t>
            </a:r>
          </a:p>
          <a:p>
            <a:pPr>
              <a:spcBef>
                <a:spcPts val="1000"/>
              </a:spcBef>
              <a:spcAft>
                <a:spcPts val="400"/>
              </a:spcAft>
            </a:pPr>
            <a:r>
              <a:rPr sz="1600" b="1" i="0">
                <a:solidFill>
                  <a:srgbClr val="8F3A22"/>
                </a:solidFill>
                <a:latin typeface="Calibri"/>
              </a:rPr>
              <a:t>10 Reel ideas</a:t>
            </a:r>
          </a:p>
          <a:p>
            <a:pPr>
              <a:spcAft>
                <a:spcPts val="400"/>
              </a:spcAft>
            </a:pPr>
            <a:r>
              <a:rPr sz="1350" b="1">
                <a:solidFill>
                  <a:srgbClr val="8F3A22"/>
                </a:solidFill>
                <a:latin typeface="Calibri"/>
              </a:rPr>
              <a:t>1.  </a:t>
            </a:r>
            <a:r>
              <a:rPr sz="1350" b="1" i="0">
                <a:solidFill>
                  <a:srgbClr val="2A2622"/>
                </a:solidFill>
                <a:latin typeface="Calibri"/>
              </a:rPr>
              <a:t>"Ghar baithe bhi UV — window se bhi aata hai."</a:t>
            </a:r>
            <a:r>
              <a:rPr sz="1350" b="0" i="0">
                <a:solidFill>
                  <a:srgbClr val="2A2622"/>
                </a:solidFill>
                <a:latin typeface="Calibri"/>
              </a:rPr>
              <a:t> (re-run D18 as product hero) [Problem]</a:t>
            </a:r>
          </a:p>
          <a:p>
            <a:pPr>
              <a:spcAft>
                <a:spcPts val="400"/>
              </a:spcAft>
            </a:pPr>
            <a:r>
              <a:rPr sz="1350" b="1">
                <a:solidFill>
                  <a:srgbClr val="8F3A22"/>
                </a:solidFill>
                <a:latin typeface="Calibri"/>
              </a:rPr>
              <a:t>2.  </a:t>
            </a:r>
            <a:r>
              <a:rPr sz="1350" b="1" i="0">
                <a:solidFill>
                  <a:srgbClr val="2A2622"/>
                </a:solidFill>
                <a:latin typeface="Calibri"/>
              </a:rPr>
              <a:t>"Cloud ke din bhi 80% UV"</a:t>
            </a:r>
            <a:r>
              <a:rPr sz="1350" b="0" i="0">
                <a:solidFill>
                  <a:srgbClr val="2A2622"/>
                </a:solidFill>
                <a:latin typeface="Calibri"/>
              </a:rPr>
              <a:t> — the weather myth. [Myth]</a:t>
            </a:r>
          </a:p>
          <a:p>
            <a:pPr>
              <a:spcAft>
                <a:spcPts val="400"/>
              </a:spcAft>
            </a:pPr>
            <a:r>
              <a:rPr sz="1350" b="1">
                <a:solidFill>
                  <a:srgbClr val="8F3A22"/>
                </a:solidFill>
                <a:latin typeface="Calibri"/>
              </a:rPr>
              <a:t>3.  </a:t>
            </a:r>
            <a:r>
              <a:rPr sz="1350" b="1" i="0">
                <a:solidFill>
                  <a:srgbClr val="2A2622"/>
                </a:solidFill>
                <a:latin typeface="Calibri"/>
              </a:rPr>
              <a:t>"SPF 30 vs 50: math dekho"</a:t>
            </a:r>
            <a:r>
              <a:rPr sz="1350" b="0" i="0">
                <a:solidFill>
                  <a:srgbClr val="2A2622"/>
                </a:solidFill>
                <a:latin typeface="Calibri"/>
              </a:rPr>
              <a:t> — comparison education. [Education]</a:t>
            </a:r>
          </a:p>
          <a:p>
            <a:pPr>
              <a:spcAft>
                <a:spcPts val="400"/>
              </a:spcAft>
            </a:pPr>
            <a:r>
              <a:rPr sz="1350" b="1">
                <a:solidFill>
                  <a:srgbClr val="8F3A22"/>
                </a:solidFill>
                <a:latin typeface="Calibri"/>
              </a:rPr>
              <a:t>4.  </a:t>
            </a:r>
            <a:r>
              <a:rPr sz="1350" b="1" i="0">
                <a:solidFill>
                  <a:srgbClr val="2A2622"/>
                </a:solidFill>
                <a:latin typeface="Calibri"/>
              </a:rPr>
              <a:t>"White cast? Gujarat me yeh sabse badi soch hai"</a:t>
            </a:r>
            <a:r>
              <a:rPr sz="1350" b="0" i="0">
                <a:solidFill>
                  <a:srgbClr val="2A2622"/>
                </a:solidFill>
                <a:latin typeface="Calibri"/>
              </a:rPr>
              <a:t> — no-white-cast formulation angle (show texture on real tan skin). [Desire]</a:t>
            </a:r>
          </a:p>
          <a:p>
            <a:pPr>
              <a:spcAft>
                <a:spcPts val="400"/>
              </a:spcAft>
            </a:pPr>
            <a:r>
              <a:rPr sz="1350" b="1">
                <a:solidFill>
                  <a:srgbClr val="8F3A22"/>
                </a:solidFill>
                <a:latin typeface="Calibri"/>
              </a:rPr>
              <a:t>5.  </a:t>
            </a:r>
            <a:r>
              <a:rPr sz="1350" b="1" i="0">
                <a:solidFill>
                  <a:srgbClr val="2A2622"/>
                </a:solidFill>
                <a:latin typeface="Calibri"/>
              </a:rPr>
              <a:t>"Subah 6:45 — step 4: SPF"</a:t>
            </a:r>
            <a:r>
              <a:rPr sz="1350" b="0" i="0">
                <a:solidFill>
                  <a:srgbClr val="2A2622"/>
                </a:solidFill>
                <a:latin typeface="Calibri"/>
              </a:rPr>
              <a:t> — inside the routine. [Routine]</a:t>
            </a:r>
          </a:p>
          <a:p>
            <a:pPr>
              <a:spcAft>
                <a:spcPts val="400"/>
              </a:spcAft>
            </a:pPr>
            <a:r>
              <a:rPr sz="1350" b="1">
                <a:solidFill>
                  <a:srgbClr val="8F3A22"/>
                </a:solidFill>
                <a:latin typeface="Calibri"/>
              </a:rPr>
              <a:t>6.  </a:t>
            </a:r>
            <a:r>
              <a:rPr sz="1350" b="1" i="0">
                <a:solidFill>
                  <a:srgbClr val="2A2622"/>
                </a:solidFill>
                <a:latin typeface="Calibri"/>
              </a:rPr>
              <a:t>"2–3 ghante me reapply — kaise bina make-up kharab kiye"</a:t>
            </a:r>
            <a:r>
              <a:rPr sz="1350" b="0" i="0">
                <a:solidFill>
                  <a:srgbClr val="2A2622"/>
                </a:solidFill>
                <a:latin typeface="Calibri"/>
              </a:rPr>
              <a:t> — practical. [How-to]</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194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4: SUNSCREEN SPF 50 (Month-2 hero)</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7.  </a:t>
            </a:r>
            <a:r>
              <a:rPr sz="1350" b="1" i="0">
                <a:solidFill>
                  <a:srgbClr val="2A2622"/>
                </a:solidFill>
                <a:latin typeface="Calibri"/>
              </a:rPr>
              <a:t>"Wedding season: 4 hafte pehle SPF + VC = glow plan"</a:t>
            </a:r>
            <a:r>
              <a:rPr sz="1350" b="0" i="0">
                <a:solidFill>
                  <a:srgbClr val="2A2622"/>
                </a:solidFill>
                <a:latin typeface="Calibri"/>
              </a:rPr>
              <a:t> — seasonal (Oct–Feb Gujarat weddings). [Seasonal]</a:t>
            </a:r>
          </a:p>
          <a:p>
            <a:pPr>
              <a:spcAft>
                <a:spcPts val="400"/>
              </a:spcAft>
            </a:pPr>
            <a:r>
              <a:rPr sz="1350" b="1">
                <a:solidFill>
                  <a:srgbClr val="8F3A22"/>
                </a:solidFill>
                <a:latin typeface="Calibri"/>
              </a:rPr>
              <a:t>8.  </a:t>
            </a:r>
            <a:r>
              <a:rPr sz="1350" b="1" i="0">
                <a:solidFill>
                  <a:srgbClr val="2A2622"/>
                </a:solidFill>
                <a:latin typeface="Calibri"/>
              </a:rPr>
              <a:t>"Mard + sunscreen: 3 second ka step"</a:t>
            </a:r>
            <a:r>
              <a:rPr sz="1350" b="0" i="0">
                <a:solidFill>
                  <a:srgbClr val="2A2622"/>
                </a:solidFill>
                <a:latin typeface="Calibri"/>
              </a:rPr>
              <a:t> — male segment (SG Highway, outdoor). [Segment]</a:t>
            </a:r>
          </a:p>
          <a:p>
            <a:pPr>
              <a:spcAft>
                <a:spcPts val="400"/>
              </a:spcAft>
            </a:pPr>
            <a:r>
              <a:rPr sz="1350" b="1">
                <a:solidFill>
                  <a:srgbClr val="8F3A22"/>
                </a:solidFill>
                <a:latin typeface="Calibri"/>
              </a:rPr>
              <a:t>9.  </a:t>
            </a:r>
            <a:r>
              <a:rPr sz="1350" b="1" i="0">
                <a:solidFill>
                  <a:srgbClr val="2A2622"/>
                </a:solidFill>
                <a:latin typeface="Calibri"/>
              </a:rPr>
              <a:t>"Sunscreen expiry: khol ke dekho"</a:t>
            </a:r>
            <a:r>
              <a:rPr sz="1350" b="0" i="0">
                <a:solidFill>
                  <a:srgbClr val="2A2622"/>
                </a:solidFill>
                <a:latin typeface="Calibri"/>
              </a:rPr>
              <a:t> — safety/education (old sunscreen = waste). [Education]</a:t>
            </a:r>
          </a:p>
          <a:p>
            <a:pPr>
              <a:spcAft>
                <a:spcPts val="400"/>
              </a:spcAft>
            </a:pPr>
            <a:r>
              <a:rPr sz="1350" b="1">
                <a:solidFill>
                  <a:srgbClr val="8F3A22"/>
                </a:solidFill>
                <a:latin typeface="Calibri"/>
              </a:rPr>
              <a:t>10.  </a:t>
            </a:r>
            <a:r>
              <a:rPr sz="1350" b="1" i="0">
                <a:solidFill>
                  <a:srgbClr val="2A2622"/>
                </a:solidFill>
                <a:latin typeface="Calibri"/>
              </a:rPr>
              <a:t>"Monsoon me sunscreen? Bheege chehre pe?"</a:t>
            </a:r>
            <a:r>
              <a:rPr sz="1350" b="0" i="0">
                <a:solidFill>
                  <a:srgbClr val="2A2622"/>
                </a:solidFill>
                <a:latin typeface="Calibri"/>
              </a:rPr>
              <a:t> — monsoon confusion, correct order. [Seasonal]</a:t>
            </a:r>
          </a:p>
          <a:p>
            <a:pPr>
              <a:spcBef>
                <a:spcPts val="1000"/>
              </a:spcBef>
              <a:spcAft>
                <a:spcPts val="400"/>
              </a:spcAft>
            </a:pPr>
            <a:r>
              <a:rPr sz="1600" b="1" i="0">
                <a:solidFill>
                  <a:srgbClr val="8F3A22"/>
                </a:solidFill>
                <a:latin typeface="Calibri"/>
              </a:rPr>
              <a:t>5 Carousel ideas</a:t>
            </a:r>
          </a:p>
          <a:p>
            <a:pPr>
              <a:spcAft>
                <a:spcPts val="400"/>
              </a:spcAft>
            </a:pPr>
            <a:r>
              <a:rPr sz="1350" b="1">
                <a:solidFill>
                  <a:srgbClr val="8F3A22"/>
                </a:solidFill>
                <a:latin typeface="Calibri"/>
              </a:rPr>
              <a:t>1.  </a:t>
            </a:r>
            <a:r>
              <a:rPr sz="1350" b="0" i="0">
                <a:solidFill>
                  <a:srgbClr val="2A2622"/>
                </a:solidFill>
                <a:latin typeface="Calibri"/>
              </a:rPr>
              <a:t>"SPF shopping: label pe kya padhna hai (SPF, PA++++, broad-spectrum, expiry, quantity)."</a:t>
            </a:r>
          </a:p>
          <a:p>
            <a:pPr>
              <a:spcAft>
                <a:spcPts val="400"/>
              </a:spcAft>
            </a:pPr>
            <a:r>
              <a:rPr sz="1350" b="1">
                <a:solidFill>
                  <a:srgbClr val="8F3A22"/>
                </a:solidFill>
                <a:latin typeface="Calibri"/>
              </a:rPr>
              <a:t>2.  </a:t>
            </a:r>
            <a:r>
              <a:rPr sz="1350" b="0" i="0">
                <a:solidFill>
                  <a:srgbClr val="2A2622"/>
                </a:solidFill>
                <a:latin typeface="Calibri"/>
              </a:rPr>
              <a:t>"UV ka din bhar ka hisaab: subah→shaandh (kya ho raha hai aapki skin ke saath)."</a:t>
            </a:r>
          </a:p>
          <a:p>
            <a:pPr>
              <a:spcAft>
                <a:spcPts val="400"/>
              </a:spcAft>
            </a:pPr>
            <a:r>
              <a:rPr sz="1350" b="1">
                <a:solidFill>
                  <a:srgbClr val="8F3A22"/>
                </a:solidFill>
                <a:latin typeface="Calibri"/>
              </a:rPr>
              <a:t>3.  </a:t>
            </a:r>
            <a:r>
              <a:rPr sz="1350" b="0" i="0">
                <a:solidFill>
                  <a:srgbClr val="2A2622"/>
                </a:solidFill>
                <a:latin typeface="Calibri"/>
              </a:rPr>
              <a:t>"SPF + Vitamin C: yahi subah ka power duo" (cross-sell).</a:t>
            </a:r>
          </a:p>
          <a:p>
            <a:pPr>
              <a:spcAft>
                <a:spcPts val="400"/>
              </a:spcAft>
            </a:pPr>
            <a:r>
              <a:rPr sz="1350" b="1">
                <a:solidFill>
                  <a:srgbClr val="8F3A22"/>
                </a:solidFill>
                <a:latin typeface="Calibri"/>
              </a:rPr>
              <a:t>4.  </a:t>
            </a:r>
            <a:r>
              <a:rPr sz="1350" b="0" i="0">
                <a:solidFill>
                  <a:srgbClr val="2A2622"/>
                </a:solidFill>
                <a:latin typeface="Calibri"/>
              </a:rPr>
              <a:t>"Office + car + ghar: indoor UV ka sach."</a:t>
            </a:r>
          </a:p>
          <a:p>
            <a:pPr>
              <a:spcAft>
                <a:spcPts val="400"/>
              </a:spcAft>
            </a:pPr>
            <a:r>
              <a:rPr sz="1350" b="1">
                <a:solidFill>
                  <a:srgbClr val="8F3A22"/>
                </a:solidFill>
                <a:latin typeface="Calibri"/>
              </a:rPr>
              <a:t>5.  </a:t>
            </a:r>
            <a:r>
              <a:rPr sz="1350" b="0" i="0">
                <a:solidFill>
                  <a:srgbClr val="2A2622"/>
                </a:solidFill>
                <a:latin typeface="Calibri"/>
              </a:rPr>
              <a:t>"Wedding-season glow calendar: 4-6 hafte pehle kya karna hai" (seasonal sales).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195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4: SUNSCREEN SPF 50 (Month-2 hero)</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5 Story ideas</a:t>
            </a:r>
          </a:p>
          <a:p>
            <a:pPr>
              <a:spcAft>
                <a:spcPts val="400"/>
              </a:spcAft>
            </a:pPr>
            <a:r>
              <a:rPr sz="1350" b="1">
                <a:solidFill>
                  <a:srgbClr val="8F3A22"/>
                </a:solidFill>
                <a:latin typeface="Calibri"/>
              </a:rPr>
              <a:t>1.  </a:t>
            </a:r>
            <a:r>
              <a:rPr sz="1350" b="0" i="0">
                <a:solidFill>
                  <a:srgbClr val="2A2622"/>
                </a:solidFill>
                <a:latin typeface="Calibri"/>
              </a:rPr>
              <a:t>Quiz: "Kitne SPF chahiye? a) 30 b) 50 c) dono theek" → 30+, daily.</a:t>
            </a:r>
          </a:p>
          <a:p>
            <a:pPr>
              <a:spcAft>
                <a:spcPts val="400"/>
              </a:spcAft>
            </a:pPr>
            <a:r>
              <a:rPr sz="1350" b="1">
                <a:solidFill>
                  <a:srgbClr val="8F3A22"/>
                </a:solidFill>
                <a:latin typeface="Calibri"/>
              </a:rPr>
              <a:t>2.  </a:t>
            </a:r>
            <a:r>
              <a:rPr sz="1350" b="0" i="0">
                <a:solidFill>
                  <a:srgbClr val="2A2622"/>
                </a:solidFill>
                <a:latin typeface="Calibri"/>
              </a:rPr>
              <a:t>Poll: "SPF lagati ho: roz ☑️ / sirf bahar jaane par ☑️" → "sirf bahar jaane par" walo ke liye aaj ki reel.</a:t>
            </a:r>
          </a:p>
          <a:p>
            <a:pPr>
              <a:spcAft>
                <a:spcPts val="400"/>
              </a:spcAft>
            </a:pPr>
            <a:r>
              <a:rPr sz="1350" b="1">
                <a:solidFill>
                  <a:srgbClr val="8F3A22"/>
                </a:solidFill>
                <a:latin typeface="Calibri"/>
              </a:rPr>
              <a:t>3.  </a:t>
            </a:r>
            <a:r>
              <a:rPr sz="1350" b="0" i="0">
                <a:solidFill>
                  <a:srgbClr val="2A2622"/>
                </a:solidFill>
                <a:latin typeface="Calibri"/>
              </a:rPr>
              <a:t>White-cast texture test on camera (hand, real tan skin) + "kya laga? SPF 50 RANGAT."</a:t>
            </a:r>
          </a:p>
          <a:p>
            <a:pPr>
              <a:spcAft>
                <a:spcPts val="400"/>
              </a:spcAft>
            </a:pPr>
            <a:r>
              <a:rPr sz="1350" b="1">
                <a:solidFill>
                  <a:srgbClr val="8F3A22"/>
                </a:solidFill>
                <a:latin typeface="Calibri"/>
              </a:rPr>
              <a:t>4.  </a:t>
            </a:r>
            <a:r>
              <a:rPr sz="1350" b="0" i="0">
                <a:solidFill>
                  <a:srgbClr val="2A2622"/>
                </a:solidFill>
                <a:latin typeface="Calibri"/>
              </a:rPr>
              <a:t>UGC repost: male 3-sec sunscreen clip.</a:t>
            </a:r>
          </a:p>
          <a:p>
            <a:pPr>
              <a:spcAft>
                <a:spcPts val="400"/>
              </a:spcAft>
            </a:pPr>
            <a:r>
              <a:rPr sz="1350" b="1">
                <a:solidFill>
                  <a:srgbClr val="8F3A22"/>
                </a:solidFill>
                <a:latin typeface="Calibri"/>
              </a:rPr>
              <a:t>5.  </a:t>
            </a:r>
            <a:r>
              <a:rPr sz="1350" b="0" i="0">
                <a:solidFill>
                  <a:srgbClr val="2A2622"/>
                </a:solidFill>
                <a:latin typeface="Calibri"/>
              </a:rPr>
              <a:t>Launch countdown + "GLOW" DM CTA.</a:t>
            </a:r>
          </a:p>
          <a:p>
            <a:pPr>
              <a:spcBef>
                <a:spcPts val="1000"/>
              </a:spcBef>
              <a:spcAft>
                <a:spcPts val="400"/>
              </a:spcAft>
            </a:pPr>
            <a:r>
              <a:rPr sz="1600" b="1" i="0">
                <a:solidFill>
                  <a:srgbClr val="8F3A22"/>
                </a:solidFill>
                <a:latin typeface="Calibri"/>
              </a:rPr>
              <a:t>5 Sales posts</a:t>
            </a:r>
          </a:p>
          <a:p>
            <a:pPr>
              <a:spcAft>
                <a:spcPts val="400"/>
              </a:spcAft>
            </a:pPr>
            <a:r>
              <a:rPr sz="1350" b="1">
                <a:solidFill>
                  <a:srgbClr val="8F3A22"/>
                </a:solidFill>
                <a:latin typeface="Calibri"/>
              </a:rPr>
              <a:t>1.  </a:t>
            </a:r>
            <a:r>
              <a:rPr sz="1350" b="1" i="0">
                <a:solidFill>
                  <a:srgbClr val="2A2622"/>
                </a:solidFill>
                <a:latin typeface="Calibri"/>
              </a:rPr>
              <a:t>Sunscreen launch: "Gujarat ke mausam ke liye SPF 50 — no white-cast feel, ₹X, COD."</a:t>
            </a:r>
          </a:p>
          <a:p>
            <a:pPr>
              <a:spcAft>
                <a:spcPts val="400"/>
              </a:spcAft>
            </a:pPr>
            <a:r>
              <a:rPr sz="1350" b="1">
                <a:solidFill>
                  <a:srgbClr val="8F3A22"/>
                </a:solidFill>
                <a:latin typeface="Calibri"/>
              </a:rPr>
              <a:t>2.  </a:t>
            </a:r>
            <a:r>
              <a:rPr sz="1350" b="0" i="0">
                <a:solidFill>
                  <a:srgbClr val="2A2622"/>
                </a:solidFill>
                <a:latin typeface="Calibri"/>
              </a:rPr>
              <a:t>"SPF + Serum kit: subah ka power duo, ek box me" (cross-sell to existing buyers via WhatsApp broadcast).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196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4: SUNSCREEN SPF 50 (Month-2 hero)</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3.  </a:t>
            </a:r>
            <a:r>
              <a:rPr sz="1350" b="0" i="0">
                <a:solidFill>
                  <a:srgbClr val="2A2622"/>
                </a:solidFill>
                <a:latin typeface="Calibri"/>
              </a:rPr>
              <a:t>"Wedding glow kit: VC + SPF + Moisturizer — 6 hafte pehle shuru" (seasonal AOV play).</a:t>
            </a:r>
          </a:p>
          <a:p>
            <a:pPr>
              <a:spcAft>
                <a:spcPts val="400"/>
              </a:spcAft>
            </a:pPr>
            <a:r>
              <a:rPr sz="1350" b="1">
                <a:solidFill>
                  <a:srgbClr val="8F3A22"/>
                </a:solidFill>
                <a:latin typeface="Calibri"/>
              </a:rPr>
              <a:t>4.  </a:t>
            </a:r>
            <a:r>
              <a:rPr sz="1350" b="0" i="0">
                <a:solidFill>
                  <a:srgbClr val="2A2622"/>
                </a:solidFill>
                <a:latin typeface="Calibri"/>
              </a:rPr>
              <a:t>"Mard: 3 second ka step, COD" (male stack).</a:t>
            </a:r>
          </a:p>
          <a:p>
            <a:pPr>
              <a:spcAft>
                <a:spcPts val="400"/>
              </a:spcAft>
            </a:pPr>
            <a:r>
              <a:rPr sz="1350" b="1">
                <a:solidFill>
                  <a:srgbClr val="8F3A22"/>
                </a:solidFill>
                <a:latin typeface="Calibri"/>
              </a:rPr>
              <a:t>5.  </a:t>
            </a:r>
            <a:r>
              <a:rPr sz="1350" b="0" i="0">
                <a:solidFill>
                  <a:srgbClr val="2A2622"/>
                </a:solidFill>
                <a:latin typeface="Calibri"/>
              </a:rPr>
              <a:t>"Student SPF: ₹X, COD, hostel me bhi milega" (college segment).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197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HERO-4 content ratio (per week, during launch)</a:t>
            </a:r>
          </a:p>
          <a:p>
            <a:r>
              <a:rPr sz="1200" i="1">
                <a:solidFill>
                  <a:srgbClr val="57504A"/>
                </a:solidFill>
                <a:latin typeface="Calibri"/>
              </a:rPr>
              <a:t>PART 11 — Product-Specific Content — Hero 4</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Vitamin C Serum: 3–4 product mentions/week (1 as hero)</a:t>
            </a:r>
          </a:p>
          <a:p>
            <a:pPr>
              <a:spcAft>
                <a:spcPts val="400"/>
              </a:spcAft>
            </a:pPr>
            <a:r>
              <a:rPr sz="1350">
                <a:solidFill>
                  <a:srgbClr val="B44A2E"/>
                </a:solidFill>
                <a:latin typeface="Calibri"/>
              </a:rPr>
              <a:t>•  </a:t>
            </a:r>
            <a:r>
              <a:rPr sz="1350" b="0" i="0">
                <a:solidFill>
                  <a:srgbClr val="2A2622"/>
                </a:solidFill>
                <a:latin typeface="Calibri"/>
              </a:rPr>
              <a:t>Face Wash: 1–2 (inside routines + male segment)</a:t>
            </a:r>
          </a:p>
          <a:p>
            <a:pPr>
              <a:spcAft>
                <a:spcPts val="400"/>
              </a:spcAft>
            </a:pPr>
            <a:r>
              <a:rPr sz="1350">
                <a:solidFill>
                  <a:srgbClr val="B44A2E"/>
                </a:solidFill>
                <a:latin typeface="Calibri"/>
              </a:rPr>
              <a:t>•  </a:t>
            </a:r>
            <a:r>
              <a:rPr sz="1350" b="0" i="0">
                <a:solidFill>
                  <a:srgbClr val="2A2622"/>
                </a:solidFill>
                <a:latin typeface="Calibri"/>
              </a:rPr>
              <a:t>Moisturizer: 1–2 (kit bundle)</a:t>
            </a:r>
          </a:p>
          <a:p>
            <a:pPr>
              <a:spcAft>
                <a:spcPts val="400"/>
              </a:spcAft>
            </a:pPr>
            <a:r>
              <a:rPr sz="1350">
                <a:solidFill>
                  <a:srgbClr val="B44A2E"/>
                </a:solidFill>
                <a:latin typeface="Calibri"/>
              </a:rPr>
              <a:t>•  </a:t>
            </a:r>
            <a:r>
              <a:rPr sz="1350" b="0" i="0">
                <a:solidFill>
                  <a:srgbClr val="2A2622"/>
                </a:solidFill>
                <a:latin typeface="Calibri"/>
              </a:rPr>
              <a:t>Sunscreen: 1 (waitlist seed until launch; then it becomes hero for weeks 7–12)</a:t>
            </a:r>
          </a:p>
          <a:p>
            <a:pPr>
              <a:spcAft>
                <a:spcPts val="700"/>
              </a:spcAft>
            </a:pPr>
            <a:r>
              <a:rPr sz="1350" b="1" i="0">
                <a:solidFill>
                  <a:srgbClr val="2A2622"/>
                </a:solidFill>
                <a:latin typeface="Calibri"/>
              </a:rPr>
              <a:t>Every product post = same anatomy:</a:t>
            </a:r>
            <a:r>
              <a:rPr sz="1350" b="0" i="0">
                <a:solidFill>
                  <a:srgbClr val="2A2622"/>
                </a:solidFill>
                <a:latin typeface="Calibri"/>
              </a:rPr>
              <a:t> hook → who it's for → what it does (safe language) → proof/texture → price + offer → COD/return → one CTA.</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198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12</a:t>
            </a:r>
          </a:p>
        </p:txBody>
      </p:sp>
      <p:sp>
        <p:nvSpPr>
          <p:cNvPr id="4" name="TextBox 3"/>
          <p:cNvSpPr txBox="1"/>
          <p:nvPr/>
        </p:nvSpPr>
        <p:spPr>
          <a:xfrm>
            <a:off x="914400" y="2377440"/>
            <a:ext cx="10362895" cy="1645920"/>
          </a:xfrm>
          <a:prstGeom prst="rect">
            <a:avLst/>
          </a:prstGeom>
          <a:noFill/>
        </p:spPr>
        <p:txBody>
          <a:bodyPr wrap="square">
            <a:spAutoFit/>
          </a:bodyPr>
          <a:lstStyle/>
          <a:p>
            <a:r>
              <a:rPr sz="2400" b="1">
                <a:solidFill>
                  <a:srgbClr val="8F3A22"/>
                </a:solidFill>
                <a:latin typeface="Calibri"/>
              </a:rPr>
              <a:t>§10 PRODUCT-SPECIFIC CONTENT — RANGAT NATURALS: SECONDARY 6 (MONTHS 2–4+)</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Product-Specific Content — Secondary 6</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199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Product-Specific Content — Secondary 6</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Launch discipline: these products appear as SEEDS first (teaser + waitlist), then get their wave. Each: 10 Reels, 5 Carousels, 5 Stories, 5 Sales posts.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5: NIGHT CREAM (Wave 3, Day 75–90)</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Positioning: "Raat ko skin ka repair time — subah ka fresh look isse shuru hota hai." Seed: D28 Q&amp;A ("raat ko kya lagana chahiye?").</a:t>
            </a:r>
          </a:p>
          <a:p>
            <a:pPr>
              <a:spcBef>
                <a:spcPts val="1000"/>
              </a:spcBef>
              <a:spcAft>
                <a:spcPts val="400"/>
              </a:spcAft>
            </a:pPr>
            <a:r>
              <a:rPr sz="1600" b="1" i="0">
                <a:solidFill>
                  <a:srgbClr val="8F3A22"/>
                </a:solidFill>
                <a:latin typeface="Calibri"/>
              </a:rPr>
              <a:t>10 Reel ideas</a:t>
            </a:r>
          </a:p>
          <a:p>
            <a:pPr>
              <a:spcAft>
                <a:spcPts val="400"/>
              </a:spcAft>
            </a:pPr>
            <a:r>
              <a:rPr sz="1350" b="1">
                <a:solidFill>
                  <a:srgbClr val="8F3A22"/>
                </a:solidFill>
                <a:latin typeface="Calibri"/>
              </a:rPr>
              <a:t>1.  </a:t>
            </a:r>
            <a:r>
              <a:rPr sz="1350" b="1" i="0">
                <a:solidFill>
                  <a:srgbClr val="2A2622"/>
                </a:solidFill>
                <a:latin typeface="Calibri"/>
              </a:rPr>
              <a:t>"Raat ko skin ka repair time — aap ne subah ko hi sab soch liya."</a:t>
            </a:r>
            <a:r>
              <a:rPr sz="1350" b="0" i="0">
                <a:solidFill>
                  <a:srgbClr val="2A2622"/>
                </a:solidFill>
                <a:latin typeface="Calibri"/>
              </a:rPr>
              <a:t> [Problem/education]</a:t>
            </a:r>
          </a:p>
          <a:p>
            <a:pPr>
              <a:spcAft>
                <a:spcPts val="400"/>
              </a:spcAft>
            </a:pPr>
            <a:r>
              <a:rPr sz="1350" b="1">
                <a:solidFill>
                  <a:srgbClr val="8F3A22"/>
                </a:solidFill>
                <a:latin typeface="Calibri"/>
              </a:rPr>
              <a:t>2.  </a:t>
            </a:r>
            <a:r>
              <a:rPr sz="1350" b="1" i="0">
                <a:solidFill>
                  <a:srgbClr val="2A2622"/>
                </a:solidFill>
                <a:latin typeface="Calibri"/>
              </a:rPr>
              <a:t>"Serum raat ko nahi? 2 reasons why night is for creams."</a:t>
            </a:r>
            <a:r>
              <a:rPr sz="1350" b="0" i="0">
                <a:solidFill>
                  <a:srgbClr val="2A2622"/>
                </a:solidFill>
                <a:latin typeface="Calibri"/>
              </a:rPr>
              <a:t> [Education]</a:t>
            </a:r>
          </a:p>
          <a:p>
            <a:pPr>
              <a:spcAft>
                <a:spcPts val="400"/>
              </a:spcAft>
            </a:pPr>
            <a:r>
              <a:rPr sz="1350" b="1">
                <a:solidFill>
                  <a:srgbClr val="8F3A22"/>
                </a:solidFill>
                <a:latin typeface="Calibri"/>
              </a:rPr>
              <a:t>3.  </a:t>
            </a:r>
            <a:r>
              <a:rPr sz="1350" b="1" i="0">
                <a:solidFill>
                  <a:srgbClr val="2A2622"/>
                </a:solidFill>
                <a:latin typeface="Calibri"/>
              </a:rPr>
              <a:t>"Subah ka fresh face — raat ki routine se aata hai."</a:t>
            </a:r>
            <a:r>
              <a:rPr sz="1350" b="0" i="0">
                <a:solidFill>
                  <a:srgbClr val="2A2622"/>
                </a:solidFill>
                <a:latin typeface="Calibri"/>
              </a:rPr>
              <a:t> [Desire]</a:t>
            </a:r>
          </a:p>
          <a:p>
            <a:pPr>
              <a:spcAft>
                <a:spcPts val="400"/>
              </a:spcAft>
            </a:pPr>
            <a:r>
              <a:rPr sz="1350" b="1">
                <a:solidFill>
                  <a:srgbClr val="8F3A22"/>
                </a:solidFill>
                <a:latin typeface="Calibri"/>
              </a:rPr>
              <a:t>4.  </a:t>
            </a:r>
            <a:r>
              <a:rPr sz="1350" b="1" i="0">
                <a:solidFill>
                  <a:srgbClr val="2A2622"/>
                </a:solidFill>
                <a:latin typeface="Calibri"/>
              </a:rPr>
              <a:t>"Nani ne raat ko ghee/cold cream lagaya — sach? (myth vs modern night care)"</a:t>
            </a:r>
            <a:r>
              <a:rPr sz="1350" b="0" i="0">
                <a:solidFill>
                  <a:srgbClr val="2A2622"/>
                </a:solidFill>
                <a:latin typeface="Calibri"/>
              </a:rPr>
              <a:t> [Cultural myth]</a:t>
            </a:r>
          </a:p>
          <a:p>
            <a:pPr>
              <a:spcAft>
                <a:spcPts val="400"/>
              </a:spcAft>
            </a:pPr>
            <a:r>
              <a:rPr sz="1350" b="1">
                <a:solidFill>
                  <a:srgbClr val="8F3A22"/>
                </a:solidFill>
                <a:latin typeface="Calibri"/>
              </a:rPr>
              <a:t>5.  </a:t>
            </a:r>
            <a:r>
              <a:rPr sz="1350" b="1" i="0">
                <a:solidFill>
                  <a:srgbClr val="2A2622"/>
                </a:solidFill>
                <a:latin typeface="Calibri"/>
              </a:rPr>
              <a:t>"Heavy cream vs light night cream: aapka skin kaunsa?"</a:t>
            </a:r>
            <a:r>
              <a:rPr sz="1350" b="0" i="0">
                <a:solidFill>
                  <a:srgbClr val="2A2622"/>
                </a:solidFill>
                <a:latin typeface="Calibri"/>
              </a:rPr>
              <a:t> [Quiz]</a:t>
            </a:r>
          </a:p>
          <a:p>
            <a:pPr>
              <a:spcAft>
                <a:spcPts val="400"/>
              </a:spcAft>
            </a:pPr>
            <a:r>
              <a:rPr sz="1350" b="1">
                <a:solidFill>
                  <a:srgbClr val="8F3A22"/>
                </a:solidFill>
                <a:latin typeface="Calibri"/>
              </a:rPr>
              <a:t>6.  </a:t>
            </a:r>
            <a:r>
              <a:rPr sz="1350" b="1" i="0">
                <a:solidFill>
                  <a:srgbClr val="2A2622"/>
                </a:solidFill>
                <a:latin typeface="Calibri"/>
              </a:rPr>
              <a:t>"Raat ki 3-step: wash → (VC raat ko bhi ho sakta hai? clear rule) → night cream."</a:t>
            </a:r>
            <a:r>
              <a:rPr sz="1350" b="0" i="0">
                <a:solidFill>
                  <a:srgbClr val="2A2622"/>
                </a:solidFill>
                <a:latin typeface="Calibri"/>
              </a:rPr>
              <a:t> [Routine]</a:t>
            </a:r>
          </a:p>
          <a:p>
            <a:pPr>
              <a:spcAft>
                <a:spcPts val="400"/>
              </a:spcAft>
            </a:pPr>
            <a:r>
              <a:rPr sz="1350" b="1">
                <a:solidFill>
                  <a:srgbClr val="8F3A22"/>
                </a:solidFill>
                <a:latin typeface="Calibri"/>
              </a:rPr>
              <a:t>7.  </a:t>
            </a:r>
            <a:r>
              <a:rPr sz="1350" b="1" i="0">
                <a:solidFill>
                  <a:srgbClr val="2A2622"/>
                </a:solidFill>
                <a:latin typeface="Calibri"/>
              </a:rPr>
              <a:t>"Pillow, paani, sone ka time: night cream ka partner."</a:t>
            </a:r>
            <a:r>
              <a:rPr sz="1350" b="0" i="0">
                <a:solidFill>
                  <a:srgbClr val="2A2622"/>
                </a:solidFill>
                <a:latin typeface="Calibri"/>
              </a:rPr>
              <a:t> (lifestyle, light) [Relatable]</a:t>
            </a:r>
          </a:p>
          <a:p>
            <a:pPr>
              <a:spcAft>
                <a:spcPts val="400"/>
              </a:spcAft>
            </a:pPr>
            <a:r>
              <a:rPr sz="1350" b="1">
                <a:solidFill>
                  <a:srgbClr val="8F3A22"/>
                </a:solidFill>
                <a:latin typeface="Calibri"/>
              </a:rPr>
              <a:t>8.  </a:t>
            </a:r>
            <a:r>
              <a:rPr sz="1350" b="1" i="0">
                <a:solidFill>
                  <a:srgbClr val="2A2622"/>
                </a:solidFill>
                <a:latin typeface="Calibri"/>
              </a:rPr>
              <a:t>"Sardiyo me tight face subah? Raat ki galti."</a:t>
            </a:r>
            <a:r>
              <a:rPr sz="1350" b="0" i="0">
                <a:solidFill>
                  <a:srgbClr val="2A2622"/>
                </a:solidFill>
                <a:latin typeface="Calibri"/>
              </a:rPr>
              <a:t> [Seasonal problem]</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201</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5: NIGHT CREAM (Wave 3, Day 75–90)</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9.  </a:t>
            </a:r>
            <a:r>
              <a:rPr sz="1350" b="1" i="0">
                <a:solidFill>
                  <a:srgbClr val="2A2622"/>
                </a:solidFill>
                <a:latin typeface="Calibri"/>
              </a:rPr>
              <a:t>"Texture: night cream ki pehli drop"</a:t>
            </a:r>
            <a:r>
              <a:rPr sz="1350" b="0" i="0">
                <a:solidFill>
                  <a:srgbClr val="2A2622"/>
                </a:solidFill>
                <a:latin typeface="Calibri"/>
              </a:rPr>
              <a:t> [ASMR demo]</a:t>
            </a:r>
          </a:p>
          <a:p>
            <a:pPr>
              <a:spcAft>
                <a:spcPts val="400"/>
              </a:spcAft>
            </a:pPr>
            <a:r>
              <a:rPr sz="1350" b="1">
                <a:solidFill>
                  <a:srgbClr val="8F3A22"/>
                </a:solidFill>
                <a:latin typeface="Calibri"/>
              </a:rPr>
              <a:t>10.  </a:t>
            </a:r>
            <a:r>
              <a:rPr sz="1350" b="1" i="0">
                <a:solidFill>
                  <a:srgbClr val="2A2622"/>
                </a:solidFill>
                <a:latin typeface="Calibri"/>
              </a:rPr>
              <a:t>"Founding 100 wali aahaiyon ne pucha: night cream kab?"</a:t>
            </a:r>
            <a:r>
              <a:rPr sz="1350" b="0" i="0">
                <a:solidFill>
                  <a:srgbClr val="2A2622"/>
                </a:solidFill>
                <a:latin typeface="Calibri"/>
              </a:rPr>
              <a:t> (waitlist payoff) [Community]</a:t>
            </a:r>
          </a:p>
          <a:p>
            <a:pPr>
              <a:spcBef>
                <a:spcPts val="1000"/>
              </a:spcBef>
              <a:spcAft>
                <a:spcPts val="400"/>
              </a:spcAft>
            </a:pPr>
            <a:r>
              <a:rPr sz="1600" b="1" i="0">
                <a:solidFill>
                  <a:srgbClr val="8F3A22"/>
                </a:solidFill>
                <a:latin typeface="Calibri"/>
              </a:rPr>
              <a:t>5 Carousels</a:t>
            </a:r>
          </a:p>
          <a:p>
            <a:pPr>
              <a:spcAft>
                <a:spcPts val="400"/>
              </a:spcAft>
            </a:pPr>
            <a:r>
              <a:rPr sz="1350" b="1">
                <a:solidFill>
                  <a:srgbClr val="8F3A22"/>
                </a:solidFill>
                <a:latin typeface="Calibri"/>
              </a:rPr>
              <a:t>1.  </a:t>
            </a:r>
            <a:r>
              <a:rPr sz="1350" b="0" i="0">
                <a:solidFill>
                  <a:srgbClr val="2A2622"/>
                </a:solidFill>
                <a:latin typeface="Calibri"/>
              </a:rPr>
              <a:t>"Raat ki routine: 3 steps, 4 minute (step-by-step)."</a:t>
            </a:r>
          </a:p>
          <a:p>
            <a:pPr>
              <a:spcAft>
                <a:spcPts val="400"/>
              </a:spcAft>
            </a:pPr>
            <a:r>
              <a:rPr sz="1350" b="1">
                <a:solidFill>
                  <a:srgbClr val="8F3A22"/>
                </a:solidFill>
                <a:latin typeface="Calibri"/>
              </a:rPr>
              <a:t>2.  </a:t>
            </a:r>
            <a:r>
              <a:rPr sz="1350" b="0" i="0">
                <a:solidFill>
                  <a:srgbClr val="2A2622"/>
                </a:solidFill>
                <a:latin typeface="Calibri"/>
              </a:rPr>
              <a:t>"Day vs night skincare: kyun alag chahiye (simple science)."</a:t>
            </a:r>
          </a:p>
          <a:p>
            <a:pPr>
              <a:spcAft>
                <a:spcPts val="400"/>
              </a:spcAft>
            </a:pPr>
            <a:r>
              <a:rPr sz="1350" b="1">
                <a:solidFill>
                  <a:srgbClr val="8F3A22"/>
                </a:solidFill>
                <a:latin typeface="Calibri"/>
              </a:rPr>
              <a:t>3.  </a:t>
            </a:r>
            <a:r>
              <a:rPr sz="1350" b="0" i="0">
                <a:solidFill>
                  <a:srgbClr val="2A2622"/>
                </a:solidFill>
                <a:latin typeface="Calibri"/>
              </a:rPr>
              <a:t>"Night cream shopping: kya dekho (texture, fragrance, skin type)."</a:t>
            </a:r>
          </a:p>
          <a:p>
            <a:pPr>
              <a:spcAft>
                <a:spcPts val="400"/>
              </a:spcAft>
            </a:pPr>
            <a:r>
              <a:rPr sz="1350" b="1">
                <a:solidFill>
                  <a:srgbClr val="8F3A22"/>
                </a:solidFill>
                <a:latin typeface="Calibri"/>
              </a:rPr>
              <a:t>4.  </a:t>
            </a:r>
            <a:r>
              <a:rPr sz="1350" b="0" i="0">
                <a:solidFill>
                  <a:srgbClr val="2A2622"/>
                </a:solidFill>
                <a:latin typeface="Calibri"/>
              </a:rPr>
              <a:t>"Winter night repair: Gujarat sardi + AC + dry patches" (seasonal).</a:t>
            </a:r>
          </a:p>
          <a:p>
            <a:pPr>
              <a:spcAft>
                <a:spcPts val="400"/>
              </a:spcAft>
            </a:pPr>
            <a:r>
              <a:rPr sz="1350" b="1">
                <a:solidFill>
                  <a:srgbClr val="8F3A22"/>
                </a:solidFill>
                <a:latin typeface="Calibri"/>
              </a:rPr>
              <a:t>5.  </a:t>
            </a:r>
            <a:r>
              <a:rPr sz="1350" b="0" i="0">
                <a:solidFill>
                  <a:srgbClr val="2A2622"/>
                </a:solidFill>
                <a:latin typeface="Calibri"/>
              </a:rPr>
              <a:t>"Kit upgrade: 3-step + night = poora din" (sales).</a:t>
            </a:r>
          </a:p>
          <a:p>
            <a:pPr>
              <a:spcBef>
                <a:spcPts val="1000"/>
              </a:spcBef>
              <a:spcAft>
                <a:spcPts val="400"/>
              </a:spcAft>
            </a:pPr>
            <a:r>
              <a:rPr sz="1600" b="1" i="0">
                <a:solidFill>
                  <a:srgbClr val="8F3A22"/>
                </a:solidFill>
                <a:latin typeface="Calibri"/>
              </a:rPr>
              <a:t>5 Stories</a:t>
            </a:r>
          </a:p>
          <a:p>
            <a:pPr>
              <a:spcAft>
                <a:spcPts val="400"/>
              </a:spcAft>
            </a:pPr>
            <a:r>
              <a:rPr sz="1350" b="1">
                <a:solidFill>
                  <a:srgbClr val="8F3A22"/>
                </a:solidFill>
                <a:latin typeface="Calibri"/>
              </a:rPr>
              <a:t>1.  </a:t>
            </a:r>
            <a:r>
              <a:rPr sz="1350" b="0" i="0">
                <a:solidFill>
                  <a:srgbClr val="2A2622"/>
                </a:solidFill>
                <a:latin typeface="Calibri"/>
              </a:rPr>
              <a:t>Poll: "Raat ko lagati ho: kuch nahi ☑️ / sirf moisturizer ☑️ / night cream ☑️."</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202</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5: NIGHT CREAM (Wave 3, Day 75–90)</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2.  </a:t>
            </a:r>
            <a:r>
              <a:rPr sz="1350" b="0" i="0">
                <a:solidFill>
                  <a:srgbClr val="2A2622"/>
                </a:solidFill>
                <a:latin typeface="Calibri"/>
              </a:rPr>
              <a:t>Quiz: "Skin ka repair kab hota hai? a) subah b) raat c) dono" → raat (repair) + subah (protection).</a:t>
            </a:r>
          </a:p>
          <a:p>
            <a:pPr>
              <a:spcAft>
                <a:spcPts val="400"/>
              </a:spcAft>
            </a:pPr>
            <a:r>
              <a:rPr sz="1350" b="1">
                <a:solidFill>
                  <a:srgbClr val="8F3A22"/>
                </a:solidFill>
                <a:latin typeface="Calibri"/>
              </a:rPr>
              <a:t>3.  </a:t>
            </a:r>
            <a:r>
              <a:rPr sz="1350" b="0" i="0">
                <a:solidFill>
                  <a:srgbClr val="2A2622"/>
                </a:solidFill>
                <a:latin typeface="Calibri"/>
              </a:rPr>
              <a:t>Texture story + "waitlist me jao."</a:t>
            </a:r>
          </a:p>
          <a:p>
            <a:pPr>
              <a:spcAft>
                <a:spcPts val="400"/>
              </a:spcAft>
            </a:pPr>
            <a:r>
              <a:rPr sz="1350" b="1">
                <a:solidFill>
                  <a:srgbClr val="8F3A22"/>
                </a:solidFill>
                <a:latin typeface="Calibri"/>
              </a:rPr>
              <a:t>4.  </a:t>
            </a:r>
            <a:r>
              <a:rPr sz="1350" b="0" i="0">
                <a:solidFill>
                  <a:srgbClr val="2A2622"/>
                </a:solidFill>
                <a:latin typeface="Calibri"/>
              </a:rPr>
              <a:t>UGC: "6:45 AM fresh face — iska raat wala hissa dekho."</a:t>
            </a:r>
          </a:p>
          <a:p>
            <a:pPr>
              <a:spcAft>
                <a:spcPts val="400"/>
              </a:spcAft>
            </a:pPr>
            <a:r>
              <a:rPr sz="1350" b="1">
                <a:solidFill>
                  <a:srgbClr val="8F3A22"/>
                </a:solidFill>
                <a:latin typeface="Calibri"/>
              </a:rPr>
              <a:t>5.  </a:t>
            </a:r>
            <a:r>
              <a:rPr sz="1350" b="0" i="0">
                <a:solidFill>
                  <a:srgbClr val="2A2622"/>
                </a:solidFill>
                <a:latin typeface="Calibri"/>
              </a:rPr>
              <a:t>Launch countdown + GLOW DM.</a:t>
            </a:r>
          </a:p>
          <a:p>
            <a:pPr>
              <a:spcBef>
                <a:spcPts val="1000"/>
              </a:spcBef>
              <a:spcAft>
                <a:spcPts val="400"/>
              </a:spcAft>
            </a:pPr>
            <a:r>
              <a:rPr sz="1600" b="1" i="0">
                <a:solidFill>
                  <a:srgbClr val="8F3A22"/>
                </a:solidFill>
                <a:latin typeface="Calibri"/>
              </a:rPr>
              <a:t>5 Sales posts</a:t>
            </a:r>
          </a:p>
          <a:p>
            <a:pPr>
              <a:spcAft>
                <a:spcPts val="400"/>
              </a:spcAft>
            </a:pPr>
            <a:r>
              <a:rPr sz="1350" b="1">
                <a:solidFill>
                  <a:srgbClr val="8F3A22"/>
                </a:solidFill>
                <a:latin typeface="Calibri"/>
              </a:rPr>
              <a:t>1.  </a:t>
            </a:r>
            <a:r>
              <a:rPr sz="1350" b="1" i="0">
                <a:solidFill>
                  <a:srgbClr val="2A2622"/>
                </a:solidFill>
                <a:latin typeface="Calibri"/>
              </a:rPr>
              <a:t>Launch: "Raat ka step ab complete — Night Cream, COD, launch price."</a:t>
            </a:r>
          </a:p>
          <a:p>
            <a:pPr>
              <a:spcAft>
                <a:spcPts val="400"/>
              </a:spcAft>
            </a:pPr>
            <a:r>
              <a:rPr sz="1350" b="1">
                <a:solidFill>
                  <a:srgbClr val="8F3A22"/>
                </a:solidFill>
                <a:latin typeface="Calibri"/>
              </a:rPr>
              <a:t>2.  </a:t>
            </a:r>
            <a:r>
              <a:rPr sz="1350" b="0" i="0">
                <a:solidFill>
                  <a:srgbClr val="2A2622"/>
                </a:solidFill>
                <a:latin typeface="Calibri"/>
              </a:rPr>
              <a:t>"Complete 4-step kit (wash + VC + moisturizer + night) — full routine ek box me" (AOV play for existing buyers).</a:t>
            </a:r>
          </a:p>
          <a:p>
            <a:pPr>
              <a:spcAft>
                <a:spcPts val="400"/>
              </a:spcAft>
            </a:pPr>
            <a:r>
              <a:rPr sz="1350" b="1">
                <a:solidFill>
                  <a:srgbClr val="8F3A22"/>
                </a:solidFill>
                <a:latin typeface="Calibri"/>
              </a:rPr>
              <a:t>3.  </a:t>
            </a:r>
            <a:r>
              <a:rPr sz="1350" b="0" i="0">
                <a:solidFill>
                  <a:srgbClr val="2A2622"/>
                </a:solidFill>
                <a:latin typeface="Calibri"/>
              </a:rPr>
              <a:t>"Winter-ready: night cream + cream moisturizer combo" (seasonal).</a:t>
            </a:r>
          </a:p>
          <a:p>
            <a:pPr>
              <a:spcAft>
                <a:spcPts val="400"/>
              </a:spcAft>
            </a:pPr>
            <a:r>
              <a:rPr sz="1350" b="1">
                <a:solidFill>
                  <a:srgbClr val="8F3A22"/>
                </a:solidFill>
                <a:latin typeface="Calibri"/>
              </a:rPr>
              <a:t>4.  </a:t>
            </a:r>
            <a:r>
              <a:rPr sz="1350" b="0" i="0">
                <a:solidFill>
                  <a:srgbClr val="2A2622"/>
                </a:solidFill>
                <a:latin typeface="Calibri"/>
              </a:rPr>
              <a:t>"Gifting: 'Naye saal, nayi skin' box (Night Cream + Serum)" (Dec/New Year).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203</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5: NIGHT CREAM (Wave 3, Day 75–90)</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5.  </a:t>
            </a:r>
            <a:r>
              <a:rPr sz="1350" b="0" i="0">
                <a:solidFill>
                  <a:srgbClr val="2A2622"/>
                </a:solidFill>
                <a:latin typeface="Calibri"/>
              </a:rPr>
              <a:t>"Repeat buyers: pehla 4-step upgrade — ₹X off" (retention play for Founding 100).</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204</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6: DAY CREAM (with SPF, Wave 3+)</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Positioning: "Din ka sabit (steady) partner — moisturize + protect, ek step." For the time-poor: fewer steps, still correct.</a:t>
            </a:r>
          </a:p>
          <a:p>
            <a:pPr>
              <a:spcBef>
                <a:spcPts val="1000"/>
              </a:spcBef>
              <a:spcAft>
                <a:spcPts val="400"/>
              </a:spcAft>
            </a:pPr>
            <a:r>
              <a:rPr sz="1600" b="1" i="0">
                <a:solidFill>
                  <a:srgbClr val="8F3A22"/>
                </a:solidFill>
                <a:latin typeface="Calibri"/>
              </a:rPr>
              <a:t>10 Reel ideas</a:t>
            </a:r>
          </a:p>
          <a:p>
            <a:pPr>
              <a:spcAft>
                <a:spcPts val="400"/>
              </a:spcAft>
            </a:pPr>
            <a:r>
              <a:rPr sz="1350" b="1">
                <a:solidFill>
                  <a:srgbClr val="8F3A22"/>
                </a:solidFill>
                <a:latin typeface="Calibri"/>
              </a:rPr>
              <a:t>1.  </a:t>
            </a:r>
            <a:r>
              <a:rPr sz="1350" b="1" i="0">
                <a:solidFill>
                  <a:srgbClr val="2A2622"/>
                </a:solidFill>
                <a:latin typeface="Calibri"/>
              </a:rPr>
              <a:t>"2 step nahi, 1 step? Day cream ka sach."</a:t>
            </a:r>
            <a:r>
              <a:rPr sz="1350" b="0" i="0">
                <a:solidFill>
                  <a:srgbClr val="2A2622"/>
                </a:solidFill>
                <a:latin typeface="Calibri"/>
              </a:rPr>
              <a:t> [Education — and honest nuance: "serum alag rakhna zyada effective; day cream time-poor ke liye"]</a:t>
            </a:r>
          </a:p>
          <a:p>
            <a:pPr>
              <a:spcAft>
                <a:spcPts val="400"/>
              </a:spcAft>
            </a:pPr>
            <a:r>
              <a:rPr sz="1350" b="1">
                <a:solidFill>
                  <a:srgbClr val="8F3A22"/>
                </a:solidFill>
                <a:latin typeface="Calibri"/>
              </a:rPr>
              <a:t>2.  </a:t>
            </a:r>
            <a:r>
              <a:rPr sz="1350" b="1" i="0">
                <a:solidFill>
                  <a:srgbClr val="2A2622"/>
                </a:solidFill>
                <a:latin typeface="Calibri"/>
              </a:rPr>
              <a:t>"Office jaane se pehle 60 second: day cream + SPF ya SPF day cream."</a:t>
            </a:r>
            <a:r>
              <a:rPr sz="1350" b="0" i="0">
                <a:solidFill>
                  <a:srgbClr val="2A2622"/>
                </a:solidFill>
                <a:latin typeface="Calibri"/>
              </a:rPr>
              <a:t> [Routine]</a:t>
            </a:r>
          </a:p>
          <a:p>
            <a:pPr>
              <a:spcAft>
                <a:spcPts val="400"/>
              </a:spcAft>
            </a:pPr>
            <a:r>
              <a:rPr sz="1350" b="1">
                <a:solidFill>
                  <a:srgbClr val="8F3A22"/>
                </a:solidFill>
                <a:latin typeface="Calibri"/>
              </a:rPr>
              <a:t>3.  </a:t>
            </a:r>
            <a:r>
              <a:rPr sz="1350" b="1" i="0">
                <a:solidFill>
                  <a:srgbClr val="2A2622"/>
                </a:solidFill>
                <a:latin typeface="Calibri"/>
              </a:rPr>
              <a:t>"Oily skin + din: lightweight day cream kyun."</a:t>
            </a:r>
            <a:r>
              <a:rPr sz="1350" b="0" i="0">
                <a:solidFill>
                  <a:srgbClr val="2A2622"/>
                </a:solidFill>
                <a:latin typeface="Calibri"/>
              </a:rPr>
              <a:t> [Segment]</a:t>
            </a:r>
          </a:p>
          <a:p>
            <a:pPr>
              <a:spcAft>
                <a:spcPts val="400"/>
              </a:spcAft>
            </a:pPr>
            <a:r>
              <a:rPr sz="1350" b="1">
                <a:solidFill>
                  <a:srgbClr val="8F3A22"/>
                </a:solidFill>
                <a:latin typeface="Calibri"/>
              </a:rPr>
              <a:t>4.  </a:t>
            </a:r>
            <a:r>
              <a:rPr sz="1350" b="1" i="0">
                <a:solidFill>
                  <a:srgbClr val="2A2622"/>
                </a:solidFill>
                <a:latin typeface="Calibri"/>
              </a:rPr>
              <a:t>"Make-up ke neeche: kya lagana chahiye?"</a:t>
            </a:r>
            <a:r>
              <a:rPr sz="1350" b="0" i="0">
                <a:solidFill>
                  <a:srgbClr val="2A2622"/>
                </a:solidFill>
                <a:latin typeface="Calibri"/>
              </a:rPr>
              <a:t> [How-to]</a:t>
            </a:r>
          </a:p>
          <a:p>
            <a:pPr>
              <a:spcAft>
                <a:spcPts val="400"/>
              </a:spcAft>
            </a:pPr>
            <a:r>
              <a:rPr sz="1350" b="1">
                <a:solidFill>
                  <a:srgbClr val="8F3A22"/>
                </a:solidFill>
                <a:latin typeface="Calibri"/>
              </a:rPr>
              <a:t>5.  </a:t>
            </a:r>
            <a:r>
              <a:rPr sz="1350" b="1" i="0">
                <a:solidFill>
                  <a:srgbClr val="2A2622"/>
                </a:solidFill>
                <a:latin typeface="Calibri"/>
              </a:rPr>
              <a:t>"Monsoon me day cream: gel vs cream"</a:t>
            </a:r>
            <a:r>
              <a:rPr sz="1350" b="0" i="0">
                <a:solidFill>
                  <a:srgbClr val="2A2622"/>
                </a:solidFill>
                <a:latin typeface="Calibri"/>
              </a:rPr>
              <a:t> [Seasonal]</a:t>
            </a:r>
          </a:p>
          <a:p>
            <a:pPr>
              <a:spcAft>
                <a:spcPts val="400"/>
              </a:spcAft>
            </a:pPr>
            <a:r>
              <a:rPr sz="1350" b="1">
                <a:solidFill>
                  <a:srgbClr val="8F3A22"/>
                </a:solidFill>
                <a:latin typeface="Calibri"/>
              </a:rPr>
              <a:t>6.  </a:t>
            </a:r>
            <a:r>
              <a:rPr sz="1350" b="1" i="0">
                <a:solidFill>
                  <a:srgbClr val="2A2622"/>
                </a:solidFill>
                <a:latin typeface="Calibri"/>
              </a:rPr>
              <a:t>"Ghar se bahar — reapply ka sach (SPF vs day cream)."</a:t>
            </a:r>
            <a:r>
              <a:rPr sz="1350" b="0" i="0">
                <a:solidFill>
                  <a:srgbClr val="2A2622"/>
                </a:solidFill>
                <a:latin typeface="Calibri"/>
              </a:rPr>
              <a:t> [Education]</a:t>
            </a:r>
          </a:p>
          <a:p>
            <a:pPr>
              <a:spcAft>
                <a:spcPts val="400"/>
              </a:spcAft>
            </a:pPr>
            <a:r>
              <a:rPr sz="1350" b="1">
                <a:solidFill>
                  <a:srgbClr val="8F3A22"/>
                </a:solidFill>
                <a:latin typeface="Calibri"/>
              </a:rPr>
              <a:t>7.  </a:t>
            </a:r>
            <a:r>
              <a:rPr sz="1350" b="1" i="0">
                <a:solidFill>
                  <a:srgbClr val="2A2622"/>
                </a:solidFill>
                <a:latin typeface="Calibri"/>
              </a:rPr>
              <a:t>"Texture: lightweight vs rich — haath pe test"</a:t>
            </a:r>
            <a:r>
              <a:rPr sz="1350" b="0" i="0">
                <a:solidFill>
                  <a:srgbClr val="2A2622"/>
                </a:solidFill>
                <a:latin typeface="Calibri"/>
              </a:rPr>
              <a:t> [ASMR]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205</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6: DAY CREAM (with SPF, Wave 3+)</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8.  </a:t>
            </a:r>
            <a:r>
              <a:rPr sz="1350" b="1" i="0">
                <a:solidFill>
                  <a:srgbClr val="2A2622"/>
                </a:solidFill>
                <a:latin typeface="Calibri"/>
              </a:rPr>
              <a:t>"30 ke baad: din ka protection + hydration"</a:t>
            </a:r>
            <a:r>
              <a:rPr sz="1350" b="0" i="0">
                <a:solidFill>
                  <a:srgbClr val="2A2622"/>
                </a:solidFill>
                <a:latin typeface="Calibri"/>
              </a:rPr>
              <a:t> [Segment, age-look language only]</a:t>
            </a:r>
          </a:p>
          <a:p>
            <a:pPr>
              <a:spcAft>
                <a:spcPts val="400"/>
              </a:spcAft>
            </a:pPr>
            <a:r>
              <a:rPr sz="1350" b="1">
                <a:solidFill>
                  <a:srgbClr val="8F3A22"/>
                </a:solidFill>
                <a:latin typeface="Calibri"/>
              </a:rPr>
              <a:t>9.  </a:t>
            </a:r>
            <a:r>
              <a:rPr sz="1350" b="1" i="0">
                <a:solidFill>
                  <a:srgbClr val="2A2622"/>
                </a:solidFill>
                <a:latin typeface="Calibri"/>
              </a:rPr>
              <a:t>"Nani ka cold cream vs aaj ka day cream"</a:t>
            </a:r>
            <a:r>
              <a:rPr sz="1350" b="0" i="0">
                <a:solidFill>
                  <a:srgbClr val="2A2622"/>
                </a:solidFill>
                <a:latin typeface="Calibri"/>
              </a:rPr>
              <a:t> [Cultural bridge]</a:t>
            </a:r>
          </a:p>
          <a:p>
            <a:pPr>
              <a:spcAft>
                <a:spcPts val="400"/>
              </a:spcAft>
            </a:pPr>
            <a:r>
              <a:rPr sz="1350" b="1">
                <a:solidFill>
                  <a:srgbClr val="8F3A22"/>
                </a:solidFill>
                <a:latin typeface="Calibri"/>
              </a:rPr>
              <a:t>10.  </a:t>
            </a:r>
            <a:r>
              <a:rPr sz="1350" b="1" i="0">
                <a:solidFill>
                  <a:srgbClr val="2A2622"/>
                </a:solidFill>
                <a:latin typeface="Calibri"/>
              </a:rPr>
              <a:t>"Complete day: 6:45 se 10:45 tak kya hua aapki skin ke saath"</a:t>
            </a:r>
            <a:r>
              <a:rPr sz="1350" b="0" i="0">
                <a:solidFill>
                  <a:srgbClr val="2A2622"/>
                </a:solidFill>
                <a:latin typeface="Calibri"/>
              </a:rPr>
              <a:t> [Story/education]</a:t>
            </a:r>
          </a:p>
          <a:p>
            <a:pPr>
              <a:spcBef>
                <a:spcPts val="1000"/>
              </a:spcBef>
              <a:spcAft>
                <a:spcPts val="400"/>
              </a:spcAft>
            </a:pPr>
            <a:r>
              <a:rPr sz="1600" b="1" i="0">
                <a:solidFill>
                  <a:srgbClr val="8F3A22"/>
                </a:solidFill>
                <a:latin typeface="Calibri"/>
              </a:rPr>
              <a:t>5 Carousels</a:t>
            </a:r>
          </a:p>
          <a:p>
            <a:pPr>
              <a:spcAft>
                <a:spcPts val="400"/>
              </a:spcAft>
            </a:pPr>
            <a:r>
              <a:rPr sz="1350" b="1">
                <a:solidFill>
                  <a:srgbClr val="8F3A22"/>
                </a:solidFill>
                <a:latin typeface="Calibri"/>
              </a:rPr>
              <a:t>1.  </a:t>
            </a:r>
            <a:r>
              <a:rPr sz="1350" b="0" i="0">
                <a:solidFill>
                  <a:srgbClr val="2A2622"/>
                </a:solidFill>
                <a:latin typeface="Calibri"/>
              </a:rPr>
              <a:t>"Day cream vs moisturizer + SPF: kab kaunsa? (decision chart)."</a:t>
            </a:r>
          </a:p>
          <a:p>
            <a:pPr>
              <a:spcAft>
                <a:spcPts val="400"/>
              </a:spcAft>
            </a:pPr>
            <a:r>
              <a:rPr sz="1350" b="1">
                <a:solidFill>
                  <a:srgbClr val="8F3A22"/>
                </a:solidFill>
                <a:latin typeface="Calibri"/>
              </a:rPr>
              <a:t>2.  </a:t>
            </a:r>
            <a:r>
              <a:rPr sz="1350" b="0" i="0">
                <a:solidFill>
                  <a:srgbClr val="2A2622"/>
                </a:solidFill>
                <a:latin typeface="Calibri"/>
              </a:rPr>
              <a:t>"Make-up base: 3-layer ka sahi order."</a:t>
            </a:r>
          </a:p>
          <a:p>
            <a:pPr>
              <a:spcAft>
                <a:spcPts val="400"/>
              </a:spcAft>
            </a:pPr>
            <a:r>
              <a:rPr sz="1350" b="1">
                <a:solidFill>
                  <a:srgbClr val="8F3A22"/>
                </a:solidFill>
                <a:latin typeface="Calibri"/>
              </a:rPr>
              <a:t>3.  </a:t>
            </a:r>
            <a:r>
              <a:rPr sz="1350" b="0" i="0">
                <a:solidFill>
                  <a:srgbClr val="2A2622"/>
                </a:solidFill>
                <a:latin typeface="Calibri"/>
              </a:rPr>
              <a:t>"Oily/dry/combo: 3 day-cream choices."</a:t>
            </a:r>
          </a:p>
          <a:p>
            <a:pPr>
              <a:spcAft>
                <a:spcPts val="400"/>
              </a:spcAft>
            </a:pPr>
            <a:r>
              <a:rPr sz="1350" b="1">
                <a:solidFill>
                  <a:srgbClr val="8F3A22"/>
                </a:solidFill>
                <a:latin typeface="Calibri"/>
              </a:rPr>
              <a:t>4.  </a:t>
            </a:r>
            <a:r>
              <a:rPr sz="1350" b="0" i="0">
                <a:solidFill>
                  <a:srgbClr val="2A2622"/>
                </a:solidFill>
                <a:latin typeface="Calibri"/>
              </a:rPr>
              <a:t>"Indoor day vs outdoor day: routine ka farq."</a:t>
            </a:r>
          </a:p>
          <a:p>
            <a:pPr>
              <a:spcAft>
                <a:spcPts val="400"/>
              </a:spcAft>
            </a:pPr>
            <a:r>
              <a:rPr sz="1350" b="1">
                <a:solidFill>
                  <a:srgbClr val="8F3A22"/>
                </a:solidFill>
                <a:latin typeface="Calibri"/>
              </a:rPr>
              <a:t>5.  </a:t>
            </a:r>
            <a:r>
              <a:rPr sz="1350" b="0" i="0">
                <a:solidFill>
                  <a:srgbClr val="2A2622"/>
                </a:solidFill>
                <a:latin typeface="Calibri"/>
              </a:rPr>
              <a:t>"Time-poor kit: 2-step din" (sales).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206</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6: DAY CREAM (with SPF, Wave 3+)</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5 Stories</a:t>
            </a:r>
          </a:p>
          <a:p>
            <a:pPr>
              <a:spcAft>
                <a:spcPts val="400"/>
              </a:spcAft>
            </a:pPr>
            <a:r>
              <a:rPr sz="1350" b="1">
                <a:solidFill>
                  <a:srgbClr val="8F3A22"/>
                </a:solidFill>
                <a:latin typeface="Calibri"/>
              </a:rPr>
              <a:t>1.  </a:t>
            </a:r>
            <a:r>
              <a:rPr sz="1350" b="0" i="0">
                <a:solidFill>
                  <a:srgbClr val="2A2622"/>
                </a:solidFill>
                <a:latin typeface="Calibri"/>
              </a:rPr>
              <a:t>Poll: "Subah kitne steps? 2 ☑️ / 4 ☑️ / 6+ ☑️" → "6+ wale, 2-step version yeh hai."</a:t>
            </a:r>
          </a:p>
          <a:p>
            <a:pPr>
              <a:spcAft>
                <a:spcPts val="400"/>
              </a:spcAft>
            </a:pPr>
            <a:r>
              <a:rPr sz="1350" b="1">
                <a:solidFill>
                  <a:srgbClr val="8F3A22"/>
                </a:solidFill>
                <a:latin typeface="Calibri"/>
              </a:rPr>
              <a:t>2.  </a:t>
            </a:r>
            <a:r>
              <a:rPr sz="1350" b="0" i="0">
                <a:solidFill>
                  <a:srgbClr val="2A2622"/>
                </a:solidFill>
                <a:latin typeface="Calibri"/>
              </a:rPr>
              <a:t>Quiz: "Day cream me SPF ho toh aur sunscreen chahiye? a) nahi b) haan (agar 2 ghante+ bahar)" → b.</a:t>
            </a:r>
          </a:p>
          <a:p>
            <a:pPr>
              <a:spcAft>
                <a:spcPts val="400"/>
              </a:spcAft>
            </a:pPr>
            <a:r>
              <a:rPr sz="1350" b="1">
                <a:solidFill>
                  <a:srgbClr val="8F3A22"/>
                </a:solidFill>
                <a:latin typeface="Calibri"/>
              </a:rPr>
              <a:t>3.  </a:t>
            </a:r>
            <a:r>
              <a:rPr sz="1350" b="0" i="0">
                <a:solidFill>
                  <a:srgbClr val="2A2622"/>
                </a:solidFill>
                <a:latin typeface="Calibri"/>
              </a:rPr>
              <a:t>Texture + "try karo?"</a:t>
            </a:r>
          </a:p>
          <a:p>
            <a:pPr>
              <a:spcAft>
                <a:spcPts val="400"/>
              </a:spcAft>
            </a:pPr>
            <a:r>
              <a:rPr sz="1350" b="1">
                <a:solidFill>
                  <a:srgbClr val="8F3A22"/>
                </a:solidFill>
                <a:latin typeface="Calibri"/>
              </a:rPr>
              <a:t>4.  </a:t>
            </a:r>
            <a:r>
              <a:rPr sz="1350" b="0" i="0">
                <a:solidFill>
                  <a:srgbClr val="2A2622"/>
                </a:solidFill>
                <a:latin typeface="Calibri"/>
              </a:rPr>
              <a:t>UGC: 6:45 routine clip (day cream cut).</a:t>
            </a:r>
          </a:p>
          <a:p>
            <a:pPr>
              <a:spcAft>
                <a:spcPts val="400"/>
              </a:spcAft>
            </a:pPr>
            <a:r>
              <a:rPr sz="1350" b="1">
                <a:solidFill>
                  <a:srgbClr val="8F3A22"/>
                </a:solidFill>
                <a:latin typeface="Calibri"/>
              </a:rPr>
              <a:t>5.  </a:t>
            </a:r>
            <a:r>
              <a:rPr sz="1350" b="0" i="0">
                <a:solidFill>
                  <a:srgbClr val="2A2622"/>
                </a:solidFill>
                <a:latin typeface="Calibri"/>
              </a:rPr>
              <a:t>Launch/offer countdown + GLOW.</a:t>
            </a:r>
          </a:p>
          <a:p>
            <a:pPr>
              <a:spcBef>
                <a:spcPts val="1000"/>
              </a:spcBef>
              <a:spcAft>
                <a:spcPts val="400"/>
              </a:spcAft>
            </a:pPr>
            <a:r>
              <a:rPr sz="1600" b="1" i="0">
                <a:solidFill>
                  <a:srgbClr val="8F3A22"/>
                </a:solidFill>
                <a:latin typeface="Calibri"/>
              </a:rPr>
              <a:t>5 Sales posts</a:t>
            </a:r>
          </a:p>
          <a:p>
            <a:pPr>
              <a:spcAft>
                <a:spcPts val="400"/>
              </a:spcAft>
            </a:pPr>
            <a:r>
              <a:rPr sz="1350" b="1">
                <a:solidFill>
                  <a:srgbClr val="8F3A22"/>
                </a:solidFill>
                <a:latin typeface="Calibri"/>
              </a:rPr>
              <a:t>1.  </a:t>
            </a:r>
            <a:r>
              <a:rPr sz="1350" b="1" i="0">
                <a:solidFill>
                  <a:srgbClr val="2A2622"/>
                </a:solidFill>
                <a:latin typeface="Calibri"/>
              </a:rPr>
              <a:t>Launch: "Din ka 1 step: Day Cream (moisturize + SPF), COD."</a:t>
            </a:r>
          </a:p>
          <a:p>
            <a:pPr>
              <a:spcAft>
                <a:spcPts val="400"/>
              </a:spcAft>
            </a:pPr>
            <a:r>
              <a:rPr sz="1350" b="1">
                <a:solidFill>
                  <a:srgbClr val="8F3A22"/>
                </a:solidFill>
                <a:latin typeface="Calibri"/>
              </a:rPr>
              <a:t>2.  </a:t>
            </a:r>
            <a:r>
              <a:rPr sz="1350" b="0" i="0">
                <a:solidFill>
                  <a:srgbClr val="2A2622"/>
                </a:solidFill>
                <a:latin typeface="Calibri"/>
              </a:rPr>
              <a:t>"Time-poor kit: Day Cream + Face Wash = subah complete, 3 minute."</a:t>
            </a:r>
          </a:p>
          <a:p>
            <a:pPr>
              <a:spcAft>
                <a:spcPts val="400"/>
              </a:spcAft>
            </a:pPr>
            <a:r>
              <a:rPr sz="1350" b="1">
                <a:solidFill>
                  <a:srgbClr val="8F3A22"/>
                </a:solidFill>
                <a:latin typeface="Calibri"/>
              </a:rPr>
              <a:t>3.  </a:t>
            </a:r>
            <a:r>
              <a:rPr sz="1350" b="0" i="0">
                <a:solidFill>
                  <a:srgbClr val="2A2622"/>
                </a:solidFill>
                <a:latin typeface="Calibri"/>
              </a:rPr>
              <a:t>"Office-women: AC + outdoor dono ke liye day kit."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207</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6: DAY CREAM (with SPF, Wave 3+)</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4.  </a:t>
            </a:r>
            <a:r>
              <a:rPr sz="1350" b="0" i="0">
                <a:solidFill>
                  <a:srgbClr val="2A2622"/>
                </a:solidFill>
                <a:latin typeface="Calibri"/>
              </a:rPr>
              <a:t>"Make-up base routine: Day Cream + SPF (bahar jaane wale)."</a:t>
            </a:r>
          </a:p>
          <a:p>
            <a:pPr>
              <a:spcAft>
                <a:spcPts val="400"/>
              </a:spcAft>
            </a:pPr>
            <a:r>
              <a:rPr sz="1350" b="1">
                <a:solidFill>
                  <a:srgbClr val="8F3A22"/>
                </a:solidFill>
                <a:latin typeface="Calibri"/>
              </a:rPr>
              <a:t>5.  </a:t>
            </a:r>
            <a:r>
              <a:rPr sz="1350" b="0" i="0">
                <a:solidFill>
                  <a:srgbClr val="2A2622"/>
                </a:solidFill>
                <a:latin typeface="Calibri"/>
              </a:rPr>
              <a:t>"Diwali pre-glow kit: Day Cream + VC" (seasonal).</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208</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7: FACE CREAM (rich, for dry skin — Winter wave)</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Positioning: "Sardiyon me 'khushk chehra' walo ke liye — deep moisture, bina chiknaip ke." (Gujarat winter: Dec–Feb, dry patches, tightness.)</a:t>
            </a:r>
          </a:p>
          <a:p>
            <a:pPr>
              <a:spcBef>
                <a:spcPts val="1000"/>
              </a:spcBef>
              <a:spcAft>
                <a:spcPts val="400"/>
              </a:spcAft>
            </a:pPr>
            <a:r>
              <a:rPr sz="1600" b="1" i="0">
                <a:solidFill>
                  <a:srgbClr val="8F3A22"/>
                </a:solidFill>
                <a:latin typeface="Calibri"/>
              </a:rPr>
              <a:t>10 Reel ideas</a:t>
            </a:r>
          </a:p>
          <a:p>
            <a:pPr>
              <a:spcAft>
                <a:spcPts val="400"/>
              </a:spcAft>
            </a:pPr>
            <a:r>
              <a:rPr sz="1350" b="1">
                <a:solidFill>
                  <a:srgbClr val="8F3A22"/>
                </a:solidFill>
                <a:latin typeface="Calibri"/>
              </a:rPr>
              <a:t>1.  </a:t>
            </a:r>
            <a:r>
              <a:rPr sz="1350" b="1" i="0">
                <a:solidFill>
                  <a:srgbClr val="2A2622"/>
                </a:solidFill>
                <a:latin typeface="Calibri"/>
              </a:rPr>
              <a:t>"Sardiyo me chehra khujli deta hai? Yeh dryness nahi, barrier damage hai."</a:t>
            </a:r>
            <a:r>
              <a:rPr sz="1350" b="0" i="0">
                <a:solidFill>
                  <a:srgbClr val="2A2622"/>
                </a:solidFill>
                <a:latin typeface="Calibri"/>
              </a:rPr>
              <a:t> [Problem]</a:t>
            </a:r>
          </a:p>
          <a:p>
            <a:pPr>
              <a:spcAft>
                <a:spcPts val="400"/>
              </a:spcAft>
            </a:pPr>
            <a:r>
              <a:rPr sz="1350" b="1">
                <a:solidFill>
                  <a:srgbClr val="8F3A22"/>
                </a:solidFill>
                <a:latin typeface="Calibri"/>
              </a:rPr>
              <a:t>2.  </a:t>
            </a:r>
            <a:r>
              <a:rPr sz="1350" b="1" i="0">
                <a:solidFill>
                  <a:srgbClr val="2A2622"/>
                </a:solidFill>
                <a:latin typeface="Calibri"/>
              </a:rPr>
              <a:t>"Gujarat ki sardi: 15 degree + dry air — skin kya karti hai."</a:t>
            </a:r>
            <a:r>
              <a:rPr sz="1350" b="0" i="0">
                <a:solidFill>
                  <a:srgbClr val="2A2622"/>
                </a:solidFill>
                <a:latin typeface="Calibri"/>
              </a:rPr>
              <a:t> [Local problem]</a:t>
            </a:r>
          </a:p>
          <a:p>
            <a:pPr>
              <a:spcAft>
                <a:spcPts val="400"/>
              </a:spcAft>
            </a:pPr>
            <a:r>
              <a:rPr sz="1350" b="1">
                <a:solidFill>
                  <a:srgbClr val="8F3A22"/>
                </a:solidFill>
                <a:latin typeface="Calibri"/>
              </a:rPr>
              <a:t>3.  </a:t>
            </a:r>
            <a:r>
              <a:rPr sz="1350" b="1" i="0">
                <a:solidFill>
                  <a:srgbClr val="2A2622"/>
                </a:solidFill>
                <a:latin typeface="Calibri"/>
              </a:rPr>
              <a:t>"Gel wale log bhi sardi me cream kyun karein."</a:t>
            </a:r>
            <a:r>
              <a:rPr sz="1350" b="0" i="0">
                <a:solidFill>
                  <a:srgbClr val="2A2622"/>
                </a:solidFill>
                <a:latin typeface="Calibri"/>
              </a:rPr>
              <a:t> [Segment]</a:t>
            </a:r>
          </a:p>
          <a:p>
            <a:pPr>
              <a:spcAft>
                <a:spcPts val="400"/>
              </a:spcAft>
            </a:pPr>
            <a:r>
              <a:rPr sz="1350" b="1">
                <a:solidFill>
                  <a:srgbClr val="8F3A22"/>
                </a:solidFill>
                <a:latin typeface="Calibri"/>
              </a:rPr>
              <a:t>4.  </a:t>
            </a:r>
            <a:r>
              <a:rPr sz="1350" b="1" i="0">
                <a:solidFill>
                  <a:srgbClr val="2A2622"/>
                </a:solidFill>
                <a:latin typeface="Calibri"/>
              </a:rPr>
              <a:t>"Hot water + sardi = dry patches ka combo"</a:t>
            </a:r>
            <a:r>
              <a:rPr sz="1350" b="0" i="0">
                <a:solidFill>
                  <a:srgbClr val="2A2622"/>
                </a:solidFill>
                <a:latin typeface="Calibri"/>
              </a:rPr>
              <a:t> [Mistake]</a:t>
            </a:r>
          </a:p>
          <a:p>
            <a:pPr>
              <a:spcAft>
                <a:spcPts val="400"/>
              </a:spcAft>
            </a:pPr>
            <a:r>
              <a:rPr sz="1350" b="1">
                <a:solidFill>
                  <a:srgbClr val="8F3A22"/>
                </a:solidFill>
                <a:latin typeface="Calibri"/>
              </a:rPr>
              <a:t>5.  </a:t>
            </a:r>
            <a:r>
              <a:rPr sz="1350" b="1" i="0">
                <a:solidFill>
                  <a:srgbClr val="2A2622"/>
                </a:solidFill>
                <a:latin typeface="Calibri"/>
              </a:rPr>
              <a:t>"Rich cream = heavy? Myth — texture dekho."</a:t>
            </a:r>
            <a:r>
              <a:rPr sz="1350" b="0" i="0">
                <a:solidFill>
                  <a:srgbClr val="2A2622"/>
                </a:solidFill>
                <a:latin typeface="Calibri"/>
              </a:rPr>
              <a:t> [Myth/demo]</a:t>
            </a:r>
          </a:p>
          <a:p>
            <a:pPr>
              <a:spcAft>
                <a:spcPts val="400"/>
              </a:spcAft>
            </a:pPr>
            <a:r>
              <a:rPr sz="1350" b="1">
                <a:solidFill>
                  <a:srgbClr val="8F3A22"/>
                </a:solidFill>
                <a:latin typeface="Calibri"/>
              </a:rPr>
              <a:t>6.  </a:t>
            </a:r>
            <a:r>
              <a:rPr sz="1350" b="1" i="0">
                <a:solidFill>
                  <a:srgbClr val="2A2622"/>
                </a:solidFill>
                <a:latin typeface="Calibri"/>
              </a:rPr>
              <a:t>"Raat + subah: face cream ka dual use"</a:t>
            </a:r>
            <a:r>
              <a:rPr sz="1350" b="0" i="0">
                <a:solidFill>
                  <a:srgbClr val="2A2622"/>
                </a:solidFill>
                <a:latin typeface="Calibri"/>
              </a:rPr>
              <a:t> [Routine]</a:t>
            </a:r>
          </a:p>
          <a:p>
            <a:pPr>
              <a:spcAft>
                <a:spcPts val="400"/>
              </a:spcAft>
            </a:pPr>
            <a:r>
              <a:rPr sz="1350" b="1">
                <a:solidFill>
                  <a:srgbClr val="8F3A22"/>
                </a:solidFill>
                <a:latin typeface="Calibri"/>
              </a:rPr>
              <a:t>7.  </a:t>
            </a:r>
            <a:r>
              <a:rPr sz="1350" b="1" i="0">
                <a:solidFill>
                  <a:srgbClr val="2A2622"/>
                </a:solidFill>
                <a:latin typeface="Calibri"/>
              </a:rPr>
              <a:t>"Nani ke ghee wale totke ka modern version"</a:t>
            </a:r>
            <a:r>
              <a:rPr sz="1350" b="0" i="0">
                <a:solidFill>
                  <a:srgbClr val="2A2622"/>
                </a:solidFill>
                <a:latin typeface="Calibri"/>
              </a:rPr>
              <a:t> [Cultural]</a:t>
            </a:r>
          </a:p>
          <a:p>
            <a:pPr>
              <a:spcAft>
                <a:spcPts val="400"/>
              </a:spcAft>
            </a:pPr>
            <a:r>
              <a:rPr sz="1350" b="1">
                <a:solidFill>
                  <a:srgbClr val="8F3A22"/>
                </a:solidFill>
                <a:latin typeface="Calibri"/>
              </a:rPr>
              <a:t>8.  </a:t>
            </a:r>
            <a:r>
              <a:rPr sz="1350" b="1" i="0">
                <a:solidFill>
                  <a:srgbClr val="2A2622"/>
                </a:solidFill>
                <a:latin typeface="Calibri"/>
              </a:rPr>
              <a:t>"Patch test kyun? (dry/irritated skin walo ke liye)"</a:t>
            </a:r>
            <a:r>
              <a:rPr sz="1350" b="0" i="0">
                <a:solidFill>
                  <a:srgbClr val="2A2622"/>
                </a:solidFill>
                <a:latin typeface="Calibri"/>
              </a:rPr>
              <a:t> [Education/safety]</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209</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7: FACE CREAM (rich, for dry skin — Winter wave)</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9.  </a:t>
            </a:r>
            <a:r>
              <a:rPr sz="1350" b="1" i="0">
                <a:solidFill>
                  <a:srgbClr val="2A2622"/>
                </a:solidFill>
                <a:latin typeface="Calibri"/>
              </a:rPr>
              <a:t>"Texture: 1 drop, 5 second, absorption"</a:t>
            </a:r>
            <a:r>
              <a:rPr sz="1350" b="0" i="0">
                <a:solidFill>
                  <a:srgbClr val="2A2622"/>
                </a:solidFill>
                <a:latin typeface="Calibri"/>
              </a:rPr>
              <a:t> [ASMR]</a:t>
            </a:r>
          </a:p>
          <a:p>
            <a:pPr>
              <a:spcAft>
                <a:spcPts val="400"/>
              </a:spcAft>
            </a:pPr>
            <a:r>
              <a:rPr sz="1350" b="1">
                <a:solidFill>
                  <a:srgbClr val="8F3A22"/>
                </a:solidFill>
                <a:latin typeface="Calibri"/>
              </a:rPr>
              <a:t>10.  </a:t>
            </a:r>
            <a:r>
              <a:rPr sz="1350" b="1" i="0">
                <a:solidFill>
                  <a:srgbClr val="2A2622"/>
                </a:solidFill>
                <a:latin typeface="Calibri"/>
              </a:rPr>
              <a:t>"Winter skin SOS: 3 din ka plan"</a:t>
            </a:r>
            <a:r>
              <a:rPr sz="1350" b="0" i="0">
                <a:solidFill>
                  <a:srgbClr val="2A2622"/>
                </a:solidFill>
                <a:latin typeface="Calibri"/>
              </a:rPr>
              <a:t> (honest: "2–3 hafte me comfort") [Seasonal]</a:t>
            </a:r>
          </a:p>
          <a:p>
            <a:pPr>
              <a:spcBef>
                <a:spcPts val="1000"/>
              </a:spcBef>
              <a:spcAft>
                <a:spcPts val="400"/>
              </a:spcAft>
            </a:pPr>
            <a:r>
              <a:rPr sz="1600" b="1" i="0">
                <a:solidFill>
                  <a:srgbClr val="8F3A22"/>
                </a:solidFill>
                <a:latin typeface="Calibri"/>
              </a:rPr>
              <a:t>5 Carousels</a:t>
            </a:r>
          </a:p>
          <a:p>
            <a:pPr>
              <a:spcAft>
                <a:spcPts val="400"/>
              </a:spcAft>
            </a:pPr>
            <a:r>
              <a:rPr sz="1350" b="1">
                <a:solidFill>
                  <a:srgbClr val="8F3A22"/>
                </a:solidFill>
                <a:latin typeface="Calibri"/>
              </a:rPr>
              <a:t>1.  </a:t>
            </a:r>
            <a:r>
              <a:rPr sz="1350" b="0" i="0">
                <a:solidFill>
                  <a:srgbClr val="2A2622"/>
                </a:solidFill>
                <a:latin typeface="Calibri"/>
              </a:rPr>
              <a:t>"Dry skin winge guide: 5 signs + 5 steps (save-bait)."</a:t>
            </a:r>
          </a:p>
          <a:p>
            <a:pPr>
              <a:spcAft>
                <a:spcPts val="400"/>
              </a:spcAft>
            </a:pPr>
            <a:r>
              <a:rPr sz="1350" b="1">
                <a:solidFill>
                  <a:srgbClr val="8F3A22"/>
                </a:solidFill>
                <a:latin typeface="Calibri"/>
              </a:rPr>
              <a:t>2.  </a:t>
            </a:r>
            <a:r>
              <a:rPr sz="1350" b="0" i="0">
                <a:solidFill>
                  <a:srgbClr val="2A2622"/>
                </a:solidFill>
                <a:latin typeface="Calibri"/>
              </a:rPr>
              <a:t>"Gel → cream switch: season ke saath routine kaise badle."</a:t>
            </a:r>
          </a:p>
          <a:p>
            <a:pPr>
              <a:spcAft>
                <a:spcPts val="400"/>
              </a:spcAft>
            </a:pPr>
            <a:r>
              <a:rPr sz="1350" b="1">
                <a:solidFill>
                  <a:srgbClr val="8F3A22"/>
                </a:solidFill>
                <a:latin typeface="Calibri"/>
              </a:rPr>
              <a:t>3.  </a:t>
            </a:r>
            <a:r>
              <a:rPr sz="1350" b="0" i="0">
                <a:solidFill>
                  <a:srgbClr val="2A2622"/>
                </a:solidFill>
                <a:latin typeface="Calibri"/>
              </a:rPr>
              <a:t>"Face cream shopping: kya padhna hai (ingredients to avoid for dry skin)."</a:t>
            </a:r>
          </a:p>
          <a:p>
            <a:pPr>
              <a:spcAft>
                <a:spcPts val="400"/>
              </a:spcAft>
            </a:pPr>
            <a:r>
              <a:rPr sz="1350" b="1">
                <a:solidFill>
                  <a:srgbClr val="8F3A22"/>
                </a:solidFill>
                <a:latin typeface="Calibri"/>
              </a:rPr>
              <a:t>4.  </a:t>
            </a:r>
            <a:r>
              <a:rPr sz="1350" b="0" i="0">
                <a:solidFill>
                  <a:srgbClr val="2A2622"/>
                </a:solidFill>
                <a:latin typeface="Calibri"/>
              </a:rPr>
              <a:t>"Gujarat winter calendar: Nov se Feb, skin ka plan."</a:t>
            </a:r>
          </a:p>
          <a:p>
            <a:pPr>
              <a:spcAft>
                <a:spcPts val="400"/>
              </a:spcAft>
            </a:pPr>
            <a:r>
              <a:rPr sz="1350" b="1">
                <a:solidFill>
                  <a:srgbClr val="8F3A22"/>
                </a:solidFill>
                <a:latin typeface="Calibri"/>
              </a:rPr>
              <a:t>5.  </a:t>
            </a:r>
            <a:r>
              <a:rPr sz="1350" b="0" i="0">
                <a:solidFill>
                  <a:srgbClr val="2A2622"/>
                </a:solidFill>
                <a:latin typeface="Calibri"/>
              </a:rPr>
              <a:t>"Winter kit: Face Cream + Face Wash (gentle)" (sales).</a:t>
            </a:r>
          </a:p>
          <a:p>
            <a:pPr>
              <a:spcBef>
                <a:spcPts val="1000"/>
              </a:spcBef>
              <a:spcAft>
                <a:spcPts val="400"/>
              </a:spcAft>
            </a:pPr>
            <a:r>
              <a:rPr sz="1600" b="1" i="0">
                <a:solidFill>
                  <a:srgbClr val="8F3A22"/>
                </a:solidFill>
                <a:latin typeface="Calibri"/>
              </a:rPr>
              <a:t>5 Stories</a:t>
            </a:r>
          </a:p>
          <a:p>
            <a:pPr>
              <a:spcAft>
                <a:spcPts val="400"/>
              </a:spcAft>
            </a:pPr>
            <a:r>
              <a:rPr sz="1350" b="1">
                <a:solidFill>
                  <a:srgbClr val="8F3A22"/>
                </a:solidFill>
                <a:latin typeface="Calibri"/>
              </a:rPr>
              <a:t>1.  </a:t>
            </a:r>
            <a:r>
              <a:rPr sz="1350" b="0" i="0">
                <a:solidFill>
                  <a:srgbClr val="2A2622"/>
                </a:solidFill>
                <a:latin typeface="Calibri"/>
              </a:rPr>
              <a:t>Poll: "Sardi me aapki skin: tight ☑️ / flaky ☑️ / theek ☑️."</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210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7: FACE CREAM (rich, for dry skin — Winter wave)</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2.  </a:t>
            </a:r>
            <a:r>
              <a:rPr sz="1350" b="0" i="0">
                <a:solidFill>
                  <a:srgbClr val="2A2622"/>
                </a:solidFill>
                <a:latin typeface="Calibri"/>
              </a:rPr>
              <a:t>Quiz: "Garam paani se muh dhona: haan ☑️ / nahi ☑️" → nahi.</a:t>
            </a:r>
          </a:p>
          <a:p>
            <a:pPr>
              <a:spcAft>
                <a:spcPts val="400"/>
              </a:spcAft>
            </a:pPr>
            <a:r>
              <a:rPr sz="1350" b="1">
                <a:solidFill>
                  <a:srgbClr val="8F3A22"/>
                </a:solidFill>
                <a:latin typeface="Calibri"/>
              </a:rPr>
              <a:t>3.  </a:t>
            </a:r>
            <a:r>
              <a:rPr sz="1350" b="0" i="0">
                <a:solidFill>
                  <a:srgbClr val="2A2622"/>
                </a:solidFill>
                <a:latin typeface="Calibri"/>
              </a:rPr>
              <a:t>Texture + "winter me kya chahiye?"</a:t>
            </a:r>
          </a:p>
          <a:p>
            <a:pPr>
              <a:spcAft>
                <a:spcPts val="400"/>
              </a:spcAft>
            </a:pPr>
            <a:r>
              <a:rPr sz="1350" b="1">
                <a:solidFill>
                  <a:srgbClr val="8F3A22"/>
                </a:solidFill>
                <a:latin typeface="Calibri"/>
              </a:rPr>
              <a:t>4.  </a:t>
            </a:r>
            <a:r>
              <a:rPr sz="1350" b="0" i="0">
                <a:solidFill>
                  <a:srgbClr val="2A2622"/>
                </a:solidFill>
                <a:latin typeface="Calibri"/>
              </a:rPr>
              <a:t>UGC: Rajkot dry-winter clip.</a:t>
            </a:r>
          </a:p>
          <a:p>
            <a:pPr>
              <a:spcAft>
                <a:spcPts val="400"/>
              </a:spcAft>
            </a:pPr>
            <a:r>
              <a:rPr sz="1350" b="1">
                <a:solidFill>
                  <a:srgbClr val="8F3A22"/>
                </a:solidFill>
                <a:latin typeface="Calibri"/>
              </a:rPr>
              <a:t>5.  </a:t>
            </a:r>
            <a:r>
              <a:rPr sz="1350" b="0" i="0">
                <a:solidFill>
                  <a:srgbClr val="2A2622"/>
                </a:solidFill>
                <a:latin typeface="Calibri"/>
              </a:rPr>
              <a:t>Launch countdown + GLOW.</a:t>
            </a:r>
          </a:p>
          <a:p>
            <a:pPr>
              <a:spcBef>
                <a:spcPts val="1000"/>
              </a:spcBef>
              <a:spcAft>
                <a:spcPts val="400"/>
              </a:spcAft>
            </a:pPr>
            <a:r>
              <a:rPr sz="1600" b="1" i="0">
                <a:solidFill>
                  <a:srgbClr val="8F3A22"/>
                </a:solidFill>
                <a:latin typeface="Calibri"/>
              </a:rPr>
              <a:t>5 Sales posts</a:t>
            </a:r>
          </a:p>
          <a:p>
            <a:pPr>
              <a:spcAft>
                <a:spcPts val="400"/>
              </a:spcAft>
            </a:pPr>
            <a:r>
              <a:rPr sz="1350" b="1">
                <a:solidFill>
                  <a:srgbClr val="8F3A22"/>
                </a:solidFill>
                <a:latin typeface="Calibri"/>
              </a:rPr>
              <a:t>1.  </a:t>
            </a:r>
            <a:r>
              <a:rPr sz="1350" b="1" i="0">
                <a:solidFill>
                  <a:srgbClr val="2A2622"/>
                </a:solidFill>
                <a:latin typeface="Calibri"/>
              </a:rPr>
              <a:t>Winter launch: "Sardiyon ke liye Face Cream — COD, launch price."</a:t>
            </a:r>
          </a:p>
          <a:p>
            <a:pPr>
              <a:spcAft>
                <a:spcPts val="400"/>
              </a:spcAft>
            </a:pPr>
            <a:r>
              <a:rPr sz="1350" b="1">
                <a:solidFill>
                  <a:srgbClr val="8F3A22"/>
                </a:solidFill>
                <a:latin typeface="Calibri"/>
              </a:rPr>
              <a:t>2.  </a:t>
            </a:r>
            <a:r>
              <a:rPr sz="1350" b="0" i="0">
                <a:solidFill>
                  <a:srgbClr val="2A2622"/>
                </a:solidFill>
                <a:latin typeface="Calibri"/>
              </a:rPr>
              <a:t>"Dry-skin kit: Face Cream + gentle Face Wash."</a:t>
            </a:r>
          </a:p>
          <a:p>
            <a:pPr>
              <a:spcAft>
                <a:spcPts val="400"/>
              </a:spcAft>
            </a:pPr>
            <a:r>
              <a:rPr sz="1350" b="1">
                <a:solidFill>
                  <a:srgbClr val="8F3A22"/>
                </a:solidFill>
                <a:latin typeface="Calibri"/>
              </a:rPr>
              <a:t>3.  </a:t>
            </a:r>
            <a:r>
              <a:rPr sz="1350" b="0" i="0">
                <a:solidFill>
                  <a:srgbClr val="2A2622"/>
                </a:solidFill>
                <a:latin typeface="Calibri"/>
              </a:rPr>
              <a:t>"Gift: 'Sardi ka dhyan' box (Face Cream + Lip Care)" (cross-product, Dec).</a:t>
            </a:r>
          </a:p>
          <a:p>
            <a:pPr>
              <a:spcAft>
                <a:spcPts val="400"/>
              </a:spcAft>
            </a:pPr>
            <a:r>
              <a:rPr sz="1350" b="1">
                <a:solidFill>
                  <a:srgbClr val="8F3A22"/>
                </a:solidFill>
                <a:latin typeface="Calibri"/>
              </a:rPr>
              <a:t>4.  </a:t>
            </a:r>
            <a:r>
              <a:rPr sz="1350" b="0" i="0">
                <a:solidFill>
                  <a:srgbClr val="2A2622"/>
                </a:solidFill>
                <a:latin typeface="Calibri"/>
              </a:rPr>
              <a:t>"Repeat: winter upgrade for gel-users — waitlist."</a:t>
            </a:r>
          </a:p>
          <a:p>
            <a:pPr>
              <a:spcAft>
                <a:spcPts val="400"/>
              </a:spcAft>
            </a:pPr>
            <a:r>
              <a:rPr sz="1350" b="1">
                <a:solidFill>
                  <a:srgbClr val="8F3A22"/>
                </a:solidFill>
                <a:latin typeface="Calibri"/>
              </a:rPr>
              <a:t>5.  </a:t>
            </a:r>
            <a:r>
              <a:rPr sz="1350" b="0" i="0">
                <a:solidFill>
                  <a:srgbClr val="2A2622"/>
                </a:solidFill>
                <a:latin typeface="Calibri"/>
              </a:rPr>
              <a:t>"Nani/maa ke liye: rich cream, simple routine, gifting card." (Gifting — big in Gujarat family culture.)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211</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8: LIP CARE (Wave: Oct–Dec, wedding + winter)</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Positioning: "Chehre ki routine ke baad, lips bhi routine me." (Lip balm / tinted balm / lip oil.)</a:t>
            </a:r>
          </a:p>
          <a:p>
            <a:pPr>
              <a:spcBef>
                <a:spcPts val="1000"/>
              </a:spcBef>
              <a:spcAft>
                <a:spcPts val="400"/>
              </a:spcAft>
            </a:pPr>
            <a:r>
              <a:rPr sz="1600" b="1" i="0">
                <a:solidFill>
                  <a:srgbClr val="8F3A22"/>
                </a:solidFill>
                <a:latin typeface="Calibri"/>
              </a:rPr>
              <a:t>10 Reel ideas</a:t>
            </a:r>
          </a:p>
          <a:p>
            <a:pPr>
              <a:spcAft>
                <a:spcPts val="400"/>
              </a:spcAft>
            </a:pPr>
            <a:r>
              <a:rPr sz="1350" b="1">
                <a:solidFill>
                  <a:srgbClr val="8F3A22"/>
                </a:solidFill>
                <a:latin typeface="Calibri"/>
              </a:rPr>
              <a:t>1.  </a:t>
            </a:r>
            <a:r>
              <a:rPr sz="1350" b="1" i="0">
                <a:solidFill>
                  <a:srgbClr val="2A2622"/>
                </a:solidFill>
                <a:latin typeface="Calibri"/>
              </a:rPr>
              <a:t>"Lips khujlate hain, phir chhedti ho, phir aur khujlate hain — loop todo."</a:t>
            </a:r>
            <a:r>
              <a:rPr sz="1350" b="0" i="0">
                <a:solidFill>
                  <a:srgbClr val="2A2622"/>
                </a:solidFill>
                <a:latin typeface="Calibri"/>
              </a:rPr>
              <a:t> [Problem]</a:t>
            </a:r>
          </a:p>
          <a:p>
            <a:pPr>
              <a:spcAft>
                <a:spcPts val="400"/>
              </a:spcAft>
            </a:pPr>
            <a:r>
              <a:rPr sz="1350" b="1">
                <a:solidFill>
                  <a:srgbClr val="8F3A22"/>
                </a:solidFill>
                <a:latin typeface="Calibri"/>
              </a:rPr>
              <a:t>2.  </a:t>
            </a:r>
            <a:r>
              <a:rPr sz="1350" b="1" i="0">
                <a:solidFill>
                  <a:srgbClr val="2A2622"/>
                </a:solidFill>
                <a:latin typeface="Calibri"/>
              </a:rPr>
              <a:t>"Chai ke baad lips — sabse zyada neglect kiya hua step."</a:t>
            </a:r>
            <a:r>
              <a:rPr sz="1350" b="0" i="0">
                <a:solidFill>
                  <a:srgbClr val="2A2622"/>
                </a:solidFill>
                <a:latin typeface="Calibri"/>
              </a:rPr>
              <a:t> [Relatable, local chai culture]</a:t>
            </a:r>
          </a:p>
          <a:p>
            <a:pPr>
              <a:spcAft>
                <a:spcPts val="400"/>
              </a:spcAft>
            </a:pPr>
            <a:r>
              <a:rPr sz="1350" b="1">
                <a:solidFill>
                  <a:srgbClr val="8F3A22"/>
                </a:solidFill>
                <a:latin typeface="Calibri"/>
              </a:rPr>
              <a:t>3.  </a:t>
            </a:r>
            <a:r>
              <a:rPr sz="1350" b="1" i="0">
                <a:solidFill>
                  <a:srgbClr val="2A2622"/>
                </a:solidFill>
                <a:latin typeface="Calibri"/>
              </a:rPr>
              <a:t>"Wedding season: lips bhi glow plan me."</a:t>
            </a:r>
            <a:r>
              <a:rPr sz="1350" b="0" i="0">
                <a:solidFill>
                  <a:srgbClr val="2A2622"/>
                </a:solidFill>
                <a:latin typeface="Calibri"/>
              </a:rPr>
              <a:t> [Seasonal]</a:t>
            </a:r>
          </a:p>
          <a:p>
            <a:pPr>
              <a:spcAft>
                <a:spcPts val="400"/>
              </a:spcAft>
            </a:pPr>
            <a:r>
              <a:rPr sz="1350" b="1">
                <a:solidFill>
                  <a:srgbClr val="8F3A22"/>
                </a:solidFill>
                <a:latin typeface="Calibri"/>
              </a:rPr>
              <a:t>4.  </a:t>
            </a:r>
            <a:r>
              <a:rPr sz="1350" b="1" i="0">
                <a:solidFill>
                  <a:srgbClr val="2A2622"/>
                </a:solidFill>
                <a:latin typeface="Calibri"/>
              </a:rPr>
              <a:t>"Sardi + AC = dry lips ka double hit"</a:t>
            </a:r>
            <a:r>
              <a:rPr sz="1350" b="0" i="0">
                <a:solidFill>
                  <a:srgbClr val="2A2622"/>
                </a:solidFill>
                <a:latin typeface="Calibri"/>
              </a:rPr>
              <a:t> [Seasonal problem]</a:t>
            </a:r>
          </a:p>
          <a:p>
            <a:pPr>
              <a:spcAft>
                <a:spcPts val="400"/>
              </a:spcAft>
            </a:pPr>
            <a:r>
              <a:rPr sz="1350" b="1">
                <a:solidFill>
                  <a:srgbClr val="8F3A22"/>
                </a:solidFill>
                <a:latin typeface="Calibri"/>
              </a:rPr>
              <a:t>5.  </a:t>
            </a:r>
            <a:r>
              <a:rPr sz="1350" b="1" i="0">
                <a:solidFill>
                  <a:srgbClr val="2A2622"/>
                </a:solidFill>
                <a:latin typeface="Calibri"/>
              </a:rPr>
              <a:t>"Lip balm vs lip oil: kya farq?"</a:t>
            </a:r>
            <a:r>
              <a:rPr sz="1350" b="0" i="0">
                <a:solidFill>
                  <a:srgbClr val="2A2622"/>
                </a:solidFill>
                <a:latin typeface="Calibri"/>
              </a:rPr>
              <a:t> [Education]</a:t>
            </a:r>
          </a:p>
          <a:p>
            <a:pPr>
              <a:spcAft>
                <a:spcPts val="400"/>
              </a:spcAft>
            </a:pPr>
            <a:r>
              <a:rPr sz="1350" b="1">
                <a:solidFill>
                  <a:srgbClr val="8F3A22"/>
                </a:solidFill>
                <a:latin typeface="Calibri"/>
              </a:rPr>
              <a:t>6.  </a:t>
            </a:r>
            <a:r>
              <a:rPr sz="1350" b="1" i="0">
                <a:solidFill>
                  <a:srgbClr val="2A2622"/>
                </a:solidFill>
                <a:latin typeface="Calibri"/>
              </a:rPr>
              <a:t>"Make-up ke baad lips: overnight repair"</a:t>
            </a:r>
            <a:r>
              <a:rPr sz="1350" b="0" i="0">
                <a:solidFill>
                  <a:srgbClr val="2A2622"/>
                </a:solidFill>
                <a:latin typeface="Calibri"/>
              </a:rPr>
              <a:t> [How-to]</a:t>
            </a:r>
          </a:p>
          <a:p>
            <a:pPr>
              <a:spcAft>
                <a:spcPts val="400"/>
              </a:spcAft>
            </a:pPr>
            <a:r>
              <a:rPr sz="1350" b="1">
                <a:solidFill>
                  <a:srgbClr val="8F3A22"/>
                </a:solidFill>
                <a:latin typeface="Calibri"/>
              </a:rPr>
              <a:t>7.  </a:t>
            </a:r>
            <a:r>
              <a:rPr sz="1350" b="1" i="0">
                <a:solidFill>
                  <a:srgbClr val="2A2622"/>
                </a:solidFill>
                <a:latin typeface="Calibri"/>
              </a:rPr>
              <a:t>"Texture: 1 swipe, 60 second comfort"</a:t>
            </a:r>
            <a:r>
              <a:rPr sz="1350" b="0" i="0">
                <a:solidFill>
                  <a:srgbClr val="2A2622"/>
                </a:solidFill>
                <a:latin typeface="Calibri"/>
              </a:rPr>
              <a:t> [ASMR]</a:t>
            </a:r>
          </a:p>
          <a:p>
            <a:pPr>
              <a:spcAft>
                <a:spcPts val="400"/>
              </a:spcAft>
            </a:pPr>
            <a:r>
              <a:rPr sz="1350" b="1">
                <a:solidFill>
                  <a:srgbClr val="8F3A22"/>
                </a:solidFill>
                <a:latin typeface="Calibri"/>
              </a:rPr>
              <a:t>8.  </a:t>
            </a:r>
            <a:r>
              <a:rPr sz="1350" b="1" i="0">
                <a:solidFill>
                  <a:srgbClr val="2A2622"/>
                </a:solidFill>
                <a:latin typeface="Calibri"/>
              </a:rPr>
              <a:t>"Muh se chai peete waqt lip care? (practical: reapply timing)"</a:t>
            </a:r>
            <a:r>
              <a:rPr sz="1350" b="0" i="0">
                <a:solidFill>
                  <a:srgbClr val="2A2622"/>
                </a:solidFill>
                <a:latin typeface="Calibri"/>
              </a:rPr>
              <a:t> [Relatable]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212</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8: LIP CARE (Wave: Oct–Dec, wedding + winter)</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9.  </a:t>
            </a:r>
            <a:r>
              <a:rPr sz="1350" b="1" i="0">
                <a:solidFill>
                  <a:srgbClr val="2A2622"/>
                </a:solidFill>
                <a:latin typeface="Calibri"/>
              </a:rPr>
              <a:t>"Lips pe sunscreen? Haan — SPF lip balm kyun."</a:t>
            </a:r>
            <a:r>
              <a:rPr sz="1350" b="0" i="0">
                <a:solidFill>
                  <a:srgbClr val="2A2622"/>
                </a:solidFill>
                <a:latin typeface="Calibri"/>
              </a:rPr>
              <a:t> [Education]</a:t>
            </a:r>
          </a:p>
          <a:p>
            <a:pPr>
              <a:spcAft>
                <a:spcPts val="400"/>
              </a:spcAft>
            </a:pPr>
            <a:r>
              <a:rPr sz="1350" b="1">
                <a:solidFill>
                  <a:srgbClr val="8F3A22"/>
                </a:solidFill>
                <a:latin typeface="Calibri"/>
              </a:rPr>
              <a:t>10.  </a:t>
            </a:r>
            <a:r>
              <a:rPr sz="1350" b="1" i="0">
                <a:solidFill>
                  <a:srgbClr val="2A2622"/>
                </a:solidFill>
                <a:latin typeface="Calibri"/>
              </a:rPr>
              <a:t>"Gifting: chhota sa gift, bada sa 'dhyan'"</a:t>
            </a:r>
            <a:r>
              <a:rPr sz="1350" b="0" i="0">
                <a:solidFill>
                  <a:srgbClr val="2A2622"/>
                </a:solidFill>
                <a:latin typeface="Calibri"/>
              </a:rPr>
              <a:t> (lip care = easy first gift) [Gifting]</a:t>
            </a:r>
          </a:p>
          <a:p>
            <a:pPr>
              <a:spcBef>
                <a:spcPts val="1000"/>
              </a:spcBef>
              <a:spcAft>
                <a:spcPts val="400"/>
              </a:spcAft>
            </a:pPr>
            <a:r>
              <a:rPr sz="1600" b="1" i="0">
                <a:solidFill>
                  <a:srgbClr val="8F3A22"/>
                </a:solidFill>
                <a:latin typeface="Calibri"/>
              </a:rPr>
              <a:t>5 Carousels</a:t>
            </a:r>
          </a:p>
          <a:p>
            <a:pPr>
              <a:spcAft>
                <a:spcPts val="400"/>
              </a:spcAft>
            </a:pPr>
            <a:r>
              <a:rPr sz="1350" b="1">
                <a:solidFill>
                  <a:srgbClr val="8F3A22"/>
                </a:solidFill>
                <a:latin typeface="Calibri"/>
              </a:rPr>
              <a:t>1.  </a:t>
            </a:r>
            <a:r>
              <a:rPr sz="1350" b="0" i="0">
                <a:solidFill>
                  <a:srgbClr val="2A2622"/>
                </a:solidFill>
                <a:latin typeface="Calibri"/>
              </a:rPr>
              <a:t>"Lips ka sach: kyun zyada dry hote hain (no oil glands, thin skin)."</a:t>
            </a:r>
          </a:p>
          <a:p>
            <a:pPr>
              <a:spcAft>
                <a:spcPts val="400"/>
              </a:spcAft>
            </a:pPr>
            <a:r>
              <a:rPr sz="1350" b="1">
                <a:solidFill>
                  <a:srgbClr val="8F3A22"/>
                </a:solidFill>
                <a:latin typeface="Calibri"/>
              </a:rPr>
              <a:t>2.  </a:t>
            </a:r>
            <a:r>
              <a:rPr sz="1350" b="0" i="0">
                <a:solidFill>
                  <a:srgbClr val="2A2622"/>
                </a:solidFill>
                <a:latin typeface="Calibri"/>
              </a:rPr>
              <a:t>"Lip care routine: day (balm+SPF) / night (oil/repair)."</a:t>
            </a:r>
          </a:p>
          <a:p>
            <a:pPr>
              <a:spcAft>
                <a:spcPts val="400"/>
              </a:spcAft>
            </a:pPr>
            <a:r>
              <a:rPr sz="1350" b="1">
                <a:solidFill>
                  <a:srgbClr val="8F3A22"/>
                </a:solidFill>
                <a:latin typeface="Calibri"/>
              </a:rPr>
              <a:t>3.  </a:t>
            </a:r>
            <a:r>
              <a:rPr sz="1350" b="0" i="0">
                <a:solidFill>
                  <a:srgbClr val="2A2622"/>
                </a:solidFill>
                <a:latin typeface="Calibri"/>
              </a:rPr>
              <a:t>"Chapped lips 4-hafte plan: kya karna hai, kya nahi (no peeling myths)."</a:t>
            </a:r>
          </a:p>
          <a:p>
            <a:pPr>
              <a:spcAft>
                <a:spcPts val="400"/>
              </a:spcAft>
            </a:pPr>
            <a:r>
              <a:rPr sz="1350" b="1">
                <a:solidFill>
                  <a:srgbClr val="8F3A22"/>
                </a:solidFill>
                <a:latin typeface="Calibri"/>
              </a:rPr>
              <a:t>4.  </a:t>
            </a:r>
            <a:r>
              <a:rPr sz="1350" b="0" i="0">
                <a:solidFill>
                  <a:srgbClr val="2A2622"/>
                </a:solidFill>
                <a:latin typeface="Calibri"/>
              </a:rPr>
              <a:t>"Wedding-day lips: 6 hafte pehle kya."</a:t>
            </a:r>
          </a:p>
          <a:p>
            <a:pPr>
              <a:spcAft>
                <a:spcPts val="400"/>
              </a:spcAft>
            </a:pPr>
            <a:r>
              <a:rPr sz="1350" b="1">
                <a:solidFill>
                  <a:srgbClr val="8F3A22"/>
                </a:solidFill>
                <a:latin typeface="Calibri"/>
              </a:rPr>
              <a:t>5.  </a:t>
            </a:r>
            <a:r>
              <a:rPr sz="1350" b="0" i="0">
                <a:solidFill>
                  <a:srgbClr val="2A2622"/>
                </a:solidFill>
                <a:latin typeface="Calibri"/>
              </a:rPr>
              <a:t>"Gifting box: Lip Care + Serum (small, sweet, ₹X)" (sales).</a:t>
            </a:r>
          </a:p>
          <a:p>
            <a:pPr>
              <a:spcBef>
                <a:spcPts val="1000"/>
              </a:spcBef>
              <a:spcAft>
                <a:spcPts val="400"/>
              </a:spcAft>
            </a:pPr>
            <a:r>
              <a:rPr sz="1600" b="1" i="0">
                <a:solidFill>
                  <a:srgbClr val="8F3A22"/>
                </a:solidFill>
                <a:latin typeface="Calibri"/>
              </a:rPr>
              <a:t>5 Stories</a:t>
            </a:r>
          </a:p>
          <a:p>
            <a:pPr>
              <a:spcAft>
                <a:spcPts val="400"/>
              </a:spcAft>
            </a:pPr>
            <a:r>
              <a:rPr sz="1350" b="1">
                <a:solidFill>
                  <a:srgbClr val="8F3A22"/>
                </a:solidFill>
                <a:latin typeface="Calibri"/>
              </a:rPr>
              <a:t>1.  </a:t>
            </a:r>
            <a:r>
              <a:rPr sz="1350" b="0" i="0">
                <a:solidFill>
                  <a:srgbClr val="2A2622"/>
                </a:solidFill>
                <a:latin typeface="Calibri"/>
              </a:rPr>
              <a:t>Poll: "Lips chhedti ho? Haan 😅 / Nahi 🤞."</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213</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8: LIP CARE (Wave: Oct–Dec, wedding + winter)</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2.  </a:t>
            </a:r>
            <a:r>
              <a:rPr sz="1350" b="0" i="0">
                <a:solidFill>
                  <a:srgbClr val="2A2622"/>
                </a:solidFill>
                <a:latin typeface="Calibri"/>
              </a:rPr>
              <a:t>Quiz: "Lips pe sunscreen chahiye? a) haan b) nahi" → a.</a:t>
            </a:r>
          </a:p>
          <a:p>
            <a:pPr>
              <a:spcAft>
                <a:spcPts val="400"/>
              </a:spcAft>
            </a:pPr>
            <a:r>
              <a:rPr sz="1350" b="1">
                <a:solidFill>
                  <a:srgbClr val="8F3A22"/>
                </a:solidFill>
                <a:latin typeface="Calibri"/>
              </a:rPr>
              <a:t>3.  </a:t>
            </a:r>
            <a:r>
              <a:rPr sz="1350" b="0" i="0">
                <a:solidFill>
                  <a:srgbClr val="2A2622"/>
                </a:solidFill>
                <a:latin typeface="Calibri"/>
              </a:rPr>
              <a:t>Texture + "chai ke saath try."</a:t>
            </a:r>
          </a:p>
          <a:p>
            <a:pPr>
              <a:spcAft>
                <a:spcPts val="400"/>
              </a:spcAft>
            </a:pPr>
            <a:r>
              <a:rPr sz="1350" b="1">
                <a:solidFill>
                  <a:srgbClr val="8F3A22"/>
                </a:solidFill>
                <a:latin typeface="Calibri"/>
              </a:rPr>
              <a:t>4.  </a:t>
            </a:r>
            <a:r>
              <a:rPr sz="1350" b="0" i="0">
                <a:solidFill>
                  <a:srgbClr val="2A2622"/>
                </a:solidFill>
                <a:latin typeface="Calibri"/>
              </a:rPr>
              <a:t>UGC: lip-balm-with-chai clip.</a:t>
            </a:r>
          </a:p>
          <a:p>
            <a:pPr>
              <a:spcAft>
                <a:spcPts val="400"/>
              </a:spcAft>
            </a:pPr>
            <a:r>
              <a:rPr sz="1350" b="1">
                <a:solidFill>
                  <a:srgbClr val="8F3A22"/>
                </a:solidFill>
                <a:latin typeface="Calibri"/>
              </a:rPr>
              <a:t>5.  </a:t>
            </a:r>
            <a:r>
              <a:rPr sz="1350" b="0" i="0">
                <a:solidFill>
                  <a:srgbClr val="2A2622"/>
                </a:solidFill>
                <a:latin typeface="Calibri"/>
              </a:rPr>
              <a:t>Offer/GLOW DM.</a:t>
            </a:r>
          </a:p>
          <a:p>
            <a:pPr>
              <a:spcBef>
                <a:spcPts val="1000"/>
              </a:spcBef>
              <a:spcAft>
                <a:spcPts val="400"/>
              </a:spcAft>
            </a:pPr>
            <a:r>
              <a:rPr sz="1600" b="1" i="0">
                <a:solidFill>
                  <a:srgbClr val="8F3A22"/>
                </a:solidFill>
                <a:latin typeface="Calibri"/>
              </a:rPr>
              <a:t>5 Sales posts</a:t>
            </a:r>
          </a:p>
          <a:p>
            <a:pPr>
              <a:spcAft>
                <a:spcPts val="400"/>
              </a:spcAft>
            </a:pPr>
            <a:r>
              <a:rPr sz="1350" b="1">
                <a:solidFill>
                  <a:srgbClr val="8F3A22"/>
                </a:solidFill>
                <a:latin typeface="Calibri"/>
              </a:rPr>
              <a:t>1.  </a:t>
            </a:r>
            <a:r>
              <a:rPr sz="1350" b="1" i="0">
                <a:solidFill>
                  <a:srgbClr val="2A2622"/>
                </a:solidFill>
                <a:latin typeface="Calibri"/>
              </a:rPr>
              <a:t>Launch: "Lips ko bhi routine de do — Lip Care, COD."</a:t>
            </a:r>
          </a:p>
          <a:p>
            <a:pPr>
              <a:spcAft>
                <a:spcPts val="400"/>
              </a:spcAft>
            </a:pPr>
            <a:r>
              <a:rPr sz="1350" b="1">
                <a:solidFill>
                  <a:srgbClr val="8F3A22"/>
                </a:solidFill>
                <a:latin typeface="Calibri"/>
              </a:rPr>
              <a:t>2.  </a:t>
            </a:r>
            <a:r>
              <a:rPr sz="1350" b="0" i="0">
                <a:solidFill>
                  <a:srgbClr val="2A2622"/>
                </a:solidFill>
                <a:latin typeface="Calibri"/>
              </a:rPr>
              <a:t>"Wedding glow kit me lip add-on: +₹X."</a:t>
            </a:r>
          </a:p>
          <a:p>
            <a:pPr>
              <a:spcAft>
                <a:spcPts val="400"/>
              </a:spcAft>
            </a:pPr>
            <a:r>
              <a:rPr sz="1350" b="1">
                <a:solidFill>
                  <a:srgbClr val="8F3A22"/>
                </a:solidFill>
                <a:latin typeface="Calibri"/>
              </a:rPr>
              <a:t>3.  </a:t>
            </a:r>
            <a:r>
              <a:rPr sz="1350" b="0" i="0">
                <a:solidFill>
                  <a:srgbClr val="2A2622"/>
                </a:solidFill>
                <a:latin typeface="Calibri"/>
              </a:rPr>
              <a:t>"Gift box: Lip Care + Face Wash mini (under ₹500 gift)."</a:t>
            </a:r>
          </a:p>
          <a:p>
            <a:pPr>
              <a:spcAft>
                <a:spcPts val="400"/>
              </a:spcAft>
            </a:pPr>
            <a:r>
              <a:rPr sz="1350" b="1">
                <a:solidFill>
                  <a:srgbClr val="8F3A22"/>
                </a:solidFill>
                <a:latin typeface="Calibri"/>
              </a:rPr>
              <a:t>4.  </a:t>
            </a:r>
            <a:r>
              <a:rPr sz="1350" b="0" i="0">
                <a:solidFill>
                  <a:srgbClr val="2A2622"/>
                </a:solidFill>
                <a:latin typeface="Calibri"/>
              </a:rPr>
              <a:t>"Winter lips: balm + night oil duo."</a:t>
            </a:r>
          </a:p>
          <a:p>
            <a:pPr>
              <a:spcAft>
                <a:spcPts val="400"/>
              </a:spcAft>
            </a:pPr>
            <a:r>
              <a:rPr sz="1350" b="1">
                <a:solidFill>
                  <a:srgbClr val="8F3A22"/>
                </a:solidFill>
                <a:latin typeface="Calibri"/>
              </a:rPr>
              <a:t>5.  </a:t>
            </a:r>
            <a:r>
              <a:rPr sz="1350" b="0" i="0">
                <a:solidFill>
                  <a:srgbClr val="2A2622"/>
                </a:solidFill>
                <a:latin typeface="Calibri"/>
              </a:rPr>
              <a:t>"Repeat: 'chai wala habit' — daily balm, refill offer."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214</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9: HAIR CARE (Wave: post-monsoon hair-fall season, Oct–Dec)</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Positioning: "Baal kaam nahi karte — routine kaam karta hai." (Focus: gentle shampoo / scalp cleanser / hair oil. Claims discipline: no "hair growth guarantee," no "hair fall cure" — use "lighter feel, less breakage-ka-feel, scalp comfort.")</a:t>
            </a:r>
          </a:p>
          <a:p>
            <a:pPr>
              <a:spcBef>
                <a:spcPts val="1000"/>
              </a:spcBef>
              <a:spcAft>
                <a:spcPts val="400"/>
              </a:spcAft>
            </a:pPr>
            <a:r>
              <a:rPr sz="1600" b="1" i="0">
                <a:solidFill>
                  <a:srgbClr val="8F3A22"/>
                </a:solidFill>
                <a:latin typeface="Calibri"/>
              </a:rPr>
              <a:t>10 Reel ideas</a:t>
            </a:r>
          </a:p>
          <a:p>
            <a:pPr>
              <a:spcAft>
                <a:spcPts val="400"/>
              </a:spcAft>
            </a:pPr>
            <a:r>
              <a:rPr sz="1350" b="1">
                <a:solidFill>
                  <a:srgbClr val="8F3A22"/>
                </a:solidFill>
                <a:latin typeface="Calibri"/>
              </a:rPr>
              <a:t>1.  </a:t>
            </a:r>
            <a:r>
              <a:rPr sz="1350" b="1" i="0">
                <a:solidFill>
                  <a:srgbClr val="2A2622"/>
                </a:solidFill>
                <a:latin typeface="Calibri"/>
              </a:rPr>
              <a:t>"Baarish ke baad baal — sabse bhaari season. Yeh kyun hota hai."</a:t>
            </a:r>
            <a:r>
              <a:rPr sz="1350" b="0" i="0">
                <a:solidFill>
                  <a:srgbClr val="2A2622"/>
                </a:solidFill>
                <a:latin typeface="Calibri"/>
              </a:rPr>
              <a:t> [Problem, seasonal]</a:t>
            </a:r>
          </a:p>
          <a:p>
            <a:pPr>
              <a:spcAft>
                <a:spcPts val="400"/>
              </a:spcAft>
            </a:pPr>
            <a:r>
              <a:rPr sz="1350" b="1">
                <a:solidFill>
                  <a:srgbClr val="8F3A22"/>
                </a:solidFill>
                <a:latin typeface="Calibri"/>
              </a:rPr>
              <a:t>2.  </a:t>
            </a:r>
            <a:r>
              <a:rPr sz="1350" b="1" i="0">
                <a:solidFill>
                  <a:srgbClr val="2A2622"/>
                </a:solidFill>
                <a:latin typeface="Calibri"/>
              </a:rPr>
              <a:t>"Baal girti hain = baal gir rahe hain? (shedding vs fall — basic, safe education)"</a:t>
            </a:r>
            <a:r>
              <a:rPr sz="1350" b="0" i="0">
                <a:solidFill>
                  <a:srgbClr val="2A2622"/>
                </a:solidFill>
                <a:latin typeface="Calibri"/>
              </a:rPr>
              <a:t> [Myth/education]</a:t>
            </a:r>
          </a:p>
          <a:p>
            <a:pPr>
              <a:spcAft>
                <a:spcPts val="400"/>
              </a:spcAft>
            </a:pPr>
            <a:r>
              <a:rPr sz="1350" b="1">
                <a:solidFill>
                  <a:srgbClr val="8F3A22"/>
                </a:solidFill>
                <a:latin typeface="Calibri"/>
              </a:rPr>
              <a:t>3.  </a:t>
            </a:r>
            <a:r>
              <a:rPr sz="1350" b="1" i="0">
                <a:solidFill>
                  <a:srgbClr val="2A2622"/>
                </a:solidFill>
                <a:latin typeface="Calibri"/>
              </a:rPr>
              <a:t>"60 second hair-wash galti: gunguna paani, 2 press, no scrub"</a:t>
            </a:r>
            <a:r>
              <a:rPr sz="1350" b="0" i="0">
                <a:solidFill>
                  <a:srgbClr val="2A2622"/>
                </a:solidFill>
                <a:latin typeface="Calibri"/>
              </a:rPr>
              <a:t> [Mistake]</a:t>
            </a:r>
          </a:p>
          <a:p>
            <a:pPr>
              <a:spcAft>
                <a:spcPts val="400"/>
              </a:spcAft>
            </a:pPr>
            <a:r>
              <a:rPr sz="1350" b="1">
                <a:solidFill>
                  <a:srgbClr val="8F3A22"/>
                </a:solidFill>
                <a:latin typeface="Calibri"/>
              </a:rPr>
              <a:t>4.  </a:t>
            </a:r>
            <a:r>
              <a:rPr sz="1350" b="1" i="0">
                <a:solidFill>
                  <a:srgbClr val="2A2622"/>
                </a:solidFill>
                <a:latin typeface="Calibri"/>
              </a:rPr>
              <a:t>"Sulfate ka sach: har baal ke liye nahi"</a:t>
            </a:r>
            <a:r>
              <a:rPr sz="1350" b="0" i="0">
                <a:solidFill>
                  <a:srgbClr val="2A2622"/>
                </a:solidFill>
                <a:latin typeface="Calibri"/>
              </a:rPr>
              <a:t> [Education]</a:t>
            </a:r>
          </a:p>
          <a:p>
            <a:pPr>
              <a:spcAft>
                <a:spcPts val="400"/>
              </a:spcAft>
            </a:pPr>
            <a:r>
              <a:rPr sz="1350" b="1">
                <a:solidFill>
                  <a:srgbClr val="8F3A22"/>
                </a:solidFill>
                <a:latin typeface="Calibri"/>
              </a:rPr>
              <a:t>5.  </a:t>
            </a:r>
            <a:r>
              <a:rPr sz="1350" b="1" i="0">
                <a:solidFill>
                  <a:srgbClr val="2A2622"/>
                </a:solidFill>
                <a:latin typeface="Calibri"/>
              </a:rPr>
              <a:t>"Scalp vs baal: oil kahan, kya, kab"</a:t>
            </a:r>
            <a:r>
              <a:rPr sz="1350" b="0" i="0">
                <a:solidFill>
                  <a:srgbClr val="2A2622"/>
                </a:solidFill>
                <a:latin typeface="Calibri"/>
              </a:rPr>
              <a:t> [How-to]</a:t>
            </a:r>
          </a:p>
          <a:p>
            <a:pPr>
              <a:spcAft>
                <a:spcPts val="400"/>
              </a:spcAft>
            </a:pPr>
            <a:r>
              <a:rPr sz="1350" b="1">
                <a:solidFill>
                  <a:srgbClr val="8F3A22"/>
                </a:solidFill>
                <a:latin typeface="Calibri"/>
              </a:rPr>
              <a:t>6.  </a:t>
            </a:r>
            <a:r>
              <a:rPr sz="1350" b="1" i="0">
                <a:solidFill>
                  <a:srgbClr val="2A2622"/>
                </a:solidFill>
                <a:latin typeface="Calibri"/>
              </a:rPr>
              <a:t>"Monsoon + AC + dhool: baalon ke 3 dushman"</a:t>
            </a:r>
            <a:r>
              <a:rPr sz="1350" b="0" i="0">
                <a:solidFill>
                  <a:srgbClr val="2A2622"/>
                </a:solidFill>
                <a:latin typeface="Calibri"/>
              </a:rPr>
              <a:t> [Problem]</a:t>
            </a:r>
          </a:p>
          <a:p>
            <a:pPr>
              <a:spcAft>
                <a:spcPts val="400"/>
              </a:spcAft>
            </a:pPr>
            <a:r>
              <a:rPr sz="1350" b="1">
                <a:solidFill>
                  <a:srgbClr val="8F3A22"/>
                </a:solidFill>
                <a:latin typeface="Calibri"/>
              </a:rPr>
              <a:t>7.  </a:t>
            </a:r>
            <a:r>
              <a:rPr sz="1350" b="1" i="0">
                <a:solidFill>
                  <a:srgbClr val="2A2622"/>
                </a:solidFill>
                <a:latin typeface="Calibri"/>
              </a:rPr>
              <a:t>"Texture: scalp cleanser ka 10 second feel"</a:t>
            </a:r>
            <a:r>
              <a:rPr sz="1350" b="0" i="0">
                <a:solidFill>
                  <a:srgbClr val="2A2622"/>
                </a:solidFill>
                <a:latin typeface="Calibri"/>
              </a:rPr>
              <a:t> [ASMR]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215</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9: HAIR CARE (Wave: post-monsoon hair-fall season, Oct–Dec)</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8.  </a:t>
            </a:r>
            <a:r>
              <a:rPr sz="1350" b="1" i="0">
                <a:solidFill>
                  <a:srgbClr val="2A2622"/>
                </a:solidFill>
                <a:latin typeface="Calibri"/>
              </a:rPr>
              <a:t>"Mard: hair oil ka 3-second version"</a:t>
            </a:r>
            <a:r>
              <a:rPr sz="1350" b="0" i="0">
                <a:solidFill>
                  <a:srgbClr val="2A2622"/>
                </a:solidFill>
                <a:latin typeface="Calibri"/>
              </a:rPr>
              <a:t> [Segment]</a:t>
            </a:r>
          </a:p>
          <a:p>
            <a:pPr>
              <a:spcAft>
                <a:spcPts val="400"/>
              </a:spcAft>
            </a:pPr>
            <a:r>
              <a:rPr sz="1350" b="1">
                <a:solidFill>
                  <a:srgbClr val="8F3A22"/>
                </a:solidFill>
                <a:latin typeface="Calibri"/>
              </a:rPr>
              <a:t>9.  </a:t>
            </a:r>
            <a:r>
              <a:rPr sz="1350" b="1" i="0">
                <a:solidFill>
                  <a:srgbClr val="2A2622"/>
                </a:solidFill>
                <a:latin typeface="Calibri"/>
              </a:rPr>
              <a:t>"Wedding season: hair ka 6-hafte plan"</a:t>
            </a:r>
            <a:r>
              <a:rPr sz="1350" b="0" i="0">
                <a:solidFill>
                  <a:srgbClr val="2A2622"/>
                </a:solidFill>
                <a:latin typeface="Calibri"/>
              </a:rPr>
              <a:t> [Seasonal]</a:t>
            </a:r>
          </a:p>
          <a:p>
            <a:pPr>
              <a:spcAft>
                <a:spcPts val="400"/>
              </a:spcAft>
            </a:pPr>
            <a:r>
              <a:rPr sz="1350" b="1">
                <a:solidFill>
                  <a:srgbClr val="8F3A22"/>
                </a:solidFill>
                <a:latin typeface="Calibri"/>
              </a:rPr>
              <a:t>10.  </a:t>
            </a:r>
            <a:r>
              <a:rPr sz="1350" b="1" i="0">
                <a:solidFill>
                  <a:srgbClr val="2A2622"/>
                </a:solidFill>
                <a:latin typeface="Calibri"/>
              </a:rPr>
              <a:t>"Nani ke tel wale totke + aaj ka science"</a:t>
            </a:r>
            <a:r>
              <a:rPr sz="1350" b="0" i="0">
                <a:solidFill>
                  <a:srgbClr val="2A2622"/>
                </a:solidFill>
                <a:latin typeface="Calibri"/>
              </a:rPr>
              <a:t> [Cultural]</a:t>
            </a:r>
          </a:p>
          <a:p>
            <a:pPr>
              <a:spcBef>
                <a:spcPts val="1000"/>
              </a:spcBef>
              <a:spcAft>
                <a:spcPts val="400"/>
              </a:spcAft>
            </a:pPr>
            <a:r>
              <a:rPr sz="1600" b="1" i="0">
                <a:solidFill>
                  <a:srgbClr val="8F3A22"/>
                </a:solidFill>
                <a:latin typeface="Calibri"/>
              </a:rPr>
              <a:t>5 Carousels</a:t>
            </a:r>
          </a:p>
          <a:p>
            <a:pPr>
              <a:spcAft>
                <a:spcPts val="400"/>
              </a:spcAft>
            </a:pPr>
            <a:r>
              <a:rPr sz="1350" b="1">
                <a:solidFill>
                  <a:srgbClr val="8F3A22"/>
                </a:solidFill>
                <a:latin typeface="Calibri"/>
              </a:rPr>
              <a:t>1.  </a:t>
            </a:r>
            <a:r>
              <a:rPr sz="1350" b="0" i="0">
                <a:solidFill>
                  <a:srgbClr val="2A2622"/>
                </a:solidFill>
                <a:latin typeface="Calibri"/>
              </a:rPr>
              <a:t>"Hair care 101: scalp = skin, yahi sabse pehle samjho."</a:t>
            </a:r>
          </a:p>
          <a:p>
            <a:pPr>
              <a:spcAft>
                <a:spcPts val="400"/>
              </a:spcAft>
            </a:pPr>
            <a:r>
              <a:rPr sz="1350" b="1">
                <a:solidFill>
                  <a:srgbClr val="8F3A22"/>
                </a:solidFill>
                <a:latin typeface="Calibri"/>
              </a:rPr>
              <a:t>2.  </a:t>
            </a:r>
            <a:r>
              <a:rPr sz="1350" b="0" i="0">
                <a:solidFill>
                  <a:srgbClr val="2A2622"/>
                </a:solidFill>
                <a:latin typeface="Calibri"/>
              </a:rPr>
              <a:t>"Post-monsoon hair plan: 4 hafte, 3 steps."</a:t>
            </a:r>
          </a:p>
          <a:p>
            <a:pPr>
              <a:spcAft>
                <a:spcPts val="400"/>
              </a:spcAft>
            </a:pPr>
            <a:r>
              <a:rPr sz="1350" b="1">
                <a:solidFill>
                  <a:srgbClr val="8F3A22"/>
                </a:solidFill>
                <a:latin typeface="Calibri"/>
              </a:rPr>
              <a:t>3.  </a:t>
            </a:r>
            <a:r>
              <a:rPr sz="1350" b="0" i="0">
                <a:solidFill>
                  <a:srgbClr val="2A2622"/>
                </a:solidFill>
                <a:latin typeface="Calibri"/>
              </a:rPr>
              <a:t>"Shampoo shopping: label pe kya padho (sulfate, fragrance, concentration)."</a:t>
            </a:r>
          </a:p>
          <a:p>
            <a:pPr>
              <a:spcAft>
                <a:spcPts val="400"/>
              </a:spcAft>
            </a:pPr>
            <a:r>
              <a:rPr sz="1350" b="1">
                <a:solidFill>
                  <a:srgbClr val="8F3A22"/>
                </a:solidFill>
                <a:latin typeface="Calibri"/>
              </a:rPr>
              <a:t>4.  </a:t>
            </a:r>
            <a:r>
              <a:rPr sz="1350" b="0" i="0">
                <a:solidFill>
                  <a:srgbClr val="2A2622"/>
                </a:solidFill>
                <a:latin typeface="Calibri"/>
              </a:rPr>
              <a:t>"Oil: kya, kya nahi (myth list: 'oil = hair growth' ✗)."</a:t>
            </a:r>
          </a:p>
          <a:p>
            <a:pPr>
              <a:spcAft>
                <a:spcPts val="400"/>
              </a:spcAft>
            </a:pPr>
            <a:r>
              <a:rPr sz="1350" b="1">
                <a:solidFill>
                  <a:srgbClr val="8F3A22"/>
                </a:solidFill>
                <a:latin typeface="Calibri"/>
              </a:rPr>
              <a:t>5.  </a:t>
            </a:r>
            <a:r>
              <a:rPr sz="1350" b="0" i="0">
                <a:solidFill>
                  <a:srgbClr val="2A2622"/>
                </a:solidFill>
                <a:latin typeface="Calibri"/>
              </a:rPr>
              <a:t>"Wedding hair kit: cleanser + oil (seasonal sales)."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216</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9: HAIR CARE (Wave: post-monsoon hair-fall season, Oct–Dec)</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5 Stories</a:t>
            </a:r>
          </a:p>
          <a:p>
            <a:pPr>
              <a:spcAft>
                <a:spcPts val="400"/>
              </a:spcAft>
            </a:pPr>
            <a:r>
              <a:rPr sz="1350" b="1">
                <a:solidFill>
                  <a:srgbClr val="8F3A22"/>
                </a:solidFill>
                <a:latin typeface="Calibri"/>
              </a:rPr>
              <a:t>1.  </a:t>
            </a:r>
            <a:r>
              <a:rPr sz="1350" b="0" i="0">
                <a:solidFill>
                  <a:srgbClr val="2A2622"/>
                </a:solidFill>
                <a:latin typeface="Calibri"/>
              </a:rPr>
              <a:t>Poll: "Baal ka sabse bada pareshani: fall-feel ☑️ / oil ☑️ / dry ☑️."</a:t>
            </a:r>
          </a:p>
          <a:p>
            <a:pPr>
              <a:spcAft>
                <a:spcPts val="400"/>
              </a:spcAft>
            </a:pPr>
            <a:r>
              <a:rPr sz="1350" b="1">
                <a:solidFill>
                  <a:srgbClr val="8F3A22"/>
                </a:solidFill>
                <a:latin typeface="Calibri"/>
              </a:rPr>
              <a:t>2.  </a:t>
            </a:r>
            <a:r>
              <a:rPr sz="1350" b="0" i="0">
                <a:solidFill>
                  <a:srgbClr val="2A2622"/>
                </a:solidFill>
                <a:latin typeface="Calibri"/>
              </a:rPr>
              <a:t>Quiz: "Baal kitni baat wash? a) roz b) 2–3x/week c) 1x/week" → skin/oil type se (no single answer — nuance = trust).</a:t>
            </a:r>
          </a:p>
          <a:p>
            <a:pPr>
              <a:spcAft>
                <a:spcPts val="400"/>
              </a:spcAft>
            </a:pPr>
            <a:r>
              <a:rPr sz="1350" b="1">
                <a:solidFill>
                  <a:srgbClr val="8F3A22"/>
                </a:solidFill>
                <a:latin typeface="Calibri"/>
              </a:rPr>
              <a:t>3.  </a:t>
            </a:r>
            <a:r>
              <a:rPr sz="1350" b="0" i="0">
                <a:solidFill>
                  <a:srgbClr val="2A2622"/>
                </a:solidFill>
                <a:latin typeface="Calibri"/>
              </a:rPr>
              <a:t>Texture + "try."</a:t>
            </a:r>
          </a:p>
          <a:p>
            <a:pPr>
              <a:spcAft>
                <a:spcPts val="400"/>
              </a:spcAft>
            </a:pPr>
            <a:r>
              <a:rPr sz="1350" b="1">
                <a:solidFill>
                  <a:srgbClr val="8F3A22"/>
                </a:solidFill>
                <a:latin typeface="Calibri"/>
              </a:rPr>
              <a:t>4.  </a:t>
            </a:r>
            <a:r>
              <a:rPr sz="1350" b="0" i="0">
                <a:solidFill>
                  <a:srgbClr val="2A2622"/>
                </a:solidFill>
                <a:latin typeface="Calibri"/>
              </a:rPr>
              <a:t>UGC: post-monsoon hair clip.</a:t>
            </a:r>
          </a:p>
          <a:p>
            <a:pPr>
              <a:spcAft>
                <a:spcPts val="400"/>
              </a:spcAft>
            </a:pPr>
            <a:r>
              <a:rPr sz="1350" b="1">
                <a:solidFill>
                  <a:srgbClr val="8F3A22"/>
                </a:solidFill>
                <a:latin typeface="Calibri"/>
              </a:rPr>
              <a:t>5.  </a:t>
            </a:r>
            <a:r>
              <a:rPr sz="1350" b="0" i="0">
                <a:solidFill>
                  <a:srgbClr val="2A2622"/>
                </a:solidFill>
                <a:latin typeface="Calibri"/>
              </a:rPr>
              <a:t>Launch/offer + GLOW.</a:t>
            </a:r>
          </a:p>
          <a:p>
            <a:pPr>
              <a:spcBef>
                <a:spcPts val="1000"/>
              </a:spcBef>
              <a:spcAft>
                <a:spcPts val="400"/>
              </a:spcAft>
            </a:pPr>
            <a:r>
              <a:rPr sz="1600" b="1" i="0">
                <a:solidFill>
                  <a:srgbClr val="8F3A22"/>
                </a:solidFill>
                <a:latin typeface="Calibri"/>
              </a:rPr>
              <a:t>5 Sales posts</a:t>
            </a:r>
          </a:p>
          <a:p>
            <a:pPr>
              <a:spcAft>
                <a:spcPts val="400"/>
              </a:spcAft>
            </a:pPr>
            <a:r>
              <a:rPr sz="1350" b="1">
                <a:solidFill>
                  <a:srgbClr val="8F3A22"/>
                </a:solidFill>
                <a:latin typeface="Calibri"/>
              </a:rPr>
              <a:t>1.  </a:t>
            </a:r>
            <a:r>
              <a:rPr sz="1350" b="1" i="0">
                <a:solidFill>
                  <a:srgbClr val="2A2622"/>
                </a:solidFill>
                <a:latin typeface="Calibri"/>
              </a:rPr>
              <a:t>Launch: "Post-monsoon hair care — gentle cleanser + scalp oil, COD."</a:t>
            </a:r>
          </a:p>
          <a:p>
            <a:pPr>
              <a:spcAft>
                <a:spcPts val="400"/>
              </a:spcAft>
            </a:pPr>
            <a:r>
              <a:rPr sz="1350" b="1">
                <a:solidFill>
                  <a:srgbClr val="8F3A22"/>
                </a:solidFill>
                <a:latin typeface="Calibri"/>
              </a:rPr>
              <a:t>2.  </a:t>
            </a:r>
            <a:r>
              <a:rPr sz="1350" b="0" i="0">
                <a:solidFill>
                  <a:srgbClr val="2A2622"/>
                </a:solidFill>
                <a:latin typeface="Calibri"/>
              </a:rPr>
              <a:t>"Hair duo: cleanser + oil (full routine)."</a:t>
            </a:r>
          </a:p>
          <a:p>
            <a:pPr>
              <a:spcAft>
                <a:spcPts val="400"/>
              </a:spcAft>
            </a:pPr>
            <a:r>
              <a:rPr sz="1350" b="1">
                <a:solidFill>
                  <a:srgbClr val="8F3A22"/>
                </a:solidFill>
                <a:latin typeface="Calibri"/>
              </a:rPr>
              <a:t>3.  </a:t>
            </a:r>
            <a:r>
              <a:rPr sz="1350" b="0" i="0">
                <a:solidFill>
                  <a:srgbClr val="2A2622"/>
                </a:solidFill>
                <a:latin typeface="Calibri"/>
              </a:rPr>
              <a:t>"Wedding hair kit (6 hafte pehle shuru)."</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217</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9: HAIR CARE (Wave: post-monsoon hair-fall season, Oct–Dec)</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4.  </a:t>
            </a:r>
            <a:r>
              <a:rPr sz="1350" b="0" i="0">
                <a:solidFill>
                  <a:srgbClr val="2A2622"/>
                </a:solidFill>
                <a:latin typeface="Calibri"/>
              </a:rPr>
              <a:t>"Mard: 3-second oil + weekly cleanser."</a:t>
            </a:r>
          </a:p>
          <a:p>
            <a:pPr>
              <a:spcAft>
                <a:spcPts val="400"/>
              </a:spcAft>
            </a:pPr>
            <a:r>
              <a:rPr sz="1350" b="1">
                <a:solidFill>
                  <a:srgbClr val="8F3A22"/>
                </a:solidFill>
                <a:latin typeface="Calibri"/>
              </a:rPr>
              <a:t>5.  </a:t>
            </a:r>
            <a:r>
              <a:rPr sz="1350" b="0" i="0">
                <a:solidFill>
                  <a:srgbClr val="2A2622"/>
                </a:solidFill>
                <a:latin typeface="Calibri"/>
              </a:rPr>
              <a:t>"Gifting: 'dhyan' box (Lip Care + Hair Oil — small gifting wave)."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218</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10: BODY CARE (Wave: winter, Nov–Jan; gifting strong)</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Positioning: "Chehre ke baad, sharir ka bhi 2 minute." (Body lotion / body wash. Claims: "soft-ka-feel," "hydrated-ka-feel," no skin-disease claims.)</a:t>
            </a:r>
          </a:p>
          <a:p>
            <a:pPr>
              <a:spcBef>
                <a:spcPts val="1000"/>
              </a:spcBef>
              <a:spcAft>
                <a:spcPts val="400"/>
              </a:spcAft>
            </a:pPr>
            <a:r>
              <a:rPr sz="1600" b="1" i="0">
                <a:solidFill>
                  <a:srgbClr val="8F3A22"/>
                </a:solidFill>
                <a:latin typeface="Calibri"/>
              </a:rPr>
              <a:t>10 Reel ideas</a:t>
            </a:r>
          </a:p>
          <a:p>
            <a:pPr>
              <a:spcAft>
                <a:spcPts val="400"/>
              </a:spcAft>
            </a:pPr>
            <a:r>
              <a:rPr sz="1350" b="1">
                <a:solidFill>
                  <a:srgbClr val="8F3A22"/>
                </a:solidFill>
                <a:latin typeface="Calibri"/>
              </a:rPr>
              <a:t>1.  </a:t>
            </a:r>
            <a:r>
              <a:rPr sz="1350" b="1" i="0">
                <a:solidFill>
                  <a:srgbClr val="2A2622"/>
                </a:solidFill>
                <a:latin typeface="Calibri"/>
              </a:rPr>
              <a:t>"Sardi me sharir khujlaata hai? Yeh dryness hai, allergy nahi (safe: 'dhyaan do')."</a:t>
            </a:r>
            <a:r>
              <a:rPr sz="1350" b="0" i="0">
                <a:solidFill>
                  <a:srgbClr val="2A2622"/>
                </a:solidFill>
                <a:latin typeface="Calibri"/>
              </a:rPr>
              <a:t> [Problem — careful language]</a:t>
            </a:r>
          </a:p>
          <a:p>
            <a:pPr>
              <a:spcAft>
                <a:spcPts val="400"/>
              </a:spcAft>
            </a:pPr>
            <a:r>
              <a:rPr sz="1350" b="1">
                <a:solidFill>
                  <a:srgbClr val="8F3A22"/>
                </a:solidFill>
                <a:latin typeface="Calibri"/>
              </a:rPr>
              <a:t>2.  </a:t>
            </a:r>
            <a:r>
              <a:rPr sz="1350" b="1" i="0">
                <a:solidFill>
                  <a:srgbClr val="2A2622"/>
                </a:solidFill>
                <a:latin typeface="Calibri"/>
              </a:rPr>
              <a:t>"Chehre ki routine 6:45 — body ka 9:55 (bathroom me 2 minute)"</a:t>
            </a:r>
            <a:r>
              <a:rPr sz="1350" b="0" i="0">
                <a:solidFill>
                  <a:srgbClr val="2A2622"/>
                </a:solidFill>
                <a:latin typeface="Calibri"/>
              </a:rPr>
              <a:t> [Routine]</a:t>
            </a:r>
          </a:p>
          <a:p>
            <a:pPr>
              <a:spcAft>
                <a:spcPts val="400"/>
              </a:spcAft>
            </a:pPr>
            <a:r>
              <a:rPr sz="1350" b="1">
                <a:solidFill>
                  <a:srgbClr val="8F3A22"/>
                </a:solidFill>
                <a:latin typeface="Calibri"/>
              </a:rPr>
              <a:t>3.  </a:t>
            </a:r>
            <a:r>
              <a:rPr sz="1350" b="1" i="0">
                <a:solidFill>
                  <a:srgbClr val="2A2622"/>
                </a:solidFill>
                <a:latin typeface="Calibri"/>
              </a:rPr>
              <a:t>"Garam paani + strong soap + sardi = body ka triple hit"</a:t>
            </a:r>
            <a:r>
              <a:rPr sz="1350" b="0" i="0">
                <a:solidFill>
                  <a:srgbClr val="2A2622"/>
                </a:solidFill>
                <a:latin typeface="Calibri"/>
              </a:rPr>
              <a:t> [Mistake]</a:t>
            </a:r>
          </a:p>
          <a:p>
            <a:pPr>
              <a:spcAft>
                <a:spcPts val="400"/>
              </a:spcAft>
            </a:pPr>
            <a:r>
              <a:rPr sz="1350" b="1">
                <a:solidFill>
                  <a:srgbClr val="8F3A22"/>
                </a:solidFill>
                <a:latin typeface="Calibri"/>
              </a:rPr>
              <a:t>4.  </a:t>
            </a:r>
            <a:r>
              <a:rPr sz="1350" b="1" i="0">
                <a:solidFill>
                  <a:srgbClr val="2A2622"/>
                </a:solidFill>
                <a:latin typeface="Calibri"/>
              </a:rPr>
              <a:t>"Body lotion subah ya raat? Dono, yeh tarah se"</a:t>
            </a:r>
            <a:r>
              <a:rPr sz="1350" b="0" i="0">
                <a:solidFill>
                  <a:srgbClr val="2A2622"/>
                </a:solidFill>
                <a:latin typeface="Calibri"/>
              </a:rPr>
              <a:t> [Education]</a:t>
            </a:r>
          </a:p>
          <a:p>
            <a:pPr>
              <a:spcAft>
                <a:spcPts val="400"/>
              </a:spcAft>
            </a:pPr>
            <a:r>
              <a:rPr sz="1350" b="1">
                <a:solidFill>
                  <a:srgbClr val="8F3A22"/>
                </a:solidFill>
                <a:latin typeface="Calibri"/>
              </a:rPr>
              <a:t>5.  </a:t>
            </a:r>
            <a:r>
              <a:rPr sz="1350" b="1" i="0">
                <a:solidFill>
                  <a:srgbClr val="2A2622"/>
                </a:solidFill>
                <a:latin typeface="Calibri"/>
              </a:rPr>
              <a:t>"Texture: 1 pump, 20 second, absorption"</a:t>
            </a:r>
            <a:r>
              <a:rPr sz="1350" b="0" i="0">
                <a:solidFill>
                  <a:srgbClr val="2A2622"/>
                </a:solidFill>
                <a:latin typeface="Calibri"/>
              </a:rPr>
              <a:t> [ASMR]</a:t>
            </a:r>
          </a:p>
          <a:p>
            <a:pPr>
              <a:spcAft>
                <a:spcPts val="400"/>
              </a:spcAft>
            </a:pPr>
            <a:r>
              <a:rPr sz="1350" b="1">
                <a:solidFill>
                  <a:srgbClr val="8F3A22"/>
                </a:solidFill>
                <a:latin typeface="Calibri"/>
              </a:rPr>
              <a:t>6.  </a:t>
            </a:r>
            <a:r>
              <a:rPr sz="1350" b="1" i="0">
                <a:solidFill>
                  <a:srgbClr val="2A2622"/>
                </a:solidFill>
                <a:latin typeface="Calibri"/>
              </a:rPr>
              <a:t>"Wedding season: shoulders + arms ka 6-hafte plan"</a:t>
            </a:r>
            <a:r>
              <a:rPr sz="1350" b="0" i="0">
                <a:solidFill>
                  <a:srgbClr val="2A2622"/>
                </a:solidFill>
                <a:latin typeface="Calibri"/>
              </a:rPr>
              <a:t> [Seasonal]</a:t>
            </a:r>
          </a:p>
          <a:p>
            <a:pPr>
              <a:spcAft>
                <a:spcPts val="400"/>
              </a:spcAft>
            </a:pPr>
            <a:r>
              <a:rPr sz="1350" b="1">
                <a:solidFill>
                  <a:srgbClr val="8F3A22"/>
                </a:solidFill>
                <a:latin typeface="Calibri"/>
              </a:rPr>
              <a:t>7.  </a:t>
            </a:r>
            <a:r>
              <a:rPr sz="1350" b="1" i="0">
                <a:solidFill>
                  <a:srgbClr val="2A2622"/>
                </a:solidFill>
                <a:latin typeface="Calibri"/>
              </a:rPr>
              <a:t>"Mard: body care = 2 minute, 1 product"</a:t>
            </a:r>
            <a:r>
              <a:rPr sz="1350" b="0" i="0">
                <a:solidFill>
                  <a:srgbClr val="2A2622"/>
                </a:solidFill>
                <a:latin typeface="Calibri"/>
              </a:rPr>
              <a:t> [Segment]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219</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10: BODY CARE (Wave: winter, Nov–Jan; gifting strong)</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8.  </a:t>
            </a:r>
            <a:r>
              <a:rPr sz="1350" b="1" i="0">
                <a:solidFill>
                  <a:srgbClr val="2A2622"/>
                </a:solidFill>
                <a:latin typeface="Calibri"/>
              </a:rPr>
              <a:t>"Nani ke sarson ke tel wale totke + modern body lotion"</a:t>
            </a:r>
            <a:r>
              <a:rPr sz="1350" b="0" i="0">
                <a:solidFill>
                  <a:srgbClr val="2A2622"/>
                </a:solidFill>
                <a:latin typeface="Calibri"/>
              </a:rPr>
              <a:t> [Cultural]</a:t>
            </a:r>
          </a:p>
          <a:p>
            <a:pPr>
              <a:spcAft>
                <a:spcPts val="400"/>
              </a:spcAft>
            </a:pPr>
            <a:r>
              <a:rPr sz="1350" b="1">
                <a:solidFill>
                  <a:srgbClr val="8F3A22"/>
                </a:solidFill>
                <a:latin typeface="Calibri"/>
              </a:rPr>
              <a:t>9.  </a:t>
            </a:r>
            <a:r>
              <a:rPr sz="1350" b="1" i="0">
                <a:solidFill>
                  <a:srgbClr val="2A2622"/>
                </a:solidFill>
                <a:latin typeface="Calibri"/>
              </a:rPr>
              <a:t>"Sardiyo me night: lotion + cotton kapde = comfort rule"</a:t>
            </a:r>
            <a:r>
              <a:rPr sz="1350" b="0" i="0">
                <a:solidFill>
                  <a:srgbClr val="2A2622"/>
                </a:solidFill>
                <a:latin typeface="Calibri"/>
              </a:rPr>
              <a:t> [Seasonal]</a:t>
            </a:r>
          </a:p>
          <a:p>
            <a:pPr>
              <a:spcAft>
                <a:spcPts val="400"/>
              </a:spcAft>
            </a:pPr>
            <a:r>
              <a:rPr sz="1350" b="1">
                <a:solidFill>
                  <a:srgbClr val="8F3A22"/>
                </a:solidFill>
                <a:latin typeface="Calibri"/>
              </a:rPr>
              <a:t>10.  </a:t>
            </a:r>
            <a:r>
              <a:rPr sz="1350" b="1" i="0">
                <a:solidFill>
                  <a:srgbClr val="2A2622"/>
                </a:solidFill>
                <a:latin typeface="Calibri"/>
              </a:rPr>
              <a:t>"Gifting: body care = sabse safe gift"</a:t>
            </a:r>
            <a:r>
              <a:rPr sz="1350" b="0" i="0">
                <a:solidFill>
                  <a:srgbClr val="2A2622"/>
                </a:solidFill>
                <a:latin typeface="Calibri"/>
              </a:rPr>
              <a:t> [Gifting]</a:t>
            </a:r>
          </a:p>
          <a:p>
            <a:pPr>
              <a:spcBef>
                <a:spcPts val="1000"/>
              </a:spcBef>
              <a:spcAft>
                <a:spcPts val="400"/>
              </a:spcAft>
            </a:pPr>
            <a:r>
              <a:rPr sz="1600" b="1" i="0">
                <a:solidFill>
                  <a:srgbClr val="8F3A22"/>
                </a:solidFill>
                <a:latin typeface="Calibri"/>
              </a:rPr>
              <a:t>5 Carousels</a:t>
            </a:r>
          </a:p>
          <a:p>
            <a:pPr>
              <a:spcAft>
                <a:spcPts val="400"/>
              </a:spcAft>
            </a:pPr>
            <a:r>
              <a:rPr sz="1350" b="1">
                <a:solidFill>
                  <a:srgbClr val="8F3A22"/>
                </a:solidFill>
                <a:latin typeface="Calibri"/>
              </a:rPr>
              <a:t>1.  </a:t>
            </a:r>
            <a:r>
              <a:rPr sz="1350" b="0" i="0">
                <a:solidFill>
                  <a:srgbClr val="2A2622"/>
                </a:solidFill>
                <a:latin typeface="Calibri"/>
              </a:rPr>
              <a:t>"Body care basics: wash → 30 sec damp → lotion (order matters)."</a:t>
            </a:r>
          </a:p>
          <a:p>
            <a:pPr>
              <a:spcAft>
                <a:spcPts val="400"/>
              </a:spcAft>
            </a:pPr>
            <a:r>
              <a:rPr sz="1350" b="1">
                <a:solidFill>
                  <a:srgbClr val="8F3A22"/>
                </a:solidFill>
                <a:latin typeface="Calibri"/>
              </a:rPr>
              <a:t>2.  </a:t>
            </a:r>
            <a:r>
              <a:rPr sz="1350" b="0" i="0">
                <a:solidFill>
                  <a:srgbClr val="2A2622"/>
                </a:solidFill>
                <a:latin typeface="Calibri"/>
              </a:rPr>
              <a:t>"Winter body plan: 4 hafte, 2 steps."</a:t>
            </a:r>
          </a:p>
          <a:p>
            <a:pPr>
              <a:spcAft>
                <a:spcPts val="400"/>
              </a:spcAft>
            </a:pPr>
            <a:r>
              <a:rPr sz="1350" b="1">
                <a:solidFill>
                  <a:srgbClr val="8F3A22"/>
                </a:solidFill>
                <a:latin typeface="Calibri"/>
              </a:rPr>
              <a:t>3.  </a:t>
            </a:r>
            <a:r>
              <a:rPr sz="1350" b="0" i="0">
                <a:solidFill>
                  <a:srgbClr val="2A2622"/>
                </a:solidFill>
                <a:latin typeface="Calibri"/>
              </a:rPr>
              <a:t>"Body wash shopping: kya padho (pH, fragrance, sulfate)."</a:t>
            </a:r>
          </a:p>
          <a:p>
            <a:pPr>
              <a:spcAft>
                <a:spcPts val="400"/>
              </a:spcAft>
            </a:pPr>
            <a:r>
              <a:rPr sz="1350" b="1">
                <a:solidFill>
                  <a:srgbClr val="8F3A22"/>
                </a:solidFill>
                <a:latin typeface="Calibri"/>
              </a:rPr>
              <a:t>4.  </a:t>
            </a:r>
            <a:r>
              <a:rPr sz="1350" b="0" i="0">
                <a:solidFill>
                  <a:srgbClr val="2A2622"/>
                </a:solidFill>
                <a:latin typeface="Calibri"/>
              </a:rPr>
              <a:t>"Wedding body glow: 6 hafte, shoulders-to-toe."</a:t>
            </a:r>
          </a:p>
          <a:p>
            <a:pPr>
              <a:spcAft>
                <a:spcPts val="400"/>
              </a:spcAft>
            </a:pPr>
            <a:r>
              <a:rPr sz="1350" b="1">
                <a:solidFill>
                  <a:srgbClr val="8F3A22"/>
                </a:solidFill>
                <a:latin typeface="Calibri"/>
              </a:rPr>
              <a:t>5.  </a:t>
            </a:r>
            <a:r>
              <a:rPr sz="1350" b="0" i="0">
                <a:solidFill>
                  <a:srgbClr val="2A2622"/>
                </a:solidFill>
                <a:latin typeface="Calibri"/>
              </a:rPr>
              <a:t>"Gifting boxes: 3 sizes (₹X tiers)" (sales).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220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10: BODY CARE (Wave: winter, Nov–Jan; gifting strong)</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5 Stories</a:t>
            </a:r>
          </a:p>
          <a:p>
            <a:pPr>
              <a:spcAft>
                <a:spcPts val="400"/>
              </a:spcAft>
            </a:pPr>
            <a:r>
              <a:rPr sz="1350" b="1">
                <a:solidFill>
                  <a:srgbClr val="8F3A22"/>
                </a:solidFill>
                <a:latin typeface="Calibri"/>
              </a:rPr>
              <a:t>1.  </a:t>
            </a:r>
            <a:r>
              <a:rPr sz="1350" b="0" i="0">
                <a:solidFill>
                  <a:srgbClr val="2A2622"/>
                </a:solidFill>
                <a:latin typeface="Calibri"/>
              </a:rPr>
              <a:t>Poll: "Body lotion lagati ho? Roz ☑️ / Kabhi-kabhi ☑️ / Nahi ☑️."</a:t>
            </a:r>
          </a:p>
          <a:p>
            <a:pPr>
              <a:spcAft>
                <a:spcPts val="400"/>
              </a:spcAft>
            </a:pPr>
            <a:r>
              <a:rPr sz="1350" b="1">
                <a:solidFill>
                  <a:srgbClr val="8F3A22"/>
                </a:solidFill>
                <a:latin typeface="Calibri"/>
              </a:rPr>
              <a:t>2.  </a:t>
            </a:r>
            <a:r>
              <a:rPr sz="1350" b="0" i="0">
                <a:solidFill>
                  <a:srgbClr val="2A2622"/>
                </a:solidFill>
                <a:latin typeface="Calibri"/>
              </a:rPr>
              <a:t>Quiz: "Lotion kab lagana best? a) sookh ke b) thoda damp c) bheege" → b.</a:t>
            </a:r>
          </a:p>
          <a:p>
            <a:pPr>
              <a:spcAft>
                <a:spcPts val="400"/>
              </a:spcAft>
            </a:pPr>
            <a:r>
              <a:rPr sz="1350" b="1">
                <a:solidFill>
                  <a:srgbClr val="8F3A22"/>
                </a:solidFill>
                <a:latin typeface="Calibri"/>
              </a:rPr>
              <a:t>3.  </a:t>
            </a:r>
            <a:r>
              <a:rPr sz="1350" b="0" i="0">
                <a:solidFill>
                  <a:srgbClr val="2A2622"/>
                </a:solidFill>
                <a:latin typeface="Calibri"/>
              </a:rPr>
              <a:t>Texture + "try."</a:t>
            </a:r>
          </a:p>
          <a:p>
            <a:pPr>
              <a:spcAft>
                <a:spcPts val="400"/>
              </a:spcAft>
            </a:pPr>
            <a:r>
              <a:rPr sz="1350" b="1">
                <a:solidFill>
                  <a:srgbClr val="8F3A22"/>
                </a:solidFill>
                <a:latin typeface="Calibri"/>
              </a:rPr>
              <a:t>4.  </a:t>
            </a:r>
            <a:r>
              <a:rPr sz="1350" b="0" i="0">
                <a:solidFill>
                  <a:srgbClr val="2A2622"/>
                </a:solidFill>
                <a:latin typeface="Calibri"/>
              </a:rPr>
              <a:t>UGC: winter-body clip.</a:t>
            </a:r>
          </a:p>
          <a:p>
            <a:pPr>
              <a:spcAft>
                <a:spcPts val="400"/>
              </a:spcAft>
            </a:pPr>
            <a:r>
              <a:rPr sz="1350" b="1">
                <a:solidFill>
                  <a:srgbClr val="8F3A22"/>
                </a:solidFill>
                <a:latin typeface="Calibri"/>
              </a:rPr>
              <a:t>5.  </a:t>
            </a:r>
            <a:r>
              <a:rPr sz="1350" b="0" i="0">
                <a:solidFill>
                  <a:srgbClr val="2A2622"/>
                </a:solidFill>
                <a:latin typeface="Calibri"/>
              </a:rPr>
              <a:t>Gift-box countdown + GLOW.</a:t>
            </a:r>
          </a:p>
          <a:p>
            <a:pPr>
              <a:spcBef>
                <a:spcPts val="1000"/>
              </a:spcBef>
              <a:spcAft>
                <a:spcPts val="400"/>
              </a:spcAft>
            </a:pPr>
            <a:r>
              <a:rPr sz="1600" b="1" i="0">
                <a:solidFill>
                  <a:srgbClr val="8F3A22"/>
                </a:solidFill>
                <a:latin typeface="Calibri"/>
              </a:rPr>
              <a:t>5 Sales posts</a:t>
            </a:r>
          </a:p>
          <a:p>
            <a:pPr>
              <a:spcAft>
                <a:spcPts val="400"/>
              </a:spcAft>
            </a:pPr>
            <a:r>
              <a:rPr sz="1350" b="1">
                <a:solidFill>
                  <a:srgbClr val="8F3A22"/>
                </a:solidFill>
                <a:latin typeface="Calibri"/>
              </a:rPr>
              <a:t>1.  </a:t>
            </a:r>
            <a:r>
              <a:rPr sz="1350" b="1" i="0">
                <a:solidFill>
                  <a:srgbClr val="2A2622"/>
                </a:solidFill>
                <a:latin typeface="Calibri"/>
              </a:rPr>
              <a:t>Winter launch: "Body Care — COD, launch price."</a:t>
            </a:r>
          </a:p>
          <a:p>
            <a:pPr>
              <a:spcAft>
                <a:spcPts val="400"/>
              </a:spcAft>
            </a:pPr>
            <a:r>
              <a:rPr sz="1350" b="1">
                <a:solidFill>
                  <a:srgbClr val="8F3A22"/>
                </a:solidFill>
                <a:latin typeface="Calibri"/>
              </a:rPr>
              <a:t>2.  </a:t>
            </a:r>
            <a:r>
              <a:rPr sz="1350" b="0" i="0">
                <a:solidFill>
                  <a:srgbClr val="2A2622"/>
                </a:solidFill>
                <a:latin typeface="Calibri"/>
              </a:rPr>
              <a:t>"Body duo: wash + lotion (full routine)."</a:t>
            </a:r>
          </a:p>
          <a:p>
            <a:pPr>
              <a:spcAft>
                <a:spcPts val="400"/>
              </a:spcAft>
            </a:pPr>
            <a:r>
              <a:rPr sz="1350" b="1">
                <a:solidFill>
                  <a:srgbClr val="8F3A22"/>
                </a:solidFill>
                <a:latin typeface="Calibri"/>
              </a:rPr>
              <a:t>3.  </a:t>
            </a:r>
            <a:r>
              <a:rPr sz="1350" b="0" i="0">
                <a:solidFill>
                  <a:srgbClr val="2A2622"/>
                </a:solidFill>
                <a:latin typeface="Calibri"/>
              </a:rPr>
              <a:t>"Gifting: Diwali 'dhyan' box (Body + Lip + Serum mini) — 3 price tiers." (Diwali = peak gifting in Gujarat.)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221</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PRODUCT 10: BODY CARE (Wave: winter, Nov–Jan; gifting strong)</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4.  </a:t>
            </a:r>
            <a:r>
              <a:rPr sz="1350" b="0" i="0">
                <a:solidFill>
                  <a:srgbClr val="2A2622"/>
                </a:solidFill>
                <a:latin typeface="Calibri"/>
              </a:rPr>
              <a:t>"Wedding body kit (6 hafte)."</a:t>
            </a:r>
          </a:p>
          <a:p>
            <a:pPr>
              <a:spcAft>
                <a:spcPts val="400"/>
              </a:spcAft>
            </a:pPr>
            <a:r>
              <a:rPr sz="1350" b="1">
                <a:solidFill>
                  <a:srgbClr val="8F3A22"/>
                </a:solidFill>
                <a:latin typeface="Calibri"/>
              </a:rPr>
              <a:t>5.  </a:t>
            </a:r>
            <a:r>
              <a:rPr sz="1350" b="0" i="0">
                <a:solidFill>
                  <a:srgbClr val="2A2622"/>
                </a:solidFill>
                <a:latin typeface="Calibri"/>
              </a:rPr>
              <a:t>"Family pack: 2 bottles, 1 price (Gujarati household — family purchase is real and big)."</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222</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Cross-product rule (all 10 products)</a:t>
            </a:r>
          </a:p>
          <a:p>
            <a:r>
              <a:rPr sz="1200" i="1">
                <a:solidFill>
                  <a:srgbClr val="57504A"/>
                </a:solidFill>
                <a:latin typeface="Calibri"/>
              </a:rPr>
              <a:t>PART 12 — Product-Specific Content — Secondary 6</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  </a:t>
            </a:r>
            <a:r>
              <a:rPr sz="1350" b="1" i="0">
                <a:solidFill>
                  <a:srgbClr val="2A2622"/>
                </a:solidFill>
                <a:latin typeface="Calibri"/>
              </a:rPr>
              <a:t>Every product launch = same 3-week mini-arc:</a:t>
            </a:r>
            <a:r>
              <a:rPr sz="1350" b="0" i="0">
                <a:solidFill>
                  <a:srgbClr val="2A2622"/>
                </a:solidFill>
                <a:latin typeface="Calibri"/>
              </a:rPr>
              <a:t> (Wk 1) problem/education seed → (Wk 2) product demo + how-to + waitlist → (Wk 3) launch offer + proof + close. Reuse the Founding-100 playbook, scale it.</a:t>
            </a:r>
          </a:p>
          <a:p>
            <a:pPr>
              <a:spcAft>
                <a:spcPts val="400"/>
              </a:spcAft>
            </a:pPr>
            <a:r>
              <a:rPr sz="1350" b="1">
                <a:solidFill>
                  <a:srgbClr val="8F3A22"/>
                </a:solidFill>
                <a:latin typeface="Calibri"/>
              </a:rPr>
              <a:t>2.  </a:t>
            </a:r>
            <a:r>
              <a:rPr sz="1350" b="1" i="0">
                <a:solidFill>
                  <a:srgbClr val="2A2622"/>
                </a:solidFill>
                <a:latin typeface="Calibri"/>
              </a:rPr>
              <a:t>Cross-sell via WhatsApp broadcast</a:t>
            </a:r>
            <a:r>
              <a:rPr sz="1350" b="0" i="0">
                <a:solidFill>
                  <a:srgbClr val="2A2622"/>
                </a:solidFill>
                <a:latin typeface="Calibri"/>
              </a:rPr>
              <a:t> to existing buyers before public launch (they're the warmest audience — 10% of new product orders should come from the existing list in week 1).</a:t>
            </a:r>
          </a:p>
          <a:p>
            <a:pPr>
              <a:spcAft>
                <a:spcPts val="400"/>
              </a:spcAft>
            </a:pPr>
            <a:r>
              <a:rPr sz="1350" b="1">
                <a:solidFill>
                  <a:srgbClr val="8F3A22"/>
                </a:solidFill>
                <a:latin typeface="Calibri"/>
              </a:rPr>
              <a:t>3.  </a:t>
            </a:r>
            <a:r>
              <a:rPr sz="1350" b="1" i="0">
                <a:solidFill>
                  <a:srgbClr val="2A2622"/>
                </a:solidFill>
                <a:latin typeface="Calibri"/>
              </a:rPr>
              <a:t>One hero at a time</a:t>
            </a:r>
            <a:r>
              <a:rPr sz="1350" b="0" i="0">
                <a:solidFill>
                  <a:srgbClr val="2A2622"/>
                </a:solidFill>
                <a:latin typeface="Calibri"/>
              </a:rPr>
              <a:t> — the secondary-6 never compete with the current hero for ad budget.</a:t>
            </a:r>
          </a:p>
          <a:p>
            <a:pPr>
              <a:spcAft>
                <a:spcPts val="400"/>
              </a:spcAft>
            </a:pPr>
            <a:r>
              <a:rPr sz="1350" b="1">
                <a:solidFill>
                  <a:srgbClr val="8F3A22"/>
                </a:solidFill>
                <a:latin typeface="Calibri"/>
              </a:rPr>
              <a:t>4.  </a:t>
            </a:r>
            <a:r>
              <a:rPr sz="1350" b="1" i="0">
                <a:solidFill>
                  <a:srgbClr val="2A2622"/>
                </a:solidFill>
                <a:latin typeface="Calibri"/>
              </a:rPr>
              <a:t>Claims discipline per category:</a:t>
            </a:r>
            <a:r>
              <a:rPr sz="1350" b="0" i="0">
                <a:solidFill>
                  <a:srgbClr val="2A2622"/>
                </a:solidFill>
                <a:latin typeface="Calibri"/>
              </a:rPr>
              <a:t> face = safe brightening/hydration language; hair = "feel/comfort/lighter," never "growth guarantee"; body = "soft/hydrated feel," never medical; lips = "comfort/softness," never "heals."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223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13</a:t>
            </a:r>
          </a:p>
        </p:txBody>
      </p:sp>
      <p:sp>
        <p:nvSpPr>
          <p:cNvPr id="4" name="TextBox 3"/>
          <p:cNvSpPr txBox="1"/>
          <p:nvPr/>
        </p:nvSpPr>
        <p:spPr>
          <a:xfrm>
            <a:off x="914400" y="2377440"/>
            <a:ext cx="10362895" cy="1645920"/>
          </a:xfrm>
          <a:prstGeom prst="rect">
            <a:avLst/>
          </a:prstGeom>
          <a:noFill/>
        </p:spPr>
        <p:txBody>
          <a:bodyPr wrap="square">
            <a:spAutoFit/>
          </a:bodyPr>
          <a:lstStyle/>
          <a:p>
            <a:r>
              <a:rPr sz="3000" b="1">
                <a:solidFill>
                  <a:srgbClr val="8F3A22"/>
                </a:solidFill>
                <a:latin typeface="Calibri"/>
              </a:rPr>
              <a:t>§11 GUJARAT-FIRST STRATEGY — RANGAT NATURALS</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Gujarat-First Strategy</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224</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Gujarat-First Strategy</a:t>
            </a:r>
          </a:p>
          <a:p>
            <a:r>
              <a:rPr sz="1200" i="1">
                <a:solidFill>
                  <a:srgbClr val="57504A"/>
                </a:solidFill>
                <a:latin typeface="Calibri"/>
              </a:rPr>
              <a:t>PART 13 — Gujarat-First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Thesis:</a:t>
            </a:r>
            <a:r>
              <a:rPr sz="1350" b="0" i="0">
                <a:solidFill>
                  <a:srgbClr val="2A2622"/>
                </a:solidFill>
                <a:latin typeface="Calibri"/>
              </a:rPr>
              <a:t> Gujarat is not a "starting limitation" — it's a </a:t>
            </a:r>
            <a:r>
              <a:rPr sz="1350" b="1" i="0">
                <a:solidFill>
                  <a:srgbClr val="2A2622"/>
                </a:solidFill>
                <a:latin typeface="Calibri"/>
              </a:rPr>
              <a:t>strategic wedge</a:t>
            </a:r>
            <a:r>
              <a:rPr sz="1350" b="0" i="0">
                <a:solidFill>
                  <a:srgbClr val="2A2622"/>
                </a:solidFill>
                <a:latin typeface="Calibri"/>
              </a:rPr>
              <a:t>. A brand that owns one state (word of mouth, creators, local events, local weather content) earns trust faster than a brand trying to be "pan-India" from day one. Then India opens </a:t>
            </a:r>
            <a:r>
              <a:rPr sz="1350" b="0" i="1">
                <a:solidFill>
                  <a:srgbClr val="2A2622"/>
                </a:solidFill>
                <a:latin typeface="Calibri"/>
              </a:rPr>
              <a:t>because of</a:t>
            </a:r>
            <a:r>
              <a:rPr sz="1350" b="0" i="0">
                <a:solidFill>
                  <a:srgbClr val="2A2622"/>
                </a:solidFill>
                <a:latin typeface="Calibri"/>
              </a:rPr>
              <a:t> the Gujarat proof, not despite it.</a:t>
            </a:r>
          </a:p>
          <a:p>
            <a:pPr>
              <a:spcAft>
                <a:spcPts val="700"/>
              </a:spcAft>
            </a:pPr>
            <a:r>
              <a:rPr sz="1350" b="1" i="0">
                <a:solidFill>
                  <a:srgbClr val="2A2622"/>
                </a:solidFill>
                <a:latin typeface="Calibri"/>
              </a:rPr>
              <a:t>Positioning line:</a:t>
            </a:r>
            <a:r>
              <a:rPr sz="1350" b="0" i="0">
                <a:solidFill>
                  <a:srgbClr val="2A2622"/>
                </a:solidFill>
                <a:latin typeface="Calibri"/>
              </a:rPr>
              <a:t> "Gujarat ma pehle, India ma baad me — aur dono jagah aamee skin, aamno liye." (Use "Gujarat first" as a proud claim in content — "Hum Gujarat se shuru kar rahe hain, kyunki yahan ki skin, yahan ka mausam, yahan ki samajh.")</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225</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1. Language strategy (per-post matrix)</a:t>
            </a:r>
          </a:p>
          <a:p>
            <a:r>
              <a:rPr sz="1200" i="1">
                <a:solidFill>
                  <a:srgbClr val="57504A"/>
                </a:solidFill>
                <a:latin typeface="Calibri"/>
              </a:rPr>
              <a:t>PART 13 — Gujarat-First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2" cy="5029200"/>
        </p:xfrm>
        <a:graphic>
          <a:graphicData uri="http://schemas.openxmlformats.org/drawingml/2006/table">
            <a:tbl>
              <a:tblPr firstRow="1" bandRow="1">
                <a:tableStyleId>{5C22544A-7EE6-4342-B048-85BDC9FD1C3A}</a:tableStyleId>
              </a:tblPr>
              <a:tblGrid>
                <a:gridCol w="2251585"/>
                <a:gridCol w="1957900"/>
                <a:gridCol w="783160"/>
                <a:gridCol w="685265"/>
                <a:gridCol w="5873702"/>
              </a:tblGrid>
              <a:tr h="718457">
                <a:tc>
                  <a:txBody>
                    <a:bodyPr wrap="square"/>
                    <a:lstStyle/>
                    <a:p>
                      <a:r>
                        <a:rPr sz="1200" b="1" i="0">
                          <a:solidFill>
                            <a:srgbClr val="FFFFFF"/>
                          </a:solidFill>
                          <a:latin typeface="Calibri"/>
                        </a:rPr>
                        <a:t>Format</a:t>
                      </a:r>
                    </a:p>
                  </a:txBody>
                  <a:tcPr marL="45720" marR="45720" marT="18288" marB="18288" anchor="t">
                    <a:solidFill>
                      <a:srgbClr val="B44A2E"/>
                    </a:solidFill>
                  </a:tcPr>
                </a:tc>
                <a:tc>
                  <a:txBody>
                    <a:bodyPr wrap="square"/>
                    <a:lstStyle/>
                    <a:p>
                      <a:r>
                        <a:rPr sz="1200" b="1" i="0">
                          <a:solidFill>
                            <a:srgbClr val="FFFFFF"/>
                          </a:solidFill>
                          <a:latin typeface="Calibri"/>
                        </a:rPr>
                        <a:t>Gujarati</a:t>
                      </a:r>
                    </a:p>
                  </a:txBody>
                  <a:tcPr marL="45720" marR="45720" marT="18288" marB="18288" anchor="t">
                    <a:solidFill>
                      <a:srgbClr val="B44A2E"/>
                    </a:solidFill>
                  </a:tcPr>
                </a:tc>
                <a:tc>
                  <a:txBody>
                    <a:bodyPr wrap="square"/>
                    <a:lstStyle/>
                    <a:p>
                      <a:r>
                        <a:rPr sz="1200" b="1" i="0">
                          <a:solidFill>
                            <a:srgbClr val="FFFFFF"/>
                          </a:solidFill>
                          <a:latin typeface="Calibri"/>
                        </a:rPr>
                        <a:t>Hinglish</a:t>
                      </a:r>
                    </a:p>
                  </a:txBody>
                  <a:tcPr marL="45720" marR="45720" marT="18288" marB="18288" anchor="t">
                    <a:solidFill>
                      <a:srgbClr val="B44A2E"/>
                    </a:solidFill>
                  </a:tcPr>
                </a:tc>
                <a:tc>
                  <a:txBody>
                    <a:bodyPr wrap="square"/>
                    <a:lstStyle/>
                    <a:p>
                      <a:r>
                        <a:rPr sz="1200" b="1" i="0">
                          <a:solidFill>
                            <a:srgbClr val="FFFFFF"/>
                          </a:solidFill>
                          <a:latin typeface="Calibri"/>
                        </a:rPr>
                        <a:t>English</a:t>
                      </a:r>
                    </a:p>
                  </a:txBody>
                  <a:tcPr marL="45720" marR="45720" marT="18288" marB="18288" anchor="t">
                    <a:solidFill>
                      <a:srgbClr val="B44A2E"/>
                    </a:solidFill>
                  </a:tcPr>
                </a:tc>
                <a:tc>
                  <a:txBody>
                    <a:bodyPr wrap="square"/>
                    <a:lstStyle/>
                    <a:p>
                      <a:r>
                        <a:rPr sz="1200" b="1" i="0">
                          <a:solidFill>
                            <a:srgbClr val="FFFFFF"/>
                          </a:solidFill>
                          <a:latin typeface="Calibri"/>
                        </a:rPr>
                        <a:t>When</a:t>
                      </a:r>
                    </a:p>
                  </a:txBody>
                  <a:tcPr marL="45720" marR="45720" marT="18288" marB="18288" anchor="t">
                    <a:solidFill>
                      <a:srgbClr val="B44A2E"/>
                    </a:solidFill>
                  </a:tcPr>
                </a:tc>
              </a:tr>
              <a:tr h="718457">
                <a:tc>
                  <a:txBody>
                    <a:bodyPr wrap="square"/>
                    <a:lstStyle/>
                    <a:p>
                      <a:r>
                        <a:rPr sz="1200" b="0" i="0">
                          <a:solidFill>
                            <a:srgbClr val="2A2622"/>
                          </a:solidFill>
                          <a:latin typeface="Calibri"/>
                        </a:rPr>
                        <a:t>Founder reels</a:t>
                      </a:r>
                    </a:p>
                  </a:txBody>
                  <a:tcPr marL="45720" marR="45720" marT="18288" marB="18288" anchor="t">
                    <a:solidFill>
                      <a:srgbClr val="FFFFFF"/>
                    </a:solidFill>
                  </a:tcPr>
                </a:tc>
                <a:tc>
                  <a:txBody>
                    <a:bodyPr wrap="square"/>
                    <a:lstStyle/>
                    <a:p>
                      <a:r>
                        <a:rPr sz="1200" b="0" i="0">
                          <a:solidFill>
                            <a:srgbClr val="2A2622"/>
                          </a:solidFill>
                          <a:latin typeface="Calibri"/>
                        </a:rPr>
                        <a:t>40%</a:t>
                      </a:r>
                    </a:p>
                  </a:txBody>
                  <a:tcPr marL="45720" marR="45720" marT="18288" marB="18288" anchor="t">
                    <a:solidFill>
                      <a:srgbClr val="FFFFFF"/>
                    </a:solidFill>
                  </a:tcPr>
                </a:tc>
                <a:tc>
                  <a:txBody>
                    <a:bodyPr wrap="square"/>
                    <a:lstStyle/>
                    <a:p>
                      <a:r>
                        <a:rPr sz="1200" b="0" i="0">
                          <a:solidFill>
                            <a:srgbClr val="2A2622"/>
                          </a:solidFill>
                          <a:latin typeface="Calibri"/>
                        </a:rPr>
                        <a:t>50%</a:t>
                      </a:r>
                    </a:p>
                  </a:txBody>
                  <a:tcPr marL="45720" marR="45720" marT="18288" marB="18288" anchor="t">
                    <a:solidFill>
                      <a:srgbClr val="FFFFFF"/>
                    </a:solidFill>
                  </a:tcPr>
                </a:tc>
                <a:tc>
                  <a:txBody>
                    <a:bodyPr wrap="square"/>
                    <a:lstStyle/>
                    <a:p>
                      <a:r>
                        <a:rPr sz="1200" b="0" i="0">
                          <a:solidFill>
                            <a:srgbClr val="2A2622"/>
                          </a:solidFill>
                          <a:latin typeface="Calibri"/>
                        </a:rPr>
                        <a:t>10%</a:t>
                      </a:r>
                    </a:p>
                  </a:txBody>
                  <a:tcPr marL="45720" marR="45720" marT="18288" marB="18288" anchor="t">
                    <a:solidFill>
                      <a:srgbClr val="FFFFFF"/>
                    </a:solidFill>
                  </a:tcPr>
                </a:tc>
                <a:tc>
                  <a:txBody>
                    <a:bodyPr wrap="square"/>
                    <a:lstStyle/>
                    <a:p>
                      <a:r>
                        <a:rPr sz="1200" b="0" i="0">
                          <a:solidFill>
                            <a:srgbClr val="2A2622"/>
                          </a:solidFill>
                          <a:latin typeface="Calibri"/>
                        </a:rPr>
                        <a:t>Founder speaks in warm Gujarati-Hindi mix — authentic, not translated</a:t>
                      </a:r>
                    </a:p>
                  </a:txBody>
                  <a:tcPr marL="45720" marR="45720" marT="18288" marB="18288" anchor="t">
                    <a:solidFill>
                      <a:srgbClr val="FFFFFF"/>
                    </a:solidFill>
                  </a:tcPr>
                </a:tc>
              </a:tr>
              <a:tr h="718457">
                <a:tc>
                  <a:txBody>
                    <a:bodyPr wrap="square"/>
                    <a:lstStyle/>
                    <a:p>
                      <a:r>
                        <a:rPr sz="1200" b="0" i="0">
                          <a:solidFill>
                            <a:srgbClr val="2A2622"/>
                          </a:solidFill>
                          <a:latin typeface="Calibri"/>
                        </a:rPr>
                        <a:t>Problem/relatable reels</a:t>
                      </a:r>
                    </a:p>
                  </a:txBody>
                  <a:tcPr marL="45720" marR="45720" marT="18288" marB="18288" anchor="t">
                    <a:solidFill>
                      <a:srgbClr val="F6F1E7"/>
                    </a:solidFill>
                  </a:tcPr>
                </a:tc>
                <a:tc>
                  <a:txBody>
                    <a:bodyPr wrap="square"/>
                    <a:lstStyle/>
                    <a:p>
                      <a:r>
                        <a:rPr sz="1200" b="0" i="0">
                          <a:solidFill>
                            <a:srgbClr val="2A2622"/>
                          </a:solidFill>
                          <a:latin typeface="Calibri"/>
                        </a:rPr>
                        <a:t>60%</a:t>
                      </a:r>
                    </a:p>
                  </a:txBody>
                  <a:tcPr marL="45720" marR="45720" marT="18288" marB="18288" anchor="t">
                    <a:solidFill>
                      <a:srgbClr val="F6F1E7"/>
                    </a:solidFill>
                  </a:tcPr>
                </a:tc>
                <a:tc>
                  <a:txBody>
                    <a:bodyPr wrap="square"/>
                    <a:lstStyle/>
                    <a:p>
                      <a:r>
                        <a:rPr sz="1200" b="0" i="0">
                          <a:solidFill>
                            <a:srgbClr val="2A2622"/>
                          </a:solidFill>
                          <a:latin typeface="Calibri"/>
                        </a:rPr>
                        <a:t>40%</a:t>
                      </a:r>
                    </a:p>
                  </a:txBody>
                  <a:tcPr marL="45720" marR="45720" marT="18288" marB="18288" anchor="t">
                    <a:solidFill>
                      <a:srgbClr val="F6F1E7"/>
                    </a:solidFill>
                  </a:tcPr>
                </a:tc>
                <a:tc>
                  <a:txBody>
                    <a:bodyPr wrap="square"/>
                    <a:lstStyle/>
                    <a:p>
                      <a:r>
                        <a:rPr sz="1200" b="0" i="0">
                          <a:solidFill>
                            <a:srgbClr val="2A2622"/>
                          </a:solidFill>
                          <a:latin typeface="Calibri"/>
                        </a:rPr>
                        <a:t>0%</a:t>
                      </a:r>
                    </a:p>
                  </a:txBody>
                  <a:tcPr marL="45720" marR="45720" marT="18288" marB="18288" anchor="t">
                    <a:solidFill>
                      <a:srgbClr val="F6F1E7"/>
                    </a:solidFill>
                  </a:tcPr>
                </a:tc>
                <a:tc>
                  <a:txBody>
                    <a:bodyPr wrap="square"/>
                    <a:lstStyle/>
                    <a:p>
                      <a:r>
                        <a:rPr sz="1200" b="0" i="0">
                          <a:solidFill>
                            <a:srgbClr val="2A2622"/>
                          </a:solidFill>
                          <a:latin typeface="Calibri"/>
                        </a:rPr>
                        <a:t>Max shareability — local humor</a:t>
                      </a:r>
                    </a:p>
                  </a:txBody>
                  <a:tcPr marL="45720" marR="45720" marT="18288" marB="18288" anchor="t">
                    <a:solidFill>
                      <a:srgbClr val="F6F1E7"/>
                    </a:solidFill>
                  </a:tcPr>
                </a:tc>
              </a:tr>
              <a:tr h="718457">
                <a:tc>
                  <a:txBody>
                    <a:bodyPr wrap="square"/>
                    <a:lstStyle/>
                    <a:p>
                      <a:r>
                        <a:rPr sz="1200" b="0" i="0">
                          <a:solidFill>
                            <a:srgbClr val="2A2622"/>
                          </a:solidFill>
                          <a:latin typeface="Calibri"/>
                        </a:rPr>
                        <a:t>Product/education reels</a:t>
                      </a:r>
                    </a:p>
                  </a:txBody>
                  <a:tcPr marL="45720" marR="45720" marT="18288" marB="18288" anchor="t">
                    <a:solidFill>
                      <a:srgbClr val="FFFFFF"/>
                    </a:solidFill>
                  </a:tcPr>
                </a:tc>
                <a:tc>
                  <a:txBody>
                    <a:bodyPr wrap="square"/>
                    <a:lstStyle/>
                    <a:p>
                      <a:r>
                        <a:rPr sz="1200" b="0" i="0">
                          <a:solidFill>
                            <a:srgbClr val="2A2622"/>
                          </a:solidFill>
                          <a:latin typeface="Calibri"/>
                        </a:rPr>
                        <a:t>20%</a:t>
                      </a:r>
                    </a:p>
                  </a:txBody>
                  <a:tcPr marL="45720" marR="45720" marT="18288" marB="18288" anchor="t">
                    <a:solidFill>
                      <a:srgbClr val="FFFFFF"/>
                    </a:solidFill>
                  </a:tcPr>
                </a:tc>
                <a:tc>
                  <a:txBody>
                    <a:bodyPr wrap="square"/>
                    <a:lstStyle/>
                    <a:p>
                      <a:r>
                        <a:rPr sz="1200" b="0" i="0">
                          <a:solidFill>
                            <a:srgbClr val="2A2622"/>
                          </a:solidFill>
                          <a:latin typeface="Calibri"/>
                        </a:rPr>
                        <a:t>70%</a:t>
                      </a:r>
                    </a:p>
                  </a:txBody>
                  <a:tcPr marL="45720" marR="45720" marT="18288" marB="18288" anchor="t">
                    <a:solidFill>
                      <a:srgbClr val="FFFFFF"/>
                    </a:solidFill>
                  </a:tcPr>
                </a:tc>
                <a:tc>
                  <a:txBody>
                    <a:bodyPr wrap="square"/>
                    <a:lstStyle/>
                    <a:p>
                      <a:r>
                        <a:rPr sz="1200" b="0" i="0">
                          <a:solidFill>
                            <a:srgbClr val="2A2622"/>
                          </a:solidFill>
                          <a:latin typeface="Calibri"/>
                        </a:rPr>
                        <a:t>10%</a:t>
                      </a:r>
                    </a:p>
                  </a:txBody>
                  <a:tcPr marL="45720" marR="45720" marT="18288" marB="18288" anchor="t">
                    <a:solidFill>
                      <a:srgbClr val="FFFFFF"/>
                    </a:solidFill>
                  </a:tcPr>
                </a:tc>
                <a:tc>
                  <a:txBody>
                    <a:bodyPr wrap="square"/>
                    <a:lstStyle/>
                    <a:p>
                      <a:r>
                        <a:rPr sz="1200" b="0" i="0">
                          <a:solidFill>
                            <a:srgbClr val="2A2622"/>
                          </a:solidFill>
                          <a:latin typeface="Calibri"/>
                        </a:rPr>
                        <a:t>Clear Hinglish; key terms on-screen in English (search)</a:t>
                      </a:r>
                    </a:p>
                  </a:txBody>
                  <a:tcPr marL="45720" marR="45720" marT="18288" marB="18288" anchor="t">
                    <a:solidFill>
                      <a:srgbClr val="FFFFFF"/>
                    </a:solidFill>
                  </a:tcPr>
                </a:tc>
              </a:tr>
              <a:tr h="718457">
                <a:tc>
                  <a:txBody>
                    <a:bodyPr wrap="square"/>
                    <a:lstStyle/>
                    <a:p>
                      <a:r>
                        <a:rPr sz="1200" b="0" i="0">
                          <a:solidFill>
                            <a:srgbClr val="2A2622"/>
                          </a:solidFill>
                          <a:latin typeface="Calibri"/>
                        </a:rPr>
                        <a:t>UGC creators</a:t>
                      </a:r>
                    </a:p>
                  </a:txBody>
                  <a:tcPr marL="45720" marR="45720" marT="18288" marB="18288" anchor="t">
                    <a:solidFill>
                      <a:srgbClr val="F6F1E7"/>
                    </a:solidFill>
                  </a:tcPr>
                </a:tc>
                <a:tc>
                  <a:txBody>
                    <a:bodyPr wrap="square"/>
                    <a:lstStyle/>
                    <a:p>
                      <a:r>
                        <a:rPr sz="1200" b="0" i="0">
                          <a:solidFill>
                            <a:srgbClr val="2A2622"/>
                          </a:solidFill>
                          <a:latin typeface="Calibri"/>
                        </a:rPr>
                        <a:t>creator's native mix</a:t>
                      </a:r>
                    </a:p>
                  </a:txBody>
                  <a:tcPr marL="45720" marR="45720" marT="18288" marB="18288" anchor="t">
                    <a:solidFill>
                      <a:srgbClr val="F6F1E7"/>
                    </a:solidFill>
                  </a:tcPr>
                </a:tc>
                <a:tc>
                  <a:txBody>
                    <a:bodyPr wrap="square"/>
                    <a:lstStyle/>
                    <a:p/>
                  </a:txBody>
                  <a:tcPr marL="45720" marR="45720" marT="18288" marB="18288" anchor="t">
                    <a:solidFill>
                      <a:srgbClr val="F6F1E7"/>
                    </a:solidFill>
                  </a:tcPr>
                </a:tc>
                <a:tc>
                  <a:txBody>
                    <a:bodyPr wrap="square"/>
                    <a:lstStyle/>
                    <a:p/>
                  </a:txBody>
                  <a:tcPr marL="45720" marR="45720" marT="18288" marB="18288" anchor="t">
                    <a:solidFill>
                      <a:srgbClr val="F6F1E7"/>
                    </a:solidFill>
                  </a:tcPr>
                </a:tc>
                <a:tc>
                  <a:txBody>
                    <a:bodyPr wrap="square"/>
                    <a:lstStyle/>
                    <a:p>
                      <a:r>
                        <a:rPr sz="1200" b="0" i="0">
                          <a:solidFill>
                            <a:srgbClr val="2A2622"/>
                          </a:solidFill>
                          <a:latin typeface="Calibri"/>
                        </a:rPr>
                        <a:t>Gujarati creators → Gujarati-first; Hindi creators → Hinglish</a:t>
                      </a:r>
                    </a:p>
                  </a:txBody>
                  <a:tcPr marL="45720" marR="45720" marT="18288" marB="18288" anchor="t">
                    <a:solidFill>
                      <a:srgbClr val="F6F1E7"/>
                    </a:solidFill>
                  </a:tcPr>
                </a:tc>
              </a:tr>
              <a:tr h="718457">
                <a:tc>
                  <a:txBody>
                    <a:bodyPr wrap="square"/>
                    <a:lstStyle/>
                    <a:p>
                      <a:r>
                        <a:rPr sz="1200" b="0" i="0">
                          <a:solidFill>
                            <a:srgbClr val="2A2622"/>
                          </a:solidFill>
                          <a:latin typeface="Calibri"/>
                        </a:rPr>
                        <a:t>Sales/offer posts</a:t>
                      </a:r>
                    </a:p>
                  </a:txBody>
                  <a:tcPr marL="45720" marR="45720" marT="18288" marB="18288" anchor="t">
                    <a:solidFill>
                      <a:srgbClr val="FFFFFF"/>
                    </a:solidFill>
                  </a:tcPr>
                </a:tc>
                <a:tc>
                  <a:txBody>
                    <a:bodyPr wrap="square"/>
                    <a:lstStyle/>
                    <a:p>
                      <a:r>
                        <a:rPr sz="1200" b="0" i="0">
                          <a:solidFill>
                            <a:srgbClr val="2A2622"/>
                          </a:solidFill>
                          <a:latin typeface="Calibri"/>
                        </a:rPr>
                        <a:t>30%</a:t>
                      </a:r>
                    </a:p>
                  </a:txBody>
                  <a:tcPr marL="45720" marR="45720" marT="18288" marB="18288" anchor="t">
                    <a:solidFill>
                      <a:srgbClr val="FFFFFF"/>
                    </a:solidFill>
                  </a:tcPr>
                </a:tc>
                <a:tc>
                  <a:txBody>
                    <a:bodyPr wrap="square"/>
                    <a:lstStyle/>
                    <a:p>
                      <a:r>
                        <a:rPr sz="1200" b="0" i="0">
                          <a:solidFill>
                            <a:srgbClr val="2A2622"/>
                          </a:solidFill>
                          <a:latin typeface="Calibri"/>
                        </a:rPr>
                        <a:t>60%</a:t>
                      </a:r>
                    </a:p>
                  </a:txBody>
                  <a:tcPr marL="45720" marR="45720" marT="18288" marB="18288" anchor="t">
                    <a:solidFill>
                      <a:srgbClr val="FFFFFF"/>
                    </a:solidFill>
                  </a:tcPr>
                </a:tc>
                <a:tc>
                  <a:txBody>
                    <a:bodyPr wrap="square"/>
                    <a:lstStyle/>
                    <a:p>
                      <a:r>
                        <a:rPr sz="1200" b="0" i="0">
                          <a:solidFill>
                            <a:srgbClr val="2A2622"/>
                          </a:solidFill>
                          <a:latin typeface="Calibri"/>
                        </a:rPr>
                        <a:t>10%</a:t>
                      </a:r>
                    </a:p>
                  </a:txBody>
                  <a:tcPr marL="45720" marR="45720" marT="18288" marB="18288" anchor="t">
                    <a:solidFill>
                      <a:srgbClr val="FFFFFF"/>
                    </a:solidFill>
                  </a:tcPr>
                </a:tc>
                <a:tc>
                  <a:txBody>
                    <a:bodyPr wrap="square"/>
                    <a:lstStyle/>
                    <a:p>
                      <a:r>
                        <a:rPr sz="1200" b="0" i="0">
                          <a:solidFill>
                            <a:srgbClr val="2A2622"/>
                          </a:solidFill>
                          <a:latin typeface="Calibri"/>
                        </a:rPr>
                        <a:t>Offer clarity in Hinglish, warmth in Gujarati</a:t>
                      </a:r>
                    </a:p>
                  </a:txBody>
                  <a:tcPr marL="45720" marR="45720" marT="18288" marB="18288" anchor="t">
                    <a:solidFill>
                      <a:srgbClr val="FFFFFF"/>
                    </a:solidFill>
                  </a:tcPr>
                </a:tc>
              </a:tr>
              <a:tr h="718458">
                <a:tc>
                  <a:txBody>
                    <a:bodyPr wrap="square"/>
                    <a:lstStyle/>
                    <a:p>
                      <a:r>
                        <a:rPr sz="1200" b="0" i="0">
                          <a:solidFill>
                            <a:srgbClr val="2A2622"/>
                          </a:solidFill>
                          <a:latin typeface="Calibri"/>
                        </a:rPr>
                        <a:t>Captions/keywords</a:t>
                      </a:r>
                    </a:p>
                  </a:txBody>
                  <a:tcPr marL="45720" marR="45720" marT="18288" marB="18288" anchor="t">
                    <a:solidFill>
                      <a:srgbClr val="F6F1E7"/>
                    </a:solidFill>
                  </a:tcPr>
                </a:tc>
                <a:tc>
                  <a:txBody>
                    <a:bodyPr wrap="square"/>
                    <a:lstStyle/>
                    <a:p>
                      <a:r>
                        <a:rPr sz="1200" b="0" i="0">
                          <a:solidFill>
                            <a:srgbClr val="2A2622"/>
                          </a:solidFill>
                          <a:latin typeface="Calibri"/>
                        </a:rPr>
                        <a:t>—</a:t>
                      </a:r>
                    </a:p>
                  </a:txBody>
                  <a:tcPr marL="45720" marR="45720" marT="18288" marB="18288" anchor="t">
                    <a:solidFill>
                      <a:srgbClr val="F6F1E7"/>
                    </a:solidFill>
                  </a:tcPr>
                </a:tc>
                <a:tc>
                  <a:txBody>
                    <a:bodyPr wrap="square"/>
                    <a:lstStyle/>
                    <a:p>
                      <a:r>
                        <a:rPr sz="1200" b="0" i="0">
                          <a:solidFill>
                            <a:srgbClr val="2A2622"/>
                          </a:solidFill>
                          <a:latin typeface="Calibri"/>
                        </a:rPr>
                        <a:t>70%</a:t>
                      </a:r>
                    </a:p>
                  </a:txBody>
                  <a:tcPr marL="45720" marR="45720" marT="18288" marB="18288" anchor="t">
                    <a:solidFill>
                      <a:srgbClr val="F6F1E7"/>
                    </a:solidFill>
                  </a:tcPr>
                </a:tc>
                <a:tc>
                  <a:txBody>
                    <a:bodyPr wrap="square"/>
                    <a:lstStyle/>
                    <a:p>
                      <a:r>
                        <a:rPr sz="1200" b="0" i="0">
                          <a:solidFill>
                            <a:srgbClr val="2A2622"/>
                          </a:solidFill>
                          <a:latin typeface="Calibri"/>
                        </a:rPr>
                        <a:t>30%</a:t>
                      </a:r>
                    </a:p>
                  </a:txBody>
                  <a:tcPr marL="45720" marR="45720" marT="18288" marB="18288" anchor="t">
                    <a:solidFill>
                      <a:srgbClr val="F6F1E7"/>
                    </a:solidFill>
                  </a:tcPr>
                </a:tc>
                <a:tc>
                  <a:txBody>
                    <a:bodyPr wrap="square"/>
                    <a:lstStyle/>
                    <a:p>
                      <a:r>
                        <a:rPr sz="1200" b="0" i="0">
                          <a:solidFill>
                            <a:srgbClr val="2A2622"/>
                          </a:solidFill>
                          <a:latin typeface="Calibri"/>
                        </a:rPr>
                        <a:t>Captions carry the SEO keywords (English/Hindi search terms)</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226</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1. Language strategy (per-post matrix)</a:t>
            </a:r>
          </a:p>
          <a:p>
            <a:r>
              <a:rPr sz="1200" i="1">
                <a:solidFill>
                  <a:srgbClr val="57504A"/>
                </a:solidFill>
                <a:latin typeface="Calibri"/>
              </a:rPr>
              <a:t>PART 13 — Gujarat-First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The 3 signature lines (rotate):</a:t>
            </a:r>
          </a:p>
          <a:p>
            <a:pPr>
              <a:spcAft>
                <a:spcPts val="400"/>
              </a:spcAft>
            </a:pPr>
            <a:r>
              <a:rPr sz="1350">
                <a:solidFill>
                  <a:srgbClr val="B44A2E"/>
                </a:solidFill>
                <a:latin typeface="Calibri"/>
              </a:rPr>
              <a:t>•  </a:t>
            </a:r>
            <a:r>
              <a:rPr sz="1350" b="0" i="0">
                <a:solidFill>
                  <a:srgbClr val="2A2622"/>
                </a:solidFill>
                <a:latin typeface="Calibri"/>
              </a:rPr>
              <a:t>"Aamee skin, aamno liye." (Gujarati)</a:t>
            </a:r>
          </a:p>
          <a:p>
            <a:pPr>
              <a:spcAft>
                <a:spcPts val="400"/>
              </a:spcAft>
            </a:pPr>
            <a:r>
              <a:rPr sz="1350">
                <a:solidFill>
                  <a:srgbClr val="B44A2E"/>
                </a:solidFill>
                <a:latin typeface="Calibri"/>
              </a:rPr>
              <a:t>•  </a:t>
            </a:r>
            <a:r>
              <a:rPr sz="1350" b="0" i="0">
                <a:solidFill>
                  <a:srgbClr val="2A2622"/>
                </a:solidFill>
                <a:latin typeface="Calibri"/>
              </a:rPr>
              <a:t>"Asli skin, asli result." (Hinglish)</a:t>
            </a:r>
          </a:p>
          <a:p>
            <a:pPr>
              <a:spcAft>
                <a:spcPts val="400"/>
              </a:spcAft>
            </a:pPr>
            <a:r>
              <a:rPr sz="1350">
                <a:solidFill>
                  <a:srgbClr val="B44A2E"/>
                </a:solidFill>
                <a:latin typeface="Calibri"/>
              </a:rPr>
              <a:t>•  </a:t>
            </a:r>
            <a:r>
              <a:rPr sz="1350" b="0" i="0">
                <a:solidFill>
                  <a:srgbClr val="2A2622"/>
                </a:solidFill>
                <a:latin typeface="Calibri"/>
              </a:rPr>
              <a:t>"Skincare that understands Indian skin." (English — for the India-next phase)</a:t>
            </a:r>
          </a:p>
          <a:p>
            <a:pPr>
              <a:spcAft>
                <a:spcPts val="700"/>
              </a:spcAft>
            </a:pPr>
            <a:r>
              <a:rPr sz="1350" b="1" i="0">
                <a:solidFill>
                  <a:srgbClr val="2A2622"/>
                </a:solidFill>
                <a:latin typeface="Calibri"/>
              </a:rPr>
              <a:t>Gujarati flavor rules (natural, not forced):</a:t>
            </a:r>
          </a:p>
          <a:p>
            <a:pPr>
              <a:spcAft>
                <a:spcPts val="400"/>
              </a:spcAft>
            </a:pPr>
            <a:r>
              <a:rPr sz="1350">
                <a:solidFill>
                  <a:srgbClr val="B44A2E"/>
                </a:solidFill>
                <a:latin typeface="Calibri"/>
              </a:rPr>
              <a:t>•  </a:t>
            </a:r>
            <a:r>
              <a:rPr sz="1350" b="0" i="0">
                <a:solidFill>
                  <a:srgbClr val="2A2622"/>
                </a:solidFill>
                <a:latin typeface="Calibri"/>
              </a:rPr>
              <a:t>Use Gujarati for </a:t>
            </a:r>
            <a:r>
              <a:rPr sz="1350" b="0" i="1">
                <a:solidFill>
                  <a:srgbClr val="2A2622"/>
                </a:solidFill>
                <a:latin typeface="Calibri"/>
              </a:rPr>
              <a:t>warmth</a:t>
            </a:r>
            <a:r>
              <a:rPr sz="1350" b="0" i="0">
                <a:solidFill>
                  <a:srgbClr val="2A2622"/>
                </a:solidFill>
                <a:latin typeface="Calibri"/>
              </a:rPr>
              <a:t> (relationships, home, chai, nani, maa) and Hinglish for </a:t>
            </a:r>
            <a:r>
              <a:rPr sz="1350" b="0" i="1">
                <a:solidFill>
                  <a:srgbClr val="2A2622"/>
                </a:solidFill>
                <a:latin typeface="Calibri"/>
              </a:rPr>
              <a:t>product facts</a:t>
            </a:r>
            <a:r>
              <a:rPr sz="1350" b="0" i="0">
                <a:solidFill>
                  <a:srgbClr val="2A2622"/>
                </a:solidFill>
                <a:latin typeface="Calibri"/>
              </a:rPr>
              <a:t>.</a:t>
            </a:r>
          </a:p>
          <a:p>
            <a:pPr>
              <a:spcAft>
                <a:spcPts val="400"/>
              </a:spcAft>
            </a:pPr>
            <a:r>
              <a:rPr sz="1350">
                <a:solidFill>
                  <a:srgbClr val="B44A2E"/>
                </a:solidFill>
                <a:latin typeface="Calibri"/>
              </a:rPr>
              <a:t>•  </a:t>
            </a:r>
            <a:r>
              <a:rPr sz="1350" b="0" i="0">
                <a:solidFill>
                  <a:srgbClr val="2A2622"/>
                </a:solidFill>
                <a:latin typeface="Calibri"/>
              </a:rPr>
              <a:t>Never make English the default voice — it signals "imported brand" to the first market.</a:t>
            </a:r>
          </a:p>
          <a:p>
            <a:pPr>
              <a:spcAft>
                <a:spcPts val="400"/>
              </a:spcAft>
            </a:pPr>
            <a:r>
              <a:rPr sz="1350">
                <a:solidFill>
                  <a:srgbClr val="B44A2E"/>
                </a:solidFill>
                <a:latin typeface="Calibri"/>
              </a:rPr>
              <a:t>•  </a:t>
            </a:r>
            <a:r>
              <a:rPr sz="1350" b="0" i="0">
                <a:solidFill>
                  <a:srgbClr val="2A2622"/>
                </a:solidFill>
                <a:latin typeface="Calibri"/>
              </a:rPr>
              <a:t>Local references that land: chai + thepla mornings, 40-degree summers, monsoon humidity, SG Highway, "dhool," shaadi season, Diwali gifting, college life in Amdavad, "vasadi" chats, ladi-vasem-style gifting boxes (use "gift box" framing), value psychology ("dhamaka daam" energy without cheapening the brand).</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227</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1. Language strategy (per-post matrix)</a:t>
            </a:r>
          </a:p>
          <a:p>
            <a:r>
              <a:rPr sz="1200" i="1">
                <a:solidFill>
                  <a:srgbClr val="57504A"/>
                </a:solidFill>
                <a:latin typeface="Calibri"/>
              </a:rPr>
              <a:t>PART 13 — Gujarat-First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Do NOT</a:t>
            </a:r>
            <a:r>
              <a:rPr sz="1350" b="0" i="0">
                <a:solidFill>
                  <a:srgbClr val="2A2622"/>
                </a:solidFill>
                <a:latin typeface="Calibri"/>
              </a:rPr>
              <a:t> use Gujarati as a punchline or stereotype; the founders/creators use it because it's their language.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228</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2. City-by-city content &amp; distribution</a:t>
            </a:r>
          </a:p>
          <a:p>
            <a:r>
              <a:rPr sz="1200" i="1">
                <a:solidFill>
                  <a:srgbClr val="57504A"/>
                </a:solidFill>
                <a:latin typeface="Calibri"/>
              </a:rPr>
              <a:t>PART 13 — Gujarat-First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Ahmedabad (Home base — 60% of launch energy)</a:t>
            </a:r>
          </a:p>
          <a:p>
            <a:pPr>
              <a:spcAft>
                <a:spcPts val="400"/>
              </a:spcAft>
            </a:pPr>
            <a:r>
              <a:rPr sz="1350">
                <a:solidFill>
                  <a:srgbClr val="B44A2E"/>
                </a:solidFill>
                <a:latin typeface="Calibri"/>
              </a:rPr>
              <a:t>•  </a:t>
            </a:r>
            <a:r>
              <a:rPr sz="1350" b="1" i="0">
                <a:solidFill>
                  <a:srgbClr val="2A2622"/>
                </a:solidFill>
                <a:latin typeface="Calibri"/>
              </a:rPr>
              <a:t>Content angles:</a:t>
            </a:r>
            <a:r>
              <a:rPr sz="1350" b="0" i="0">
                <a:solidFill>
                  <a:srgbClr val="2A2622"/>
                </a:solidFill>
                <a:latin typeface="Calibri"/>
              </a:rPr>
              <a:t> SG Highway dhool + office AC combo; old city vs new city skin stories; 40° summers + AC winters; Maninagar/Satellite/SG Highway geotags on posts; "Amdavad wale" callouts; local college life (MS/SD, NIZRD area).</a:t>
            </a:r>
          </a:p>
          <a:p>
            <a:pPr>
              <a:spcAft>
                <a:spcPts val="400"/>
              </a:spcAft>
            </a:pPr>
            <a:r>
              <a:rPr sz="1350">
                <a:solidFill>
                  <a:srgbClr val="B44A2E"/>
                </a:solidFill>
                <a:latin typeface="Calibri"/>
              </a:rPr>
              <a:t>•  </a:t>
            </a:r>
            <a:r>
              <a:rPr sz="1350" b="1" i="0">
                <a:solidFill>
                  <a:srgbClr val="2A2622"/>
                </a:solidFill>
                <a:latin typeface="Calibri"/>
              </a:rPr>
              <a:t>On-ground:</a:t>
            </a:r>
            <a:r>
              <a:rPr sz="1350" b="0" i="0">
                <a:solidFill>
                  <a:srgbClr val="2A2622"/>
                </a:solidFill>
                <a:latin typeface="Calibri"/>
              </a:rPr>
              <a:t> Founder physically in Ahmedabad — film in real locations (local café, market, park) for BTS reels. 3–4 local events/micro-launches (see §creators).</a:t>
            </a:r>
          </a:p>
          <a:p>
            <a:pPr>
              <a:spcAft>
                <a:spcPts val="400"/>
              </a:spcAft>
            </a:pPr>
            <a:r>
              <a:rPr sz="1350">
                <a:solidFill>
                  <a:srgbClr val="B44A2E"/>
                </a:solidFill>
                <a:latin typeface="Calibri"/>
              </a:rPr>
              <a:t>•  </a:t>
            </a:r>
            <a:r>
              <a:rPr sz="1350" b="1" i="0">
                <a:solidFill>
                  <a:srgbClr val="2A2622"/>
                </a:solidFill>
                <a:latin typeface="Calibri"/>
              </a:rPr>
              <a:t>Ads:</a:t>
            </a:r>
            <a:r>
              <a:rPr sz="1350" b="0" i="0">
                <a:solidFill>
                  <a:srgbClr val="2A2622"/>
                </a:solidFill>
                <a:latin typeface="Calibri"/>
              </a:rPr>
              <a:t> Launch geo = Ahmedabad + 40km. Retargeting same.</a:t>
            </a:r>
          </a:p>
          <a:p>
            <a:pPr>
              <a:spcAft>
                <a:spcPts val="400"/>
              </a:spcAft>
            </a:pPr>
            <a:r>
              <a:rPr sz="1350">
                <a:solidFill>
                  <a:srgbClr val="B44A2E"/>
                </a:solidFill>
                <a:latin typeface="Calibri"/>
              </a:rPr>
              <a:t>•  </a:t>
            </a:r>
            <a:r>
              <a:rPr sz="1350" b="1" i="0">
                <a:solidFill>
                  <a:srgbClr val="2A2622"/>
                </a:solidFill>
                <a:latin typeface="Calibri"/>
              </a:rPr>
              <a:t>Local hashtags (rotate 2–3 per post):</a:t>
            </a:r>
            <a:r>
              <a:rPr sz="1350" b="0" i="0">
                <a:solidFill>
                  <a:srgbClr val="2A2622"/>
                </a:solidFill>
                <a:latin typeface="Calibri"/>
              </a:rPr>
              <a:t> #Ahmedabad #Amdavad #AhmedabadFood (adjacent reach) #Gujarat</a:t>
            </a:r>
          </a:p>
          <a:p>
            <a:pPr>
              <a:spcBef>
                <a:spcPts val="1000"/>
              </a:spcBef>
              <a:spcAft>
                <a:spcPts val="400"/>
              </a:spcAft>
            </a:pPr>
            <a:r>
              <a:rPr sz="1600" b="1" i="0">
                <a:solidFill>
                  <a:srgbClr val="8F3A22"/>
                </a:solidFill>
                <a:latin typeface="Calibri"/>
              </a:rPr>
              <a:t>Surat (Wave 2 — young, fast, aspirational)</a:t>
            </a:r>
          </a:p>
          <a:p>
            <a:pPr>
              <a:spcAft>
                <a:spcPts val="400"/>
              </a:spcAft>
            </a:pPr>
            <a:r>
              <a:rPr sz="1350">
                <a:solidFill>
                  <a:srgbClr val="B44A2E"/>
                </a:solidFill>
                <a:latin typeface="Calibri"/>
              </a:rPr>
              <a:t>•  </a:t>
            </a:r>
            <a:r>
              <a:rPr sz="1350" b="1" i="0">
                <a:solidFill>
                  <a:srgbClr val="2A2622"/>
                </a:solidFill>
                <a:latin typeface="Calibri"/>
              </a:rPr>
              <a:t>Angles:</a:t>
            </a:r>
            <a:r>
              <a:rPr sz="1350" b="0" i="0">
                <a:solidFill>
                  <a:srgbClr val="2A2622"/>
                </a:solidFill>
                <a:latin typeface="Calibri"/>
              </a:rPr>
              <a:t> "Diamond city hustle" (9-to-9 + glow); Surat is young (big 18–28 population) → student budget content lands hard; diamond-polishing dust/pollution angle (careful, respectful framing: "sheher ka dhool"); fast-city life, less time → "2-minute routine" content.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229</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2. City-by-city content &amp; distribution</a:t>
            </a:r>
          </a:p>
          <a:p>
            <a:r>
              <a:rPr sz="1200" i="1">
                <a:solidFill>
                  <a:srgbClr val="57504A"/>
                </a:solidFill>
                <a:latin typeface="Calibri"/>
              </a:rPr>
              <a:t>PART 13 — Gujarat-First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Creators:</a:t>
            </a:r>
            <a:r>
              <a:rPr sz="1350" b="0" i="0">
                <a:solidFill>
                  <a:srgbClr val="2A2622"/>
                </a:solidFill>
                <a:latin typeface="Calibri"/>
              </a:rPr>
              <a:t> 2–3 Surat micro-creators (fashion/food/lifestyle, 10k–50k).</a:t>
            </a:r>
          </a:p>
          <a:p>
            <a:pPr>
              <a:spcAft>
                <a:spcPts val="400"/>
              </a:spcAft>
            </a:pPr>
            <a:r>
              <a:rPr sz="1350">
                <a:solidFill>
                  <a:srgbClr val="B44A2E"/>
                </a:solidFill>
                <a:latin typeface="Calibri"/>
              </a:rPr>
              <a:t>•  </a:t>
            </a:r>
            <a:r>
              <a:rPr sz="1350" b="1" i="0">
                <a:solidFill>
                  <a:srgbClr val="2A2622"/>
                </a:solidFill>
                <a:latin typeface="Calibri"/>
              </a:rPr>
              <a:t>Ads:</a:t>
            </a:r>
            <a:r>
              <a:rPr sz="1350" b="0" i="0">
                <a:solidFill>
                  <a:srgbClr val="2A2622"/>
                </a:solidFill>
                <a:latin typeface="Calibri"/>
              </a:rPr>
              <a:t> Add Surat to prospecting in Week 4–6 (after Ahmedabad CPA is known).</a:t>
            </a:r>
          </a:p>
          <a:p>
            <a:pPr>
              <a:spcBef>
                <a:spcPts val="1000"/>
              </a:spcBef>
              <a:spcAft>
                <a:spcPts val="400"/>
              </a:spcAft>
            </a:pPr>
            <a:r>
              <a:rPr sz="1600" b="1" i="0">
                <a:solidFill>
                  <a:srgbClr val="8F3A22"/>
                </a:solidFill>
                <a:latin typeface="Calibri"/>
              </a:rPr>
              <a:t>Vadodara (Wave 2 — culture, colleges)</a:t>
            </a:r>
          </a:p>
          <a:p>
            <a:pPr>
              <a:spcAft>
                <a:spcPts val="400"/>
              </a:spcAft>
            </a:pPr>
            <a:r>
              <a:rPr sz="1350">
                <a:solidFill>
                  <a:srgbClr val="B44A2E"/>
                </a:solidFill>
                <a:latin typeface="Calibri"/>
              </a:rPr>
              <a:t>•  </a:t>
            </a:r>
            <a:r>
              <a:rPr sz="1350" b="1" i="0">
                <a:solidFill>
                  <a:srgbClr val="2A2622"/>
                </a:solidFill>
                <a:latin typeface="Calibri"/>
              </a:rPr>
              <a:t>Angles:</a:t>
            </a:r>
            <a:r>
              <a:rPr sz="1350" b="0" i="0">
                <a:solidFill>
                  <a:srgbClr val="2A2622"/>
                </a:solidFill>
                <a:latin typeface="Calibri"/>
              </a:rPr>
              <a:t> Cultural festival + wedding-glow season; college hubs; "Vadu" humor (light); art/culture lifestyle = aesthetic content plays well.</a:t>
            </a:r>
          </a:p>
          <a:p>
            <a:pPr>
              <a:spcAft>
                <a:spcPts val="400"/>
              </a:spcAft>
            </a:pPr>
            <a:r>
              <a:rPr sz="1350">
                <a:solidFill>
                  <a:srgbClr val="B44A2E"/>
                </a:solidFill>
                <a:latin typeface="Calibri"/>
              </a:rPr>
              <a:t>•  </a:t>
            </a:r>
            <a:r>
              <a:rPr sz="1350" b="1" i="0">
                <a:solidFill>
                  <a:srgbClr val="2A2622"/>
                </a:solidFill>
                <a:latin typeface="Calibri"/>
              </a:rPr>
              <a:t>Creators:</a:t>
            </a:r>
            <a:r>
              <a:rPr sz="1350" b="0" i="0">
                <a:solidFill>
                  <a:srgbClr val="2A2622"/>
                </a:solidFill>
                <a:latin typeface="Calibri"/>
              </a:rPr>
              <a:t> 1–2 college/culture creators.</a:t>
            </a:r>
          </a:p>
          <a:p>
            <a:pPr>
              <a:spcAft>
                <a:spcPts val="400"/>
              </a:spcAft>
            </a:pPr>
            <a:r>
              <a:rPr sz="1350">
                <a:solidFill>
                  <a:srgbClr val="B44A2E"/>
                </a:solidFill>
                <a:latin typeface="Calibri"/>
              </a:rPr>
              <a:t>•  </a:t>
            </a:r>
            <a:r>
              <a:rPr sz="1350" b="1" i="0">
                <a:solidFill>
                  <a:srgbClr val="2A2622"/>
                </a:solidFill>
                <a:latin typeface="Calibri"/>
              </a:rPr>
              <a:t>Ads:</a:t>
            </a:r>
            <a:r>
              <a:rPr sz="1350" b="0" i="0">
                <a:solidFill>
                  <a:srgbClr val="2A2622"/>
                </a:solidFill>
                <a:latin typeface="Calibri"/>
              </a:rPr>
              <a:t> Add in Week 6–8.</a:t>
            </a:r>
          </a:p>
          <a:p>
            <a:pPr>
              <a:spcBef>
                <a:spcPts val="1000"/>
              </a:spcBef>
              <a:spcAft>
                <a:spcPts val="400"/>
              </a:spcAft>
            </a:pPr>
            <a:r>
              <a:rPr sz="1600" b="1" i="0">
                <a:solidFill>
                  <a:srgbClr val="8F3A22"/>
                </a:solidFill>
                <a:latin typeface="Calibri"/>
              </a:rPr>
              <a:t>Rajkot (Wave 3 — value + family)</a:t>
            </a:r>
          </a:p>
          <a:p>
            <a:pPr>
              <a:spcAft>
                <a:spcPts val="400"/>
              </a:spcAft>
            </a:pPr>
            <a:r>
              <a:rPr sz="1350">
                <a:solidFill>
                  <a:srgbClr val="B44A2E"/>
                </a:solidFill>
                <a:latin typeface="Calibri"/>
              </a:rPr>
              <a:t>•  </a:t>
            </a:r>
            <a:r>
              <a:rPr sz="1350" b="1" i="0">
                <a:solidFill>
                  <a:srgbClr val="2A2622"/>
                </a:solidFill>
                <a:latin typeface="Calibri"/>
              </a:rPr>
              <a:t>Angles:</a:t>
            </a:r>
            <a:r>
              <a:rPr sz="1350" b="0" i="0">
                <a:solidFill>
                  <a:srgbClr val="2A2622"/>
                </a:solidFill>
                <a:latin typeface="Calibri"/>
              </a:rPr>
              <a:t> Dry winters (face cream wave), value-for-money psychology, family purchasing (gifts for maa/nani), "Rajkot walo" direct callouts.</a:t>
            </a:r>
          </a:p>
          <a:p>
            <a:pPr>
              <a:spcAft>
                <a:spcPts val="400"/>
              </a:spcAft>
            </a:pPr>
            <a:r>
              <a:rPr sz="1350">
                <a:solidFill>
                  <a:srgbClr val="B44A2E"/>
                </a:solidFill>
                <a:latin typeface="Calibri"/>
              </a:rPr>
              <a:t>•  </a:t>
            </a:r>
            <a:r>
              <a:rPr sz="1350" b="1" i="0">
                <a:solidFill>
                  <a:srgbClr val="2A2622"/>
                </a:solidFill>
                <a:latin typeface="Calibri"/>
              </a:rPr>
              <a:t>Creators:</a:t>
            </a:r>
            <a:r>
              <a:rPr sz="1350" b="0" i="0">
                <a:solidFill>
                  <a:srgbClr val="2A2622"/>
                </a:solidFill>
                <a:latin typeface="Calibri"/>
              </a:rPr>
              <a:t> 1–2 family/lifestyle creators.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230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2. City-by-city content &amp; distribution</a:t>
            </a:r>
          </a:p>
          <a:p>
            <a:r>
              <a:rPr sz="1200" i="1">
                <a:solidFill>
                  <a:srgbClr val="57504A"/>
                </a:solidFill>
                <a:latin typeface="Calibri"/>
              </a:rPr>
              <a:t>PART 13 — Gujarat-First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Ads:</a:t>
            </a:r>
            <a:r>
              <a:rPr sz="1350" b="0" i="0">
                <a:solidFill>
                  <a:srgbClr val="2A2622"/>
                </a:solidFill>
                <a:latin typeface="Calibri"/>
              </a:rPr>
              <a:t> Week 8+, with Face Cream + gifting content.</a:t>
            </a:r>
          </a:p>
          <a:p>
            <a:pPr>
              <a:spcAft>
                <a:spcPts val="700"/>
              </a:spcAft>
            </a:pPr>
            <a:r>
              <a:rPr sz="1350" b="1" i="0">
                <a:solidFill>
                  <a:srgbClr val="2A2622"/>
                </a:solidFill>
                <a:latin typeface="Calibri"/>
              </a:rPr>
              <a:t>Expansion rule (India-next, Day 90+):</a:t>
            </a:r>
            <a:r>
              <a:rPr sz="1350" b="0" i="0">
                <a:solidFill>
                  <a:srgbClr val="2A2622"/>
                </a:solidFill>
                <a:latin typeface="Calibri"/>
              </a:rPr>
              <a:t> Keep 40–50% of content Gujarat-anchored (it's the identity), shift 30% to "all-India" problems (monsoon, office, college, wedding season), 20% to new-city creator content (Delhi NCR, Mumbai, Pune, Bangalore, Hyderabad, Jaipur, Indore). </a:t>
            </a:r>
            <a:r>
              <a:rPr sz="1350" b="1" i="0">
                <a:solidFill>
                  <a:srgbClr val="2A2622"/>
                </a:solidFill>
                <a:latin typeface="Calibri"/>
              </a:rPr>
              <a:t>Never drop Gujarat — it stays the brand's home, like the "Pune" of Indian D2C.</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231</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3. Local weather &amp; skincare-problem content calendar (annual)</a:t>
            </a:r>
          </a:p>
          <a:p>
            <a:r>
              <a:rPr sz="1200" i="1">
                <a:solidFill>
                  <a:srgbClr val="57504A"/>
                </a:solidFill>
                <a:latin typeface="Calibri"/>
              </a:rPr>
              <a:t>PART 13 — Gujarat-First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2" cy="5029200"/>
        </p:xfrm>
        <a:graphic>
          <a:graphicData uri="http://schemas.openxmlformats.org/drawingml/2006/table">
            <a:tbl>
              <a:tblPr firstRow="1" bandRow="1">
                <a:tableStyleId>{5C22544A-7EE6-4342-B048-85BDC9FD1C3A}</a:tableStyleId>
              </a:tblPr>
              <a:tblGrid>
                <a:gridCol w="942988"/>
                <a:gridCol w="3536208"/>
                <a:gridCol w="3536208"/>
                <a:gridCol w="3536208"/>
              </a:tblGrid>
              <a:tr h="1005840">
                <a:tc>
                  <a:txBody>
                    <a:bodyPr wrap="square"/>
                    <a:lstStyle/>
                    <a:p>
                      <a:r>
                        <a:rPr sz="1200" b="1" i="0">
                          <a:solidFill>
                            <a:srgbClr val="FFFFFF"/>
                          </a:solidFill>
                          <a:latin typeface="Calibri"/>
                        </a:rPr>
                        <a:t>Period (Gujarat)</a:t>
                      </a:r>
                    </a:p>
                  </a:txBody>
                  <a:tcPr marL="45720" marR="45720" marT="18288" marB="18288" anchor="t">
                    <a:solidFill>
                      <a:srgbClr val="B44A2E"/>
                    </a:solidFill>
                  </a:tcPr>
                </a:tc>
                <a:tc>
                  <a:txBody>
                    <a:bodyPr wrap="square"/>
                    <a:lstStyle/>
                    <a:p>
                      <a:r>
                        <a:rPr sz="1200" b="1" i="0">
                          <a:solidFill>
                            <a:srgbClr val="FFFFFF"/>
                          </a:solidFill>
                          <a:latin typeface="Calibri"/>
                        </a:rPr>
                        <a:t>Skin reality</a:t>
                      </a:r>
                    </a:p>
                  </a:txBody>
                  <a:tcPr marL="45720" marR="45720" marT="18288" marB="18288" anchor="t">
                    <a:solidFill>
                      <a:srgbClr val="B44A2E"/>
                    </a:solidFill>
                  </a:tcPr>
                </a:tc>
                <a:tc>
                  <a:txBody>
                    <a:bodyPr wrap="square"/>
                    <a:lstStyle/>
                    <a:p>
                      <a:r>
                        <a:rPr sz="1200" b="1" i="0">
                          <a:solidFill>
                            <a:srgbClr val="FFFFFF"/>
                          </a:solidFill>
                          <a:latin typeface="Calibri"/>
                        </a:rPr>
                        <a:t>Product focus</a:t>
                      </a:r>
                    </a:p>
                  </a:txBody>
                  <a:tcPr marL="45720" marR="45720" marT="18288" marB="18288" anchor="t">
                    <a:solidFill>
                      <a:srgbClr val="B44A2E"/>
                    </a:solidFill>
                  </a:tcPr>
                </a:tc>
                <a:tc>
                  <a:txBody>
                    <a:bodyPr wrap="square"/>
                    <a:lstStyle/>
                    <a:p>
                      <a:r>
                        <a:rPr sz="1200" b="1" i="0">
                          <a:solidFill>
                            <a:srgbClr val="FFFFFF"/>
                          </a:solidFill>
                          <a:latin typeface="Calibri"/>
                        </a:rPr>
                        <a:t>Content theme</a:t>
                      </a:r>
                    </a:p>
                  </a:txBody>
                  <a:tcPr marL="45720" marR="45720" marT="18288" marB="18288" anchor="t">
                    <a:solidFill>
                      <a:srgbClr val="B44A2E"/>
                    </a:solidFill>
                  </a:tcPr>
                </a:tc>
              </a:tr>
              <a:tr h="1005840">
                <a:tc>
                  <a:txBody>
                    <a:bodyPr wrap="square"/>
                    <a:lstStyle/>
                    <a:p>
                      <a:r>
                        <a:rPr sz="1200" b="1" i="0">
                          <a:solidFill>
                            <a:srgbClr val="2A2622"/>
                          </a:solidFill>
                          <a:latin typeface="Calibri"/>
                        </a:rPr>
                        <a:t>Mar–Jun</a:t>
                      </a:r>
                    </a:p>
                  </a:txBody>
                  <a:tcPr marL="45720" marR="45720" marT="18288" marB="18288" anchor="t">
                    <a:solidFill>
                      <a:srgbClr val="FFFFFF"/>
                    </a:solidFill>
                  </a:tcPr>
                </a:tc>
                <a:tc>
                  <a:txBody>
                    <a:bodyPr wrap="square"/>
                    <a:lstStyle/>
                    <a:p>
                      <a:r>
                        <a:rPr sz="1200" b="0" i="0">
                          <a:solidFill>
                            <a:srgbClr val="2A2622"/>
                          </a:solidFill>
                          <a:latin typeface="Calibri"/>
                        </a:rPr>
                        <a:t>40°+, max UV, outdoor tan-look</a:t>
                      </a:r>
                    </a:p>
                  </a:txBody>
                  <a:tcPr marL="45720" marR="45720" marT="18288" marB="18288" anchor="t">
                    <a:solidFill>
                      <a:srgbClr val="FFFFFF"/>
                    </a:solidFill>
                  </a:tcPr>
                </a:tc>
                <a:tc>
                  <a:txBody>
                    <a:bodyPr wrap="square"/>
                    <a:lstStyle/>
                    <a:p>
                      <a:r>
                        <a:rPr sz="1200" b="0" i="0">
                          <a:solidFill>
                            <a:srgbClr val="2A2622"/>
                          </a:solidFill>
                          <a:latin typeface="Calibri"/>
                        </a:rPr>
                        <a:t>Sunscreen (hero), Face Wash, Gel Moisturizer</a:t>
                      </a:r>
                    </a:p>
                  </a:txBody>
                  <a:tcPr marL="45720" marR="45720" marT="18288" marB="18288" anchor="t">
                    <a:solidFill>
                      <a:srgbClr val="FFFFFF"/>
                    </a:solidFill>
                  </a:tcPr>
                </a:tc>
                <a:tc>
                  <a:txBody>
                    <a:bodyPr wrap="square"/>
                    <a:lstStyle/>
                    <a:p>
                      <a:r>
                        <a:rPr sz="1200" b="0" i="0">
                          <a:solidFill>
                            <a:srgbClr val="2A2622"/>
                          </a:solidFill>
                          <a:latin typeface="Calibri"/>
                        </a:rPr>
                        <a:t>"Garmi ka plan," SPF education, "tan-look" reels</a:t>
                      </a:r>
                    </a:p>
                  </a:txBody>
                  <a:tcPr marL="45720" marR="45720" marT="18288" marB="18288" anchor="t">
                    <a:solidFill>
                      <a:srgbClr val="FFFFFF"/>
                    </a:solidFill>
                  </a:tcPr>
                </a:tc>
              </a:tr>
              <a:tr h="1005840">
                <a:tc>
                  <a:txBody>
                    <a:bodyPr wrap="square"/>
                    <a:lstStyle/>
                    <a:p>
                      <a:r>
                        <a:rPr sz="1200" b="1" i="0">
                          <a:solidFill>
                            <a:srgbClr val="2A2622"/>
                          </a:solidFill>
                          <a:latin typeface="Calibri"/>
                        </a:rPr>
                        <a:t>Jul–Sep</a:t>
                      </a:r>
                    </a:p>
                  </a:txBody>
                  <a:tcPr marL="45720" marR="45720" marT="18288" marB="18288" anchor="t">
                    <a:solidFill>
                      <a:srgbClr val="F6F1E7"/>
                    </a:solidFill>
                  </a:tcPr>
                </a:tc>
                <a:tc>
                  <a:txBody>
                    <a:bodyPr wrap="square"/>
                    <a:lstStyle/>
                    <a:p>
                      <a:r>
                        <a:rPr sz="1200" b="0" i="0">
                          <a:solidFill>
                            <a:srgbClr val="2A2622"/>
                          </a:solidFill>
                          <a:latin typeface="Calibri"/>
                        </a:rPr>
                        <a:t>Monsoon humidity: oily, sweat, dullness, breakout-prone feel</a:t>
                      </a:r>
                    </a:p>
                  </a:txBody>
                  <a:tcPr marL="45720" marR="45720" marT="18288" marB="18288" anchor="t">
                    <a:solidFill>
                      <a:srgbClr val="F6F1E7"/>
                    </a:solidFill>
                  </a:tcPr>
                </a:tc>
                <a:tc>
                  <a:txBody>
                    <a:bodyPr wrap="square"/>
                    <a:lstStyle/>
                    <a:p>
                      <a:r>
                        <a:rPr sz="1200" b="0" i="0">
                          <a:solidFill>
                            <a:srgbClr val="2A2622"/>
                          </a:solidFill>
                          <a:latin typeface="Calibri"/>
                        </a:rPr>
                        <a:t>Vitamin C (hero), Face Wash, SPF (monsoon confusion)</a:t>
                      </a:r>
                    </a:p>
                  </a:txBody>
                  <a:tcPr marL="45720" marR="45720" marT="18288" marB="18288" anchor="t">
                    <a:solidFill>
                      <a:srgbClr val="F6F1E7"/>
                    </a:solidFill>
                  </a:tcPr>
                </a:tc>
                <a:tc>
                  <a:txBody>
                    <a:bodyPr wrap="square"/>
                    <a:lstStyle/>
                    <a:p>
                      <a:r>
                        <a:rPr sz="1200" b="0" i="0">
                          <a:solidFill>
                            <a:srgbClr val="2A2622"/>
                          </a:solidFill>
                          <a:latin typeface="Calibri"/>
                        </a:rPr>
                        <a:t>"Monsoon dullness," "baarish me sunscreen?" — </a:t>
                      </a:r>
                      <a:r>
                        <a:rPr sz="1200" b="1" i="0">
                          <a:solidFill>
                            <a:srgbClr val="2A2622"/>
                          </a:solidFill>
                          <a:latin typeface="Calibri"/>
                        </a:rPr>
                        <a:t>THIS IS YOUR LAUNCH WINDOW</a:t>
                      </a:r>
                    </a:p>
                  </a:txBody>
                  <a:tcPr marL="45720" marR="45720" marT="18288" marB="18288" anchor="t">
                    <a:solidFill>
                      <a:srgbClr val="F6F1E7"/>
                    </a:solidFill>
                  </a:tcPr>
                </a:tc>
              </a:tr>
              <a:tr h="1005840">
                <a:tc>
                  <a:txBody>
                    <a:bodyPr wrap="square"/>
                    <a:lstStyle/>
                    <a:p>
                      <a:r>
                        <a:rPr sz="1200" b="1" i="0">
                          <a:solidFill>
                            <a:srgbClr val="2A2622"/>
                          </a:solidFill>
                          <a:latin typeface="Calibri"/>
                        </a:rPr>
                        <a:t>Oct–Dec</a:t>
                      </a:r>
                    </a:p>
                  </a:txBody>
                  <a:tcPr marL="45720" marR="45720" marT="18288" marB="18288" anchor="t">
                    <a:solidFill>
                      <a:srgbClr val="FFFFFF"/>
                    </a:solidFill>
                  </a:tcPr>
                </a:tc>
                <a:tc>
                  <a:txBody>
                    <a:bodyPr wrap="square"/>
                    <a:lstStyle/>
                    <a:p>
                      <a:r>
                        <a:rPr sz="1200" b="0" i="0">
                          <a:solidFill>
                            <a:srgbClr val="2A2622"/>
                          </a:solidFill>
                          <a:latin typeface="Calibri"/>
                        </a:rPr>
                        <a:t>Cooling + dry start; wedding season PEAK; Diwali gifting</a:t>
                      </a:r>
                    </a:p>
                  </a:txBody>
                  <a:tcPr marL="45720" marR="45720" marT="18288" marB="18288" anchor="t">
                    <a:solidFill>
                      <a:srgbClr val="FFFFFF"/>
                    </a:solidFill>
                  </a:tcPr>
                </a:tc>
                <a:tc>
                  <a:txBody>
                    <a:bodyPr wrap="square"/>
                    <a:lstStyle/>
                    <a:p>
                      <a:r>
                        <a:rPr sz="1200" b="0" i="0">
                          <a:solidFill>
                            <a:srgbClr val="2A2622"/>
                          </a:solidFill>
                          <a:latin typeface="Calibri"/>
                        </a:rPr>
                        <a:t>Sunscreen (wedding glow), Lip Care, gifting boxes, Night Cream</a:t>
                      </a:r>
                    </a:p>
                  </a:txBody>
                  <a:tcPr marL="45720" marR="45720" marT="18288" marB="18288" anchor="t">
                    <a:solidFill>
                      <a:srgbClr val="FFFFFF"/>
                    </a:solidFill>
                  </a:tcPr>
                </a:tc>
                <a:tc>
                  <a:txBody>
                    <a:bodyPr wrap="square"/>
                    <a:lstStyle/>
                    <a:p>
                      <a:r>
                        <a:rPr sz="1200" b="0" i="0">
                          <a:solidFill>
                            <a:srgbClr val="2A2622"/>
                          </a:solidFill>
                          <a:latin typeface="Calibri"/>
                        </a:rPr>
                        <a:t>"Wedding glow 6 hafte pehle," Diwali gift boxes</a:t>
                      </a:r>
                    </a:p>
                  </a:txBody>
                  <a:tcPr marL="45720" marR="45720" marT="18288" marB="18288" anchor="t">
                    <a:solidFill>
                      <a:srgbClr val="FFFFFF"/>
                    </a:solidFill>
                  </a:tcPr>
                </a:tc>
              </a:tr>
              <a:tr h="1005840">
                <a:tc>
                  <a:txBody>
                    <a:bodyPr wrap="square"/>
                    <a:lstStyle/>
                    <a:p>
                      <a:r>
                        <a:rPr sz="1200" b="1" i="0">
                          <a:solidFill>
                            <a:srgbClr val="2A2622"/>
                          </a:solidFill>
                          <a:latin typeface="Calibri"/>
                        </a:rPr>
                        <a:t>Jan–Feb</a:t>
                      </a:r>
                    </a:p>
                  </a:txBody>
                  <a:tcPr marL="45720" marR="45720" marT="18288" marB="18288" anchor="t">
                    <a:solidFill>
                      <a:srgbClr val="F6F1E7"/>
                    </a:solidFill>
                  </a:tcPr>
                </a:tc>
                <a:tc>
                  <a:txBody>
                    <a:bodyPr wrap="square"/>
                    <a:lstStyle/>
                    <a:p>
                      <a:r>
                        <a:rPr sz="1200" b="0" i="0">
                          <a:solidFill>
                            <a:srgbClr val="2A2622"/>
                          </a:solidFill>
                          <a:latin typeface="Calibri"/>
                        </a:rPr>
                        <a:t>Dry, cold nights, tight skin, khujli-feel</a:t>
                      </a:r>
                    </a:p>
                  </a:txBody>
                  <a:tcPr marL="45720" marR="45720" marT="18288" marB="18288" anchor="t">
                    <a:solidFill>
                      <a:srgbClr val="F6F1E7"/>
                    </a:solidFill>
                  </a:tcPr>
                </a:tc>
                <a:tc>
                  <a:txBody>
                    <a:bodyPr wrap="square"/>
                    <a:lstStyle/>
                    <a:p>
                      <a:r>
                        <a:rPr sz="1200" b="0" i="0">
                          <a:solidFill>
                            <a:srgbClr val="2A2622"/>
                          </a:solidFill>
                          <a:latin typeface="Calibri"/>
                        </a:rPr>
                        <a:t>Face Cream (hero), Body Care, Night Cream, Lip Care</a:t>
                      </a:r>
                    </a:p>
                  </a:txBody>
                  <a:tcPr marL="45720" marR="45720" marT="18288" marB="18288" anchor="t">
                    <a:solidFill>
                      <a:srgbClr val="F6F1E7"/>
                    </a:solidFill>
                  </a:tcPr>
                </a:tc>
                <a:tc>
                  <a:txBody>
                    <a:bodyPr wrap="square"/>
                    <a:lstStyle/>
                    <a:p>
                      <a:r>
                        <a:rPr sz="1200" b="0" i="0">
                          <a:solidFill>
                            <a:srgbClr val="2A2622"/>
                          </a:solidFill>
                          <a:latin typeface="Calibri"/>
                        </a:rPr>
                        <a:t>"Sardiyon ka plan," dry-skin SOS, New Year "nayi skin"</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232</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3. Local weather &amp; skincare-problem content calendar (annual)</a:t>
            </a:r>
          </a:p>
          <a:p>
            <a:r>
              <a:rPr sz="1200" i="1">
                <a:solidFill>
                  <a:srgbClr val="57504A"/>
                </a:solidFill>
                <a:latin typeface="Calibri"/>
              </a:rPr>
              <a:t>PART 13 — Gujarat-First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Seasonal hook bank (Gujarat-specific):</a:t>
            </a:r>
          </a:p>
          <a:p>
            <a:pPr>
              <a:spcAft>
                <a:spcPts val="400"/>
              </a:spcAft>
            </a:pPr>
            <a:r>
              <a:rPr sz="1350">
                <a:solidFill>
                  <a:srgbClr val="B44A2E"/>
                </a:solidFill>
                <a:latin typeface="Calibri"/>
              </a:rPr>
              <a:t>•  </a:t>
            </a:r>
            <a:r>
              <a:rPr sz="1350" b="0" i="0">
                <a:solidFill>
                  <a:srgbClr val="2A2622"/>
                </a:solidFill>
                <a:latin typeface="Calibri"/>
              </a:rPr>
              <a:t>"40° me 10 minute bahar — aapki skin ne kya face kiya, dekho."</a:t>
            </a:r>
          </a:p>
          <a:p>
            <a:pPr>
              <a:spcAft>
                <a:spcPts val="400"/>
              </a:spcAft>
            </a:pPr>
            <a:r>
              <a:rPr sz="1350">
                <a:solidFill>
                  <a:srgbClr val="B44A2E"/>
                </a:solidFill>
                <a:latin typeface="Calibri"/>
              </a:rPr>
              <a:t>•  </a:t>
            </a:r>
            <a:r>
              <a:rPr sz="1350" b="0" i="0">
                <a:solidFill>
                  <a:srgbClr val="2A2622"/>
                </a:solidFill>
                <a:latin typeface="Calibri"/>
              </a:rPr>
              <a:t>"Baarish ke din bhi UV aata hai — monsoon sunscreen confusion khatam."</a:t>
            </a:r>
          </a:p>
          <a:p>
            <a:pPr>
              <a:spcAft>
                <a:spcPts val="400"/>
              </a:spcAft>
            </a:pPr>
            <a:r>
              <a:rPr sz="1350">
                <a:solidFill>
                  <a:srgbClr val="B44A2E"/>
                </a:solidFill>
                <a:latin typeface="Calibri"/>
              </a:rPr>
              <a:t>•  </a:t>
            </a:r>
            <a:r>
              <a:rPr sz="1350" b="0" i="0">
                <a:solidFill>
                  <a:srgbClr val="2A2622"/>
                </a:solidFill>
                <a:latin typeface="Calibri"/>
              </a:rPr>
              <a:t>"Shaadi season: 6 hafte pehle glow plan, aaj se."</a:t>
            </a:r>
          </a:p>
          <a:p>
            <a:pPr>
              <a:spcAft>
                <a:spcPts val="400"/>
              </a:spcAft>
            </a:pPr>
            <a:r>
              <a:rPr sz="1350">
                <a:solidFill>
                  <a:srgbClr val="B44A2E"/>
                </a:solidFill>
                <a:latin typeface="Calibri"/>
              </a:rPr>
              <a:t>•  </a:t>
            </a:r>
            <a:r>
              <a:rPr sz="1350" b="0" i="0">
                <a:solidFill>
                  <a:srgbClr val="2A2622"/>
                </a:solidFill>
                <a:latin typeface="Calibri"/>
              </a:rPr>
              <a:t>"Diwali pe 'dhyan' wala gift — box dekho."</a:t>
            </a:r>
          </a:p>
          <a:p>
            <a:pPr>
              <a:spcAft>
                <a:spcPts val="400"/>
              </a:spcAft>
            </a:pPr>
            <a:r>
              <a:rPr sz="1350">
                <a:solidFill>
                  <a:srgbClr val="B44A2E"/>
                </a:solidFill>
                <a:latin typeface="Calibri"/>
              </a:rPr>
              <a:t>•  </a:t>
            </a:r>
            <a:r>
              <a:rPr sz="1350" b="0" i="0">
                <a:solidFill>
                  <a:srgbClr val="2A2622"/>
                </a:solidFill>
                <a:latin typeface="Calibri"/>
              </a:rPr>
              <a:t>"Sardiyon me subah uthne par tight face? Aaj se nahi."</a:t>
            </a:r>
          </a:p>
          <a:p>
            <a:pPr>
              <a:spcAft>
                <a:spcPts val="400"/>
              </a:spcAft>
            </a:pPr>
            <a:r>
              <a:rPr sz="1350">
                <a:solidFill>
                  <a:srgbClr val="B44A2E"/>
                </a:solidFill>
                <a:latin typeface="Calibri"/>
              </a:rPr>
              <a:t>•  </a:t>
            </a:r>
            <a:r>
              <a:rPr sz="1350" b="0" i="0">
                <a:solidFill>
                  <a:srgbClr val="2A2622"/>
                </a:solidFill>
                <a:latin typeface="Calibri"/>
              </a:rPr>
              <a:t>"Rajkot ki sardi + Ahmedabad ki dhool — dono ka jawab alag hai."</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233</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4. Local creator strategy (Gujarat)</a:t>
            </a:r>
          </a:p>
          <a:p>
            <a:r>
              <a:rPr sz="1200" i="1">
                <a:solidFill>
                  <a:srgbClr val="57504A"/>
                </a:solidFill>
                <a:latin typeface="Calibri"/>
              </a:rPr>
              <a:t>PART 13 — Gujarat-First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Who to find (5k–50k followers = the sweet spot for a new brand)</a:t>
            </a:r>
          </a:p>
          <a:p>
            <a:pPr>
              <a:spcAft>
                <a:spcPts val="400"/>
              </a:spcAft>
            </a:pPr>
            <a:r>
              <a:rPr sz="1350">
                <a:solidFill>
                  <a:srgbClr val="B44A2E"/>
                </a:solidFill>
                <a:latin typeface="Calibri"/>
              </a:rPr>
              <a:t>•  </a:t>
            </a:r>
            <a:r>
              <a:rPr sz="1350" b="1" i="0">
                <a:solidFill>
                  <a:srgbClr val="2A2622"/>
                </a:solidFill>
                <a:latin typeface="Calibri"/>
              </a:rPr>
              <a:t>Categories (in order of fit):</a:t>
            </a:r>
            <a:r>
              <a:rPr sz="1350" b="0" i="0">
                <a:solidFill>
                  <a:srgbClr val="2A2622"/>
                </a:solidFill>
                <a:latin typeface="Calibri"/>
              </a:rPr>
              <a:t> food/lifestyle Gujarati creators → college/influencer (Ahmedabad/Surat) → beauty/skincare local → fashion (wedding season) → male lifestyle (for Face Wash wave).</a:t>
            </a:r>
          </a:p>
          <a:p>
            <a:pPr>
              <a:spcAft>
                <a:spcPts val="400"/>
              </a:spcAft>
            </a:pPr>
            <a:r>
              <a:rPr sz="1350">
                <a:solidFill>
                  <a:srgbClr val="B44A2E"/>
                </a:solidFill>
                <a:latin typeface="Calibri"/>
              </a:rPr>
              <a:t>•  </a:t>
            </a:r>
            <a:r>
              <a:rPr sz="1350" b="1" i="0">
                <a:solidFill>
                  <a:srgbClr val="2A2622"/>
                </a:solidFill>
                <a:latin typeface="Calibri"/>
              </a:rPr>
              <a:t>How to find (2 hours, weekly):</a:t>
            </a:r>
            <a:r>
              <a:rPr sz="1350" b="0" i="0">
                <a:solidFill>
                  <a:srgbClr val="2A2622"/>
                </a:solidFill>
                <a:latin typeface="Calibri"/>
              </a:rPr>
              <a:t> Instagram search "#Amdavad #Ahmedabad #Gujaratfood #Gujaraticreator #Amdavadi" + explore-page following from 5 known local accounts + YouTube search "Ahmedabad vlog" + local wedding vendors' tagged photos.</a:t>
            </a:r>
          </a:p>
          <a:p>
            <a:pPr>
              <a:spcAft>
                <a:spcPts val="400"/>
              </a:spcAft>
            </a:pPr>
            <a:r>
              <a:rPr sz="1350">
                <a:solidFill>
                  <a:srgbClr val="B44A2E"/>
                </a:solidFill>
                <a:latin typeface="Calibri"/>
              </a:rPr>
              <a:t>•  </a:t>
            </a:r>
            <a:r>
              <a:rPr sz="1350" b="1" i="0">
                <a:solidFill>
                  <a:srgbClr val="2A2622"/>
                </a:solidFill>
                <a:latin typeface="Calibri"/>
              </a:rPr>
              <a:t>Vetting (15 min each):</a:t>
            </a:r>
            <a:r>
              <a:rPr sz="1350" b="0" i="0">
                <a:solidFill>
                  <a:srgbClr val="2A2622"/>
                </a:solidFill>
                <a:latin typeface="Calibri"/>
              </a:rPr>
              <a:t> last 20 posts (engagement = likes+comments vs followers; target &gt;4%), comment quality (real people commenting in Gujarati = real local audience), no brand-damage flags, audience location check (commenters' handles/language).</a:t>
            </a:r>
          </a:p>
          <a:p>
            <a:pPr>
              <a:spcBef>
                <a:spcPts val="1000"/>
              </a:spcBef>
              <a:spcAft>
                <a:spcPts val="400"/>
              </a:spcAft>
            </a:pPr>
            <a:r>
              <a:rPr sz="1600" b="1" i="0">
                <a:solidFill>
                  <a:srgbClr val="8F3A22"/>
                </a:solidFill>
                <a:latin typeface="Calibri"/>
              </a:rPr>
              <a:t>The outreach template (DM/email — personalize the first line with their actual post)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234</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4. Local creator strategy (Gujarat)</a:t>
            </a:r>
          </a:p>
          <a:p>
            <a:r>
              <a:rPr sz="1200" i="1">
                <a:solidFill>
                  <a:srgbClr val="57504A"/>
                </a:solidFill>
                <a:latin typeface="Calibri"/>
              </a:rPr>
              <a:t>PART 13 — Gujarat-First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600"/>
              </a:spcBef>
              <a:spcAft>
                <a:spcPts val="600"/>
              </a:spcAft>
            </a:pPr>
            <a:r>
              <a:rPr sz="1250" b="0" i="1">
                <a:solidFill>
                  <a:srgbClr val="57504A"/>
                </a:solidFill>
                <a:latin typeface="Calibri"/>
              </a:rPr>
              <a:t>“"Hi [Name]! [Specific post reference — e.g., 'aapka aajak ka reel dekha, Amdavad ka vibe perfect tha']. Main [Name], RANGAT NATURALS ki founder — Gujarat ka ek naya skincare brand. Humne [city] me 20 testers ke saath 4-hafte ka program chala hai. Aapko hamara Vitamin C Serum bhejna chahte hain — bilkul free, koi script nahi. Aapki honest baat (achhi bhi, kami bhi) — aur agar pasand aaye toh ek chhota sa compensation + affiliate code. Kya aap try karne ke liye sochenge? — [Name], RANGAT NATURALS"”</a:t>
            </a:r>
          </a:p>
          <a:p>
            <a:pPr>
              <a:spcBef>
                <a:spcPts val="1000"/>
              </a:spcBef>
              <a:spcAft>
                <a:spcPts val="400"/>
              </a:spcAft>
            </a:pPr>
            <a:r>
              <a:rPr sz="1600" b="1" i="0">
                <a:solidFill>
                  <a:srgbClr val="8F3A22"/>
                </a:solidFill>
                <a:latin typeface="Calibri"/>
              </a:rPr>
              <a:t>Terms (standard, in writing)</a:t>
            </a:r>
          </a:p>
          <a:p>
            <a:pPr>
              <a:spcAft>
                <a:spcPts val="400"/>
              </a:spcAft>
            </a:pPr>
            <a:r>
              <a:rPr sz="1350">
                <a:solidFill>
                  <a:srgbClr val="B44A2E"/>
                </a:solidFill>
                <a:latin typeface="Calibri"/>
              </a:rPr>
              <a:t>•  </a:t>
            </a:r>
            <a:r>
              <a:rPr sz="1350" b="0" i="0">
                <a:solidFill>
                  <a:srgbClr val="2A2622"/>
                </a:solidFill>
                <a:latin typeface="Calibri"/>
              </a:rPr>
              <a:t>Product free (₹0 cost to creator) + flat fee by tier: 5–10k → ₹500; 10–25k → ₹1,000; 25–50k → ₹1,500–2,000.</a:t>
            </a:r>
          </a:p>
          <a:p>
            <a:pPr>
              <a:spcAft>
                <a:spcPts val="400"/>
              </a:spcAft>
            </a:pPr>
            <a:r>
              <a:rPr sz="1350">
                <a:solidFill>
                  <a:srgbClr val="B44A2E"/>
                </a:solidFill>
                <a:latin typeface="Calibri"/>
              </a:rPr>
              <a:t>•  </a:t>
            </a:r>
            <a:r>
              <a:rPr sz="1350" b="0" i="0">
                <a:solidFill>
                  <a:srgbClr val="2A2622"/>
                </a:solidFill>
                <a:latin typeface="Calibri"/>
              </a:rPr>
              <a:t>Deliverable: 1 Reel (15–45s, UGC structure from </a:t>
            </a:r>
            <a:r>
              <a:rPr sz="1200" b="0" i="0">
                <a:solidFill>
                  <a:srgbClr val="8F3A22"/>
                </a:solidFill>
                <a:latin typeface="Consolas"/>
              </a:rPr>
              <a:t>08-before-after-and-ugc.md</a:t>
            </a:r>
            <a:r>
              <a:rPr sz="1350" b="0" i="0">
                <a:solidFill>
                  <a:srgbClr val="2A2622"/>
                </a:solidFill>
                <a:latin typeface="Calibri"/>
              </a:rPr>
              <a:t>) + permission to use as Meta ad (₹100 per ad-use, stated).</a:t>
            </a:r>
          </a:p>
          <a:p>
            <a:pPr>
              <a:spcAft>
                <a:spcPts val="400"/>
              </a:spcAft>
            </a:pPr>
            <a:r>
              <a:rPr sz="1350">
                <a:solidFill>
                  <a:srgbClr val="B44A2E"/>
                </a:solidFill>
                <a:latin typeface="Calibri"/>
              </a:rPr>
              <a:t>•  </a:t>
            </a:r>
            <a:r>
              <a:rPr sz="1350" b="1" i="0">
                <a:solidFill>
                  <a:srgbClr val="2A2622"/>
                </a:solidFill>
                <a:latin typeface="Calibri"/>
              </a:rPr>
              <a:t>4 hard rules in the brief:</a:t>
            </a:r>
            <a:r>
              <a:rPr sz="1350" b="0" i="0">
                <a:solidFill>
                  <a:srgbClr val="2A2622"/>
                </a:solidFill>
                <a:latin typeface="Calibri"/>
              </a:rPr>
              <a:t> no medical claims, no "cure/remove/permanent," "results may vary" on any B/A, no fake urgency/discounts.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235</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4. Local creator strategy (Gujarat)</a:t>
            </a:r>
          </a:p>
          <a:p>
            <a:r>
              <a:rPr sz="1200" i="1">
                <a:solidFill>
                  <a:srgbClr val="57504A"/>
                </a:solidFill>
                <a:latin typeface="Calibri"/>
              </a:rPr>
              <a:t>PART 13 — Gujarat-First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Consent message template (save with the video): </a:t>
            </a:r>
            <a:r>
              <a:rPr sz="1350" b="0" i="1">
                <a:solidFill>
                  <a:srgbClr val="2A2622"/>
                </a:solidFill>
                <a:latin typeface="Calibri"/>
              </a:rPr>
              <a:t>"Main RANGAT ke liye [product] use kar raha/hoon [dates], apni asli experience ke saath. Video ko IG + Meta ads me use kar sakte ho. — [Name, city, date]"</a:t>
            </a:r>
          </a:p>
          <a:p>
            <a:pPr>
              <a:spcAft>
                <a:spcPts val="400"/>
              </a:spcAft>
            </a:pPr>
            <a:r>
              <a:rPr sz="1350">
                <a:solidFill>
                  <a:srgbClr val="B44A2E"/>
                </a:solidFill>
                <a:latin typeface="Calibri"/>
              </a:rPr>
              <a:t>•  </a:t>
            </a:r>
            <a:r>
              <a:rPr sz="1350" b="1" i="0">
                <a:solidFill>
                  <a:srgbClr val="2A2622"/>
                </a:solidFill>
                <a:latin typeface="Calibri"/>
              </a:rPr>
              <a:t>Cadence:</a:t>
            </a:r>
            <a:r>
              <a:rPr sz="1350" b="0" i="0">
                <a:solidFill>
                  <a:srgbClr val="2A2622"/>
                </a:solidFill>
                <a:latin typeface="Calibri"/>
              </a:rPr>
              <a:t> Week 3: 1 collab (UGC #19). Week 4–8: 5 more (1/week). Day 90: 10–15 total. Each creator = 1 post + 1 ad cut + 3 quote cards.</a:t>
            </a:r>
          </a:p>
          <a:p>
            <a:pPr>
              <a:spcBef>
                <a:spcPts val="1000"/>
              </a:spcBef>
              <a:spcAft>
                <a:spcPts val="400"/>
              </a:spcAft>
            </a:pPr>
            <a:r>
              <a:rPr sz="1600" b="1" i="0">
                <a:solidFill>
                  <a:srgbClr val="8F3A22"/>
                </a:solidFill>
                <a:latin typeface="Calibri"/>
              </a:rPr>
              <a:t>Local on-ground (Ahmedabad, low-budget trust builders)</a:t>
            </a:r>
          </a:p>
          <a:p>
            <a:pPr>
              <a:spcAft>
                <a:spcPts val="400"/>
              </a:spcAft>
            </a:pPr>
            <a:r>
              <a:rPr sz="1350" b="1">
                <a:solidFill>
                  <a:srgbClr val="8F3A22"/>
                </a:solidFill>
                <a:latin typeface="Calibri"/>
              </a:rPr>
              <a:t>1.  </a:t>
            </a:r>
            <a:r>
              <a:rPr sz="1350" b="1" i="0">
                <a:solidFill>
                  <a:srgbClr val="2A2622"/>
                </a:solidFill>
                <a:latin typeface="Calibri"/>
              </a:rPr>
              <a:t>Micro "launch day" meetup (Day 21):</a:t>
            </a:r>
            <a:r>
              <a:rPr sz="1350" b="0" i="0">
                <a:solidFill>
                  <a:srgbClr val="2A2622"/>
                </a:solidFill>
                <a:latin typeface="Calibri"/>
              </a:rPr>
              <a:t> 20 tester + creator + local press/blog — 1.5 hrs, chai, product demo, 10 min founder talk. Cost: venue (a local café, often free for 20 people) + chai + boxes. Output: 30+ UGC photos, 5+ reels, 2 blog mentions.</a:t>
            </a:r>
          </a:p>
          <a:p>
            <a:pPr>
              <a:spcAft>
                <a:spcPts val="400"/>
              </a:spcAft>
            </a:pPr>
            <a:r>
              <a:rPr sz="1350" b="1">
                <a:solidFill>
                  <a:srgbClr val="8F3A22"/>
                </a:solidFill>
                <a:latin typeface="Calibri"/>
              </a:rPr>
              <a:t>2.  </a:t>
            </a:r>
            <a:r>
              <a:rPr sz="1350" b="1" i="0">
                <a:solidFill>
                  <a:srgbClr val="2A2622"/>
                </a:solidFill>
                <a:latin typeface="Calibri"/>
              </a:rPr>
              <a:t>College "skin 101" 20-min sessions (2/month, months 2–3):</a:t>
            </a:r>
            <a:r>
              <a:rPr sz="1350" b="0" i="0">
                <a:solidFill>
                  <a:srgbClr val="2A2622"/>
                </a:solidFill>
                <a:latin typeface="Calibri"/>
              </a:rPr>
              <a:t> not a sale — a free 20-min talk (routine basics) at 2 colleges; RANGAT as the "local brand that made this." Permission from student councils; leave 10 sample minis (cost-controlled).</a:t>
            </a:r>
          </a:p>
          <a:p>
            <a:pPr>
              <a:spcAft>
                <a:spcPts val="400"/>
              </a:spcAft>
            </a:pPr>
            <a:r>
              <a:rPr sz="1350" b="1">
                <a:solidFill>
                  <a:srgbClr val="8F3A22"/>
                </a:solidFill>
                <a:latin typeface="Calibri"/>
              </a:rPr>
              <a:t>3.  </a:t>
            </a:r>
            <a:r>
              <a:rPr sz="1350" b="1" i="0">
                <a:solidFill>
                  <a:srgbClr val="2A2622"/>
                </a:solidFill>
                <a:latin typeface="Calibri"/>
              </a:rPr>
              <a:t>Local beauty page collabs:</a:t>
            </a:r>
            <a:r>
              <a:rPr sz="1350" b="0" i="0">
                <a:solidFill>
                  <a:srgbClr val="2A2622"/>
                </a:solidFill>
                <a:latin typeface="Calibri"/>
              </a:rPr>
              <a:t> 2–3 Ahmedabad lifestyle/beauty Instagram pages — pay ₹1,000–3,000 for 1 post + 3 stories (cheaper and more local than any "national" micro-influencer).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236</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5. "Gujarat first" without capping the brand</a:t>
            </a:r>
          </a:p>
          <a:p>
            <a:r>
              <a:rPr sz="1200" i="1">
                <a:solidFill>
                  <a:srgbClr val="57504A"/>
                </a:solidFill>
                <a:latin typeface="Calibri"/>
              </a:rPr>
              <a:t>PART 13 — Gujarat-First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  </a:t>
            </a:r>
            <a:r>
              <a:rPr sz="1350" b="1" i="0">
                <a:solidFill>
                  <a:srgbClr val="2A2622"/>
                </a:solidFill>
                <a:latin typeface="Calibri"/>
              </a:rPr>
              <a:t>Bio &amp; pinned:</a:t>
            </a:r>
            <a:r>
              <a:rPr sz="1350" b="0" i="0">
                <a:solidFill>
                  <a:srgbClr val="2A2622"/>
                </a:solidFill>
                <a:latin typeface="Calibri"/>
              </a:rPr>
              <a:t> say "Gujarat se shuru, India ke liye bana" — the origin is a badge, not a limit.</a:t>
            </a:r>
          </a:p>
          <a:p>
            <a:pPr>
              <a:spcAft>
                <a:spcPts val="400"/>
              </a:spcAft>
            </a:pPr>
            <a:r>
              <a:rPr sz="1350" b="1">
                <a:solidFill>
                  <a:srgbClr val="8F3A22"/>
                </a:solidFill>
                <a:latin typeface="Calibri"/>
              </a:rPr>
              <a:t>2.  </a:t>
            </a:r>
            <a:r>
              <a:rPr sz="1350" b="1" i="0">
                <a:solidFill>
                  <a:srgbClr val="2A2622"/>
                </a:solidFill>
                <a:latin typeface="Calibri"/>
              </a:rPr>
              <a:t>Content ratio:</a:t>
            </a:r>
            <a:r>
              <a:rPr sz="1350" b="0" i="0">
                <a:solidFill>
                  <a:srgbClr val="2A2622"/>
                </a:solidFill>
                <a:latin typeface="Calibri"/>
              </a:rPr>
              <a:t> Month 1: 70% Gujarat / 30% all-India. Month 2: 50/50. Month 3: 40/60 (Gujarat stays the home base forever).</a:t>
            </a:r>
          </a:p>
          <a:p>
            <a:pPr>
              <a:spcAft>
                <a:spcPts val="400"/>
              </a:spcAft>
            </a:pPr>
            <a:r>
              <a:rPr sz="1350" b="1">
                <a:solidFill>
                  <a:srgbClr val="8F3A22"/>
                </a:solidFill>
                <a:latin typeface="Calibri"/>
              </a:rPr>
              <a:t>3.  </a:t>
            </a:r>
            <a:r>
              <a:rPr sz="1350" b="1" i="0">
                <a:solidFill>
                  <a:srgbClr val="2A2622"/>
                </a:solidFill>
                <a:latin typeface="Calibri"/>
              </a:rPr>
              <a:t>Creator map:</a:t>
            </a:r>
            <a:r>
              <a:rPr sz="1350" b="0" i="0">
                <a:solidFill>
                  <a:srgbClr val="2A2622"/>
                </a:solidFill>
                <a:latin typeface="Calibri"/>
              </a:rPr>
              <a:t> 60% Gujarat / 40% other cities from Day 60.</a:t>
            </a:r>
          </a:p>
          <a:p>
            <a:pPr>
              <a:spcAft>
                <a:spcPts val="400"/>
              </a:spcAft>
            </a:pPr>
            <a:r>
              <a:rPr sz="1350" b="1">
                <a:solidFill>
                  <a:srgbClr val="8F3A22"/>
                </a:solidFill>
                <a:latin typeface="Calibri"/>
              </a:rPr>
              <a:t>4.  </a:t>
            </a:r>
            <a:r>
              <a:rPr sz="1350" b="1" i="0">
                <a:solidFill>
                  <a:srgbClr val="2A2622"/>
                </a:solidFill>
                <a:latin typeface="Calibri"/>
              </a:rPr>
              <a:t>Ads:</a:t>
            </a:r>
            <a:r>
              <a:rPr sz="1350" b="0" i="0">
                <a:solidFill>
                  <a:srgbClr val="2A2622"/>
                </a:solidFill>
                <a:latin typeface="Calibri"/>
              </a:rPr>
              <a:t> Geo starts Ahmedabad → +Surat/Vadodara (Wk 4) → +Rajkot (Wk 8) → top-6 India cities (Day 90+), always with "Indian skin" creative (never "Gujarat only" creative nationally).</a:t>
            </a:r>
          </a:p>
          <a:p>
            <a:pPr>
              <a:spcAft>
                <a:spcPts val="400"/>
              </a:spcAft>
            </a:pPr>
            <a:r>
              <a:rPr sz="1350" b="1">
                <a:solidFill>
                  <a:srgbClr val="8F3A22"/>
                </a:solidFill>
                <a:latin typeface="Calibri"/>
              </a:rPr>
              <a:t>5.  </a:t>
            </a:r>
            <a:r>
              <a:rPr sz="1350" b="1" i="0">
                <a:solidFill>
                  <a:srgbClr val="2A2622"/>
                </a:solidFill>
                <a:latin typeface="Calibri"/>
              </a:rPr>
              <a:t>Language:</a:t>
            </a:r>
            <a:r>
              <a:rPr sz="1350" b="0" i="0">
                <a:solidFill>
                  <a:srgbClr val="2A2622"/>
                </a:solidFill>
                <a:latin typeface="Calibri"/>
              </a:rPr>
              <a:t> Keep Gujarati in the brand's voice (signature lines, founder reels) even in national phase — it's a differentiator, not a barrier.</a:t>
            </a:r>
          </a:p>
          <a:p>
            <a:pPr>
              <a:spcAft>
                <a:spcPts val="400"/>
              </a:spcAft>
            </a:pPr>
            <a:r>
              <a:rPr sz="1350" b="1">
                <a:solidFill>
                  <a:srgbClr val="8F3A22"/>
                </a:solidFill>
                <a:latin typeface="Calibri"/>
              </a:rPr>
              <a:t>6.  </a:t>
            </a:r>
            <a:r>
              <a:rPr sz="1350" b="1" i="0">
                <a:solidFill>
                  <a:srgbClr val="2A2622"/>
                </a:solidFill>
                <a:latin typeface="Calibri"/>
              </a:rPr>
              <a:t>The proof story travels:</a:t>
            </a:r>
            <a:r>
              <a:rPr sz="1350" b="0" i="0">
                <a:solidFill>
                  <a:srgbClr val="2A2622"/>
                </a:solidFill>
                <a:latin typeface="Calibri"/>
              </a:rPr>
              <a:t> "Gujarat me 20 testers, 100 pehli customers — ab India ke saath" is a </a:t>
            </a:r>
            <a:r>
              <a:rPr sz="1350" b="0" i="1">
                <a:solidFill>
                  <a:srgbClr val="2A2622"/>
                </a:solidFill>
                <a:latin typeface="Calibri"/>
              </a:rPr>
              <a:t>stronger</a:t>
            </a:r>
            <a:r>
              <a:rPr sz="1350" b="0" i="0">
                <a:solidFill>
                  <a:srgbClr val="2A2622"/>
                </a:solidFill>
                <a:latin typeface="Calibri"/>
              </a:rPr>
              <a:t> national launch story than a brand that never had a home.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237</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14</a:t>
            </a:r>
          </a:p>
        </p:txBody>
      </p:sp>
      <p:sp>
        <p:nvSpPr>
          <p:cNvPr id="4" name="TextBox 3"/>
          <p:cNvSpPr txBox="1"/>
          <p:nvPr/>
        </p:nvSpPr>
        <p:spPr>
          <a:xfrm>
            <a:off x="914400" y="2377440"/>
            <a:ext cx="10362895" cy="1645920"/>
          </a:xfrm>
          <a:prstGeom prst="rect">
            <a:avLst/>
          </a:prstGeom>
          <a:noFill/>
        </p:spPr>
        <p:txBody>
          <a:bodyPr wrap="square">
            <a:spAutoFit/>
          </a:bodyPr>
          <a:lstStyle/>
          <a:p>
            <a:r>
              <a:rPr sz="2400" b="1">
                <a:solidFill>
                  <a:srgbClr val="8F3A22"/>
                </a:solidFill>
                <a:latin typeface="Calibri"/>
              </a:rPr>
              <a:t>§12 INSTAGRAM STORIES (30-DAY) + §13 PROFILE BUILD — RANGAT NATURALS</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Instagram Stories (30-Day) + Profile Build</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238</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DAILY STORY SYSTEM</a:t>
            </a:r>
          </a:p>
          <a:p>
            <a:r>
              <a:rPr sz="1200" i="1">
                <a:solidFill>
                  <a:srgbClr val="57504A"/>
                </a:solidFill>
                <a:latin typeface="Calibri"/>
              </a:rPr>
              <a:t>PART 14 — Instagram Stories (30-Day) + Profile Build</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Why Stories are the #1 conversion surface</a:t>
            </a:r>
          </a:p>
          <a:p>
            <a:pPr>
              <a:spcAft>
                <a:spcPts val="700"/>
              </a:spcAft>
            </a:pPr>
            <a:r>
              <a:rPr sz="1350" b="0" i="0">
                <a:solidFill>
                  <a:srgbClr val="2A2622"/>
                </a:solidFill>
                <a:latin typeface="Calibri"/>
              </a:rPr>
              <a:t>Reels bring strangers; </a:t>
            </a:r>
            <a:r>
              <a:rPr sz="1350" b="1" i="0">
                <a:solidFill>
                  <a:srgbClr val="2A2622"/>
                </a:solidFill>
                <a:latin typeface="Calibri"/>
              </a:rPr>
              <a:t>Stories convert the 10–30% who follow</a:t>
            </a:r>
            <a:r>
              <a:rPr sz="1350" b="0" i="0">
                <a:solidFill>
                  <a:srgbClr val="2A2622"/>
                </a:solidFill>
                <a:latin typeface="Calibri"/>
              </a:rPr>
              <a:t> (your actual buyers) because Stories are where a small account feels like a relationship. For a zero brand, Stories = your DM warm-up machine.</a:t>
            </a:r>
          </a:p>
          <a:p>
            <a:pPr>
              <a:spcBef>
                <a:spcPts val="1000"/>
              </a:spcBef>
              <a:spcAft>
                <a:spcPts val="400"/>
              </a:spcAft>
            </a:pPr>
            <a:r>
              <a:rPr sz="1600" b="1" i="0">
                <a:solidFill>
                  <a:srgbClr val="8F3A22"/>
                </a:solidFill>
                <a:latin typeface="Calibri"/>
              </a:rPr>
              <a:t>The 3-slot daily formula (15 min/day, batchable)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239</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DAILY STORY SYSTEM</a:t>
            </a:r>
          </a:p>
          <a:p>
            <a:r>
              <a:rPr sz="1200" i="1">
                <a:solidFill>
                  <a:srgbClr val="57504A"/>
                </a:solidFill>
                <a:latin typeface="Calibri"/>
              </a:rPr>
              <a:t>PART 14 — Instagram Stories (30-Day) + Profile Build</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2291987"/>
                <a:gridCol w="1650230"/>
                <a:gridCol w="2108628"/>
                <a:gridCol w="5500769"/>
              </a:tblGrid>
              <a:tr h="1257300">
                <a:tc>
                  <a:txBody>
                    <a:bodyPr wrap="square"/>
                    <a:lstStyle/>
                    <a:p>
                      <a:r>
                        <a:rPr sz="1200" b="1" i="0">
                          <a:solidFill>
                            <a:srgbClr val="FFFFFF"/>
                          </a:solidFill>
                          <a:latin typeface="Calibri"/>
                        </a:rPr>
                        <a:t>Slot</a:t>
                      </a:r>
                    </a:p>
                  </a:txBody>
                  <a:tcPr marL="45720" marR="45720" marT="18288" marB="18288" anchor="t">
                    <a:solidFill>
                      <a:srgbClr val="B44A2E"/>
                    </a:solidFill>
                  </a:tcPr>
                </a:tc>
                <a:tc>
                  <a:txBody>
                    <a:bodyPr wrap="square"/>
                    <a:lstStyle/>
                    <a:p>
                      <a:r>
                        <a:rPr sz="1200" b="1" i="0">
                          <a:solidFill>
                            <a:srgbClr val="FFFFFF"/>
                          </a:solidFill>
                          <a:latin typeface="Calibri"/>
                        </a:rPr>
                        <a:t>Time</a:t>
                      </a:r>
                    </a:p>
                  </a:txBody>
                  <a:tcPr marL="45720" marR="45720" marT="18288" marB="18288" anchor="t">
                    <a:solidFill>
                      <a:srgbClr val="B44A2E"/>
                    </a:solidFill>
                  </a:tcPr>
                </a:tc>
                <a:tc>
                  <a:txBody>
                    <a:bodyPr wrap="square"/>
                    <a:lstStyle/>
                    <a:p>
                      <a:r>
                        <a:rPr sz="1200" b="1" i="0">
                          <a:solidFill>
                            <a:srgbClr val="FFFFFF"/>
                          </a:solidFill>
                          <a:latin typeface="Calibri"/>
                        </a:rPr>
                        <a:t>Job</a:t>
                      </a:r>
                    </a:p>
                  </a:txBody>
                  <a:tcPr marL="45720" marR="45720" marT="18288" marB="18288" anchor="t">
                    <a:solidFill>
                      <a:srgbClr val="B44A2E"/>
                    </a:solidFill>
                  </a:tcPr>
                </a:tc>
                <a:tc>
                  <a:txBody>
                    <a:bodyPr wrap="square"/>
                    <a:lstStyle/>
                    <a:p>
                      <a:r>
                        <a:rPr sz="1200" b="1" i="0">
                          <a:solidFill>
                            <a:srgbClr val="FFFFFF"/>
                          </a:solidFill>
                          <a:latin typeface="Calibri"/>
                        </a:rPr>
                        <a:t>Format</a:t>
                      </a:r>
                    </a:p>
                  </a:txBody>
                  <a:tcPr marL="45720" marR="45720" marT="18288" marB="18288" anchor="t">
                    <a:solidFill>
                      <a:srgbClr val="B44A2E"/>
                    </a:solidFill>
                  </a:tcPr>
                </a:tc>
              </a:tr>
              <a:tr h="1257300">
                <a:tc>
                  <a:txBody>
                    <a:bodyPr wrap="square"/>
                    <a:lstStyle/>
                    <a:p>
                      <a:r>
                        <a:rPr sz="1200" b="1" i="0">
                          <a:solidFill>
                            <a:srgbClr val="2A2622"/>
                          </a:solidFill>
                          <a:latin typeface="Calibri"/>
                        </a:rPr>
                        <a:t>Morning (7:00–9:00 AM)</a:t>
                      </a:r>
                    </a:p>
                  </a:txBody>
                  <a:tcPr marL="45720" marR="45720" marT="18288" marB="18288" anchor="t">
                    <a:solidFill>
                      <a:srgbClr val="FFFFFF"/>
                    </a:solidFill>
                  </a:tcPr>
                </a:tc>
                <a:tc>
                  <a:txBody>
                    <a:bodyPr wrap="square"/>
                    <a:lstStyle/>
                    <a:p>
                      <a:r>
                        <a:rPr sz="1200" b="0" i="0">
                          <a:solidFill>
                            <a:srgbClr val="2A2622"/>
                          </a:solidFill>
                          <a:latin typeface="Calibri"/>
                        </a:rPr>
                        <a:t>"Roz ka 1 sach"</a:t>
                      </a:r>
                    </a:p>
                  </a:txBody>
                  <a:tcPr marL="45720" marR="45720" marT="18288" marB="18288" anchor="t">
                    <a:solidFill>
                      <a:srgbClr val="FFFFFF"/>
                    </a:solidFill>
                  </a:tcPr>
                </a:tc>
                <a:tc>
                  <a:txBody>
                    <a:bodyPr wrap="square"/>
                    <a:lstStyle/>
                    <a:p>
                      <a:r>
                        <a:rPr sz="1200" b="0" i="0">
                          <a:solidFill>
                            <a:srgbClr val="2A2622"/>
                          </a:solidFill>
                          <a:latin typeface="Calibri"/>
                        </a:rPr>
                        <a:t>Value + habit</a:t>
                      </a:r>
                    </a:p>
                  </a:txBody>
                  <a:tcPr marL="45720" marR="45720" marT="18288" marB="18288" anchor="t">
                    <a:solidFill>
                      <a:srgbClr val="FFFFFF"/>
                    </a:solidFill>
                  </a:tcPr>
                </a:tc>
                <a:tc>
                  <a:txBody>
                    <a:bodyPr wrap="square"/>
                    <a:lstStyle/>
                    <a:p>
                      <a:r>
                        <a:rPr sz="1200" b="0" i="0">
                          <a:solidFill>
                            <a:srgbClr val="2A2622"/>
                          </a:solidFill>
                          <a:latin typeface="Calibri"/>
                        </a:rPr>
                        <a:t>1 educational tip OR routine shot (1–2 frames) + 1 question box/poll</a:t>
                      </a:r>
                    </a:p>
                  </a:txBody>
                  <a:tcPr marL="45720" marR="45720" marT="18288" marB="18288" anchor="t">
                    <a:solidFill>
                      <a:srgbClr val="FFFFFF"/>
                    </a:solidFill>
                  </a:tcPr>
                </a:tc>
              </a:tr>
              <a:tr h="1257300">
                <a:tc>
                  <a:txBody>
                    <a:bodyPr wrap="square"/>
                    <a:lstStyle/>
                    <a:p>
                      <a:r>
                        <a:rPr sz="1200" b="1" i="0">
                          <a:solidFill>
                            <a:srgbClr val="2A2622"/>
                          </a:solidFill>
                          <a:latin typeface="Calibri"/>
                        </a:rPr>
                        <a:t>Afternoon (12:30–2:30 PM)</a:t>
                      </a:r>
                    </a:p>
                  </a:txBody>
                  <a:tcPr marL="45720" marR="45720" marT="18288" marB="18288" anchor="t">
                    <a:solidFill>
                      <a:srgbClr val="F6F1E7"/>
                    </a:solidFill>
                  </a:tcPr>
                </a:tc>
                <a:tc>
                  <a:txBody>
                    <a:bodyPr wrap="square"/>
                    <a:lstStyle/>
                    <a:p>
                      <a:r>
                        <a:rPr sz="1200" b="0" i="0">
                          <a:solidFill>
                            <a:srgbClr val="2A2622"/>
                          </a:solidFill>
                          <a:latin typeface="Calibri"/>
                        </a:rPr>
                        <a:t>"Peeche ki kahani"</a:t>
                      </a:r>
                    </a:p>
                  </a:txBody>
                  <a:tcPr marL="45720" marR="45720" marT="18288" marB="18288" anchor="t">
                    <a:solidFill>
                      <a:srgbClr val="F6F1E7"/>
                    </a:solidFill>
                  </a:tcPr>
                </a:tc>
                <a:tc>
                  <a:txBody>
                    <a:bodyPr wrap="square"/>
                    <a:lstStyle/>
                    <a:p>
                      <a:r>
                        <a:rPr sz="1200" b="0" i="0">
                          <a:solidFill>
                            <a:srgbClr val="2A2622"/>
                          </a:solidFill>
                          <a:latin typeface="Calibri"/>
                        </a:rPr>
                        <a:t>Trust/behind-the-scenes</a:t>
                      </a:r>
                    </a:p>
                  </a:txBody>
                  <a:tcPr marL="45720" marR="45720" marT="18288" marB="18288" anchor="t">
                    <a:solidFill>
                      <a:srgbClr val="F6F1E7"/>
                    </a:solidFill>
                  </a:tcPr>
                </a:tc>
                <a:tc>
                  <a:txBody>
                    <a:bodyPr wrap="square"/>
                    <a:lstStyle/>
                    <a:p>
                      <a:r>
                        <a:rPr sz="1200" b="0" i="0">
                          <a:solidFill>
                            <a:srgbClr val="2A2622"/>
                          </a:solidFill>
                          <a:latin typeface="Calibri"/>
                        </a:rPr>
                        <a:t>1 BTS frame (packing, testing, founder, lab visit, a mistake) + 1 poll or quiz</a:t>
                      </a:r>
                    </a:p>
                  </a:txBody>
                  <a:tcPr marL="45720" marR="45720" marT="18288" marB="18288" anchor="t">
                    <a:solidFill>
                      <a:srgbClr val="F6F1E7"/>
                    </a:solidFill>
                  </a:tcPr>
                </a:tc>
              </a:tr>
              <a:tr h="1257300">
                <a:tc>
                  <a:txBody>
                    <a:bodyPr wrap="square"/>
                    <a:lstStyle/>
                    <a:p>
                      <a:r>
                        <a:rPr sz="1200" b="1" i="0">
                          <a:solidFill>
                            <a:srgbClr val="2A2622"/>
                          </a:solidFill>
                          <a:latin typeface="Calibri"/>
                        </a:rPr>
                        <a:t>Evening (7:30–9:00 PM)</a:t>
                      </a:r>
                    </a:p>
                  </a:txBody>
                  <a:tcPr marL="45720" marR="45720" marT="18288" marB="18288" anchor="t">
                    <a:solidFill>
                      <a:srgbClr val="FFFFFF"/>
                    </a:solidFill>
                  </a:tcPr>
                </a:tc>
                <a:tc>
                  <a:txBody>
                    <a:bodyPr wrap="square"/>
                    <a:lstStyle/>
                    <a:p>
                      <a:r>
                        <a:rPr sz="1200" b="0" i="0">
                          <a:solidFill>
                            <a:srgbClr val="2A2622"/>
                          </a:solidFill>
                          <a:latin typeface="Calibri"/>
                        </a:rPr>
                        <a:t>"Aaj ka CTA"</a:t>
                      </a:r>
                    </a:p>
                  </a:txBody>
                  <a:tcPr marL="45720" marR="45720" marT="18288" marB="18288" anchor="t">
                    <a:solidFill>
                      <a:srgbClr val="FFFFFF"/>
                    </a:solidFill>
                  </a:tcPr>
                </a:tc>
                <a:tc>
                  <a:txBody>
                    <a:bodyPr wrap="square"/>
                    <a:lstStyle/>
                    <a:p>
                      <a:r>
                        <a:rPr sz="1200" b="0" i="0">
                          <a:solidFill>
                            <a:srgbClr val="2A2622"/>
                          </a:solidFill>
                          <a:latin typeface="Calibri"/>
                        </a:rPr>
                        <a:t>Conversion</a:t>
                      </a:r>
                    </a:p>
                  </a:txBody>
                  <a:tcPr marL="45720" marR="45720" marT="18288" marB="18288" anchor="t">
                    <a:solidFill>
                      <a:srgbClr val="FFFFFF"/>
                    </a:solidFill>
                  </a:tcPr>
                </a:tc>
                <a:tc>
                  <a:txBody>
                    <a:bodyPr wrap="square"/>
                    <a:lstStyle/>
                    <a:p>
                      <a:r>
                        <a:rPr sz="1200" b="0" i="0">
                          <a:solidFill>
                            <a:srgbClr val="2A2622"/>
                          </a:solidFill>
                          <a:latin typeface="Calibri"/>
                        </a:rPr>
                        <a:t>1 product/offer/review frame + </a:t>
                      </a:r>
                      <a:r>
                        <a:rPr sz="1200" b="1" i="0">
                          <a:solidFill>
                            <a:srgbClr val="2A2622"/>
                          </a:solidFill>
                          <a:latin typeface="Calibri"/>
                        </a:rPr>
                        <a:t>DM CTA</a:t>
                      </a:r>
                      <a:r>
                        <a:rPr sz="1200" b="0" i="0">
                          <a:solidFill>
                            <a:srgbClr val="2A2622"/>
                          </a:solidFill>
                          <a:latin typeface="Calibri"/>
                        </a:rPr>
                        <a:t> ("GLOW likho") or link sticker (WhatsApp)</a:t>
                      </a:r>
                    </a:p>
                  </a:txBody>
                  <a:tcPr marL="45720" marR="45720" marT="18288" marB="18288" anchor="t">
                    <a:solidFill>
                      <a:srgbClr val="FFFFFF"/>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240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DAILY STORY SYSTEM</a:t>
            </a:r>
          </a:p>
          <a:p>
            <a:r>
              <a:rPr sz="1200" i="1">
                <a:solidFill>
                  <a:srgbClr val="57504A"/>
                </a:solidFill>
                <a:latin typeface="Calibri"/>
              </a:rPr>
              <a:t>PART 14 — Instagram Stories (30-Day) + Profile Build</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Story rules:</a:t>
            </a:r>
          </a:p>
          <a:p>
            <a:pPr>
              <a:spcAft>
                <a:spcPts val="400"/>
              </a:spcAft>
            </a:pPr>
            <a:r>
              <a:rPr sz="1350">
                <a:solidFill>
                  <a:srgbClr val="B44A2E"/>
                </a:solidFill>
                <a:latin typeface="Calibri"/>
              </a:rPr>
              <a:t>•  </a:t>
            </a:r>
            <a:r>
              <a:rPr sz="1350" b="0" i="0">
                <a:solidFill>
                  <a:srgbClr val="2A2622"/>
                </a:solidFill>
                <a:latin typeface="Calibri"/>
              </a:rPr>
              <a:t>3–5 frames max per slot. Frame 1 = hook (text or face). Frame 2–4 = value. Last frame = engagement (poll/question) OR CTA.</a:t>
            </a:r>
          </a:p>
          <a:p>
            <a:pPr>
              <a:spcAft>
                <a:spcPts val="400"/>
              </a:spcAft>
            </a:pPr>
            <a:r>
              <a:rPr sz="1350">
                <a:solidFill>
                  <a:srgbClr val="B44A2E"/>
                </a:solidFill>
                <a:latin typeface="Calibri"/>
              </a:rPr>
              <a:t>•  </a:t>
            </a:r>
            <a:r>
              <a:rPr sz="1350" b="1" i="0">
                <a:solidFill>
                  <a:srgbClr val="2A2622"/>
                </a:solidFill>
                <a:latin typeface="Calibri"/>
              </a:rPr>
              <a:t>Always end the evening slot with a DM CTA or link sticker</a:t>
            </a:r>
            <a:r>
              <a:rPr sz="1350" b="0" i="0">
                <a:solidFill>
                  <a:srgbClr val="2A2622"/>
                </a:solidFill>
                <a:latin typeface="Calibri"/>
              </a:rPr>
              <a:t> — this is the silent order engine (many buyers DM from Stories, not Reels).</a:t>
            </a:r>
          </a:p>
          <a:p>
            <a:pPr>
              <a:spcAft>
                <a:spcPts val="400"/>
              </a:spcAft>
            </a:pPr>
            <a:r>
              <a:rPr sz="1350">
                <a:solidFill>
                  <a:srgbClr val="B44A2E"/>
                </a:solidFill>
                <a:latin typeface="Calibri"/>
              </a:rPr>
              <a:t>•  </a:t>
            </a:r>
            <a:r>
              <a:rPr sz="1350" b="0" i="0">
                <a:solidFill>
                  <a:srgbClr val="2A2622"/>
                </a:solidFill>
                <a:latin typeface="Calibri"/>
              </a:rPr>
              <a:t>Reply to EVERY poll/question answer within 2 hours (DM conversation = pipeline).</a:t>
            </a:r>
          </a:p>
          <a:p>
            <a:pPr>
              <a:spcAft>
                <a:spcPts val="400"/>
              </a:spcAft>
            </a:pPr>
            <a:r>
              <a:rPr sz="1350">
                <a:solidFill>
                  <a:srgbClr val="B44A2E"/>
                </a:solidFill>
                <a:latin typeface="Calibri"/>
              </a:rPr>
              <a:t>•  </a:t>
            </a:r>
            <a:r>
              <a:rPr sz="1350" b="0" i="0">
                <a:solidFill>
                  <a:srgbClr val="2A2622"/>
                </a:solidFill>
                <a:latin typeface="Calibri"/>
              </a:rPr>
              <a:t>Story highlights updated weekly (see Part B).</a:t>
            </a:r>
          </a:p>
          <a:p>
            <a:pPr>
              <a:spcAft>
                <a:spcPts val="400"/>
              </a:spcAft>
            </a:pPr>
            <a:r>
              <a:rPr sz="1350">
                <a:solidFill>
                  <a:srgbClr val="B44A2E"/>
                </a:solidFill>
                <a:latin typeface="Calibri"/>
              </a:rPr>
              <a:t>•  </a:t>
            </a:r>
            <a:r>
              <a:rPr sz="1350" b="1" i="0">
                <a:solidFill>
                  <a:srgbClr val="2A2622"/>
                </a:solidFill>
                <a:latin typeface="Calibri"/>
              </a:rPr>
              <a:t>WhatsApp Status = same 3 slots, same day</a:t>
            </a:r>
            <a:r>
              <a:rPr sz="1350" b="0" i="0">
                <a:solidFill>
                  <a:srgbClr val="2A2622"/>
                </a:solidFill>
                <a:latin typeface="Calibri"/>
              </a:rPr>
              <a:t> (zero extra work; Gujarat buyers are heavy WhatsApp-Status users).</a:t>
            </a:r>
          </a:p>
          <a:p>
            <a:pPr>
              <a:spcBef>
                <a:spcPts val="1000"/>
              </a:spcBef>
              <a:spcAft>
                <a:spcPts val="400"/>
              </a:spcAft>
            </a:pPr>
            <a:r>
              <a:rPr sz="1600" b="1" i="0">
                <a:solidFill>
                  <a:srgbClr val="8F3A22"/>
                </a:solidFill>
                <a:latin typeface="Calibri"/>
              </a:rPr>
              <a:t>Story asset types (use in rotation)</a:t>
            </a:r>
          </a:p>
          <a:p>
            <a:pPr>
              <a:spcAft>
                <a:spcPts val="700"/>
              </a:spcAft>
            </a:pPr>
            <a:r>
              <a:rPr sz="1350" b="0" i="0">
                <a:solidFill>
                  <a:srgbClr val="2A2622"/>
                </a:solidFill>
                <a:latin typeface="Calibri"/>
              </a:rPr>
              <a:t>Polls · Question boxes · Quizzes (with answer reveal next story) · This-or-that (product A/B) · Countdown (launch/offer) · BTS (packing, lab, founder fail) · UGC repost · Review quote card · "Ask us anything" box · "Day X of 30" progress · Flashback ("1 mahine pehle hum yahan the")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241</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30-DAY STORY CALENDAR (M = Morning · A = Afternoon · E = Evening)</a:t>
            </a:r>
          </a:p>
          <a:p>
            <a:r>
              <a:rPr sz="1200" i="1">
                <a:solidFill>
                  <a:srgbClr val="57504A"/>
                </a:solidFill>
                <a:latin typeface="Calibri"/>
              </a:rPr>
              <a:t>PART 14 — Instagram Stories (30-Day) + Profile Build</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Day 1</a:t>
            </a:r>
            <a:r>
              <a:rPr sz="1350" b="0" i="0">
                <a:solidFill>
                  <a:srgbClr val="2A2622"/>
                </a:solidFill>
                <a:latin typeface="Calibri"/>
              </a:rPr>
              <a:t> · M: "Aaj se yahan roz 1 skin-sach milega. Aapka skin type kya hai? (poll: oily/dry/combo/confused)" · A: Founder photo + "hum kaun hain — 15 second me" (video) · E: "30 din ka safar shuru. Follow on karo + GLOW likho DM me (list me aana ho)." </a:t>
            </a:r>
            <a:r>
              <a:rPr sz="1350" b="1" i="0">
                <a:solidFill>
                  <a:srgbClr val="2A2622"/>
                </a:solidFill>
                <a:latin typeface="Calibri"/>
              </a:rPr>
              <a:t>Day 2</a:t>
            </a:r>
            <a:r>
              <a:rPr sz="1350" b="0" i="0">
                <a:solidFill>
                  <a:srgbClr val="2A2622"/>
                </a:solidFill>
                <a:latin typeface="Calibri"/>
              </a:rPr>
              <a:t> · M: Tip: "Subah uthke pehli cheez: gunguna paani, nahi thanda. Kyun? (answer next frame)" · A: BTS: content shoot ka 10-sec clip · E: Question box: "Aapka #1 skin pareshani? (best 3 kal answer honge)" </a:t>
            </a:r>
            <a:r>
              <a:rPr sz="1350" b="1" i="0">
                <a:solidFill>
                  <a:srgbClr val="2A2622"/>
                </a:solidFill>
                <a:latin typeface="Calibri"/>
              </a:rPr>
              <a:t>Day 3</a:t>
            </a:r>
            <a:r>
              <a:rPr sz="1350" b="0" i="0">
                <a:solidFill>
                  <a:srgbClr val="2A2622"/>
                </a:solidFill>
                <a:latin typeface="Calibri"/>
              </a:rPr>
              <a:t> · M: Quiz: "UV window se aata hai? a) haan b) nahi" → reveal: haan · A: BTS: label ka 2nd version, "kyun badla?" · E: "Aapne puche 3 sawaal — video link (Reel). Aur aapka sawaal? DM." </a:t>
            </a:r>
            <a:r>
              <a:rPr sz="1350" b="1" i="0">
                <a:solidFill>
                  <a:srgbClr val="2A2622"/>
                </a:solidFill>
                <a:latin typeface="Calibri"/>
              </a:rPr>
              <a:t>Day 4</a:t>
            </a:r>
            <a:r>
              <a:rPr sz="1350" b="0" i="0">
                <a:solidFill>
                  <a:srgbClr val="2A2622"/>
                </a:solidFill>
                <a:latin typeface="Calibri"/>
              </a:rPr>
              <a:t> · M: Tip: "Herbal = safe? Nahi. Kal detail." · A: BTS: formula sheet (blurred) + "3 mahine ka kaam" · E: Poll: "Brand ka naam ya ingredient list — pehle kya dekhti ho?" </a:t>
            </a:r>
            <a:r>
              <a:rPr sz="1350" b="1" i="0">
                <a:solidFill>
                  <a:srgbClr val="2A2622"/>
                </a:solidFill>
                <a:latin typeface="Calibri"/>
              </a:rPr>
              <a:t>Day 5</a:t>
            </a:r>
            <a:r>
              <a:rPr sz="1350" b="0" i="0">
                <a:solidFill>
                  <a:srgbClr val="2A2622"/>
                </a:solidFill>
                <a:latin typeface="Calibri"/>
              </a:rPr>
              <a:t> · M: "Chai break + 2 minute = aapka routine ka time. Kab? (poll: subah/raat/dono)" · A: BTS: maa wala skit ka behind-scene (fun) · E: "Yeh hafta ka best reel — kaun sa? (this-or-that: D2 vs D5)" </a:t>
            </a:r>
            <a:r>
              <a:rPr sz="1350" b="1" i="0">
                <a:solidFill>
                  <a:srgbClr val="2A2622"/>
                </a:solidFill>
                <a:latin typeface="Calibri"/>
              </a:rPr>
              <a:t>Day 6</a:t>
            </a:r>
            <a:r>
              <a:rPr sz="1350" b="0" i="0">
                <a:solidFill>
                  <a:srgbClr val="2A2622"/>
                </a:solidFill>
                <a:latin typeface="Calibri"/>
              </a:rPr>
              <a:t> · M: Tip: "28 din = skin ka 1 cycle. Isliye 4 hafte wait karo." · A: BTS: 20 testers ki whiteboard (names) · E: "Kya product aayega? Guess karo — serum? cream? (poll: VC/SPF/cream)" </a:t>
            </a:r>
            <a:r>
              <a:rPr sz="1350" b="1" i="0">
                <a:solidFill>
                  <a:srgbClr val="2A2622"/>
                </a:solidFill>
                <a:latin typeface="Calibri"/>
              </a:rPr>
              <a:t>Day 7</a:t>
            </a:r>
            <a:r>
              <a:rPr sz="1350" b="0" i="0">
                <a:solidFill>
                  <a:srgbClr val="2A2622"/>
                </a:solidFill>
                <a:latin typeface="Calibri"/>
              </a:rPr>
              <a:t> · M: "Sunday = aapke sawaal ka din" · A: Q&amp;A reel clip (15 sec) · E: Question box: "Kuch bhi puchho — skin, hum, product." </a:t>
            </a:r>
            <a:r>
              <a:rPr sz="1350" b="1" i="0">
                <a:solidFill>
                  <a:srgbClr val="2A2622"/>
                </a:solidFill>
                <a:latin typeface="Calibri"/>
              </a:rPr>
              <a:t>Day 8</a:t>
            </a:r>
            <a:r>
              <a:rPr sz="1350" b="0" i="0">
                <a:solidFill>
                  <a:srgbClr val="2A2622"/>
                </a:solidFill>
                <a:latin typeface="Calibri"/>
              </a:rPr>
              <a:t> · M: </a:t>
            </a:r>
            <a:r>
              <a:rPr sz="1350" b="1" i="0">
                <a:solidFill>
                  <a:srgbClr val="2A2622"/>
                </a:solidFill>
                <a:latin typeface="Calibri"/>
              </a:rPr>
              <a:t>PRODUCT INTRO DAY</a:t>
            </a:r>
            <a:r>
              <a:rPr sz="1350" b="0" i="0">
                <a:solidFill>
                  <a:srgbClr val="2A2622"/>
                </a:solidFill>
                <a:latin typeface="Calibri"/>
              </a:rPr>
              <a:t>: serum texture close-up + "Mila karo" · A: Poll: "Serum kab lagati ho? Subah ☑️ / Raat ☑️" → answer · E: "Launch aane wala. GLOW DM = pehli list. (link sticker: WhatsApp)" </a:t>
            </a:r>
            <a:r>
              <a:rPr sz="1350" b="1" i="0">
                <a:solidFill>
                  <a:srgbClr val="2A2622"/>
                </a:solidFill>
                <a:latin typeface="Calibri"/>
              </a:rPr>
              <a:t>Day 9</a:t>
            </a:r>
            <a:r>
              <a:rPr sz="1350" b="0" i="0">
                <a:solidFill>
                  <a:srgbClr val="2A2622"/>
                </a:solidFill>
                <a:latin typeface="Calibri"/>
              </a:rPr>
              <a:t> · M: "5-step how-to — Reel me hai (link). Sabse badi galti: kaunsi? (quiz)" · A: BTS: tester day-7 photo (same light, card in frame) · E: "GLOW wali list me X log aaye. Kya sochti ho? (question box)" </a:t>
            </a:r>
            <a:r>
              <a:rPr sz="1350" b="1" i="0">
                <a:solidFill>
                  <a:srgbClr val="2A2622"/>
                </a:solidFill>
                <a:latin typeface="Calibri"/>
              </a:rPr>
              <a:t>Day 10</a:t>
            </a:r>
            <a:r>
              <a:rPr sz="1350" b="0" i="0">
                <a:solidFill>
                  <a:srgbClr val="2A2622"/>
                </a:solidFill>
                <a:latin typeface="Calibri"/>
              </a:rPr>
              <a:t> · M: Carousel clip: "VC ka 60-sec science (link)" · A: Quiz: "10% kyun? a) zyada sasta b) benefit-irritation balance c) fashion" → b · E: "Aaj raat 9:30 — 1 surprise story. Notifications ON." (tease) </a:t>
            </a:r>
            <a:r>
              <a:rPr sz="1350" b="1" i="0">
                <a:solidFill>
                  <a:srgbClr val="2A2622"/>
                </a:solidFill>
                <a:latin typeface="Calibri"/>
              </a:rPr>
              <a:t>Day 11</a:t>
            </a:r>
            <a:r>
              <a:rPr sz="1350" b="0" i="0">
                <a:solidFill>
                  <a:srgbClr val="2A2622"/>
                </a:solidFill>
                <a:latin typeface="Calibri"/>
              </a:rPr>
              <a:t> · M: Tip: "Window se UV. Ghar baithe bhi SPF." · A: BTS: packing table setup (early) · E: "Ghar baithe bhi UV — Reel dekha? (link). SPF abhi bhi 'bahar jaane par'? (poll)" </a:t>
            </a:r>
            <a:r>
              <a:rPr sz="1350" b="1" i="0">
                <a:solidFill>
                  <a:srgbClr val="2A2622"/>
                </a:solidFill>
                <a:latin typeface="Calibri"/>
              </a:rPr>
              <a:t>Day 12</a:t>
            </a:r>
            <a:r>
              <a:rPr sz="1350" b="0" i="0">
                <a:solidFill>
                  <a:srgbClr val="2A2622"/>
                </a:solidFill>
                <a:latin typeface="Calibri"/>
              </a:rPr>
              <a:t> · M: </a:t>
            </a:r>
            <a:r>
              <a:rPr sz="1350" b="1" i="0">
                <a:solidFill>
                  <a:srgbClr val="2A2622"/>
                </a:solidFill>
                <a:latin typeface="Calibri"/>
              </a:rPr>
              <a:t>Tester day-14</a:t>
            </a:r>
            <a:r>
              <a:rPr sz="1350" b="0" i="0">
                <a:solidFill>
                  <a:srgbClr val="2A2622"/>
                </a:solidFill>
                <a:latin typeface="Calibri"/>
              </a:rPr>
              <a:t>: photo + "kya socha?" (her words, quote) · A: Poll: "Honest review me 'kami' bhi honi chahiye? a) haan b) nahi" → haan (brand stance) · E: "Day 28 wala update Sunday. Follow ON." </a:t>
            </a:r>
            <a:r>
              <a:rPr sz="1350" b="1" i="0">
                <a:solidFill>
                  <a:srgbClr val="2A2622"/>
                </a:solidFill>
                <a:latin typeface="Calibri"/>
              </a:rPr>
              <a:t>Day 13</a:t>
            </a:r>
            <a:r>
              <a:rPr sz="1350" b="0" i="0">
                <a:solidFill>
                  <a:srgbClr val="2A2622"/>
                </a:solidFill>
                <a:latin typeface="Calibri"/>
              </a:rPr>
              <a:t> · M: "Reject: formula 1. (BTS photo)" · A: BTS: 3 packaging samples, "kyun badla" · E: "Pehli baar naye brand se lete ho? Yeh 2 sawaal puchho (mini-list story)." </a:t>
            </a:r>
            <a:r>
              <a:rPr sz="1350" b="1" i="0">
                <a:solidFill>
                  <a:srgbClr val="2A2622"/>
                </a:solidFill>
                <a:latin typeface="Calibri"/>
              </a:rPr>
              <a:t>Day 14</a:t>
            </a:r>
            <a:r>
              <a:rPr sz="1350" b="0" i="0">
                <a:solidFill>
                  <a:srgbClr val="2A2622"/>
                </a:solidFill>
                <a:latin typeface="Calibri"/>
              </a:rPr>
              <a:t> · M: "2000 vs 500 — math (Reel link)" · A: Countdown sticker: "Launch in 5 din" · E: "GLOW DM = launch list. (link: WhatsApp)" </a:t>
            </a:r>
            <a:r>
              <a:rPr sz="1350" b="1" i="0">
                <a:solidFill>
                  <a:srgbClr val="2A2622"/>
                </a:solidFill>
                <a:latin typeface="Calibri"/>
              </a:rPr>
              <a:t>Day 15</a:t>
            </a:r>
            <a:r>
              <a:rPr sz="1350" b="0" i="0">
                <a:solidFill>
                  <a:srgbClr val="2A2622"/>
                </a:solidFill>
                <a:latin typeface="Calibri"/>
              </a:rPr>
              <a:t> · M: "3 galtiyan (Reel link). Aapne kitni pakdi? (poll: 1/2/3)" · A: BTS: shoot day clip · E: "Kal: texture reel. Kya dekhna chahiye? (question box)" </a:t>
            </a:r>
            <a:r>
              <a:rPr sz="1350" b="1" i="0">
                <a:solidFill>
                  <a:srgbClr val="2A2622"/>
                </a:solidFill>
                <a:latin typeface="Calibri"/>
              </a:rPr>
              <a:t>Day 16</a:t>
            </a:r>
            <a:r>
              <a:rPr sz="1350" b="0" i="0">
                <a:solidFill>
                  <a:srgbClr val="2A2622"/>
                </a:solidFill>
                <a:latin typeface="Calibri"/>
              </a:rPr>
              <a:t> · M: </a:t>
            </a:r>
            <a:r>
              <a:rPr sz="1350" b="1" i="0">
                <a:solidFill>
                  <a:srgbClr val="2A2622"/>
                </a:solidFill>
                <a:latin typeface="Calibri"/>
              </a:rPr>
              <a:t>Texture story</a:t>
            </a:r>
            <a:r>
              <a:rPr sz="1350" b="0" i="0">
                <a:solidFill>
                  <a:srgbClr val="2A2622"/>
                </a:solidFill>
                <a:latin typeface="Calibri"/>
              </a:rPr>
              <a:t>: 3 frames (drop/spread/absorb) + "kaunsa lagta hai? (poll: halka/chikna)" · A: Quiz: "10% ya 20%? (a) 20% zyada fayda b) 10% sweet spot c) barabar" → b · E: "GLOW DM — launch kal se." </a:t>
            </a:r>
            <a:r>
              <a:rPr sz="1350" b="1" i="0">
                <a:solidFill>
                  <a:srgbClr val="2A2622"/>
                </a:solidFill>
                <a:latin typeface="Calibri"/>
              </a:rPr>
              <a:t>Day 17</a:t>
            </a:r>
            <a:r>
              <a:rPr sz="1350" b="0" i="0">
                <a:solidFill>
                  <a:srgbClr val="2A2622"/>
                </a:solidFill>
                <a:latin typeface="Calibri"/>
              </a:rPr>
              <a:t> · M: </a:t>
            </a:r>
            <a:r>
              <a:rPr sz="1350" b="1" i="0">
                <a:solidFill>
                  <a:srgbClr val="2A2622"/>
                </a:solidFill>
                <a:latin typeface="Calibri"/>
              </a:rPr>
              <a:t>DAY-28 DROP</a:t>
            </a:r>
            <a:r>
              <a:rPr sz="1350" b="0" i="0">
                <a:solidFill>
                  <a:srgbClr val="2A2622"/>
                </a:solidFill>
                <a:latin typeface="Calibri"/>
              </a:rPr>
              <a:t>: "4 hafte. 20 aahaiyan. Same light." (reel link) · A: Tester 1 day-1 vs day-28 (card in frame) + disclaimer text · E: "Aap bhi 4 hafte baad yahan ho sakti ho. GLOW DM. (link)" </a:t>
            </a:r>
            <a:r>
              <a:rPr sz="1350" b="1" i="0">
                <a:solidFill>
                  <a:srgbClr val="2A2622"/>
                </a:solidFill>
                <a:latin typeface="Calibri"/>
              </a:rPr>
              <a:t>Day 18</a:t>
            </a:r>
            <a:r>
              <a:rPr sz="1350" b="0" i="0">
                <a:solidFill>
                  <a:srgbClr val="2A2622"/>
                </a:solidFill>
                <a:latin typeface="Calibri"/>
              </a:rPr>
              <a:t> · M: Tip: "SPF 30+ roz. 2–3 ghante me reapply (bahar)." · A: BTS: sunscreen R&amp;D notes (blurred) + "next product" tease · E: "Sunscreen kaunsa pasand? (this-or-that: white matte/transparent)" </a:t>
            </a:r>
            <a:r>
              <a:rPr sz="1350" b="1" i="0">
                <a:solidFill>
                  <a:srgbClr val="2A2622"/>
                </a:solidFill>
                <a:latin typeface="Calibri"/>
              </a:rPr>
              <a:t>Day 19</a:t>
            </a:r>
            <a:r>
              <a:rPr sz="1350" b="0" i="0">
                <a:solidFill>
                  <a:srgbClr val="2A2622"/>
                </a:solidFill>
                <a:latin typeface="Calibri"/>
              </a:rPr>
              <a:t> · M: </a:t>
            </a:r>
            <a:r>
              <a:rPr sz="1350" b="1" i="0">
                <a:solidFill>
                  <a:srgbClr val="2A2622"/>
                </a:solidFill>
                <a:latin typeface="Calibri"/>
              </a:rPr>
              <a:t>Creator collab day</a:t>
            </a:r>
            <a:r>
              <a:rPr sz="1350" b="0" i="0">
                <a:solidFill>
                  <a:srgbClr val="2A2622"/>
                </a:solidFill>
                <a:latin typeface="Calibri"/>
              </a:rPr>
              <a:t>: collab clip + "aaj 1 aur face" · A: Poll: "Creator se review ya brand se — kya zyada bharosa? (answer: dono, isliye collab)" · E: "Aapki city me koi creator hai jo try kare? (question box)" </a:t>
            </a:r>
            <a:r>
              <a:rPr sz="1350" b="1" i="0">
                <a:solidFill>
                  <a:srgbClr val="2A2622"/>
                </a:solidFill>
                <a:latin typeface="Calibri"/>
              </a:rPr>
              <a:t>Day 20</a:t>
            </a:r>
            <a:r>
              <a:rPr sz="1350" b="0" i="0">
                <a:solidFill>
                  <a:srgbClr val="2A2622"/>
                </a:solidFill>
                <a:latin typeface="Calibri"/>
              </a:rPr>
              <a:t> · M: "Kal se live. 100 boxes. Aaj packing." (BTS video) · A: Countdown: "LAUNCH — kal" · E: "Box me kya hai? 3 clues (3 frames). Guess karo." </a:t>
            </a:r>
            <a:r>
              <a:rPr sz="1350" b="1" i="0">
                <a:solidFill>
                  <a:srgbClr val="2A2622"/>
                </a:solidFill>
                <a:latin typeface="Calibri"/>
              </a:rPr>
              <a:t>Day 21</a:t>
            </a:r>
            <a:r>
              <a:rPr sz="1350" b="0" i="0">
                <a:solidFill>
                  <a:srgbClr val="2A2622"/>
                </a:solidFill>
                <a:latin typeface="Calibri"/>
              </a:rPr>
              <a:t> · M: 🚀 </a:t>
            </a:r>
            <a:r>
              <a:rPr sz="1350" b="1" i="0">
                <a:solidFill>
                  <a:srgbClr val="2A2622"/>
                </a:solidFill>
                <a:latin typeface="Calibri"/>
              </a:rPr>
              <a:t>LAUNCH</a:t>
            </a:r>
            <a:r>
              <a:rPr sz="1350" b="0" i="0">
                <a:solidFill>
                  <a:srgbClr val="2A2622"/>
                </a:solidFill>
                <a:latin typeface="Calibri"/>
              </a:rPr>
              <a:t>: full offer story (4 frames: offer/list/COD/CTA) + link sticker · A: "Pehla order aaya! [City]" (real, as it happens) · E: "GLOW DM = order. 15 min me reply. (link: WhatsApp)" </a:t>
            </a:r>
            <a:r>
              <a:rPr sz="1350" b="1" i="0">
                <a:solidFill>
                  <a:srgbClr val="2A2622"/>
                </a:solidFill>
                <a:latin typeface="Calibri"/>
              </a:rPr>
              <a:t>Day 22</a:t>
            </a:r>
            <a:r>
              <a:rPr sz="1350" b="0" i="0">
                <a:solidFill>
                  <a:srgbClr val="2A2622"/>
                </a:solidFill>
                <a:latin typeface="Calibri"/>
              </a:rPr>
              <a:t> · M: "4 darr, 4 jawaab (Reel link)" · A: Poll: "Naye brand se pehla order — kya sabse bada dar? (options)" · E: "COD kya hai, kaise kaam karta hai (3-frame explainer) + link." </a:t>
            </a:r>
            <a:r>
              <a:rPr sz="1350" b="1" i="0">
                <a:solidFill>
                  <a:srgbClr val="2A2622"/>
                </a:solidFill>
                <a:latin typeface="Calibri"/>
              </a:rPr>
              <a:t>Day 23</a:t>
            </a:r>
            <a:r>
              <a:rPr sz="1350" b="0" i="0">
                <a:solidFill>
                  <a:srgbClr val="2A2622"/>
                </a:solidFill>
                <a:latin typeface="Calibri"/>
              </a:rPr>
              <a:t> · M: "60-sec routine (Reel link). Aaj try karo, kal update bhejo." · A: Timer challenge sticker · E: "Kit order = sab ek box me. GLOW DM. (link)" </a:t>
            </a:r>
            <a:r>
              <a:rPr sz="1350" b="1" i="0">
                <a:solidFill>
                  <a:srgbClr val="2A2622"/>
                </a:solidFill>
                <a:latin typeface="Calibri"/>
              </a:rPr>
              <a:t>Day 24</a:t>
            </a:r>
            <a:r>
              <a:rPr sz="1350" b="0" i="0">
                <a:solidFill>
                  <a:srgbClr val="2A2622"/>
                </a:solidFill>
                <a:latin typeface="Calibri"/>
              </a:rPr>
              <a:t> · M: </a:t>
            </a:r>
            <a:r>
              <a:rPr sz="1350" b="1" i="0">
                <a:solidFill>
                  <a:srgbClr val="2A2622"/>
                </a:solidFill>
                <a:latin typeface="Calibri"/>
              </a:rPr>
              <a:t>Unboxing repost</a:t>
            </a:r>
            <a:r>
              <a:rPr sz="1350" b="0" i="0">
                <a:solidFill>
                  <a:srgbClr val="2A2622"/>
                </a:solidFill>
                <a:latin typeface="Calibri"/>
              </a:rPr>
              <a:t>: customer #1 parcel clip · A: "Parcel [city] se aaya" (map screenshot, blurred address) · E: "Aapka bhi parcel aayega. GLOW DM." </a:t>
            </a:r>
            <a:r>
              <a:rPr sz="1350" b="1" i="0">
                <a:solidFill>
                  <a:srgbClr val="2A2622"/>
                </a:solidFill>
                <a:latin typeface="Calibri"/>
              </a:rPr>
              <a:t>Day 25</a:t>
            </a:r>
            <a:r>
              <a:rPr sz="1350" b="0" i="0">
                <a:solidFill>
                  <a:srgbClr val="2A2622"/>
                </a:solidFill>
                <a:latin typeface="Calibri"/>
              </a:rPr>
              <a:t> · M: "VC se orange? Myth (Reel link)" · A: Quiz: "3–4 drops ya jitna mile? (a) jitna b) 3–4" → b · E: "Kya aur myth todna chahiye? (question box)" </a:t>
            </a:r>
            <a:r>
              <a:rPr sz="1350" b="1" i="0">
                <a:solidFill>
                  <a:srgbClr val="2A2622"/>
                </a:solidFill>
                <a:latin typeface="Calibri"/>
              </a:rPr>
              <a:t>Day 26</a:t>
            </a:r>
            <a:r>
              <a:rPr sz="1350" b="0" i="0">
                <a:solidFill>
                  <a:srgbClr val="2A2622"/>
                </a:solidFill>
                <a:latin typeface="Calibri"/>
              </a:rPr>
              <a:t> · M: </a:t>
            </a:r>
            <a:r>
              <a:rPr sz="1350" b="1" i="0">
                <a:solidFill>
                  <a:srgbClr val="2A2622"/>
                </a:solidFill>
                <a:latin typeface="Calibri"/>
              </a:rPr>
              <a:t>Review clip</a:t>
            </a:r>
            <a:r>
              <a:rPr sz="1350" b="0" i="0">
                <a:solidFill>
                  <a:srgbClr val="2A2622"/>
                </a:solidFill>
                <a:latin typeface="Calibri"/>
              </a:rPr>
              <a:t>: "4 baar delete karke order kiya" (customer story) · A: Quote card: best line from the review · E: "Aapka bhi story ho sakta hai. GLOW DM. (link)" </a:t>
            </a:r>
            <a:r>
              <a:rPr sz="1350" b="1" i="0">
                <a:solidFill>
                  <a:srgbClr val="2A2622"/>
                </a:solidFill>
                <a:latin typeface="Calibri"/>
              </a:rPr>
              <a:t>Day 27</a:t>
            </a:r>
            <a:r>
              <a:rPr sz="1350" b="0" i="0">
                <a:solidFill>
                  <a:srgbClr val="2A2622"/>
                </a:solidFill>
                <a:latin typeface="Calibri"/>
              </a:rPr>
              <a:t> · M: "Box me kya hai (carousel link)" · A: "X/100 seat bachi" (real count, 1 frame) · E: Countdown: "Batch 1: X seat left" + GLOW link. </a:t>
            </a:r>
            <a:r>
              <a:rPr sz="1350" b="1" i="0">
                <a:solidFill>
                  <a:srgbClr val="2A2622"/>
                </a:solidFill>
                <a:latin typeface="Calibri"/>
              </a:rPr>
              <a:t>Day 28</a:t>
            </a:r>
            <a:r>
              <a:rPr sz="1350" b="0" i="0">
                <a:solidFill>
                  <a:srgbClr val="2A2622"/>
                </a:solidFill>
                <a:latin typeface="Calibri"/>
              </a:rPr>
              <a:t> · M: "Raat ko kya lagana chahiye? (Q&amp;A reel link)" · A: Quiz: "Repair kab hota hai? Subah ☑️ / Raat ☑️" → raat · E: "Night cream agle mahine. Waitlist? (link sticker: list)" </a:t>
            </a:r>
            <a:r>
              <a:rPr sz="1350" b="1" i="0">
                <a:solidFill>
                  <a:srgbClr val="2A2622"/>
                </a:solidFill>
                <a:latin typeface="Calibri"/>
              </a:rPr>
              <a:t>Day 29</a:t>
            </a:r>
            <a:r>
              <a:rPr sz="1350" b="0" i="0">
                <a:solidFill>
                  <a:srgbClr val="2A2622"/>
                </a:solidFill>
                <a:latin typeface="Calibri"/>
              </a:rPr>
              <a:t> · M: "Week 1: X orders. Dhanyawad." (celebration frame) · A: </a:t>
            </a:r>
            <a:r>
              <a:rPr sz="1350" b="1" i="0">
                <a:solidFill>
                  <a:srgbClr val="2A2622"/>
                </a:solidFill>
                <a:latin typeface="Calibri"/>
              </a:rPr>
              <a:t>Referral launch</a:t>
            </a:r>
            <a:r>
              <a:rPr sz="1350" b="0" i="0">
                <a:solidFill>
                  <a:srgbClr val="2A2622"/>
                </a:solidFill>
                <a:latin typeface="Calibri"/>
              </a:rPr>
              <a:t>: "Do ₹100, lo ₹100" (3 frames: how/code/share) · E: "Apna code lo (link) + 1 dost ko bhejo aaj." </a:t>
            </a:r>
            <a:r>
              <a:rPr sz="1350" b="1" i="0">
                <a:solidFill>
                  <a:srgbClr val="2A2622"/>
                </a:solidFill>
                <a:latin typeface="Calibri"/>
              </a:rPr>
              <a:t>Day 30</a:t>
            </a:r>
            <a:r>
              <a:rPr sz="1350" b="0" i="0">
                <a:solidFill>
                  <a:srgbClr val="2A2622"/>
                </a:solidFill>
                <a:latin typeface="Calibri"/>
              </a:rPr>
              <a:t> · M: "30 din. Pehle X orders. Pehli 100 stories shuru." (flashback: Day 1 photo vs today) · A: "Next month: SUNSCREEN ☀️ (tease frame)" · E: "GLOW DM — X seat bachi. Ya waitlist. (link: WhatsApp)"</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242</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30-DAY STORY CALENDAR (M = Morning · A = Afternoon · E = Evening)</a:t>
            </a:r>
          </a:p>
          <a:p>
            <a:r>
              <a:rPr sz="1200" i="1">
                <a:solidFill>
                  <a:srgbClr val="57504A"/>
                </a:solidFill>
                <a:latin typeface="Calibri"/>
              </a:rPr>
              <a:t>PART 14 — Instagram Stories (30-Day) + Profile Build</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Weekly story KPIs (check every Sunday):</a:t>
            </a:r>
            <a:r>
              <a:rPr sz="1350" b="0" i="0">
                <a:solidFill>
                  <a:srgbClr val="2A2622"/>
                </a:solidFill>
                <a:latin typeface="Calibri"/>
              </a:rPr>
              <a:t> story reply rate, DMs started via stories (target: 30–50/week), link sticker taps, poll participation. If story DMs &lt; 20/week → CTA frames too soft; strengthen.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243</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INSTAGRAM PROFILE (built Day 0, updated weekly)</a:t>
            </a:r>
          </a:p>
          <a:p>
            <a:r>
              <a:rPr sz="1200" i="1">
                <a:solidFill>
                  <a:srgbClr val="57504A"/>
                </a:solidFill>
                <a:latin typeface="Calibri"/>
              </a:rPr>
              <a:t>PART 14 — Instagram Stories (30-Day) + Profile Build</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Name field (this is a search field — put keywords in it)</a:t>
            </a:r>
          </a:p>
          <a:p>
            <a:pPr>
              <a:spcAft>
                <a:spcPts val="700"/>
              </a:spcAft>
            </a:pPr>
            <a:r>
              <a:rPr sz="1350" b="0" i="0">
                <a:solidFill>
                  <a:srgbClr val="2A2622"/>
                </a:solidFill>
                <a:latin typeface="Calibri"/>
              </a:rPr>
              <a:t>**</a:t>
            </a:r>
            <a:r>
              <a:rPr sz="1200" b="0" i="0">
                <a:solidFill>
                  <a:srgbClr val="8F3A22"/>
                </a:solidFill>
                <a:latin typeface="Consolas"/>
              </a:rPr>
              <a:t>RANGAT Naturals | Indian Skincare</a:t>
            </a:r>
            <a:r>
              <a:rPr sz="1350" b="0" i="0">
                <a:solidFill>
                  <a:srgbClr val="2A2622"/>
                </a:solidFill>
                <a:latin typeface="Calibri"/>
              </a:rPr>
              <a:t>** (Alternative once sunscreen launches: </a:t>
            </a:r>
            <a:r>
              <a:rPr sz="1200" b="0" i="0">
                <a:solidFill>
                  <a:srgbClr val="8F3A22"/>
                </a:solidFill>
                <a:latin typeface="Consolas"/>
              </a:rPr>
              <a:t>RANGAT Naturals | Serum &amp; SPF India</a:t>
            </a:r>
            <a:r>
              <a:rPr sz="1350" b="0" i="0">
                <a:solidFill>
                  <a:srgbClr val="2A2622"/>
                </a:solidFill>
                <a:latin typeface="Calibri"/>
              </a:rPr>
              <a:t>)</a:t>
            </a:r>
          </a:p>
          <a:p>
            <a:pPr>
              <a:spcBef>
                <a:spcPts val="600"/>
              </a:spcBef>
              <a:spcAft>
                <a:spcPts val="600"/>
              </a:spcAft>
            </a:pPr>
            <a:r>
              <a:rPr sz="1250" b="0" i="1">
                <a:solidFill>
                  <a:srgbClr val="57504A"/>
                </a:solidFill>
                <a:latin typeface="Calibri"/>
              </a:rPr>
              <a:t>“Why: Instagram search matches the name field first. "Indian Skincare" + brand = discoverable. Never put promo text here.”</a:t>
            </a:r>
          </a:p>
          <a:p>
            <a:pPr>
              <a:spcBef>
                <a:spcPts val="1000"/>
              </a:spcBef>
              <a:spcAft>
                <a:spcPts val="400"/>
              </a:spcAft>
            </a:pPr>
            <a:r>
              <a:rPr sz="1600" b="1" i="0">
                <a:solidFill>
                  <a:srgbClr val="8F3A22"/>
                </a:solidFill>
                <a:latin typeface="Calibri"/>
              </a:rPr>
              <a:t>Bio (4 lines — each does a job)</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244</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 name="Rectangle 4"/>
          <p:cNvSpPr/>
          <p:nvPr/>
        </p:nvSpPr>
        <p:spPr>
          <a:xfrm>
            <a:off x="320040" y="1261872"/>
            <a:ext cx="11551615" cy="5212080"/>
          </a:xfrm>
          <a:prstGeom prst="rect">
            <a:avLst/>
          </a:prstGeom>
          <a:solidFill>
            <a:srgbClr val="F1EDE4"/>
          </a:solidFill>
          <a:ln w="9525">
            <a:solidFill>
              <a:srgbClr val="D8C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INSTAGRAM PROFILE (built Day 0, updated weekly)</a:t>
            </a:r>
          </a:p>
          <a:p>
            <a:r>
              <a:rPr sz="1200" i="1">
                <a:solidFill>
                  <a:srgbClr val="57504A"/>
                </a:solidFill>
                <a:latin typeface="Calibri"/>
              </a:rPr>
              <a:t>PART 14 — Instagram Stories (30-Day) + Profile Build</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0"/>
            <a:ext cx="11460175" cy="4937760"/>
          </a:xfrm>
          <a:prstGeom prst="rect">
            <a:avLst/>
          </a:prstGeom>
          <a:noFill/>
        </p:spPr>
        <p:txBody>
          <a:bodyPr wrap="square">
            <a:spAutoFit/>
          </a:bodyPr>
          <a:lstStyle/>
          <a:p>
            <a:pPr>
              <a:spcAft>
                <a:spcPts val="100"/>
              </a:spcAft>
            </a:pPr>
            <a:r>
              <a:rPr sz="1150">
                <a:solidFill>
                  <a:srgbClr val="2A2622"/>
                </a:solidFill>
                <a:latin typeface="Consolas"/>
              </a:rPr>
              <a:t>🇮🇳 Indian skincare — Aamee skin, aamno liye</a:t>
            </a:r>
          </a:p>
          <a:p>
            <a:pPr>
              <a:spcAft>
                <a:spcPts val="100"/>
              </a:spcAft>
            </a:pPr>
            <a:r>
              <a:rPr sz="1150">
                <a:solidFill>
                  <a:srgbClr val="2A2622"/>
                </a:solidFill>
                <a:latin typeface="Consolas"/>
              </a:rPr>
              <a:t>✨ Vitamin C 10% · Face Wash · SPF — 4–6 hafte ka honest timeline</a:t>
            </a:r>
          </a:p>
          <a:p>
            <a:pPr>
              <a:spcAft>
                <a:spcPts val="100"/>
              </a:spcAft>
            </a:pPr>
            <a:r>
              <a:rPr sz="1150">
                <a:solidFill>
                  <a:srgbClr val="2A2622"/>
                </a:solidFill>
                <a:latin typeface="Consolas"/>
              </a:rPr>
              <a:t>📦 COD · Free shipping (launch) · WhatsApp par support</a:t>
            </a:r>
          </a:p>
          <a:p>
            <a:pPr>
              <a:spcAft>
                <a:spcPts val="100"/>
              </a:spcAft>
            </a:pPr>
            <a:r>
              <a:rPr sz="1150">
                <a:solidFill>
                  <a:srgbClr val="2A2622"/>
                </a:solidFill>
                <a:latin typeface="Consolas"/>
              </a:rPr>
              <a:t>⬇️ DM "GLOW" ya WhatsApp par order karo</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245</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INSTAGRAM PROFILE (built Day 0, updated weekly)</a:t>
            </a:r>
          </a:p>
          <a:p>
            <a:r>
              <a:rPr sz="1200" i="1">
                <a:solidFill>
                  <a:srgbClr val="57504A"/>
                </a:solidFill>
                <a:latin typeface="Calibri"/>
              </a:rPr>
              <a:t>PART 14 — Instagram Stories (30-Day) + Profile Build</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Keyword load in bio:</a:t>
            </a:r>
            <a:r>
              <a:rPr sz="1350" b="0" i="0">
                <a:solidFill>
                  <a:srgbClr val="2A2622"/>
                </a:solidFill>
                <a:latin typeface="Calibri"/>
              </a:rPr>
              <a:t> Indian skincare, Vitamin C, Face Wash, SPF, COD, WhatsApp — all real search/decision words.</a:t>
            </a:r>
          </a:p>
          <a:p>
            <a:pPr>
              <a:spcBef>
                <a:spcPts val="1000"/>
              </a:spcBef>
              <a:spcAft>
                <a:spcPts val="400"/>
              </a:spcAft>
            </a:pPr>
            <a:r>
              <a:rPr sz="1600" b="1" i="0">
                <a:solidFill>
                  <a:srgbClr val="8F3A22"/>
                </a:solidFill>
                <a:latin typeface="Calibri"/>
              </a:rPr>
              <a:t>Bio link</a:t>
            </a:r>
          </a:p>
          <a:p>
            <a:pPr>
              <a:spcAft>
                <a:spcPts val="700"/>
              </a:spcAft>
            </a:pPr>
            <a:r>
              <a:rPr sz="1350" b="0" i="0">
                <a:solidFill>
                  <a:srgbClr val="2A2622"/>
                </a:solidFill>
                <a:latin typeface="Calibri"/>
              </a:rPr>
              <a:t>Linktree/Stan Store with 3 max items: </a:t>
            </a:r>
            <a:r>
              <a:rPr sz="1350" b="1" i="0">
                <a:solidFill>
                  <a:srgbClr val="2A2622"/>
                </a:solidFill>
                <a:latin typeface="Calibri"/>
              </a:rPr>
              <a:t>① WhatsApp order (click-to-chat) ② Website (if live) ③ Waitlist/offer page.</a:t>
            </a:r>
            <a:r>
              <a:rPr sz="1350" b="0" i="0">
                <a:solidFill>
                  <a:srgbClr val="2A2622"/>
                </a:solidFill>
                <a:latin typeface="Calibri"/>
              </a:rPr>
              <a:t> Never 8 links — 3, ordered by conversion.</a:t>
            </a:r>
          </a:p>
          <a:p>
            <a:pPr>
              <a:spcBef>
                <a:spcPts val="1000"/>
              </a:spcBef>
              <a:spcAft>
                <a:spcPts val="400"/>
              </a:spcAft>
            </a:pPr>
            <a:r>
              <a:rPr sz="1600" b="1" i="0">
                <a:solidFill>
                  <a:srgbClr val="8F3A22"/>
                </a:solidFill>
                <a:latin typeface="Calibri"/>
              </a:rPr>
              <a:t>Avatar</a:t>
            </a:r>
          </a:p>
          <a:p>
            <a:pPr>
              <a:spcAft>
                <a:spcPts val="700"/>
              </a:spcAft>
            </a:pPr>
            <a:r>
              <a:rPr sz="1350" b="0" i="0">
                <a:solidFill>
                  <a:srgbClr val="2A2622"/>
                </a:solidFill>
                <a:latin typeface="Calibri"/>
              </a:rPr>
              <a:t>Founder's face (warm, real, no heavy filters) — a face converts a zero brand better than a logo. (Logo goes on the product/pinned posts; avatar = the human.)</a:t>
            </a:r>
          </a:p>
          <a:p>
            <a:pPr>
              <a:spcBef>
                <a:spcPts val="1000"/>
              </a:spcBef>
              <a:spcAft>
                <a:spcPts val="400"/>
              </a:spcAft>
            </a:pPr>
            <a:r>
              <a:rPr sz="1600" b="1" i="0">
                <a:solidFill>
                  <a:srgbClr val="8F3A22"/>
                </a:solidFill>
                <a:latin typeface="Calibri"/>
              </a:rPr>
              <a:t>6 Highlights (cover style: cream background, terracotta icon, one word each)</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246</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INSTAGRAM PROFILE (built Day 0, updated weekly)</a:t>
            </a:r>
          </a:p>
          <a:p>
            <a:r>
              <a:rPr sz="1200" i="1">
                <a:solidFill>
                  <a:srgbClr val="57504A"/>
                </a:solidFill>
                <a:latin typeface="Calibri"/>
              </a:rPr>
              <a:t>PART 14 — Instagram Stories (30-Day) + Profile Build</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3" cy="5029200"/>
        </p:xfrm>
        <a:graphic>
          <a:graphicData uri="http://schemas.openxmlformats.org/drawingml/2006/table">
            <a:tbl>
              <a:tblPr firstRow="1" bandRow="1">
                <a:tableStyleId>{5C22544A-7EE6-4342-B048-85BDC9FD1C3A}</a:tableStyleId>
              </a:tblPr>
              <a:tblGrid>
                <a:gridCol w="1283512"/>
                <a:gridCol w="7701076"/>
                <a:gridCol w="2567025"/>
              </a:tblGrid>
              <a:tr h="718457">
                <a:tc>
                  <a:txBody>
                    <a:bodyPr wrap="square"/>
                    <a:lstStyle/>
                    <a:p>
                      <a:r>
                        <a:rPr sz="1200" b="1" i="0">
                          <a:solidFill>
                            <a:srgbClr val="FFFFFF"/>
                          </a:solidFill>
                          <a:latin typeface="Calibri"/>
                        </a:rPr>
                        <a:t>Highlight</a:t>
                      </a:r>
                    </a:p>
                  </a:txBody>
                  <a:tcPr marL="45720" marR="45720" marT="18288" marB="18288" anchor="t">
                    <a:solidFill>
                      <a:srgbClr val="B44A2E"/>
                    </a:solidFill>
                  </a:tcPr>
                </a:tc>
                <a:tc>
                  <a:txBody>
                    <a:bodyPr wrap="square"/>
                    <a:lstStyle/>
                    <a:p>
                      <a:r>
                        <a:rPr sz="1200" b="1" i="0">
                          <a:solidFill>
                            <a:srgbClr val="FFFFFF"/>
                          </a:solidFill>
                          <a:latin typeface="Calibri"/>
                        </a:rPr>
                        <a:t>Contents</a:t>
                      </a:r>
                    </a:p>
                  </a:txBody>
                  <a:tcPr marL="45720" marR="45720" marT="18288" marB="18288" anchor="t">
                    <a:solidFill>
                      <a:srgbClr val="B44A2E"/>
                    </a:solidFill>
                  </a:tcPr>
                </a:tc>
                <a:tc>
                  <a:txBody>
                    <a:bodyPr wrap="square"/>
                    <a:lstStyle/>
                    <a:p>
                      <a:r>
                        <a:rPr sz="1200" b="1" i="0">
                          <a:solidFill>
                            <a:srgbClr val="FFFFFF"/>
                          </a:solidFill>
                          <a:latin typeface="Calibri"/>
                        </a:rPr>
                        <a:t>Update cadence</a:t>
                      </a:r>
                    </a:p>
                  </a:txBody>
                  <a:tcPr marL="45720" marR="45720" marT="18288" marB="18288" anchor="t">
                    <a:solidFill>
                      <a:srgbClr val="B44A2E"/>
                    </a:solidFill>
                  </a:tcPr>
                </a:tc>
              </a:tr>
              <a:tr h="718457">
                <a:tc>
                  <a:txBody>
                    <a:bodyPr wrap="square"/>
                    <a:lstStyle/>
                    <a:p>
                      <a:r>
                        <a:rPr sz="1200" b="1" i="0">
                          <a:solidFill>
                            <a:srgbClr val="2A2622"/>
                          </a:solidFill>
                          <a:latin typeface="Calibri"/>
                        </a:rPr>
                        <a:t>RESULTS</a:t>
                      </a:r>
                    </a:p>
                  </a:txBody>
                  <a:tcPr marL="45720" marR="45720" marT="18288" marB="18288" anchor="t">
                    <a:solidFill>
                      <a:srgbClr val="FFFFFF"/>
                    </a:solidFill>
                  </a:tcPr>
                </a:tc>
                <a:tc>
                  <a:txBody>
                    <a:bodyPr wrap="square"/>
                    <a:lstStyle/>
                    <a:p>
                      <a:r>
                        <a:rPr sz="1200" b="0" i="0">
                          <a:solidFill>
                            <a:srgbClr val="2A2622"/>
                          </a:solidFill>
                          <a:latin typeface="Calibri"/>
                        </a:rPr>
                        <a:t>Day-1→28 tester photos (disclosed), review clips, "1 mahine ki journey"</a:t>
                      </a:r>
                    </a:p>
                  </a:txBody>
                  <a:tcPr marL="45720" marR="45720" marT="18288" marB="18288" anchor="t">
                    <a:solidFill>
                      <a:srgbClr val="FFFFFF"/>
                    </a:solidFill>
                  </a:tcPr>
                </a:tc>
                <a:tc>
                  <a:txBody>
                    <a:bodyPr wrap="square"/>
                    <a:lstStyle/>
                    <a:p>
                      <a:r>
                        <a:rPr sz="1200" b="0" i="0">
                          <a:solidFill>
                            <a:srgbClr val="2A2622"/>
                          </a:solidFill>
                          <a:latin typeface="Calibri"/>
                        </a:rPr>
                        <a:t>Every new result</a:t>
                      </a:r>
                    </a:p>
                  </a:txBody>
                  <a:tcPr marL="45720" marR="45720" marT="18288" marB="18288" anchor="t">
                    <a:solidFill>
                      <a:srgbClr val="FFFFFF"/>
                    </a:solidFill>
                  </a:tcPr>
                </a:tc>
              </a:tr>
              <a:tr h="718457">
                <a:tc>
                  <a:txBody>
                    <a:bodyPr wrap="square"/>
                    <a:lstStyle/>
                    <a:p>
                      <a:r>
                        <a:rPr sz="1200" b="1" i="0">
                          <a:solidFill>
                            <a:srgbClr val="2A2622"/>
                          </a:solidFill>
                          <a:latin typeface="Calibri"/>
                        </a:rPr>
                        <a:t>HOW TO USE</a:t>
                      </a:r>
                    </a:p>
                  </a:txBody>
                  <a:tcPr marL="45720" marR="45720" marT="18288" marB="18288" anchor="t">
                    <a:solidFill>
                      <a:srgbClr val="F6F1E7"/>
                    </a:solidFill>
                  </a:tcPr>
                </a:tc>
                <a:tc>
                  <a:txBody>
                    <a:bodyPr wrap="square"/>
                    <a:lstStyle/>
                    <a:p>
                      <a:r>
                        <a:rPr sz="1200" b="0" i="0">
                          <a:solidFill>
                            <a:srgbClr val="2A2622"/>
                          </a:solidFill>
                          <a:latin typeface="Calibri"/>
                        </a:rPr>
                        <a:t>5-step VC how-to, 60-sec routine, layering order</a:t>
                      </a:r>
                    </a:p>
                  </a:txBody>
                  <a:tcPr marL="45720" marR="45720" marT="18288" marB="18288" anchor="t">
                    <a:solidFill>
                      <a:srgbClr val="F6F1E7"/>
                    </a:solidFill>
                  </a:tcPr>
                </a:tc>
                <a:tc>
                  <a:txBody>
                    <a:bodyPr wrap="square"/>
                    <a:lstStyle/>
                    <a:p>
                      <a:r>
                        <a:rPr sz="1200" b="0" i="0">
                          <a:solidFill>
                            <a:srgbClr val="2A2622"/>
                          </a:solidFill>
                          <a:latin typeface="Calibri"/>
                        </a:rPr>
                        <a:t>Permanent + 1/season</a:t>
                      </a:r>
                    </a:p>
                  </a:txBody>
                  <a:tcPr marL="45720" marR="45720" marT="18288" marB="18288" anchor="t">
                    <a:solidFill>
                      <a:srgbClr val="F6F1E7"/>
                    </a:solidFill>
                  </a:tcPr>
                </a:tc>
              </a:tr>
              <a:tr h="718457">
                <a:tc>
                  <a:txBody>
                    <a:bodyPr wrap="square"/>
                    <a:lstStyle/>
                    <a:p>
                      <a:r>
                        <a:rPr sz="1200" b="1" i="0">
                          <a:solidFill>
                            <a:srgbClr val="2A2622"/>
                          </a:solidFill>
                          <a:latin typeface="Calibri"/>
                        </a:rPr>
                        <a:t>REVIEW</a:t>
                      </a:r>
                    </a:p>
                  </a:txBody>
                  <a:tcPr marL="45720" marR="45720" marT="18288" marB="18288" anchor="t">
                    <a:solidFill>
                      <a:srgbClr val="FFFFFF"/>
                    </a:solidFill>
                  </a:tcPr>
                </a:tc>
                <a:tc>
                  <a:txBody>
                    <a:bodyPr wrap="square"/>
                    <a:lstStyle/>
                    <a:p>
                      <a:r>
                        <a:rPr sz="1200" b="0" i="0">
                          <a:solidFill>
                            <a:srgbClr val="2A2622"/>
                          </a:solidFill>
                          <a:latin typeface="Calibri"/>
                        </a:rPr>
                        <a:t>Customer videos, quote cards, unboxings</a:t>
                      </a:r>
                    </a:p>
                  </a:txBody>
                  <a:tcPr marL="45720" marR="45720" marT="18288" marB="18288" anchor="t">
                    <a:solidFill>
                      <a:srgbClr val="FFFFFF"/>
                    </a:solidFill>
                  </a:tcPr>
                </a:tc>
                <a:tc>
                  <a:txBody>
                    <a:bodyPr wrap="square"/>
                    <a:lstStyle/>
                    <a:p>
                      <a:r>
                        <a:rPr sz="1200" b="0" i="0">
                          <a:solidFill>
                            <a:srgbClr val="2A2622"/>
                          </a:solidFill>
                          <a:latin typeface="Calibri"/>
                        </a:rPr>
                        <a:t>Weekly</a:t>
                      </a:r>
                    </a:p>
                  </a:txBody>
                  <a:tcPr marL="45720" marR="45720" marT="18288" marB="18288" anchor="t">
                    <a:solidFill>
                      <a:srgbClr val="FFFFFF"/>
                    </a:solidFill>
                  </a:tcPr>
                </a:tc>
              </a:tr>
              <a:tr h="718457">
                <a:tc>
                  <a:txBody>
                    <a:bodyPr wrap="square"/>
                    <a:lstStyle/>
                    <a:p>
                      <a:r>
                        <a:rPr sz="1200" b="1" i="0">
                          <a:solidFill>
                            <a:srgbClr val="2A2622"/>
                          </a:solidFill>
                          <a:latin typeface="Calibri"/>
                        </a:rPr>
                        <a:t>FOUNDER</a:t>
                      </a:r>
                    </a:p>
                  </a:txBody>
                  <a:tcPr marL="45720" marR="45720" marT="18288" marB="18288" anchor="t">
                    <a:solidFill>
                      <a:srgbClr val="F6F1E7"/>
                    </a:solidFill>
                  </a:tcPr>
                </a:tc>
                <a:tc>
                  <a:txBody>
                    <a:bodyPr wrap="square"/>
                    <a:lstStyle/>
                    <a:p>
                      <a:r>
                        <a:rPr sz="1200" b="0" i="0">
                          <a:solidFill>
                            <a:srgbClr val="2A2622"/>
                          </a:solidFill>
                          <a:latin typeface="Calibri"/>
                        </a:rPr>
                        <a:t>Who we are, why Gujarat first, 20-tester story, factory visit</a:t>
                      </a:r>
                    </a:p>
                  </a:txBody>
                  <a:tcPr marL="45720" marR="45720" marT="18288" marB="18288" anchor="t">
                    <a:solidFill>
                      <a:srgbClr val="F6F1E7"/>
                    </a:solidFill>
                  </a:tcPr>
                </a:tc>
                <a:tc>
                  <a:txBody>
                    <a:bodyPr wrap="square"/>
                    <a:lstStyle/>
                    <a:p>
                      <a:r>
                        <a:rPr sz="1200" b="0" i="0">
                          <a:solidFill>
                            <a:srgbClr val="2A2622"/>
                          </a:solidFill>
                          <a:latin typeface="Calibri"/>
                        </a:rPr>
                        <a:t>1/month</a:t>
                      </a:r>
                    </a:p>
                  </a:txBody>
                  <a:tcPr marL="45720" marR="45720" marT="18288" marB="18288" anchor="t">
                    <a:solidFill>
                      <a:srgbClr val="F6F1E7"/>
                    </a:solidFill>
                  </a:tcPr>
                </a:tc>
              </a:tr>
              <a:tr h="718457">
                <a:tc>
                  <a:txBody>
                    <a:bodyPr wrap="square"/>
                    <a:lstStyle/>
                    <a:p>
                      <a:r>
                        <a:rPr sz="1200" b="1" i="0">
                          <a:solidFill>
                            <a:srgbClr val="2A2622"/>
                          </a:solidFill>
                          <a:latin typeface="Calibri"/>
                        </a:rPr>
                        <a:t>INSIDE</a:t>
                      </a:r>
                    </a:p>
                  </a:txBody>
                  <a:tcPr marL="45720" marR="45720" marT="18288" marB="18288" anchor="t">
                    <a:solidFill>
                      <a:srgbClr val="FFFFFF"/>
                    </a:solidFill>
                  </a:tcPr>
                </a:tc>
                <a:tc>
                  <a:txBody>
                    <a:bodyPr wrap="square"/>
                    <a:lstStyle/>
                    <a:p>
                      <a:r>
                        <a:rPr sz="1200" b="0" i="0">
                          <a:solidFill>
                            <a:srgbClr val="2A2622"/>
                          </a:solidFill>
                          <a:latin typeface="Calibri"/>
                        </a:rPr>
                        <a:t>Ingredients explained, batch card, "hum manufacturer nahi hain" explainer, packaging</a:t>
                      </a:r>
                    </a:p>
                  </a:txBody>
                  <a:tcPr marL="45720" marR="45720" marT="18288" marB="18288" anchor="t">
                    <a:solidFill>
                      <a:srgbClr val="FFFFFF"/>
                    </a:solidFill>
                  </a:tcPr>
                </a:tc>
                <a:tc>
                  <a:txBody>
                    <a:bodyPr wrap="square"/>
                    <a:lstStyle/>
                    <a:p>
                      <a:r>
                        <a:rPr sz="1200" b="0" i="0">
                          <a:solidFill>
                            <a:srgbClr val="2A2622"/>
                          </a:solidFill>
                          <a:latin typeface="Calibri"/>
                        </a:rPr>
                        <a:t>1/month</a:t>
                      </a:r>
                    </a:p>
                  </a:txBody>
                  <a:tcPr marL="45720" marR="45720" marT="18288" marB="18288" anchor="t">
                    <a:solidFill>
                      <a:srgbClr val="FFFFFF"/>
                    </a:solidFill>
                  </a:tcPr>
                </a:tc>
              </a:tr>
              <a:tr h="718458">
                <a:tc>
                  <a:txBody>
                    <a:bodyPr wrap="square"/>
                    <a:lstStyle/>
                    <a:p>
                      <a:r>
                        <a:rPr sz="1200" b="1" i="0">
                          <a:solidFill>
                            <a:srgbClr val="2A2622"/>
                          </a:solidFill>
                          <a:latin typeface="Calibri"/>
                        </a:rPr>
                        <a:t>OFFER</a:t>
                      </a:r>
                    </a:p>
                  </a:txBody>
                  <a:tcPr marL="45720" marR="45720" marT="18288" marB="18288" anchor="t">
                    <a:solidFill>
                      <a:srgbClr val="F6F1E7"/>
                    </a:solidFill>
                  </a:tcPr>
                </a:tc>
                <a:tc>
                  <a:txBody>
                    <a:bodyPr wrap="square"/>
                    <a:lstStyle/>
                    <a:p>
                      <a:r>
                        <a:rPr sz="1200" b="0" i="0">
                          <a:solidFill>
                            <a:srgbClr val="2A2622"/>
                          </a:solidFill>
                          <a:latin typeface="Calibri"/>
                        </a:rPr>
                        <a:t>Current offer (Founding 100 → then current), COD explainer, referral</a:t>
                      </a:r>
                    </a:p>
                  </a:txBody>
                  <a:tcPr marL="45720" marR="45720" marT="18288" marB="18288" anchor="t">
                    <a:solidFill>
                      <a:srgbClr val="F6F1E7"/>
                    </a:solidFill>
                  </a:tcPr>
                </a:tc>
                <a:tc>
                  <a:txBody>
                    <a:bodyPr wrap="square"/>
                    <a:lstStyle/>
                    <a:p>
                      <a:r>
                        <a:rPr sz="1200" b="0" i="0">
                          <a:solidFill>
                            <a:srgbClr val="2A2622"/>
                          </a:solidFill>
                          <a:latin typeface="Calibri"/>
                        </a:rPr>
                        <a:t>Every offer change</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247</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INSTAGRAM PROFILE (built Day 0, updated weekly)</a:t>
            </a:r>
          </a:p>
          <a:p>
            <a:r>
              <a:rPr sz="1200" i="1">
                <a:solidFill>
                  <a:srgbClr val="57504A"/>
                </a:solidFill>
                <a:latin typeface="Calibri"/>
              </a:rPr>
              <a:t>PART 14 — Instagram Stories (30-Day) + Profile Build</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3 Pinned posts (top of grid — the "3-second test" pass)</a:t>
            </a:r>
          </a:p>
          <a:p>
            <a:pPr>
              <a:spcAft>
                <a:spcPts val="400"/>
              </a:spcAft>
            </a:pPr>
            <a:r>
              <a:rPr sz="1350" b="1">
                <a:solidFill>
                  <a:srgbClr val="8F3A22"/>
                </a:solidFill>
                <a:latin typeface="Calibri"/>
              </a:rPr>
              <a:t>1.  </a:t>
            </a:r>
            <a:r>
              <a:rPr sz="1350" b="1" i="0">
                <a:solidFill>
                  <a:srgbClr val="2A2622"/>
                </a:solidFill>
                <a:latin typeface="Calibri"/>
              </a:rPr>
              <a:t>Pin 1 — Hero product + offer:</a:t>
            </a:r>
            <a:r>
              <a:rPr sz="1350" b="0" i="0">
                <a:solidFill>
                  <a:srgbClr val="2A2622"/>
                </a:solidFill>
                <a:latin typeface="Calibri"/>
              </a:rPr>
              <a:t> "Mila karo: Vitamin C 10% + Founding 100" (Day 8/21 reel). </a:t>
            </a:r>
            <a:r>
              <a:rPr sz="1350" b="0" i="1">
                <a:solidFill>
                  <a:srgbClr val="2A2622"/>
                </a:solidFill>
                <a:latin typeface="Calibri"/>
              </a:rPr>
              <a:t>What to buy + how.</a:t>
            </a:r>
          </a:p>
          <a:p>
            <a:pPr>
              <a:spcAft>
                <a:spcPts val="400"/>
              </a:spcAft>
            </a:pPr>
            <a:r>
              <a:rPr sz="1350" b="1">
                <a:solidFill>
                  <a:srgbClr val="8F3A22"/>
                </a:solidFill>
                <a:latin typeface="Calibri"/>
              </a:rPr>
              <a:t>2.  </a:t>
            </a:r>
            <a:r>
              <a:rPr sz="1350" b="1" i="0">
                <a:solidFill>
                  <a:srgbClr val="2A2622"/>
                </a:solidFill>
                <a:latin typeface="Calibri"/>
              </a:rPr>
              <a:t>Pin 2 — Proof:</a:t>
            </a:r>
            <a:r>
              <a:rPr sz="1350" b="0" i="0">
                <a:solidFill>
                  <a:srgbClr val="2A2622"/>
                </a:solidFill>
                <a:latin typeface="Calibri"/>
              </a:rPr>
              <a:t> Day-28 before/after reel (Day 17) with disclosure. </a:t>
            </a:r>
            <a:r>
              <a:rPr sz="1350" b="0" i="1">
                <a:solidFill>
                  <a:srgbClr val="2A2622"/>
                </a:solidFill>
                <a:latin typeface="Calibri"/>
              </a:rPr>
              <a:t>Why trust us.</a:t>
            </a:r>
          </a:p>
          <a:p>
            <a:pPr>
              <a:spcAft>
                <a:spcPts val="400"/>
              </a:spcAft>
            </a:pPr>
            <a:r>
              <a:rPr sz="1350" b="1">
                <a:solidFill>
                  <a:srgbClr val="8F3A22"/>
                </a:solidFill>
                <a:latin typeface="Calibri"/>
              </a:rPr>
              <a:t>3.  </a:t>
            </a:r>
            <a:r>
              <a:rPr sz="1350" b="1" i="0">
                <a:solidFill>
                  <a:srgbClr val="2A2622"/>
                </a:solidFill>
                <a:latin typeface="Calibri"/>
              </a:rPr>
              <a:t>Pin 3 — Founder/identity:</a:t>
            </a:r>
            <a:r>
              <a:rPr sz="1350" b="0" i="0">
                <a:solidFill>
                  <a:srgbClr val="2A2622"/>
                </a:solidFill>
                <a:latin typeface="Calibri"/>
              </a:rPr>
              <a:t> "Gujarat se shuru, India ke liye" founder reel (Day 1 or 13). </a:t>
            </a:r>
            <a:r>
              <a:rPr sz="1350" b="0" i="1">
                <a:solidFill>
                  <a:srgbClr val="2A2622"/>
                </a:solidFill>
                <a:latin typeface="Calibri"/>
              </a:rPr>
              <a:t>Who we are.</a:t>
            </a:r>
          </a:p>
          <a:p>
            <a:pPr>
              <a:spcAft>
                <a:spcPts val="700"/>
              </a:spcAft>
            </a:pPr>
            <a:r>
              <a:rPr sz="1350" b="0" i="0">
                <a:solidFill>
                  <a:srgbClr val="2A2622"/>
                </a:solidFill>
                <a:latin typeface="Calibri"/>
              </a:rPr>
              <a:t>Re-pin review: every 2 weeks. Pin 2 rotates with newer proof; Pins 1/3 stable for 90 days.</a:t>
            </a:r>
          </a:p>
          <a:p>
            <a:pPr>
              <a:spcBef>
                <a:spcPts val="1000"/>
              </a:spcBef>
              <a:spcAft>
                <a:spcPts val="400"/>
              </a:spcAft>
            </a:pPr>
            <a:r>
              <a:rPr sz="1600" b="1" i="0">
                <a:solidFill>
                  <a:srgbClr val="8F3A22"/>
                </a:solidFill>
                <a:latin typeface="Calibri"/>
              </a:rPr>
              <a:t>Profile positioning checklist (3-second test)</a:t>
            </a:r>
          </a:p>
          <a:p>
            <a:pPr>
              <a:spcAft>
                <a:spcPts val="400"/>
              </a:spcAft>
            </a:pPr>
            <a:r>
              <a:rPr sz="1350">
                <a:solidFill>
                  <a:srgbClr val="B44A2E"/>
                </a:solidFill>
                <a:latin typeface="Calibri"/>
              </a:rPr>
              <a:t>☐ </a:t>
            </a:r>
            <a:r>
              <a:rPr sz="1350" b="0" i="0">
                <a:solidFill>
                  <a:srgbClr val="2A2622"/>
                </a:solidFill>
                <a:latin typeface="Calibri"/>
              </a:rPr>
              <a:t>Bio line 1 says "Indian skincare" (category + origin) ✓</a:t>
            </a:r>
          </a:p>
          <a:p>
            <a:pPr>
              <a:spcAft>
                <a:spcPts val="400"/>
              </a:spcAft>
            </a:pPr>
            <a:r>
              <a:rPr sz="1350">
                <a:solidFill>
                  <a:srgbClr val="B44A2E"/>
                </a:solidFill>
                <a:latin typeface="Calibri"/>
              </a:rPr>
              <a:t>☐ </a:t>
            </a:r>
            <a:r>
              <a:rPr sz="1350" b="0" i="0">
                <a:solidFill>
                  <a:srgbClr val="2A2622"/>
                </a:solidFill>
                <a:latin typeface="Calibri"/>
              </a:rPr>
              <a:t>Bio line 2 lists what we sell + honest timeline (no miracle) ✓</a:t>
            </a:r>
          </a:p>
          <a:p>
            <a:pPr>
              <a:spcAft>
                <a:spcPts val="400"/>
              </a:spcAft>
            </a:pPr>
            <a:r>
              <a:rPr sz="1350">
                <a:solidFill>
                  <a:srgbClr val="B44A2E"/>
                </a:solidFill>
                <a:latin typeface="Calibri"/>
              </a:rPr>
              <a:t>☐ </a:t>
            </a:r>
            <a:r>
              <a:rPr sz="1350" b="0" i="0">
                <a:solidFill>
                  <a:srgbClr val="2A2622"/>
                </a:solidFill>
                <a:latin typeface="Calibri"/>
              </a:rPr>
              <a:t>Bio line 3 kills the risk (COD + support) ✓</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248</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INSTAGRAM PROFILE (built Day 0, updated weekly)</a:t>
            </a:r>
          </a:p>
          <a:p>
            <a:r>
              <a:rPr sz="1200" i="1">
                <a:solidFill>
                  <a:srgbClr val="57504A"/>
                </a:solidFill>
                <a:latin typeface="Calibri"/>
              </a:rPr>
              <a:t>PART 14 — Instagram Stories (30-Day) + Profile Build</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Bio line 4 = one action (DM GLOW / WhatsApp) ✓</a:t>
            </a:r>
          </a:p>
          <a:p>
            <a:pPr>
              <a:spcAft>
                <a:spcPts val="400"/>
              </a:spcAft>
            </a:pPr>
            <a:r>
              <a:rPr sz="1350">
                <a:solidFill>
                  <a:srgbClr val="B44A2E"/>
                </a:solidFill>
                <a:latin typeface="Calibri"/>
              </a:rPr>
              <a:t>☐ </a:t>
            </a:r>
            <a:r>
              <a:rPr sz="1350" b="0" i="0">
                <a:solidFill>
                  <a:srgbClr val="2A2622"/>
                </a:solidFill>
                <a:latin typeface="Calibri"/>
              </a:rPr>
              <a:t>Avatar = founder's face ✓</a:t>
            </a:r>
          </a:p>
          <a:p>
            <a:pPr>
              <a:spcAft>
                <a:spcPts val="400"/>
              </a:spcAft>
            </a:pPr>
            <a:r>
              <a:rPr sz="1350">
                <a:solidFill>
                  <a:srgbClr val="B44A2E"/>
                </a:solidFill>
                <a:latin typeface="Calibri"/>
              </a:rPr>
              <a:t>☐ </a:t>
            </a:r>
            <a:r>
              <a:rPr sz="1350" b="0" i="0">
                <a:solidFill>
                  <a:srgbClr val="2A2622"/>
                </a:solidFill>
                <a:latin typeface="Calibri"/>
              </a:rPr>
              <a:t>3 pins = buy / trust / who ✓</a:t>
            </a:r>
          </a:p>
          <a:p>
            <a:pPr>
              <a:spcAft>
                <a:spcPts val="400"/>
              </a:spcAft>
            </a:pPr>
            <a:r>
              <a:rPr sz="1350">
                <a:solidFill>
                  <a:srgbClr val="B44A2E"/>
                </a:solidFill>
                <a:latin typeface="Calibri"/>
              </a:rPr>
              <a:t>☐ </a:t>
            </a:r>
            <a:r>
              <a:rPr sz="1350" b="0" i="0">
                <a:solidFill>
                  <a:srgbClr val="2A2622"/>
                </a:solidFill>
                <a:latin typeface="Calibri"/>
              </a:rPr>
              <a:t>Highlights = RESULTS first (the trust hook) ✓</a:t>
            </a:r>
          </a:p>
          <a:p>
            <a:pPr>
              <a:spcAft>
                <a:spcPts val="400"/>
              </a:spcAft>
            </a:pPr>
            <a:r>
              <a:rPr sz="1350">
                <a:solidFill>
                  <a:srgbClr val="B44A2E"/>
                </a:solidFill>
                <a:latin typeface="Calibri"/>
              </a:rPr>
              <a:t>☐ </a:t>
            </a:r>
            <a:r>
              <a:rPr sz="1350" b="0" i="0">
                <a:solidFill>
                  <a:srgbClr val="2A2622"/>
                </a:solidFill>
                <a:latin typeface="Calibri"/>
              </a:rPr>
              <a:t>Name field has "Indian Skincare" ✓</a:t>
            </a:r>
          </a:p>
          <a:p>
            <a:pPr>
              <a:spcBef>
                <a:spcPts val="1000"/>
              </a:spcBef>
              <a:spcAft>
                <a:spcPts val="400"/>
              </a:spcAft>
            </a:pPr>
            <a:r>
              <a:rPr sz="1600" b="1" i="0">
                <a:solidFill>
                  <a:srgbClr val="8F3A22"/>
                </a:solidFill>
                <a:latin typeface="Calibri"/>
              </a:rPr>
              <a:t>Follow-back &amp; reply SLAs (profile as a place people can talk)</a:t>
            </a:r>
          </a:p>
          <a:p>
            <a:pPr>
              <a:spcAft>
                <a:spcPts val="400"/>
              </a:spcAft>
            </a:pPr>
            <a:r>
              <a:rPr sz="1350">
                <a:solidFill>
                  <a:srgbClr val="B44A2E"/>
                </a:solidFill>
                <a:latin typeface="Calibri"/>
              </a:rPr>
              <a:t>•  </a:t>
            </a:r>
            <a:r>
              <a:rPr sz="1350" b="0" i="0">
                <a:solidFill>
                  <a:srgbClr val="2A2622"/>
                </a:solidFill>
                <a:latin typeface="Calibri"/>
              </a:rPr>
              <a:t>Reply all comments within 2 hours (launch week: 15 min).</a:t>
            </a:r>
          </a:p>
          <a:p>
            <a:pPr>
              <a:spcAft>
                <a:spcPts val="400"/>
              </a:spcAft>
            </a:pPr>
            <a:r>
              <a:rPr sz="1350">
                <a:solidFill>
                  <a:srgbClr val="B44A2E"/>
                </a:solidFill>
                <a:latin typeface="Calibri"/>
              </a:rPr>
              <a:t>•  </a:t>
            </a:r>
            <a:r>
              <a:rPr sz="1350" b="0" i="0">
                <a:solidFill>
                  <a:srgbClr val="2A2622"/>
                </a:solidFill>
                <a:latin typeface="Calibri"/>
              </a:rPr>
              <a:t>Reply all DMs within 15 min (7 AM–11 PM window; auto-reply outside: "Hum 7:00 AM se reply karte hain — GLOW likhiye, pehle number aapka hoga.")</a:t>
            </a:r>
          </a:p>
          <a:p>
            <a:pPr>
              <a:spcAft>
                <a:spcPts val="400"/>
              </a:spcAft>
            </a:pPr>
            <a:r>
              <a:rPr sz="1350">
                <a:solidFill>
                  <a:srgbClr val="B44A2E"/>
                </a:solidFill>
                <a:latin typeface="Calibri"/>
              </a:rPr>
              <a:t>•  </a:t>
            </a:r>
            <a:r>
              <a:rPr sz="1350" b="0" i="0">
                <a:solidFill>
                  <a:srgbClr val="2A2622"/>
                </a:solidFill>
                <a:latin typeface="Calibri"/>
              </a:rPr>
              <a:t>Auto-reply (WhatsApp + IG): "Namaste! 🙏 RANGAT NATURALS yahan. 'GLOW' likhiye product + price ke liye. COD hai. Koi sawaal? Hum insaan hain, bot nahi."</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249</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INSTAGRAM PROFILE (built Day 0, updated weekly)</a:t>
            </a:r>
          </a:p>
          <a:p>
            <a:r>
              <a:rPr sz="1200" i="1">
                <a:solidFill>
                  <a:srgbClr val="57504A"/>
                </a:solidFill>
                <a:latin typeface="Calibri"/>
              </a:rPr>
              <a:t>PART 14 — Instagram Stories (30-Day) + Profile Build</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The "insaan, bot nahi" line is a brand line — keep it.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15</a:t>
            </a:r>
          </a:p>
        </p:txBody>
      </p:sp>
      <p:sp>
        <p:nvSpPr>
          <p:cNvPr id="4" name="TextBox 3"/>
          <p:cNvSpPr txBox="1"/>
          <p:nvPr/>
        </p:nvSpPr>
        <p:spPr>
          <a:xfrm>
            <a:off x="914400" y="2377440"/>
            <a:ext cx="10362895" cy="1645920"/>
          </a:xfrm>
          <a:prstGeom prst="rect">
            <a:avLst/>
          </a:prstGeom>
          <a:noFill/>
        </p:spPr>
        <p:txBody>
          <a:bodyPr wrap="square">
            <a:spAutoFit/>
          </a:bodyPr>
          <a:lstStyle/>
          <a:p>
            <a:r>
              <a:rPr sz="3000" b="1">
                <a:solidFill>
                  <a:srgbClr val="8F3A22"/>
                </a:solidFill>
                <a:latin typeface="Calibri"/>
              </a:rPr>
              <a:t>§14 SOCIAL SEO + §15 HASHTAG FRAMEWORK — RANGAT NATURALS</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Social Media SEO + Hashtag Framework</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251</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Why social SEO is a sales channel, not a nice-to-have</a:t>
            </a:r>
          </a:p>
          <a:p>
            <a:r>
              <a:rPr sz="1200" i="1">
                <a:solidFill>
                  <a:srgbClr val="57504A"/>
                </a:solidFill>
                <a:latin typeface="Calibri"/>
              </a:rPr>
              <a:t>PART 15 — Social Media SEO + Hashtag Framework</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Instagram search and YouTube search are where "vitamin c serum price in india" and "skincare routine for oily skin" get answered </a:t>
            </a:r>
            <a:r>
              <a:rPr sz="1350" b="1" i="0">
                <a:solidFill>
                  <a:srgbClr val="2A2622"/>
                </a:solidFill>
                <a:latin typeface="Calibri"/>
              </a:rPr>
              <a:t>daily</a:t>
            </a:r>
            <a:r>
              <a:rPr sz="1350" b="0" i="0">
                <a:solidFill>
                  <a:srgbClr val="2A2622"/>
                </a:solidFill>
                <a:latin typeface="Calibri"/>
              </a:rPr>
              <a:t>. For a zero-budget brand, search content is the only reach that compounds for months (a Reel dies in 48 hours; a search-optimized Short lives). SEO is also how Meta Ads finds you: your on-page keywords improve relevance scoring for ad delivery.</a:t>
            </a:r>
          </a:p>
          <a:p>
            <a:pPr>
              <a:spcAft>
                <a:spcPts val="700"/>
              </a:spcAft>
            </a:pPr>
            <a:r>
              <a:rPr sz="1350" b="1" i="0">
                <a:solidFill>
                  <a:srgbClr val="2A2622"/>
                </a:solidFill>
                <a:latin typeface="Calibri"/>
              </a:rPr>
              <a:t>The 5 places keywords live (in ranking order):</a:t>
            </a:r>
          </a:p>
          <a:p>
            <a:pPr>
              <a:spcAft>
                <a:spcPts val="400"/>
              </a:spcAft>
            </a:pPr>
            <a:r>
              <a:rPr sz="1350" b="1">
                <a:solidFill>
                  <a:srgbClr val="8F3A22"/>
                </a:solidFill>
                <a:latin typeface="Calibri"/>
              </a:rPr>
              <a:t>1.  </a:t>
            </a:r>
            <a:r>
              <a:rPr sz="1350" b="1" i="0">
                <a:solidFill>
                  <a:srgbClr val="2A2622"/>
                </a:solidFill>
                <a:latin typeface="Calibri"/>
              </a:rPr>
              <a:t>Name field</a:t>
            </a:r>
            <a:r>
              <a:rPr sz="1350" b="0" i="0">
                <a:solidFill>
                  <a:srgbClr val="2A2622"/>
                </a:solidFill>
                <a:latin typeface="Calibri"/>
              </a:rPr>
              <a:t> (IG) — highest weight, 30 chars</a:t>
            </a:r>
          </a:p>
          <a:p>
            <a:pPr>
              <a:spcAft>
                <a:spcPts val="400"/>
              </a:spcAft>
            </a:pPr>
            <a:r>
              <a:rPr sz="1350" b="1">
                <a:solidFill>
                  <a:srgbClr val="8F3A22"/>
                </a:solidFill>
                <a:latin typeface="Calibri"/>
              </a:rPr>
              <a:t>2.  </a:t>
            </a:r>
            <a:r>
              <a:rPr sz="1350" b="1" i="0">
                <a:solidFill>
                  <a:srgbClr val="2A2622"/>
                </a:solidFill>
                <a:latin typeface="Calibri"/>
              </a:rPr>
              <a:t>On-screen text / hook text</a:t>
            </a:r>
            <a:r>
              <a:rPr sz="1350" b="0" i="0">
                <a:solidFill>
                  <a:srgbClr val="2A2622"/>
                </a:solidFill>
                <a:latin typeface="Calibri"/>
              </a:rPr>
              <a:t> (IG reads Reel text; YT reads title)</a:t>
            </a:r>
          </a:p>
          <a:p>
            <a:pPr>
              <a:spcAft>
                <a:spcPts val="400"/>
              </a:spcAft>
            </a:pPr>
            <a:r>
              <a:rPr sz="1350" b="1">
                <a:solidFill>
                  <a:srgbClr val="8F3A22"/>
                </a:solidFill>
                <a:latin typeface="Calibri"/>
              </a:rPr>
              <a:t>3.  </a:t>
            </a:r>
            <a:r>
              <a:rPr sz="1350" b="1" i="0">
                <a:solidFill>
                  <a:srgbClr val="2A2622"/>
                </a:solidFill>
                <a:latin typeface="Calibri"/>
              </a:rPr>
              <a:t>Caption first line</a:t>
            </a:r>
            <a:r>
              <a:rPr sz="1350" b="0" i="0">
                <a:solidFill>
                  <a:srgbClr val="2A2622"/>
                </a:solidFill>
                <a:latin typeface="Calibri"/>
              </a:rPr>
              <a:t> (first ~80 chars = search snippet)</a:t>
            </a:r>
          </a:p>
          <a:p>
            <a:pPr>
              <a:spcAft>
                <a:spcPts val="400"/>
              </a:spcAft>
            </a:pPr>
            <a:r>
              <a:rPr sz="1350" b="1">
                <a:solidFill>
                  <a:srgbClr val="8F3A22"/>
                </a:solidFill>
                <a:latin typeface="Calibri"/>
              </a:rPr>
              <a:t>4.  </a:t>
            </a:r>
            <a:r>
              <a:rPr sz="1350" b="1" i="0">
                <a:solidFill>
                  <a:srgbClr val="2A2622"/>
                </a:solidFill>
                <a:latin typeface="Calibri"/>
              </a:rPr>
              <a:t>Hashtags</a:t>
            </a:r>
            <a:r>
              <a:rPr sz="1350" b="0" i="0">
                <a:solidFill>
                  <a:srgbClr val="2A2622"/>
                </a:solidFill>
                <a:latin typeface="Calibri"/>
              </a:rPr>
              <a:t> (topic clustering — framework below)</a:t>
            </a:r>
          </a:p>
          <a:p>
            <a:pPr>
              <a:spcAft>
                <a:spcPts val="400"/>
              </a:spcAft>
            </a:pPr>
            <a:r>
              <a:rPr sz="1350" b="1">
                <a:solidFill>
                  <a:srgbClr val="8F3A22"/>
                </a:solidFill>
                <a:latin typeface="Calibri"/>
              </a:rPr>
              <a:t>5.  </a:t>
            </a:r>
            <a:r>
              <a:rPr sz="1350" b="1" i="0">
                <a:solidFill>
                  <a:srgbClr val="2A2622"/>
                </a:solidFill>
                <a:latin typeface="Calibri"/>
              </a:rPr>
              <a:t>YouTube title + description</a:t>
            </a:r>
            <a:r>
              <a:rPr sz="1350" b="0" i="0">
                <a:solidFill>
                  <a:srgbClr val="2A2622"/>
                </a:solidFill>
                <a:latin typeface="Calibri"/>
              </a:rPr>
              <a:t> (the big long-tail winner)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252</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KEYWORD BANK (organized by search intent)</a:t>
            </a:r>
          </a:p>
          <a:p>
            <a:r>
              <a:rPr sz="1200" i="1">
                <a:solidFill>
                  <a:srgbClr val="57504A"/>
                </a:solidFill>
                <a:latin typeface="Calibri"/>
              </a:rPr>
              <a:t>PART 15 — Social Media SEO + Hashtag Framework</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1. Product keywords (buy-intent — highest value, use in hero content)</a:t>
            </a:r>
          </a:p>
          <a:p>
            <a:pPr>
              <a:spcAft>
                <a:spcPts val="400"/>
              </a:spcAft>
            </a:pPr>
            <a:r>
              <a:rPr sz="1350">
                <a:solidFill>
                  <a:srgbClr val="B44A2E"/>
                </a:solidFill>
                <a:latin typeface="Calibri"/>
              </a:rPr>
              <a:t>•  </a:t>
            </a:r>
            <a:r>
              <a:rPr sz="1350" b="0" i="0">
                <a:solidFill>
                  <a:srgbClr val="2A2622"/>
                </a:solidFill>
                <a:latin typeface="Calibri"/>
              </a:rPr>
              <a:t>vitamin c serum india / vitamin c serum price in india / best vitamin c serum india</a:t>
            </a:r>
          </a:p>
          <a:p>
            <a:pPr>
              <a:spcAft>
                <a:spcPts val="400"/>
              </a:spcAft>
            </a:pPr>
            <a:r>
              <a:rPr sz="1350">
                <a:solidFill>
                  <a:srgbClr val="B44A2E"/>
                </a:solidFill>
                <a:latin typeface="Calibri"/>
              </a:rPr>
              <a:t>•  </a:t>
            </a:r>
            <a:r>
              <a:rPr sz="1350" b="0" i="0">
                <a:solidFill>
                  <a:srgbClr val="2A2622"/>
                </a:solidFill>
                <a:latin typeface="Calibri"/>
              </a:rPr>
              <a:t>vitamin c serum for oily skin / vitamin c serum for dark spots (search language — keep claim safe in copy)</a:t>
            </a:r>
          </a:p>
          <a:p>
            <a:pPr>
              <a:spcAft>
                <a:spcPts val="400"/>
              </a:spcAft>
            </a:pPr>
            <a:r>
              <a:rPr sz="1350">
                <a:solidFill>
                  <a:srgbClr val="B44A2E"/>
                </a:solidFill>
                <a:latin typeface="Calibri"/>
              </a:rPr>
              <a:t>•  </a:t>
            </a:r>
            <a:r>
              <a:rPr sz="1350" b="0" i="0">
                <a:solidFill>
                  <a:srgbClr val="2A2622"/>
                </a:solidFill>
                <a:latin typeface="Calibri"/>
              </a:rPr>
              <a:t>face wash for oily skin india / best face wash for men india / face wash for sensitive skin</a:t>
            </a:r>
          </a:p>
          <a:p>
            <a:pPr>
              <a:spcAft>
                <a:spcPts val="400"/>
              </a:spcAft>
            </a:pPr>
            <a:r>
              <a:rPr sz="1350">
                <a:solidFill>
                  <a:srgbClr val="B44A2E"/>
                </a:solidFill>
                <a:latin typeface="Calibri"/>
              </a:rPr>
              <a:t>•  </a:t>
            </a:r>
            <a:r>
              <a:rPr sz="1350" b="0" i="0">
                <a:solidFill>
                  <a:srgbClr val="2A2622"/>
                </a:solidFill>
                <a:latin typeface="Calibri"/>
              </a:rPr>
              <a:t>moisturizer for oily skin india / best moisturizer for dry skin india / gel moisturizer india</a:t>
            </a:r>
          </a:p>
          <a:p>
            <a:pPr>
              <a:spcAft>
                <a:spcPts val="400"/>
              </a:spcAft>
            </a:pPr>
            <a:r>
              <a:rPr sz="1350">
                <a:solidFill>
                  <a:srgbClr val="B44A2E"/>
                </a:solidFill>
                <a:latin typeface="Calibri"/>
              </a:rPr>
              <a:t>•  </a:t>
            </a:r>
            <a:r>
              <a:rPr sz="1350" b="0" i="0">
                <a:solidFill>
                  <a:srgbClr val="2A2622"/>
                </a:solidFill>
                <a:latin typeface="Calibri"/>
              </a:rPr>
              <a:t>sunscreen for oily skin india / best sunscreen india / sunscreen spf 50 india / no white cast sunscreen</a:t>
            </a:r>
          </a:p>
          <a:p>
            <a:pPr>
              <a:spcAft>
                <a:spcPts val="400"/>
              </a:spcAft>
            </a:pPr>
            <a:r>
              <a:rPr sz="1350">
                <a:solidFill>
                  <a:srgbClr val="B44A2E"/>
                </a:solidFill>
                <a:latin typeface="Calibri"/>
              </a:rPr>
              <a:t>•  </a:t>
            </a:r>
            <a:r>
              <a:rPr sz="1350" b="0" i="0">
                <a:solidFill>
                  <a:srgbClr val="2A2622"/>
                </a:solidFill>
                <a:latin typeface="Calibri"/>
              </a:rPr>
              <a:t>night cream for glow / night cream india / face cream for dry skin india</a:t>
            </a:r>
          </a:p>
          <a:p>
            <a:pPr>
              <a:spcAft>
                <a:spcPts val="400"/>
              </a:spcAft>
            </a:pPr>
            <a:r>
              <a:rPr sz="1350">
                <a:solidFill>
                  <a:srgbClr val="B44A2E"/>
                </a:solidFill>
                <a:latin typeface="Calibri"/>
              </a:rPr>
              <a:t>•  </a:t>
            </a:r>
            <a:r>
              <a:rPr sz="1350" b="0" i="0">
                <a:solidFill>
                  <a:srgbClr val="2A2622"/>
                </a:solidFill>
                <a:latin typeface="Calibri"/>
              </a:rPr>
              <a:t>lip balm india / lip oil india / body lotion india / hair oil for hair fall (careful claims)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253</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KEYWORD BANK (organized by search intent)</a:t>
            </a:r>
          </a:p>
          <a:p>
            <a:r>
              <a:rPr sz="1200" i="1">
                <a:solidFill>
                  <a:srgbClr val="57504A"/>
                </a:solidFill>
                <a:latin typeface="Calibri"/>
              </a:rPr>
              <a:t>PART 15 — Social Media SEO + Hashtag Framework</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2. Problem keywords (high volume, top-funnel)</a:t>
            </a:r>
          </a:p>
          <a:p>
            <a:pPr>
              <a:spcAft>
                <a:spcPts val="400"/>
              </a:spcAft>
            </a:pPr>
            <a:r>
              <a:rPr sz="1350">
                <a:solidFill>
                  <a:srgbClr val="B44A2E"/>
                </a:solidFill>
                <a:latin typeface="Calibri"/>
              </a:rPr>
              <a:t>•  </a:t>
            </a:r>
            <a:r>
              <a:rPr sz="1350" b="0" i="0">
                <a:solidFill>
                  <a:srgbClr val="2A2622"/>
                </a:solidFill>
                <a:latin typeface="Calibri"/>
              </a:rPr>
              <a:t>skincare for oily skin / skincare for dry skin / skincare for combination skin</a:t>
            </a:r>
          </a:p>
          <a:p>
            <a:pPr>
              <a:spcAft>
                <a:spcPts val="400"/>
              </a:spcAft>
            </a:pPr>
            <a:r>
              <a:rPr sz="1350">
                <a:solidFill>
                  <a:srgbClr val="B44A2E"/>
                </a:solidFill>
                <a:latin typeface="Calibri"/>
              </a:rPr>
              <a:t>•  </a:t>
            </a:r>
            <a:r>
              <a:rPr sz="1350" b="0" i="0">
                <a:solidFill>
                  <a:srgbClr val="2A2622"/>
                </a:solidFill>
                <a:latin typeface="Calibri"/>
              </a:rPr>
              <a:t>tan removal skincare india (search phrase — copy stays "reduces the look of tan"… wait — safe: "tan-look fresh dikhane ke tips")</a:t>
            </a:r>
          </a:p>
          <a:p>
            <a:pPr>
              <a:spcAft>
                <a:spcPts val="400"/>
              </a:spcAft>
            </a:pPr>
            <a:r>
              <a:rPr sz="1350">
                <a:solidFill>
                  <a:srgbClr val="B44A2E"/>
                </a:solidFill>
                <a:latin typeface="Calibri"/>
              </a:rPr>
              <a:t>•  </a:t>
            </a:r>
            <a:r>
              <a:rPr sz="1350" b="0" i="0">
                <a:solidFill>
                  <a:srgbClr val="2A2622"/>
                </a:solidFill>
                <a:latin typeface="Calibri"/>
              </a:rPr>
              <a:t>dark spots on face how to remove (safe: "dark spots ka dikhna kam karne ke tips")</a:t>
            </a:r>
          </a:p>
          <a:p>
            <a:pPr>
              <a:spcAft>
                <a:spcPts val="400"/>
              </a:spcAft>
            </a:pPr>
            <a:r>
              <a:rPr sz="1350">
                <a:solidFill>
                  <a:srgbClr val="B44A2E"/>
                </a:solidFill>
                <a:latin typeface="Calibri"/>
              </a:rPr>
              <a:t>•  </a:t>
            </a:r>
            <a:r>
              <a:rPr sz="1350" b="0" i="0">
                <a:solidFill>
                  <a:srgbClr val="2A2622"/>
                </a:solidFill>
                <a:latin typeface="Calibri"/>
              </a:rPr>
              <a:t>dull skin remedy / dull skin routine / glowing skin routine india</a:t>
            </a:r>
          </a:p>
          <a:p>
            <a:pPr>
              <a:spcAft>
                <a:spcPts val="400"/>
              </a:spcAft>
            </a:pPr>
            <a:r>
              <a:rPr sz="1350">
                <a:solidFill>
                  <a:srgbClr val="B44A2E"/>
                </a:solidFill>
                <a:latin typeface="Calibri"/>
              </a:rPr>
              <a:t>•  </a:t>
            </a:r>
            <a:r>
              <a:rPr sz="1350" b="0" i="0">
                <a:solidFill>
                  <a:srgbClr val="2A2622"/>
                </a:solidFill>
                <a:latin typeface="Calibri"/>
              </a:rPr>
              <a:t>acne prone skin care routine india (safe: "acne-prone skin ke liye gentle routine")</a:t>
            </a:r>
          </a:p>
          <a:p>
            <a:pPr>
              <a:spcAft>
                <a:spcPts val="400"/>
              </a:spcAft>
            </a:pPr>
            <a:r>
              <a:rPr sz="1350">
                <a:solidFill>
                  <a:srgbClr val="B44A2E"/>
                </a:solidFill>
                <a:latin typeface="Calibri"/>
              </a:rPr>
              <a:t>•  </a:t>
            </a:r>
            <a:r>
              <a:rPr sz="1350" b="0" i="0">
                <a:solidFill>
                  <a:srgbClr val="2A2622"/>
                </a:solidFill>
                <a:latin typeface="Calibri"/>
              </a:rPr>
              <a:t>monsoon skincare tips / summer skincare routine india / winter dry skin routine</a:t>
            </a:r>
          </a:p>
          <a:p>
            <a:pPr>
              <a:spcAft>
                <a:spcPts val="400"/>
              </a:spcAft>
            </a:pPr>
            <a:r>
              <a:rPr sz="1350">
                <a:solidFill>
                  <a:srgbClr val="B44A2E"/>
                </a:solidFill>
                <a:latin typeface="Calibri"/>
              </a:rPr>
              <a:t>•  </a:t>
            </a:r>
            <a:r>
              <a:rPr sz="1350" b="0" i="0">
                <a:solidFill>
                  <a:srgbClr val="2A2622"/>
                </a:solidFill>
                <a:latin typeface="Calibri"/>
              </a:rPr>
              <a:t>hard water face problem / water spots on face (Gujarat angle)</a:t>
            </a:r>
          </a:p>
          <a:p>
            <a:pPr>
              <a:spcBef>
                <a:spcPts val="1000"/>
              </a:spcBef>
              <a:spcAft>
                <a:spcPts val="400"/>
              </a:spcAft>
            </a:pPr>
            <a:r>
              <a:rPr sz="1600" b="1" i="0">
                <a:solidFill>
                  <a:srgbClr val="8F3A22"/>
                </a:solidFill>
                <a:latin typeface="Calibri"/>
              </a:rPr>
              <a:t>3. Education keywords (save-intent — build the "smart brand" moat)</a:t>
            </a:r>
          </a:p>
          <a:p>
            <a:pPr>
              <a:spcAft>
                <a:spcPts val="400"/>
              </a:spcAft>
            </a:pPr>
            <a:r>
              <a:rPr sz="1350">
                <a:solidFill>
                  <a:srgbClr val="B44A2E"/>
                </a:solidFill>
                <a:latin typeface="Calibri"/>
              </a:rPr>
              <a:t>•  </a:t>
            </a:r>
            <a:r>
              <a:rPr sz="1350" b="0" i="0">
                <a:solidFill>
                  <a:srgbClr val="2A2622"/>
                </a:solidFill>
                <a:latin typeface="Calibri"/>
              </a:rPr>
              <a:t>vitamin c serum kaise use kare / vitamin c serum benefits in hindi</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254</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KEYWORD BANK (organized by search intent)</a:t>
            </a:r>
          </a:p>
          <a:p>
            <a:r>
              <a:rPr sz="1200" i="1">
                <a:solidFill>
                  <a:srgbClr val="57504A"/>
                </a:solidFill>
                <a:latin typeface="Calibri"/>
              </a:rPr>
              <a:t>PART 15 — Social Media SEO + Hashtag Framework</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vitamin c morning or night / vitamin c and sunscreen together or not</a:t>
            </a:r>
          </a:p>
          <a:p>
            <a:pPr>
              <a:spcAft>
                <a:spcPts val="400"/>
              </a:spcAft>
            </a:pPr>
            <a:r>
              <a:rPr sz="1350">
                <a:solidFill>
                  <a:srgbClr val="B44A2E"/>
                </a:solidFill>
                <a:latin typeface="Calibri"/>
              </a:rPr>
              <a:t>•  </a:t>
            </a:r>
            <a:r>
              <a:rPr sz="1350" b="0" i="0">
                <a:solidFill>
                  <a:srgbClr val="2A2622"/>
                </a:solidFill>
                <a:latin typeface="Calibri"/>
              </a:rPr>
              <a:t>sunscreen kaise lagaye / sunscreen reapply kaise kare</a:t>
            </a:r>
          </a:p>
          <a:p>
            <a:pPr>
              <a:spcAft>
                <a:spcPts val="400"/>
              </a:spcAft>
            </a:pPr>
            <a:r>
              <a:rPr sz="1350">
                <a:solidFill>
                  <a:srgbClr val="B44A2E"/>
                </a:solidFill>
                <a:latin typeface="Calibri"/>
              </a:rPr>
              <a:t>•  </a:t>
            </a:r>
            <a:r>
              <a:rPr sz="1350" b="0" i="0">
                <a:solidFill>
                  <a:srgbClr val="2A2622"/>
                </a:solidFill>
                <a:latin typeface="Calibri"/>
              </a:rPr>
              <a:t>face wash kitni baar use kare din me / morning skincare routine steps</a:t>
            </a:r>
          </a:p>
          <a:p>
            <a:pPr>
              <a:spcAft>
                <a:spcPts val="400"/>
              </a:spcAft>
            </a:pPr>
            <a:r>
              <a:rPr sz="1350">
                <a:solidFill>
                  <a:srgbClr val="B44A2E"/>
                </a:solidFill>
                <a:latin typeface="Calibri"/>
              </a:rPr>
              <a:t>•  </a:t>
            </a:r>
            <a:r>
              <a:rPr sz="1350" b="0" i="0">
                <a:solidFill>
                  <a:srgbClr val="2A2622"/>
                </a:solidFill>
                <a:latin typeface="Calibri"/>
              </a:rPr>
              <a:t>layering order skincare / serum moisturizer order</a:t>
            </a:r>
          </a:p>
          <a:p>
            <a:pPr>
              <a:spcAft>
                <a:spcPts val="400"/>
              </a:spcAft>
            </a:pPr>
            <a:r>
              <a:rPr sz="1350">
                <a:solidFill>
                  <a:srgbClr val="B44A2E"/>
                </a:solidFill>
                <a:latin typeface="Calibri"/>
              </a:rPr>
              <a:t>•  </a:t>
            </a:r>
            <a:r>
              <a:rPr sz="1350" b="0" i="0">
                <a:solidFill>
                  <a:srgbClr val="2A2622"/>
                </a:solidFill>
                <a:latin typeface="Calibri"/>
              </a:rPr>
              <a:t>patch test kya hai / patch test kaise kare</a:t>
            </a:r>
          </a:p>
          <a:p>
            <a:pPr>
              <a:spcAft>
                <a:spcPts val="400"/>
              </a:spcAft>
            </a:pPr>
            <a:r>
              <a:rPr sz="1350">
                <a:solidFill>
                  <a:srgbClr val="B44A2E"/>
                </a:solidFill>
                <a:latin typeface="Calibri"/>
              </a:rPr>
              <a:t>•  </a:t>
            </a:r>
            <a:r>
              <a:rPr sz="1350" b="0" i="0">
                <a:solidFill>
                  <a:srgbClr val="2A2622"/>
                </a:solidFill>
                <a:latin typeface="Calibri"/>
              </a:rPr>
              <a:t>spf 30 vs spf 50 / pa rating kya hai / broad spectrum kya hai</a:t>
            </a:r>
          </a:p>
          <a:p>
            <a:pPr>
              <a:spcAft>
                <a:spcPts val="400"/>
              </a:spcAft>
            </a:pPr>
            <a:r>
              <a:rPr sz="1350">
                <a:solidFill>
                  <a:srgbClr val="B44A2E"/>
                </a:solidFill>
                <a:latin typeface="Calibri"/>
              </a:rPr>
              <a:t>•  </a:t>
            </a:r>
            <a:r>
              <a:rPr sz="1350" b="0" i="0">
                <a:solidFill>
                  <a:srgbClr val="2A2622"/>
                </a:solidFill>
                <a:latin typeface="Calibri"/>
              </a:rPr>
              <a:t>skin barrier kya hai / over exfoliation kya hai</a:t>
            </a:r>
          </a:p>
          <a:p>
            <a:pPr>
              <a:spcAft>
                <a:spcPts val="400"/>
              </a:spcAft>
            </a:pPr>
            <a:r>
              <a:rPr sz="1350">
                <a:solidFill>
                  <a:srgbClr val="B44A2E"/>
                </a:solidFill>
                <a:latin typeface="Calibri"/>
              </a:rPr>
              <a:t>•  </a:t>
            </a:r>
            <a:r>
              <a:rPr sz="1350" b="0" i="0">
                <a:solidFill>
                  <a:srgbClr val="2A2622"/>
                </a:solidFill>
                <a:latin typeface="Calibri"/>
              </a:rPr>
              <a:t>natural skincare for indian skin / ayurvedic vs chemical skincare</a:t>
            </a:r>
          </a:p>
          <a:p>
            <a:pPr>
              <a:spcBef>
                <a:spcPts val="1000"/>
              </a:spcBef>
              <a:spcAft>
                <a:spcPts val="400"/>
              </a:spcAft>
            </a:pPr>
            <a:r>
              <a:rPr sz="1600" b="1" i="0">
                <a:solidFill>
                  <a:srgbClr val="8F3A22"/>
                </a:solidFill>
                <a:latin typeface="Calibri"/>
              </a:rPr>
              <a:t>4. Long-tail (low competition, high conversion — YouTube Shorts gold)</a:t>
            </a:r>
          </a:p>
          <a:p>
            <a:pPr>
              <a:spcAft>
                <a:spcPts val="400"/>
              </a:spcAft>
            </a:pPr>
            <a:r>
              <a:rPr sz="1350">
                <a:solidFill>
                  <a:srgbClr val="B44A2E"/>
                </a:solidFill>
                <a:latin typeface="Calibri"/>
              </a:rPr>
              <a:t>•  </a:t>
            </a:r>
            <a:r>
              <a:rPr sz="1350" b="0" i="0">
                <a:solidFill>
                  <a:srgbClr val="2A2622"/>
                </a:solidFill>
                <a:latin typeface="Calibri"/>
              </a:rPr>
              <a:t>best vitamin c serum under 500 in india</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255</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KEYWORD BANK (organized by search intent)</a:t>
            </a:r>
          </a:p>
          <a:p>
            <a:r>
              <a:rPr sz="1200" i="1">
                <a:solidFill>
                  <a:srgbClr val="57504A"/>
                </a:solidFill>
                <a:latin typeface="Calibri"/>
              </a:rPr>
              <a:t>PART 15 — Social Media SEO + Hashtag Framework</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vitamin c serum for 20 year old girl</a:t>
            </a:r>
          </a:p>
          <a:p>
            <a:pPr>
              <a:spcAft>
                <a:spcPts val="400"/>
              </a:spcAft>
            </a:pPr>
            <a:r>
              <a:rPr sz="1350">
                <a:solidFill>
                  <a:srgbClr val="B44A2E"/>
                </a:solidFill>
                <a:latin typeface="Calibri"/>
              </a:rPr>
              <a:t>•  </a:t>
            </a:r>
            <a:r>
              <a:rPr sz="1350" b="0" i="0">
                <a:solidFill>
                  <a:srgbClr val="2A2622"/>
                </a:solidFill>
                <a:latin typeface="Calibri"/>
              </a:rPr>
              <a:t>sunscreen for students india cheap</a:t>
            </a:r>
          </a:p>
          <a:p>
            <a:pPr>
              <a:spcAft>
                <a:spcPts val="400"/>
              </a:spcAft>
            </a:pPr>
            <a:r>
              <a:rPr sz="1350">
                <a:solidFill>
                  <a:srgbClr val="B44A2E"/>
                </a:solidFill>
                <a:latin typeface="Calibri"/>
              </a:rPr>
              <a:t>•  </a:t>
            </a:r>
            <a:r>
              <a:rPr sz="1350" b="0" i="0">
                <a:solidFill>
                  <a:srgbClr val="2A2622"/>
                </a:solidFill>
                <a:latin typeface="Calibri"/>
              </a:rPr>
              <a:t>face wash for college students india</a:t>
            </a:r>
          </a:p>
          <a:p>
            <a:pPr>
              <a:spcAft>
                <a:spcPts val="400"/>
              </a:spcAft>
            </a:pPr>
            <a:r>
              <a:rPr sz="1350">
                <a:solidFill>
                  <a:srgbClr val="B44A2E"/>
                </a:solidFill>
                <a:latin typeface="Calibri"/>
              </a:rPr>
              <a:t>•  </a:t>
            </a:r>
            <a:r>
              <a:rPr sz="1350" b="0" i="0">
                <a:solidFill>
                  <a:srgbClr val="2A2622"/>
                </a:solidFill>
                <a:latin typeface="Calibri"/>
              </a:rPr>
              <a:t>skincare routine for beginners hindi / gujarati</a:t>
            </a:r>
          </a:p>
          <a:p>
            <a:pPr>
              <a:spcAft>
                <a:spcPts val="400"/>
              </a:spcAft>
            </a:pPr>
            <a:r>
              <a:rPr sz="1350">
                <a:solidFill>
                  <a:srgbClr val="B44A2E"/>
                </a:solidFill>
                <a:latin typeface="Calibri"/>
              </a:rPr>
              <a:t>•  </a:t>
            </a:r>
            <a:r>
              <a:rPr sz="1350" b="0" i="0">
                <a:solidFill>
                  <a:srgbClr val="2A2622"/>
                </a:solidFill>
                <a:latin typeface="Calibri"/>
              </a:rPr>
              <a:t>monsoon skincare routine for oily skin india</a:t>
            </a:r>
          </a:p>
          <a:p>
            <a:pPr>
              <a:spcAft>
                <a:spcPts val="400"/>
              </a:spcAft>
            </a:pPr>
            <a:r>
              <a:rPr sz="1350">
                <a:solidFill>
                  <a:srgbClr val="B44A2E"/>
                </a:solidFill>
                <a:latin typeface="Calibri"/>
              </a:rPr>
              <a:t>•  </a:t>
            </a:r>
            <a:r>
              <a:rPr sz="1350" b="0" i="0">
                <a:solidFill>
                  <a:srgbClr val="2A2622"/>
                </a:solidFill>
                <a:latin typeface="Calibri"/>
              </a:rPr>
              <a:t>wedding glow skincare 1 month before</a:t>
            </a:r>
          </a:p>
          <a:p>
            <a:pPr>
              <a:spcAft>
                <a:spcPts val="400"/>
              </a:spcAft>
            </a:pPr>
            <a:r>
              <a:rPr sz="1350">
                <a:solidFill>
                  <a:srgbClr val="B44A2E"/>
                </a:solidFill>
                <a:latin typeface="Calibri"/>
              </a:rPr>
              <a:t>•  </a:t>
            </a:r>
            <a:r>
              <a:rPr sz="1350" b="0" i="0">
                <a:solidFill>
                  <a:srgbClr val="2A2622"/>
                </a:solidFill>
                <a:latin typeface="Calibri"/>
              </a:rPr>
              <a:t>diwali gift for girlfriend skincare box</a:t>
            </a:r>
          </a:p>
          <a:p>
            <a:pPr>
              <a:spcAft>
                <a:spcPts val="400"/>
              </a:spcAft>
            </a:pPr>
            <a:r>
              <a:rPr sz="1350">
                <a:solidFill>
                  <a:srgbClr val="B44A2E"/>
                </a:solidFill>
                <a:latin typeface="Calibri"/>
              </a:rPr>
              <a:t>•  </a:t>
            </a:r>
            <a:r>
              <a:rPr sz="1350" b="0" i="0">
                <a:solidFill>
                  <a:srgbClr val="2A2622"/>
                </a:solidFill>
                <a:latin typeface="Calibri"/>
              </a:rPr>
              <a:t>naye brand se skincare order kaise kare safe (trust long-tail)</a:t>
            </a:r>
          </a:p>
          <a:p>
            <a:pPr>
              <a:spcAft>
                <a:spcPts val="400"/>
              </a:spcAft>
            </a:pPr>
            <a:r>
              <a:rPr sz="1350">
                <a:solidFill>
                  <a:srgbClr val="B44A2E"/>
                </a:solidFill>
                <a:latin typeface="Calibri"/>
              </a:rPr>
              <a:t>•  </a:t>
            </a:r>
            <a:r>
              <a:rPr sz="1350" b="0" i="0">
                <a:solidFill>
                  <a:srgbClr val="2A2622"/>
                </a:solidFill>
                <a:latin typeface="Calibri"/>
              </a:rPr>
              <a:t>cash on delivery skincare brands india</a:t>
            </a:r>
          </a:p>
          <a:p>
            <a:pPr>
              <a:spcAft>
                <a:spcPts val="400"/>
              </a:spcAft>
            </a:pPr>
            <a:r>
              <a:rPr sz="1350">
                <a:solidFill>
                  <a:srgbClr val="B44A2E"/>
                </a:solidFill>
                <a:latin typeface="Calibri"/>
              </a:rPr>
              <a:t>•  </a:t>
            </a:r>
            <a:r>
              <a:rPr sz="1350" b="0" i="0">
                <a:solidFill>
                  <a:srgbClr val="2A2622"/>
                </a:solidFill>
                <a:latin typeface="Calibri"/>
              </a:rPr>
              <a:t>vitamin c serum kya karta hai hindi me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256</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KEYWORD BANK (organized by search intent)</a:t>
            </a:r>
          </a:p>
          <a:p>
            <a:r>
              <a:rPr sz="1200" i="1">
                <a:solidFill>
                  <a:srgbClr val="57504A"/>
                </a:solidFill>
                <a:latin typeface="Calibri"/>
              </a:rPr>
              <a:t>PART 15 — Social Media SEO + Hashtag Framework</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gujarat me best sunscreen for summer</a:t>
            </a:r>
          </a:p>
          <a:p>
            <a:pPr>
              <a:spcAft>
                <a:spcPts val="400"/>
              </a:spcAft>
            </a:pPr>
            <a:r>
              <a:rPr sz="1350">
                <a:solidFill>
                  <a:srgbClr val="B44A2E"/>
                </a:solidFill>
                <a:latin typeface="Calibri"/>
              </a:rPr>
              <a:t>•  </a:t>
            </a:r>
            <a:r>
              <a:rPr sz="1350" b="0" i="0">
                <a:solidFill>
                  <a:srgbClr val="2A2622"/>
                </a:solidFill>
                <a:latin typeface="Calibri"/>
              </a:rPr>
              <a:t>ahmedabad skincare brand (local-SEO — owns the map early)</a:t>
            </a:r>
          </a:p>
          <a:p>
            <a:pPr>
              <a:spcBef>
                <a:spcPts val="1000"/>
              </a:spcBef>
              <a:spcAft>
                <a:spcPts val="400"/>
              </a:spcAft>
            </a:pPr>
            <a:r>
              <a:rPr sz="1600" b="1" i="0">
                <a:solidFill>
                  <a:srgbClr val="8F3A22"/>
                </a:solidFill>
                <a:latin typeface="Calibri"/>
              </a:rPr>
              <a:t>5. Gujarati/Hindi search phrases (underserved competition)</a:t>
            </a:r>
          </a:p>
          <a:p>
            <a:pPr>
              <a:spcAft>
                <a:spcPts val="400"/>
              </a:spcAft>
            </a:pPr>
            <a:r>
              <a:rPr sz="1350">
                <a:solidFill>
                  <a:srgbClr val="B44A2E"/>
                </a:solidFill>
                <a:latin typeface="Calibri"/>
              </a:rPr>
              <a:t>•  </a:t>
            </a:r>
            <a:r>
              <a:rPr sz="1350" b="0" i="0">
                <a:solidFill>
                  <a:srgbClr val="2A2622"/>
                </a:solidFill>
                <a:latin typeface="Calibri"/>
              </a:rPr>
              <a:t>"chamak ke liye kya lagaye" / "chehre par chamak ke tips"</a:t>
            </a:r>
          </a:p>
          <a:p>
            <a:pPr>
              <a:spcAft>
                <a:spcPts val="400"/>
              </a:spcAft>
            </a:pPr>
            <a:r>
              <a:rPr sz="1350">
                <a:solidFill>
                  <a:srgbClr val="B44A2E"/>
                </a:solidFill>
                <a:latin typeface="Calibri"/>
              </a:rPr>
              <a:t>•  </a:t>
            </a:r>
            <a:r>
              <a:rPr sz="1350" b="0" i="0">
                <a:solidFill>
                  <a:srgbClr val="2A2622"/>
                </a:solidFill>
                <a:latin typeface="Calibri"/>
              </a:rPr>
              <a:t>"skin ke liye sabse achha kya hai" / "tan hatane ke tips" (copy: tan-look tips)</a:t>
            </a:r>
          </a:p>
          <a:p>
            <a:pPr>
              <a:spcAft>
                <a:spcPts val="400"/>
              </a:spcAft>
            </a:pPr>
            <a:r>
              <a:rPr sz="1350">
                <a:solidFill>
                  <a:srgbClr val="B44A2E"/>
                </a:solidFill>
                <a:latin typeface="Calibri"/>
              </a:rPr>
              <a:t>•  </a:t>
            </a:r>
            <a:r>
              <a:rPr sz="1350" b="0" i="0">
                <a:solidFill>
                  <a:srgbClr val="2A2622"/>
                </a:solidFill>
                <a:latin typeface="Calibri"/>
              </a:rPr>
              <a:t>"khushk chehre ke liye kya lagaye" / "taazi skin ke tips"</a:t>
            </a:r>
          </a:p>
          <a:p>
            <a:pPr>
              <a:spcAft>
                <a:spcPts val="400"/>
              </a:spcAft>
            </a:pPr>
            <a:r>
              <a:rPr sz="1350">
                <a:solidFill>
                  <a:srgbClr val="B44A2E"/>
                </a:solidFill>
                <a:latin typeface="Calibri"/>
              </a:rPr>
              <a:t>•  </a:t>
            </a:r>
            <a:r>
              <a:rPr sz="1350" b="0" i="0">
                <a:solidFill>
                  <a:srgbClr val="2A2622"/>
                </a:solidFill>
                <a:latin typeface="Calibri"/>
              </a:rPr>
              <a:t>"Vitamin C serum ka use kaise kare" (spoken search — many type in Hindi script too)</a:t>
            </a:r>
          </a:p>
          <a:p>
            <a:pPr>
              <a:spcAft>
                <a:spcPts val="400"/>
              </a:spcAft>
            </a:pPr>
            <a:r>
              <a:rPr sz="1350">
                <a:solidFill>
                  <a:srgbClr val="B44A2E"/>
                </a:solidFill>
                <a:latin typeface="Calibri"/>
              </a:rPr>
              <a:t>•  </a:t>
            </a:r>
            <a:r>
              <a:rPr sz="1350" b="0" i="0">
                <a:solidFill>
                  <a:srgbClr val="2A2622"/>
                </a:solidFill>
                <a:latin typeface="Calibri"/>
              </a:rPr>
              <a:t>"gujarati skincare tips" / "amdaad (Amdavad) skincare" (local)</a:t>
            </a:r>
          </a:p>
          <a:p>
            <a:pPr>
              <a:spcBef>
                <a:spcPts val="1000"/>
              </a:spcBef>
              <a:spcAft>
                <a:spcPts val="400"/>
              </a:spcAft>
            </a:pPr>
            <a:r>
              <a:rPr sz="1600" b="1" i="0">
                <a:solidFill>
                  <a:srgbClr val="8F3A22"/>
                </a:solidFill>
                <a:latin typeface="Calibri"/>
              </a:rPr>
              <a:t>6. Where each type goes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257</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KEYWORD BANK (organized by search intent)</a:t>
            </a:r>
          </a:p>
          <a:p>
            <a:r>
              <a:rPr sz="1200" i="1">
                <a:solidFill>
                  <a:srgbClr val="57504A"/>
                </a:solidFill>
                <a:latin typeface="Calibri"/>
              </a:rPr>
              <a:t>PART 15 — Social Media SEO + Hashtag Framework</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1711350"/>
                <a:gridCol w="2424413"/>
                <a:gridCol w="2709638"/>
                <a:gridCol w="1996575"/>
                <a:gridCol w="2709638"/>
              </a:tblGrid>
              <a:tr h="838200">
                <a:tc>
                  <a:txBody>
                    <a:bodyPr wrap="square"/>
                    <a:lstStyle/>
                    <a:p>
                      <a:r>
                        <a:rPr sz="1200" b="1" i="0">
                          <a:solidFill>
                            <a:srgbClr val="FFFFFF"/>
                          </a:solidFill>
                          <a:latin typeface="Calibri"/>
                        </a:rPr>
                        <a:t>Keyword type</a:t>
                      </a:r>
                    </a:p>
                  </a:txBody>
                  <a:tcPr marL="45720" marR="45720" marT="18288" marB="18288" anchor="t">
                    <a:solidFill>
                      <a:srgbClr val="B44A2E"/>
                    </a:solidFill>
                  </a:tcPr>
                </a:tc>
                <a:tc>
                  <a:txBody>
                    <a:bodyPr wrap="square"/>
                    <a:lstStyle/>
                    <a:p>
                      <a:r>
                        <a:rPr sz="1200" b="1" i="0">
                          <a:solidFill>
                            <a:srgbClr val="FFFFFF"/>
                          </a:solidFill>
                          <a:latin typeface="Calibri"/>
                        </a:rPr>
                        <a:t>IG caption line 1</a:t>
                      </a:r>
                    </a:p>
                  </a:txBody>
                  <a:tcPr marL="45720" marR="45720" marT="18288" marB="18288" anchor="t">
                    <a:solidFill>
                      <a:srgbClr val="B44A2E"/>
                    </a:solidFill>
                  </a:tcPr>
                </a:tc>
                <a:tc>
                  <a:txBody>
                    <a:bodyPr wrap="square"/>
                    <a:lstStyle/>
                    <a:p>
                      <a:r>
                        <a:rPr sz="1200" b="1" i="0">
                          <a:solidFill>
                            <a:srgbClr val="FFFFFF"/>
                          </a:solidFill>
                          <a:latin typeface="Calibri"/>
                        </a:rPr>
                        <a:t>On-screen hook text</a:t>
                      </a:r>
                    </a:p>
                  </a:txBody>
                  <a:tcPr marL="45720" marR="45720" marT="18288" marB="18288" anchor="t">
                    <a:solidFill>
                      <a:srgbClr val="B44A2E"/>
                    </a:solidFill>
                  </a:tcPr>
                </a:tc>
                <a:tc>
                  <a:txBody>
                    <a:bodyPr wrap="square"/>
                    <a:lstStyle/>
                    <a:p>
                      <a:r>
                        <a:rPr sz="1200" b="1" i="0">
                          <a:solidFill>
                            <a:srgbClr val="FFFFFF"/>
                          </a:solidFill>
                          <a:latin typeface="Calibri"/>
                        </a:rPr>
                        <a:t>YT Short title</a:t>
                      </a:r>
                    </a:p>
                  </a:txBody>
                  <a:tcPr marL="45720" marR="45720" marT="18288" marB="18288" anchor="t">
                    <a:solidFill>
                      <a:srgbClr val="B44A2E"/>
                    </a:solidFill>
                  </a:tcPr>
                </a:tc>
                <a:tc>
                  <a:txBody>
                    <a:bodyPr wrap="square"/>
                    <a:lstStyle/>
                    <a:p>
                      <a:r>
                        <a:rPr sz="1200" b="1" i="0">
                          <a:solidFill>
                            <a:srgbClr val="FFFFFF"/>
                          </a:solidFill>
                          <a:latin typeface="Calibri"/>
                        </a:rPr>
                        <a:t>Reel topic</a:t>
                      </a:r>
                    </a:p>
                  </a:txBody>
                  <a:tcPr marL="45720" marR="45720" marT="18288" marB="18288" anchor="t">
                    <a:solidFill>
                      <a:srgbClr val="B44A2E"/>
                    </a:solidFill>
                  </a:tcPr>
                </a:tc>
              </a:tr>
              <a:tr h="838200">
                <a:tc>
                  <a:txBody>
                    <a:bodyPr wrap="square"/>
                    <a:lstStyle/>
                    <a:p>
                      <a:r>
                        <a:rPr sz="1200" b="0" i="0">
                          <a:solidFill>
                            <a:srgbClr val="2A2622"/>
                          </a:solidFill>
                          <a:latin typeface="Calibri"/>
                        </a:rPr>
                        <a:t>Product</a:t>
                      </a:r>
                    </a:p>
                  </a:txBody>
                  <a:tcPr marL="45720" marR="45720" marT="18288" marB="18288" anchor="t">
                    <a:solidFill>
                      <a:srgbClr val="FFFFFF"/>
                    </a:solidFill>
                  </a:tcPr>
                </a:tc>
                <a:tc>
                  <a:txBody>
                    <a:bodyPr wrap="square"/>
                    <a:lstStyle/>
                    <a:p>
                      <a:r>
                        <a:rPr sz="1200" b="0" i="0">
                          <a:solidFill>
                            <a:srgbClr val="2A2622"/>
                          </a:solidFill>
                          <a:latin typeface="Calibri"/>
                        </a:rPr>
                        <a:t>✓ (hero posts)</a:t>
                      </a:r>
                    </a:p>
                  </a:txBody>
                  <a:tcPr marL="45720" marR="45720" marT="18288" marB="18288" anchor="t">
                    <a:solidFill>
                      <a:srgbClr val="FFFFFF"/>
                    </a:solidFill>
                  </a:tcPr>
                </a:tc>
                <a:tc>
                  <a:txBody>
                    <a:bodyPr wrap="square"/>
                    <a:lstStyle/>
                    <a:p>
                      <a:r>
                        <a:rPr sz="1200" b="0" i="0">
                          <a:solidFill>
                            <a:srgbClr val="2A2622"/>
                          </a:solidFill>
                          <a:latin typeface="Calibri"/>
                        </a:rPr>
                        <a:t>✓</a:t>
                      </a:r>
                    </a:p>
                  </a:txBody>
                  <a:tcPr marL="45720" marR="45720" marT="18288" marB="18288" anchor="t">
                    <a:solidFill>
                      <a:srgbClr val="FFFFFF"/>
                    </a:solidFill>
                  </a:tcPr>
                </a:tc>
                <a:tc>
                  <a:txBody>
                    <a:bodyPr wrap="square"/>
                    <a:lstStyle/>
                    <a:p>
                      <a:r>
                        <a:rPr sz="1200" b="0" i="0">
                          <a:solidFill>
                            <a:srgbClr val="2A2622"/>
                          </a:solidFill>
                          <a:latin typeface="Calibri"/>
                        </a:rPr>
                        <a:t>✓</a:t>
                      </a:r>
                    </a:p>
                  </a:txBody>
                  <a:tcPr marL="45720" marR="45720" marT="18288" marB="18288" anchor="t">
                    <a:solidFill>
                      <a:srgbClr val="FFFFFF"/>
                    </a:solidFill>
                  </a:tcPr>
                </a:tc>
                <a:tc>
                  <a:txBody>
                    <a:bodyPr wrap="square"/>
                    <a:lstStyle/>
                    <a:p>
                      <a:r>
                        <a:rPr sz="1200" b="0" i="0">
                          <a:solidFill>
                            <a:srgbClr val="2A2622"/>
                          </a:solidFill>
                          <a:latin typeface="Calibri"/>
                        </a:rPr>
                        <a:t>Product reels</a:t>
                      </a:r>
                    </a:p>
                  </a:txBody>
                  <a:tcPr marL="45720" marR="45720" marT="18288" marB="18288" anchor="t">
                    <a:solidFill>
                      <a:srgbClr val="FFFFFF"/>
                    </a:solidFill>
                  </a:tcPr>
                </a:tc>
              </a:tr>
              <a:tr h="838200">
                <a:tc>
                  <a:txBody>
                    <a:bodyPr wrap="square"/>
                    <a:lstStyle/>
                    <a:p>
                      <a:r>
                        <a:rPr sz="1200" b="0" i="0">
                          <a:solidFill>
                            <a:srgbClr val="2A2622"/>
                          </a:solidFill>
                          <a:latin typeface="Calibri"/>
                        </a:rPr>
                        <a:t>Problem</a:t>
                      </a:r>
                    </a:p>
                  </a:txBody>
                  <a:tcPr marL="45720" marR="45720" marT="18288" marB="18288" anchor="t">
                    <a:solidFill>
                      <a:srgbClr val="F6F1E7"/>
                    </a:solidFill>
                  </a:tcPr>
                </a:tc>
                <a:tc>
                  <a:txBody>
                    <a:bodyPr wrap="square"/>
                    <a:lstStyle/>
                    <a:p>
                      <a:r>
                        <a:rPr sz="1200" b="0" i="0">
                          <a:solidFill>
                            <a:srgbClr val="2A2622"/>
                          </a:solidFill>
                          <a:latin typeface="Calibri"/>
                        </a:rPr>
                        <a:t>✓</a:t>
                      </a:r>
                    </a:p>
                  </a:txBody>
                  <a:tcPr marL="45720" marR="45720" marT="18288" marB="18288" anchor="t">
                    <a:solidFill>
                      <a:srgbClr val="F6F1E7"/>
                    </a:solidFill>
                  </a:tcPr>
                </a:tc>
                <a:tc>
                  <a:txBody>
                    <a:bodyPr wrap="square"/>
                    <a:lstStyle/>
                    <a:p>
                      <a:r>
                        <a:rPr sz="1200" b="0" i="0">
                          <a:solidFill>
                            <a:srgbClr val="2A2622"/>
                          </a:solidFill>
                          <a:latin typeface="Calibri"/>
                        </a:rPr>
                        <a:t>✓ (hook = problem)</a:t>
                      </a:r>
                    </a:p>
                  </a:txBody>
                  <a:tcPr marL="45720" marR="45720" marT="18288" marB="18288" anchor="t">
                    <a:solidFill>
                      <a:srgbClr val="F6F1E7"/>
                    </a:solidFill>
                  </a:tcPr>
                </a:tc>
                <a:tc>
                  <a:txBody>
                    <a:bodyPr wrap="square"/>
                    <a:lstStyle/>
                    <a:p>
                      <a:r>
                        <a:rPr sz="1200" b="0" i="0">
                          <a:solidFill>
                            <a:srgbClr val="2A2622"/>
                          </a:solidFill>
                          <a:latin typeface="Calibri"/>
                        </a:rPr>
                        <a:t>✓</a:t>
                      </a:r>
                    </a:p>
                  </a:txBody>
                  <a:tcPr marL="45720" marR="45720" marT="18288" marB="18288" anchor="t">
                    <a:solidFill>
                      <a:srgbClr val="F6F1E7"/>
                    </a:solidFill>
                  </a:tcPr>
                </a:tc>
                <a:tc>
                  <a:txBody>
                    <a:bodyPr wrap="square"/>
                    <a:lstStyle/>
                    <a:p>
                      <a:r>
                        <a:rPr sz="1200" b="0" i="0">
                          <a:solidFill>
                            <a:srgbClr val="2A2622"/>
                          </a:solidFill>
                          <a:latin typeface="Calibri"/>
                        </a:rPr>
                        <a:t>Problem reels</a:t>
                      </a:r>
                    </a:p>
                  </a:txBody>
                  <a:tcPr marL="45720" marR="45720" marT="18288" marB="18288" anchor="t">
                    <a:solidFill>
                      <a:srgbClr val="F6F1E7"/>
                    </a:solidFill>
                  </a:tcPr>
                </a:tc>
              </a:tr>
              <a:tr h="838200">
                <a:tc>
                  <a:txBody>
                    <a:bodyPr wrap="square"/>
                    <a:lstStyle/>
                    <a:p>
                      <a:r>
                        <a:rPr sz="1200" b="0" i="0">
                          <a:solidFill>
                            <a:srgbClr val="2A2622"/>
                          </a:solidFill>
                          <a:latin typeface="Calibri"/>
                        </a:rPr>
                        <a:t>Education</a:t>
                      </a:r>
                    </a:p>
                  </a:txBody>
                  <a:tcPr marL="45720" marR="45720" marT="18288" marB="18288" anchor="t">
                    <a:solidFill>
                      <a:srgbClr val="FFFFFF"/>
                    </a:solidFill>
                  </a:tcPr>
                </a:tc>
                <a:tc>
                  <a:txBody>
                    <a:bodyPr wrap="square"/>
                    <a:lstStyle/>
                    <a:p>
                      <a:r>
                        <a:rPr sz="1200" b="0" i="0">
                          <a:solidFill>
                            <a:srgbClr val="2A2622"/>
                          </a:solidFill>
                          <a:latin typeface="Calibri"/>
                        </a:rPr>
                        <a:t>✓</a:t>
                      </a:r>
                    </a:p>
                  </a:txBody>
                  <a:tcPr marL="45720" marR="45720" marT="18288" marB="18288" anchor="t">
                    <a:solidFill>
                      <a:srgbClr val="FFFFFF"/>
                    </a:solidFill>
                  </a:tcPr>
                </a:tc>
                <a:tc>
                  <a:txBody>
                    <a:bodyPr wrap="square"/>
                    <a:lstStyle/>
                    <a:p>
                      <a:r>
                        <a:rPr sz="1200" b="0" i="0">
                          <a:solidFill>
                            <a:srgbClr val="2A2622"/>
                          </a:solidFill>
                          <a:latin typeface="Calibri"/>
                        </a:rPr>
                        <a:t>✓</a:t>
                      </a:r>
                    </a:p>
                  </a:txBody>
                  <a:tcPr marL="45720" marR="45720" marT="18288" marB="18288" anchor="t">
                    <a:solidFill>
                      <a:srgbClr val="FFFFFF"/>
                    </a:solidFill>
                  </a:tcPr>
                </a:tc>
                <a:tc>
                  <a:txBody>
                    <a:bodyPr wrap="square"/>
                    <a:lstStyle/>
                    <a:p>
                      <a:r>
                        <a:rPr sz="1200" b="0" i="0">
                          <a:solidFill>
                            <a:srgbClr val="2A2622"/>
                          </a:solidFill>
                          <a:latin typeface="Calibri"/>
                        </a:rPr>
                        <a:t>✓</a:t>
                      </a:r>
                    </a:p>
                  </a:txBody>
                  <a:tcPr marL="45720" marR="45720" marT="18288" marB="18288" anchor="t">
                    <a:solidFill>
                      <a:srgbClr val="FFFFFF"/>
                    </a:solidFill>
                  </a:tcPr>
                </a:tc>
                <a:tc>
                  <a:txBody>
                    <a:bodyPr wrap="square"/>
                    <a:lstStyle/>
                    <a:p>
                      <a:r>
                        <a:rPr sz="1200" b="0" i="0">
                          <a:solidFill>
                            <a:srgbClr val="2A2622"/>
                          </a:solidFill>
                          <a:latin typeface="Calibri"/>
                        </a:rPr>
                        <a:t>Education reels</a:t>
                      </a:r>
                    </a:p>
                  </a:txBody>
                  <a:tcPr marL="45720" marR="45720" marT="18288" marB="18288" anchor="t">
                    <a:solidFill>
                      <a:srgbClr val="FFFFFF"/>
                    </a:solidFill>
                  </a:tcPr>
                </a:tc>
              </a:tr>
              <a:tr h="838200">
                <a:tc>
                  <a:txBody>
                    <a:bodyPr wrap="square"/>
                    <a:lstStyle/>
                    <a:p>
                      <a:r>
                        <a:rPr sz="1200" b="0" i="0">
                          <a:solidFill>
                            <a:srgbClr val="2A2622"/>
                          </a:solidFill>
                          <a:latin typeface="Calibri"/>
                        </a:rPr>
                        <a:t>Long-tail</a:t>
                      </a:r>
                    </a:p>
                  </a:txBody>
                  <a:tcPr marL="45720" marR="45720" marT="18288" marB="18288" anchor="t">
                    <a:solidFill>
                      <a:srgbClr val="F6F1E7"/>
                    </a:solidFill>
                  </a:tcPr>
                </a:tc>
                <a:tc>
                  <a:txBody>
                    <a:bodyPr wrap="square"/>
                    <a:lstStyle/>
                    <a:p>
                      <a:r>
                        <a:rPr sz="1200" b="0" i="0">
                          <a:solidFill>
                            <a:srgbClr val="2A2622"/>
                          </a:solidFill>
                          <a:latin typeface="Calibri"/>
                        </a:rPr>
                        <a:t>sometimes</a:t>
                      </a:r>
                    </a:p>
                  </a:txBody>
                  <a:tcPr marL="45720" marR="45720" marT="18288" marB="18288" anchor="t">
                    <a:solidFill>
                      <a:srgbClr val="F6F1E7"/>
                    </a:solidFill>
                  </a:tcPr>
                </a:tc>
                <a:tc>
                  <a:txBody>
                    <a:bodyPr wrap="square"/>
                    <a:lstStyle/>
                    <a:p>
                      <a:r>
                        <a:rPr sz="1200" b="0" i="0">
                          <a:solidFill>
                            <a:srgbClr val="2A2622"/>
                          </a:solidFill>
                          <a:latin typeface="Calibri"/>
                        </a:rPr>
                        <a:t>rarely</a:t>
                      </a:r>
                    </a:p>
                  </a:txBody>
                  <a:tcPr marL="45720" marR="45720" marT="18288" marB="18288" anchor="t">
                    <a:solidFill>
                      <a:srgbClr val="F6F1E7"/>
                    </a:solidFill>
                  </a:tcPr>
                </a:tc>
                <a:tc>
                  <a:txBody>
                    <a:bodyPr wrap="square"/>
                    <a:lstStyle/>
                    <a:p>
                      <a:r>
                        <a:rPr sz="1200" b="1" i="0">
                          <a:solidFill>
                            <a:srgbClr val="2A2622"/>
                          </a:solidFill>
                          <a:latin typeface="Calibri"/>
                        </a:rPr>
                        <a:t>✓ (primary)</a:t>
                      </a:r>
                    </a:p>
                  </a:txBody>
                  <a:tcPr marL="45720" marR="45720" marT="18288" marB="18288" anchor="t">
                    <a:solidFill>
                      <a:srgbClr val="F6F1E7"/>
                    </a:solidFill>
                  </a:tcPr>
                </a:tc>
                <a:tc>
                  <a:txBody>
                    <a:bodyPr wrap="square"/>
                    <a:lstStyle/>
                    <a:p>
                      <a:r>
                        <a:rPr sz="1200" b="0" i="0">
                          <a:solidFill>
                            <a:srgbClr val="2A2622"/>
                          </a:solidFill>
                          <a:latin typeface="Calibri"/>
                        </a:rPr>
                        <a:t>Shorts only</a:t>
                      </a:r>
                    </a:p>
                  </a:txBody>
                  <a:tcPr marL="45720" marR="45720" marT="18288" marB="18288" anchor="t">
                    <a:solidFill>
                      <a:srgbClr val="F6F1E7"/>
                    </a:solidFill>
                  </a:tcPr>
                </a:tc>
              </a:tr>
              <a:tr h="838200">
                <a:tc>
                  <a:txBody>
                    <a:bodyPr wrap="square"/>
                    <a:lstStyle/>
                    <a:p>
                      <a:r>
                        <a:rPr sz="1200" b="0" i="0">
                          <a:solidFill>
                            <a:srgbClr val="2A2622"/>
                          </a:solidFill>
                          <a:latin typeface="Calibri"/>
                        </a:rPr>
                        <a:t>Local</a:t>
                      </a:r>
                    </a:p>
                  </a:txBody>
                  <a:tcPr marL="45720" marR="45720" marT="18288" marB="18288" anchor="t">
                    <a:solidFill>
                      <a:srgbClr val="FFFFFF"/>
                    </a:solidFill>
                  </a:tcPr>
                </a:tc>
                <a:tc>
                  <a:txBody>
                    <a:bodyPr wrap="square"/>
                    <a:lstStyle/>
                    <a:p>
                      <a:r>
                        <a:rPr sz="1200" b="0" i="0">
                          <a:solidFill>
                            <a:srgbClr val="2A2622"/>
                          </a:solidFill>
                          <a:latin typeface="Calibri"/>
                        </a:rPr>
                        <a:t>✓ (Gujarat posts)</a:t>
                      </a:r>
                    </a:p>
                  </a:txBody>
                  <a:tcPr marL="45720" marR="45720" marT="18288" marB="18288" anchor="t">
                    <a:solidFill>
                      <a:srgbClr val="FFFFFF"/>
                    </a:solidFill>
                  </a:tcPr>
                </a:tc>
                <a:tc>
                  <a:txBody>
                    <a:bodyPr wrap="square"/>
                    <a:lstStyle/>
                    <a:p>
                      <a:r>
                        <a:rPr sz="1200" b="0" i="0">
                          <a:solidFill>
                            <a:srgbClr val="2A2622"/>
                          </a:solidFill>
                          <a:latin typeface="Calibri"/>
                        </a:rPr>
                        <a:t>✓</a:t>
                      </a:r>
                    </a:p>
                  </a:txBody>
                  <a:tcPr marL="45720" marR="45720" marT="18288" marB="18288" anchor="t">
                    <a:solidFill>
                      <a:srgbClr val="FFFFFF"/>
                    </a:solidFill>
                  </a:tcPr>
                </a:tc>
                <a:tc>
                  <a:txBody>
                    <a:bodyPr wrap="square"/>
                    <a:lstStyle/>
                    <a:p>
                      <a:r>
                        <a:rPr sz="1200" b="0" i="0">
                          <a:solidFill>
                            <a:srgbClr val="2A2622"/>
                          </a:solidFill>
                          <a:latin typeface="Calibri"/>
                        </a:rPr>
                        <a:t>✓</a:t>
                      </a:r>
                    </a:p>
                  </a:txBody>
                  <a:tcPr marL="45720" marR="45720" marT="18288" marB="18288" anchor="t">
                    <a:solidFill>
                      <a:srgbClr val="FFFFFF"/>
                    </a:solidFill>
                  </a:tcPr>
                </a:tc>
                <a:tc>
                  <a:txBody>
                    <a:bodyPr wrap="square"/>
                    <a:lstStyle/>
                    <a:p>
                      <a:r>
                        <a:rPr sz="1200" b="0" i="0">
                          <a:solidFill>
                            <a:srgbClr val="2A2622"/>
                          </a:solidFill>
                          <a:latin typeface="Calibri"/>
                        </a:rPr>
                        <a:t>Gujarat-first reels</a:t>
                      </a:r>
                    </a:p>
                  </a:txBody>
                  <a:tcPr marL="45720" marR="45720" marT="18288" marB="18288" anchor="t">
                    <a:solidFill>
                      <a:srgbClr val="FFFFFF"/>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258</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KEYWORD BANK (organized by search intent)</a:t>
            </a:r>
          </a:p>
          <a:p>
            <a:r>
              <a:rPr sz="1200" i="1">
                <a:solidFill>
                  <a:srgbClr val="57504A"/>
                </a:solidFill>
                <a:latin typeface="Calibri"/>
              </a:rPr>
              <a:t>PART 15 — Social Media SEO + Hashtag Framework</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YT Shorts title formula:</a:t>
            </a:r>
            <a:r>
              <a:rPr sz="1350" b="0" i="0">
                <a:solidFill>
                  <a:srgbClr val="2A2622"/>
                </a:solidFill>
                <a:latin typeface="Calibri"/>
              </a:rPr>
              <a:t> </a:t>
            </a:r>
            <a:r>
              <a:rPr sz="1200" b="0" i="0">
                <a:solidFill>
                  <a:srgbClr val="8F3A22"/>
                </a:solidFill>
                <a:latin typeface="Consolas"/>
              </a:rPr>
              <a:t>[Long-tail question] — [promise] (RANGAT)</a:t>
            </a:r>
            <a:r>
              <a:rPr sz="1350" b="0" i="0">
                <a:solidFill>
                  <a:srgbClr val="2A2622"/>
                </a:solidFill>
                <a:latin typeface="Calibri"/>
              </a:rPr>
              <a:t> e.g., "Vitamin C serum kaise use kare? — 5 steps, 40 second (RANGAT Naturals)" · Description: 2 lines + 5 keywords + link. (Upload cadence: top 3 Reels/week, Fridays.)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259</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INSTAGRAM SEARCH OPTIMIZATION — THE 12-POINT CHECKLIST</a:t>
            </a:r>
          </a:p>
          <a:p>
            <a:r>
              <a:rPr sz="1200" i="1">
                <a:solidFill>
                  <a:srgbClr val="57504A"/>
                </a:solidFill>
                <a:latin typeface="Calibri"/>
              </a:rPr>
              <a:t>PART 15 — Social Media SEO + Hashtag Framework</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  </a:t>
            </a:r>
            <a:r>
              <a:rPr sz="1350" b="1" i="0">
                <a:solidFill>
                  <a:srgbClr val="2A2622"/>
                </a:solidFill>
                <a:latin typeface="Calibri"/>
              </a:rPr>
              <a:t>Name field</a:t>
            </a:r>
            <a:r>
              <a:rPr sz="1350" b="0" i="0">
                <a:solidFill>
                  <a:srgbClr val="2A2622"/>
                </a:solidFill>
                <a:latin typeface="Calibri"/>
              </a:rPr>
              <a:t> = "RANGAT Naturals | Indian Skincare" (category keyword inside the name).</a:t>
            </a:r>
          </a:p>
          <a:p>
            <a:pPr>
              <a:spcAft>
                <a:spcPts val="400"/>
              </a:spcAft>
            </a:pPr>
            <a:r>
              <a:rPr sz="1350" b="1">
                <a:solidFill>
                  <a:srgbClr val="8F3A22"/>
                </a:solidFill>
                <a:latin typeface="Calibri"/>
              </a:rPr>
              <a:t>2.  </a:t>
            </a:r>
            <a:r>
              <a:rPr sz="1350" b="1" i="0">
                <a:solidFill>
                  <a:srgbClr val="2A2622"/>
                </a:solidFill>
                <a:latin typeface="Calibri"/>
              </a:rPr>
              <a:t>Bio line 1</a:t>
            </a:r>
            <a:r>
              <a:rPr sz="1350" b="0" i="0">
                <a:solidFill>
                  <a:srgbClr val="2A2622"/>
                </a:solidFill>
                <a:latin typeface="Calibri"/>
              </a:rPr>
              <a:t> contains the category phrase users type: "Indian skincare."</a:t>
            </a:r>
          </a:p>
          <a:p>
            <a:pPr>
              <a:spcAft>
                <a:spcPts val="400"/>
              </a:spcAft>
            </a:pPr>
            <a:r>
              <a:rPr sz="1350" b="1">
                <a:solidFill>
                  <a:srgbClr val="8F3A22"/>
                </a:solidFill>
                <a:latin typeface="Calibri"/>
              </a:rPr>
              <a:t>3.  </a:t>
            </a:r>
            <a:r>
              <a:rPr sz="1350" b="1" i="0">
                <a:solidFill>
                  <a:srgbClr val="2A2622"/>
                </a:solidFill>
                <a:latin typeface="Calibri"/>
              </a:rPr>
              <a:t>Every Reel's on-screen hook text</a:t>
            </a:r>
            <a:r>
              <a:rPr sz="1350" b="0" i="0">
                <a:solidFill>
                  <a:srgbClr val="2A2622"/>
                </a:solidFill>
                <a:latin typeface="Calibri"/>
              </a:rPr>
              <a:t> contains the target keyword or its Hinglish form (IG OCRs on-screen text).</a:t>
            </a:r>
          </a:p>
          <a:p>
            <a:pPr>
              <a:spcAft>
                <a:spcPts val="400"/>
              </a:spcAft>
            </a:pPr>
            <a:r>
              <a:rPr sz="1350" b="1">
                <a:solidFill>
                  <a:srgbClr val="8F3A22"/>
                </a:solidFill>
                <a:latin typeface="Calibri"/>
              </a:rPr>
              <a:t>4.  </a:t>
            </a:r>
            <a:r>
              <a:rPr sz="1350" b="1" i="0">
                <a:solidFill>
                  <a:srgbClr val="2A2622"/>
                </a:solidFill>
                <a:latin typeface="Calibri"/>
              </a:rPr>
              <a:t>Caption line 1</a:t>
            </a:r>
            <a:r>
              <a:rPr sz="1350" b="0" i="0">
                <a:solidFill>
                  <a:srgbClr val="2A2622"/>
                </a:solidFill>
                <a:latin typeface="Calibri"/>
              </a:rPr>
              <a:t> (before the fold) = the search phrase in natural language ("Vitamin C serum kaise use kare — 5 steps").</a:t>
            </a:r>
          </a:p>
          <a:p>
            <a:pPr>
              <a:spcAft>
                <a:spcPts val="400"/>
              </a:spcAft>
            </a:pPr>
            <a:r>
              <a:rPr sz="1350" b="1">
                <a:solidFill>
                  <a:srgbClr val="8F3A22"/>
                </a:solidFill>
                <a:latin typeface="Calibri"/>
              </a:rPr>
              <a:t>5.  </a:t>
            </a:r>
            <a:r>
              <a:rPr sz="1350" b="1" i="0">
                <a:solidFill>
                  <a:srgbClr val="2A2622"/>
                </a:solidFill>
                <a:latin typeface="Calibri"/>
              </a:rPr>
              <a:t>One dedicated "keyword Reel" per product per month</a:t>
            </a:r>
            <a:r>
              <a:rPr sz="1350" b="0" i="0">
                <a:solidFill>
                  <a:srgbClr val="2A2622"/>
                </a:solidFill>
                <a:latin typeface="Calibri"/>
              </a:rPr>
              <a:t> whose entire job is a search query (title = the query).</a:t>
            </a:r>
          </a:p>
          <a:p>
            <a:pPr>
              <a:spcAft>
                <a:spcPts val="400"/>
              </a:spcAft>
            </a:pPr>
            <a:r>
              <a:rPr sz="1350" b="1">
                <a:solidFill>
                  <a:srgbClr val="8F3A22"/>
                </a:solidFill>
                <a:latin typeface="Calibri"/>
              </a:rPr>
              <a:t>6.  </a:t>
            </a:r>
            <a:r>
              <a:rPr sz="1350" b="1" i="0">
                <a:solidFill>
                  <a:srgbClr val="2A2622"/>
                </a:solidFill>
                <a:latin typeface="Calibri"/>
              </a:rPr>
              <a:t>Location tags:</a:t>
            </a:r>
            <a:r>
              <a:rPr sz="1350" b="0" i="0">
                <a:solidFill>
                  <a:srgbClr val="2A2622"/>
                </a:solidFill>
                <a:latin typeface="Calibri"/>
              </a:rPr>
              <a:t> Ahmedabad / Gujarat on every Gujarat-anchored post (local search + local feed boost).</a:t>
            </a:r>
          </a:p>
          <a:p>
            <a:pPr>
              <a:spcAft>
                <a:spcPts val="400"/>
              </a:spcAft>
            </a:pPr>
            <a:r>
              <a:rPr sz="1350" b="1">
                <a:solidFill>
                  <a:srgbClr val="8F3A22"/>
                </a:solidFill>
                <a:latin typeface="Calibri"/>
              </a:rPr>
              <a:t>7.  </a:t>
            </a:r>
            <a:r>
              <a:rPr sz="1350" b="1" i="0">
                <a:solidFill>
                  <a:srgbClr val="2A2622"/>
                </a:solidFill>
                <a:latin typeface="Calibri"/>
              </a:rPr>
              <a:t>Alt text:</a:t>
            </a:r>
            <a:r>
              <a:rPr sz="1350" b="0" i="0">
                <a:solidFill>
                  <a:srgbClr val="2A2622"/>
                </a:solidFill>
                <a:latin typeface="Calibri"/>
              </a:rPr>
              <a:t> write it manually per image/carousel (most brands skip it — it's free). Format: "[Product] being used on real skin, RANGAT NATURALS Indian skincare."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260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INSTAGRAM SEARCH OPTIMIZATION — THE 12-POINT CHECKLIST</a:t>
            </a:r>
          </a:p>
          <a:p>
            <a:r>
              <a:rPr sz="1200" i="1">
                <a:solidFill>
                  <a:srgbClr val="57504A"/>
                </a:solidFill>
                <a:latin typeface="Calibri"/>
              </a:rPr>
              <a:t>PART 15 — Social Media SEO + Hashtag Framework</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8.  </a:t>
            </a:r>
            <a:r>
              <a:rPr sz="1350" b="1" i="0">
                <a:solidFill>
                  <a:srgbClr val="2A2622"/>
                </a:solidFill>
                <a:latin typeface="Calibri"/>
              </a:rPr>
              <a:t>Hashtags: 8–15 per post</a:t>
            </a:r>
            <a:r>
              <a:rPr sz="1350" b="0" i="0">
                <a:solidFill>
                  <a:srgbClr val="2A2622"/>
                </a:solidFill>
                <a:latin typeface="Calibri"/>
              </a:rPr>
              <a:t> from the framework below (never 30 random, never the same 30 every time).</a:t>
            </a:r>
          </a:p>
          <a:p>
            <a:pPr>
              <a:spcAft>
                <a:spcPts val="400"/>
              </a:spcAft>
            </a:pPr>
            <a:r>
              <a:rPr sz="1350" b="1">
                <a:solidFill>
                  <a:srgbClr val="8F3A22"/>
                </a:solidFill>
                <a:latin typeface="Calibri"/>
              </a:rPr>
              <a:t>9.  </a:t>
            </a:r>
            <a:r>
              <a:rPr sz="1350" b="1" i="0">
                <a:solidFill>
                  <a:srgbClr val="2A2622"/>
                </a:solidFill>
                <a:latin typeface="Calibri"/>
              </a:rPr>
              <a:t>Series naming:</a:t>
            </a:r>
            <a:r>
              <a:rPr sz="1350" b="0" i="0">
                <a:solidFill>
                  <a:srgbClr val="2A2622"/>
                </a:solidFill>
                <a:latin typeface="Calibri"/>
              </a:rPr>
              <a:t> recurring series with searchable names ("Skin 101 #7", "4-Hafte Program") create a searchable brand of content.</a:t>
            </a:r>
          </a:p>
          <a:p>
            <a:pPr>
              <a:spcAft>
                <a:spcPts val="400"/>
              </a:spcAft>
            </a:pPr>
            <a:r>
              <a:rPr sz="1350" b="1">
                <a:solidFill>
                  <a:srgbClr val="8F3A22"/>
                </a:solidFill>
                <a:latin typeface="Calibri"/>
              </a:rPr>
              <a:t>10.  </a:t>
            </a:r>
            <a:r>
              <a:rPr sz="1350" b="1" i="0">
                <a:solidFill>
                  <a:srgbClr val="2A2622"/>
                </a:solidFill>
                <a:latin typeface="Calibri"/>
              </a:rPr>
              <a:t>Replies are indexed:</a:t>
            </a:r>
            <a:r>
              <a:rPr sz="1350" b="0" i="0">
                <a:solidFill>
                  <a:srgbClr val="2A2622"/>
                </a:solidFill>
                <a:latin typeface="Calibri"/>
              </a:rPr>
              <a:t> comment conversation around the keyword ("oily skin wale…") adds on-page keyword density — seed 2–3 genuine-looking </a:t>
            </a:r>
            <a:r>
              <a:rPr sz="1350" b="0" i="1">
                <a:solidFill>
                  <a:srgbClr val="2A2622"/>
                </a:solidFill>
                <a:latin typeface="Calibri"/>
              </a:rPr>
              <a:t>real</a:t>
            </a:r>
            <a:r>
              <a:rPr sz="1350" b="0" i="0">
                <a:solidFill>
                  <a:srgbClr val="2A2622"/>
                </a:solidFill>
                <a:latin typeface="Calibri"/>
              </a:rPr>
              <a:t> comment prompts.</a:t>
            </a:r>
          </a:p>
          <a:p>
            <a:pPr>
              <a:spcAft>
                <a:spcPts val="400"/>
              </a:spcAft>
            </a:pPr>
            <a:r>
              <a:rPr sz="1350" b="1">
                <a:solidFill>
                  <a:srgbClr val="8F3A22"/>
                </a:solidFill>
                <a:latin typeface="Calibri"/>
              </a:rPr>
              <a:t>11.  </a:t>
            </a:r>
            <a:r>
              <a:rPr sz="1350" b="1" i="0">
                <a:solidFill>
                  <a:srgbClr val="2A2622"/>
                </a:solidFill>
                <a:latin typeface="Calibri"/>
              </a:rPr>
              <a:t>Consistency window:</a:t>
            </a:r>
            <a:r>
              <a:rPr sz="1350" b="0" i="0">
                <a:solidFill>
                  <a:srgbClr val="2A2622"/>
                </a:solidFill>
                <a:latin typeface="Calibri"/>
              </a:rPr>
              <a:t> post at 7:30–9 PM; the first 60 minutes of engagement decide distribution — founder replies to every comment in that window.</a:t>
            </a:r>
          </a:p>
          <a:p>
            <a:pPr>
              <a:spcAft>
                <a:spcPts val="400"/>
              </a:spcAft>
            </a:pPr>
            <a:r>
              <a:rPr sz="1350" b="1">
                <a:solidFill>
                  <a:srgbClr val="8F3A22"/>
                </a:solidFill>
                <a:latin typeface="Calibri"/>
              </a:rPr>
              <a:t>12.  </a:t>
            </a:r>
            <a:r>
              <a:rPr sz="1350" b="1" i="0">
                <a:solidFill>
                  <a:srgbClr val="2A2622"/>
                </a:solidFill>
                <a:latin typeface="Calibri"/>
              </a:rPr>
              <a:t>Monthly keyword audit (30 min):</a:t>
            </a:r>
            <a:r>
              <a:rPr sz="1350" b="0" i="0">
                <a:solidFill>
                  <a:srgbClr val="2A2622"/>
                </a:solidFill>
                <a:latin typeface="Calibri"/>
              </a:rPr>
              <a:t> Meta/IG insights → "searches that led to profile" → list top 10 → next month's content is 30% built from that list. (After Day 30 you'll have data; before that, use the bank above.)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261</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principle</a:t>
            </a:r>
          </a:p>
          <a:p>
            <a:r>
              <a:rPr sz="1200" i="1">
                <a:solidFill>
                  <a:srgbClr val="57504A"/>
                </a:solidFill>
                <a:latin typeface="Calibri"/>
              </a:rPr>
              <a:t>PART 15 — Social Media SEO + Hashtag Framework</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Hashtags are </a:t>
            </a:r>
            <a:r>
              <a:rPr sz="1350" b="1" i="0">
                <a:solidFill>
                  <a:srgbClr val="2A2622"/>
                </a:solidFill>
                <a:latin typeface="Calibri"/>
              </a:rPr>
              <a:t>topic clustering + search discovery</a:t>
            </a:r>
            <a:r>
              <a:rPr sz="1350" b="0" i="0">
                <a:solidFill>
                  <a:srgbClr val="2A2622"/>
                </a:solidFill>
                <a:latin typeface="Calibri"/>
              </a:rPr>
              <a:t>, not reach incantations. 30 random hashtags = spam signal + zero relevance. The system: </a:t>
            </a:r>
            <a:r>
              <a:rPr sz="1350" b="1" i="0">
                <a:solidFill>
                  <a:srgbClr val="2A2622"/>
                </a:solidFill>
                <a:latin typeface="Calibri"/>
              </a:rPr>
              <a:t>8–15 tags per post, drawn from 5 sets, rotated weekly so the account never looks identical.</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262</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5 sets</a:t>
            </a:r>
          </a:p>
          <a:p>
            <a:r>
              <a:rPr sz="1200" i="1">
                <a:solidFill>
                  <a:srgbClr val="57504A"/>
                </a:solidFill>
                <a:latin typeface="Calibri"/>
              </a:rPr>
              <a:t>PART 15 — Social Media SEO + Hashtag Framework</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SET 1 — BRAND (always, 1–2 tags)</a:t>
            </a:r>
          </a:p>
          <a:p>
            <a:pPr>
              <a:spcAft>
                <a:spcPts val="400"/>
              </a:spcAft>
            </a:pPr>
            <a:r>
              <a:rPr sz="1350">
                <a:solidFill>
                  <a:srgbClr val="B44A2E"/>
                </a:solidFill>
                <a:latin typeface="Calibri"/>
              </a:rPr>
              <a:t>•  </a:t>
            </a:r>
            <a:r>
              <a:rPr sz="1200" b="0" i="0">
                <a:solidFill>
                  <a:srgbClr val="8F3A22"/>
                </a:solidFill>
                <a:latin typeface="Consolas"/>
              </a:rPr>
              <a:t>#RangatNaturals</a:t>
            </a:r>
            <a:r>
              <a:rPr sz="1350" b="0" i="0">
                <a:solidFill>
                  <a:srgbClr val="2A2622"/>
                </a:solidFill>
                <a:latin typeface="Calibri"/>
              </a:rPr>
              <a:t> (primary — build the searchable brand shelf)</a:t>
            </a:r>
          </a:p>
          <a:p>
            <a:pPr>
              <a:spcAft>
                <a:spcPts val="400"/>
              </a:spcAft>
            </a:pPr>
            <a:r>
              <a:rPr sz="1350">
                <a:solidFill>
                  <a:srgbClr val="B44A2E"/>
                </a:solidFill>
                <a:latin typeface="Calibri"/>
              </a:rPr>
              <a:t>•  </a:t>
            </a:r>
            <a:r>
              <a:rPr sz="1200" b="0" i="0">
                <a:solidFill>
                  <a:srgbClr val="8F3A22"/>
                </a:solidFill>
                <a:latin typeface="Consolas"/>
              </a:rPr>
              <a:t>#AameeSkinAamnoLiye</a:t>
            </a:r>
            <a:r>
              <a:rPr sz="1350" b="0" i="0">
                <a:solidFill>
                  <a:srgbClr val="2A2622"/>
                </a:solidFill>
                <a:latin typeface="Calibri"/>
              </a:rPr>
              <a:t> (signature line tag — Gujarat posts)</a:t>
            </a:r>
          </a:p>
          <a:p>
            <a:pPr>
              <a:spcAft>
                <a:spcPts val="400"/>
              </a:spcAft>
            </a:pPr>
            <a:r>
              <a:rPr sz="1350">
                <a:solidFill>
                  <a:srgbClr val="B44A2E"/>
                </a:solidFill>
                <a:latin typeface="Calibri"/>
              </a:rPr>
              <a:t>•  </a:t>
            </a:r>
            <a:r>
              <a:rPr sz="1200" b="0" i="0">
                <a:solidFill>
                  <a:srgbClr val="8F3A22"/>
                </a:solidFill>
                <a:latin typeface="Consolas"/>
              </a:rPr>
              <a:t>#RangatGlow</a:t>
            </a:r>
            <a:r>
              <a:rPr sz="1350" b="0" i="0">
                <a:solidFill>
                  <a:srgbClr val="2A2622"/>
                </a:solidFill>
                <a:latin typeface="Calibri"/>
              </a:rPr>
              <a:t> (offer/launch tag)</a:t>
            </a:r>
          </a:p>
          <a:p>
            <a:pPr>
              <a:spcBef>
                <a:spcPts val="1000"/>
              </a:spcBef>
              <a:spcAft>
                <a:spcPts val="400"/>
              </a:spcAft>
            </a:pPr>
            <a:r>
              <a:rPr sz="1600" b="1" i="0">
                <a:solidFill>
                  <a:srgbClr val="8F3A22"/>
                </a:solidFill>
                <a:latin typeface="Calibri"/>
              </a:rPr>
              <a:t>SET 2 — PRODUCT (2–3 per post, match the product in the post)</a:t>
            </a:r>
          </a:p>
          <a:p>
            <a:pPr>
              <a:spcAft>
                <a:spcPts val="400"/>
              </a:spcAft>
            </a:pPr>
            <a:r>
              <a:rPr sz="1350">
                <a:solidFill>
                  <a:srgbClr val="B44A2E"/>
                </a:solidFill>
                <a:latin typeface="Calibri"/>
              </a:rPr>
              <a:t>•  </a:t>
            </a:r>
            <a:r>
              <a:rPr sz="1350" b="0" i="0">
                <a:solidFill>
                  <a:srgbClr val="2A2622"/>
                </a:solidFill>
                <a:latin typeface="Calibri"/>
              </a:rPr>
              <a:t>Vitamin C: </a:t>
            </a:r>
            <a:r>
              <a:rPr sz="1200" b="0" i="0">
                <a:solidFill>
                  <a:srgbClr val="8F3A22"/>
                </a:solidFill>
                <a:latin typeface="Consolas"/>
              </a:rPr>
              <a:t>#VitaminCSerum</a:t>
            </a:r>
            <a:r>
              <a:rPr sz="1350" b="0" i="0">
                <a:solidFill>
                  <a:srgbClr val="2A2622"/>
                </a:solidFill>
                <a:latin typeface="Calibri"/>
              </a:rPr>
              <a:t> </a:t>
            </a:r>
            <a:r>
              <a:rPr sz="1200" b="0" i="0">
                <a:solidFill>
                  <a:srgbClr val="8F3A22"/>
                </a:solidFill>
                <a:latin typeface="Consolas"/>
              </a:rPr>
              <a:t>#VitaminCIndia</a:t>
            </a:r>
            <a:r>
              <a:rPr sz="1350" b="0" i="0">
                <a:solidFill>
                  <a:srgbClr val="2A2622"/>
                </a:solidFill>
                <a:latin typeface="Calibri"/>
              </a:rPr>
              <a:t> </a:t>
            </a:r>
            <a:r>
              <a:rPr sz="1200" b="0" i="0">
                <a:solidFill>
                  <a:srgbClr val="8F3A22"/>
                </a:solidFill>
                <a:latin typeface="Consolas"/>
              </a:rPr>
              <a:t>#SkinGlow</a:t>
            </a:r>
          </a:p>
          <a:p>
            <a:pPr>
              <a:spcAft>
                <a:spcPts val="400"/>
              </a:spcAft>
            </a:pPr>
            <a:r>
              <a:rPr sz="1350">
                <a:solidFill>
                  <a:srgbClr val="B44A2E"/>
                </a:solidFill>
                <a:latin typeface="Calibri"/>
              </a:rPr>
              <a:t>•  </a:t>
            </a:r>
            <a:r>
              <a:rPr sz="1350" b="0" i="0">
                <a:solidFill>
                  <a:srgbClr val="2A2622"/>
                </a:solidFill>
                <a:latin typeface="Calibri"/>
              </a:rPr>
              <a:t>Face Wash: </a:t>
            </a:r>
            <a:r>
              <a:rPr sz="1200" b="0" i="0">
                <a:solidFill>
                  <a:srgbClr val="8F3A22"/>
                </a:solidFill>
                <a:latin typeface="Consolas"/>
              </a:rPr>
              <a:t>#FaceWash</a:t>
            </a:r>
            <a:r>
              <a:rPr sz="1350" b="0" i="0">
                <a:solidFill>
                  <a:srgbClr val="2A2622"/>
                </a:solidFill>
                <a:latin typeface="Calibri"/>
              </a:rPr>
              <a:t> </a:t>
            </a:r>
            <a:r>
              <a:rPr sz="1200" b="0" i="0">
                <a:solidFill>
                  <a:srgbClr val="8F3A22"/>
                </a:solidFill>
                <a:latin typeface="Consolas"/>
              </a:rPr>
              <a:t>#FaceWashIndia</a:t>
            </a:r>
            <a:r>
              <a:rPr sz="1350" b="0" i="0">
                <a:solidFill>
                  <a:srgbClr val="2A2622"/>
                </a:solidFill>
                <a:latin typeface="Calibri"/>
              </a:rPr>
              <a:t> </a:t>
            </a:r>
            <a:r>
              <a:rPr sz="1200" b="0" i="0">
                <a:solidFill>
                  <a:srgbClr val="8F3A22"/>
                </a:solidFill>
                <a:latin typeface="Consolas"/>
              </a:rPr>
              <a:t>#CleanSkin</a:t>
            </a:r>
          </a:p>
          <a:p>
            <a:pPr>
              <a:spcAft>
                <a:spcPts val="400"/>
              </a:spcAft>
            </a:pPr>
            <a:r>
              <a:rPr sz="1350">
                <a:solidFill>
                  <a:srgbClr val="B44A2E"/>
                </a:solidFill>
                <a:latin typeface="Calibri"/>
              </a:rPr>
              <a:t>•  </a:t>
            </a:r>
            <a:r>
              <a:rPr sz="1350" b="0" i="0">
                <a:solidFill>
                  <a:srgbClr val="2A2622"/>
                </a:solidFill>
                <a:latin typeface="Calibri"/>
              </a:rPr>
              <a:t>Moisturizer: </a:t>
            </a:r>
            <a:r>
              <a:rPr sz="1200" b="0" i="0">
                <a:solidFill>
                  <a:srgbClr val="8F3A22"/>
                </a:solidFill>
                <a:latin typeface="Consolas"/>
              </a:rPr>
              <a:t>#Moisturizer</a:t>
            </a:r>
            <a:r>
              <a:rPr sz="1350" b="0" i="0">
                <a:solidFill>
                  <a:srgbClr val="2A2622"/>
                </a:solidFill>
                <a:latin typeface="Calibri"/>
              </a:rPr>
              <a:t> </a:t>
            </a:r>
            <a:r>
              <a:rPr sz="1200" b="0" i="0">
                <a:solidFill>
                  <a:srgbClr val="8F3A22"/>
                </a:solidFill>
                <a:latin typeface="Consolas"/>
              </a:rPr>
              <a:t>#GelMoisturizer</a:t>
            </a:r>
            <a:r>
              <a:rPr sz="1350" b="0" i="0">
                <a:solidFill>
                  <a:srgbClr val="2A2622"/>
                </a:solidFill>
                <a:latin typeface="Calibri"/>
              </a:rPr>
              <a:t> </a:t>
            </a:r>
            <a:r>
              <a:rPr sz="1200" b="0" i="0">
                <a:solidFill>
                  <a:srgbClr val="8F3A22"/>
                </a:solidFill>
                <a:latin typeface="Consolas"/>
              </a:rPr>
              <a:t>#SkincareRoutine</a:t>
            </a:r>
          </a:p>
          <a:p>
            <a:pPr>
              <a:spcAft>
                <a:spcPts val="400"/>
              </a:spcAft>
            </a:pPr>
            <a:r>
              <a:rPr sz="1350">
                <a:solidFill>
                  <a:srgbClr val="B44A2E"/>
                </a:solidFill>
                <a:latin typeface="Calibri"/>
              </a:rPr>
              <a:t>•  </a:t>
            </a:r>
            <a:r>
              <a:rPr sz="1350" b="0" i="0">
                <a:solidFill>
                  <a:srgbClr val="2A2622"/>
                </a:solidFill>
                <a:latin typeface="Calibri"/>
              </a:rPr>
              <a:t>Sunscreen: </a:t>
            </a:r>
            <a:r>
              <a:rPr sz="1200" b="0" i="0">
                <a:solidFill>
                  <a:srgbClr val="8F3A22"/>
                </a:solidFill>
                <a:latin typeface="Consolas"/>
              </a:rPr>
              <a:t>#Sunscreen</a:t>
            </a:r>
            <a:r>
              <a:rPr sz="1350" b="0" i="0">
                <a:solidFill>
                  <a:srgbClr val="2A2622"/>
                </a:solidFill>
                <a:latin typeface="Calibri"/>
              </a:rPr>
              <a:t> </a:t>
            </a:r>
            <a:r>
              <a:rPr sz="1200" b="0" i="0">
                <a:solidFill>
                  <a:srgbClr val="8F3A22"/>
                </a:solidFill>
                <a:latin typeface="Consolas"/>
              </a:rPr>
              <a:t>#SPF50</a:t>
            </a:r>
            <a:r>
              <a:rPr sz="1350" b="0" i="0">
                <a:solidFill>
                  <a:srgbClr val="2A2622"/>
                </a:solidFill>
                <a:latin typeface="Calibri"/>
              </a:rPr>
              <a:t> </a:t>
            </a:r>
            <a:r>
              <a:rPr sz="1200" b="0" i="0">
                <a:solidFill>
                  <a:srgbClr val="8F3A22"/>
                </a:solidFill>
                <a:latin typeface="Consolas"/>
              </a:rPr>
              <a:t>#SunscreenIndia</a:t>
            </a:r>
            <a:r>
              <a:rPr sz="1350" b="0" i="0">
                <a:solidFill>
                  <a:srgbClr val="2A2622"/>
                </a:solidFill>
                <a:latin typeface="Calibri"/>
              </a:rPr>
              <a:t> </a:t>
            </a:r>
            <a:r>
              <a:rPr sz="1200" b="0" i="0">
                <a:solidFill>
                  <a:srgbClr val="8F3A22"/>
                </a:solidFill>
                <a:latin typeface="Consolas"/>
              </a:rPr>
              <a:t>#NoWhiteCast</a:t>
            </a:r>
          </a:p>
          <a:p>
            <a:pPr>
              <a:spcAft>
                <a:spcPts val="400"/>
              </a:spcAft>
            </a:pPr>
            <a:r>
              <a:rPr sz="1350">
                <a:solidFill>
                  <a:srgbClr val="B44A2E"/>
                </a:solidFill>
                <a:latin typeface="Calibri"/>
              </a:rPr>
              <a:t>•  </a:t>
            </a:r>
            <a:r>
              <a:rPr sz="1350" b="0" i="0">
                <a:solidFill>
                  <a:srgbClr val="2A2622"/>
                </a:solidFill>
                <a:latin typeface="Calibri"/>
              </a:rPr>
              <a:t>(add 2–3 per future product at launch)</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263</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5 sets</a:t>
            </a:r>
          </a:p>
          <a:p>
            <a:r>
              <a:rPr sz="1200" i="1">
                <a:solidFill>
                  <a:srgbClr val="57504A"/>
                </a:solidFill>
                <a:latin typeface="Calibri"/>
              </a:rPr>
              <a:t>PART 15 — Social Media SEO + Hashtag Framework</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SET 3 — PROBLEM (2–4 per post, match the problem in the post)</a:t>
            </a:r>
          </a:p>
          <a:p>
            <a:pPr>
              <a:spcAft>
                <a:spcPts val="700"/>
              </a:spcAft>
            </a:pPr>
            <a:r>
              <a:rPr sz="1200" b="0" i="0">
                <a:solidFill>
                  <a:srgbClr val="8F3A22"/>
                </a:solidFill>
                <a:latin typeface="Consolas"/>
              </a:rPr>
              <a:t>#OilySkin</a:t>
            </a:r>
            <a:r>
              <a:rPr sz="1350" b="0" i="0">
                <a:solidFill>
                  <a:srgbClr val="2A2622"/>
                </a:solidFill>
                <a:latin typeface="Calibri"/>
              </a:rPr>
              <a:t> </a:t>
            </a:r>
            <a:r>
              <a:rPr sz="1200" b="0" i="0">
                <a:solidFill>
                  <a:srgbClr val="8F3A22"/>
                </a:solidFill>
                <a:latin typeface="Consolas"/>
              </a:rPr>
              <a:t>#DrySkin</a:t>
            </a:r>
            <a:r>
              <a:rPr sz="1350" b="0" i="0">
                <a:solidFill>
                  <a:srgbClr val="2A2622"/>
                </a:solidFill>
                <a:latin typeface="Calibri"/>
              </a:rPr>
              <a:t> </a:t>
            </a:r>
            <a:r>
              <a:rPr sz="1200" b="0" i="0">
                <a:solidFill>
                  <a:srgbClr val="8F3A22"/>
                </a:solidFill>
                <a:latin typeface="Consolas"/>
              </a:rPr>
              <a:t>#DullSkin</a:t>
            </a:r>
            <a:r>
              <a:rPr sz="1350" b="0" i="0">
                <a:solidFill>
                  <a:srgbClr val="2A2622"/>
                </a:solidFill>
                <a:latin typeface="Calibri"/>
              </a:rPr>
              <a:t> </a:t>
            </a:r>
            <a:r>
              <a:rPr sz="1200" b="0" i="0">
                <a:solidFill>
                  <a:srgbClr val="8F3A22"/>
                </a:solidFill>
                <a:latin typeface="Consolas"/>
              </a:rPr>
              <a:t>#TannedSkin</a:t>
            </a:r>
            <a:r>
              <a:rPr sz="1350" b="0" i="0">
                <a:solidFill>
                  <a:srgbClr val="2A2622"/>
                </a:solidFill>
                <a:latin typeface="Calibri"/>
              </a:rPr>
              <a:t> </a:t>
            </a:r>
            <a:r>
              <a:rPr sz="1200" b="0" i="0">
                <a:solidFill>
                  <a:srgbClr val="8F3A22"/>
                </a:solidFill>
                <a:latin typeface="Consolas"/>
              </a:rPr>
              <a:t>#Pigmentation</a:t>
            </a:r>
            <a:r>
              <a:rPr sz="1350" b="0" i="0">
                <a:solidFill>
                  <a:srgbClr val="2A2622"/>
                </a:solidFill>
                <a:latin typeface="Calibri"/>
              </a:rPr>
              <a:t> </a:t>
            </a:r>
            <a:r>
              <a:rPr sz="1200" b="0" i="0">
                <a:solidFill>
                  <a:srgbClr val="8F3A22"/>
                </a:solidFill>
                <a:latin typeface="Consolas"/>
              </a:rPr>
              <a:t>#AcneProneSkin</a:t>
            </a:r>
            <a:r>
              <a:rPr sz="1350" b="0" i="0">
                <a:solidFill>
                  <a:srgbClr val="2A2622"/>
                </a:solidFill>
                <a:latin typeface="Calibri"/>
              </a:rPr>
              <a:t> </a:t>
            </a:r>
            <a:r>
              <a:rPr sz="1200" b="0" i="0">
                <a:solidFill>
                  <a:srgbClr val="8F3A22"/>
                </a:solidFill>
                <a:latin typeface="Consolas"/>
              </a:rPr>
              <a:t>#CombinationSkin</a:t>
            </a:r>
            <a:r>
              <a:rPr sz="1350" b="0" i="0">
                <a:solidFill>
                  <a:srgbClr val="2A2622"/>
                </a:solidFill>
                <a:latin typeface="Calibri"/>
              </a:rPr>
              <a:t> </a:t>
            </a:r>
            <a:r>
              <a:rPr sz="1200" b="0" i="0">
                <a:solidFill>
                  <a:srgbClr val="8F3A22"/>
                </a:solidFill>
                <a:latin typeface="Consolas"/>
              </a:rPr>
              <a:t>#MonsoonSkincare</a:t>
            </a:r>
            <a:r>
              <a:rPr sz="1350" b="0" i="0">
                <a:solidFill>
                  <a:srgbClr val="2A2622"/>
                </a:solidFill>
                <a:latin typeface="Calibri"/>
              </a:rPr>
              <a:t> </a:t>
            </a:r>
            <a:r>
              <a:rPr sz="1200" b="0" i="0">
                <a:solidFill>
                  <a:srgbClr val="8F3A22"/>
                </a:solidFill>
                <a:latin typeface="Consolas"/>
              </a:rPr>
              <a:t>#SummerSkincare</a:t>
            </a:r>
            <a:r>
              <a:rPr sz="1350" b="0" i="0">
                <a:solidFill>
                  <a:srgbClr val="2A2622"/>
                </a:solidFill>
                <a:latin typeface="Calibri"/>
              </a:rPr>
              <a:t> </a:t>
            </a:r>
            <a:r>
              <a:rPr sz="1200" b="0" i="0">
                <a:solidFill>
                  <a:srgbClr val="8F3A22"/>
                </a:solidFill>
                <a:latin typeface="Consolas"/>
              </a:rPr>
              <a:t>#WinterSkincare</a:t>
            </a:r>
            <a:r>
              <a:rPr sz="1350" b="0" i="0">
                <a:solidFill>
                  <a:srgbClr val="2A2622"/>
                </a:solidFill>
                <a:latin typeface="Calibri"/>
              </a:rPr>
              <a:t> </a:t>
            </a:r>
            <a:r>
              <a:rPr sz="1200" b="0" i="0">
                <a:solidFill>
                  <a:srgbClr val="8F3A22"/>
                </a:solidFill>
                <a:latin typeface="Consolas"/>
              </a:rPr>
              <a:t>#IndianSkin</a:t>
            </a:r>
            <a:r>
              <a:rPr sz="1350" b="0" i="0">
                <a:solidFill>
                  <a:srgbClr val="2A2622"/>
                </a:solidFill>
                <a:latin typeface="Calibri"/>
              </a:rPr>
              <a:t> </a:t>
            </a:r>
            <a:r>
              <a:rPr sz="1200" b="0" i="0">
                <a:solidFill>
                  <a:srgbClr val="8F3A22"/>
                </a:solidFill>
                <a:latin typeface="Consolas"/>
              </a:rPr>
              <a:t>#SkincareForOilySkin</a:t>
            </a:r>
            <a:r>
              <a:rPr sz="1350" b="0" i="0">
                <a:solidFill>
                  <a:srgbClr val="2A2622"/>
                </a:solidFill>
                <a:latin typeface="Calibri"/>
              </a:rPr>
              <a:t> </a:t>
            </a:r>
            <a:r>
              <a:rPr sz="1200" b="0" i="0">
                <a:solidFill>
                  <a:srgbClr val="8F3A22"/>
                </a:solidFill>
                <a:latin typeface="Consolas"/>
              </a:rPr>
              <a:t>#SkincareForDrySkin</a:t>
            </a:r>
          </a:p>
          <a:p>
            <a:pPr>
              <a:spcBef>
                <a:spcPts val="1000"/>
              </a:spcBef>
              <a:spcAft>
                <a:spcPts val="400"/>
              </a:spcAft>
            </a:pPr>
            <a:r>
              <a:rPr sz="1600" b="1" i="0">
                <a:solidFill>
                  <a:srgbClr val="8F3A22"/>
                </a:solidFill>
                <a:latin typeface="Calibri"/>
              </a:rPr>
              <a:t>SET 4 — LOCATION (1–3 per post; always for Gujarat-anchored content)</a:t>
            </a:r>
          </a:p>
          <a:p>
            <a:pPr>
              <a:spcAft>
                <a:spcPts val="700"/>
              </a:spcAft>
            </a:pPr>
            <a:r>
              <a:rPr sz="1200" b="0" i="0">
                <a:solidFill>
                  <a:srgbClr val="8F3A22"/>
                </a:solidFill>
                <a:latin typeface="Consolas"/>
              </a:rPr>
              <a:t>#Ahmedabad</a:t>
            </a:r>
            <a:r>
              <a:rPr sz="1350" b="0" i="0">
                <a:solidFill>
                  <a:srgbClr val="2A2622"/>
                </a:solidFill>
                <a:latin typeface="Calibri"/>
              </a:rPr>
              <a:t> </a:t>
            </a:r>
            <a:r>
              <a:rPr sz="1200" b="0" i="0">
                <a:solidFill>
                  <a:srgbClr val="8F3A22"/>
                </a:solidFill>
                <a:latin typeface="Consolas"/>
              </a:rPr>
              <a:t>#Amdavad</a:t>
            </a:r>
            <a:r>
              <a:rPr sz="1350" b="0" i="0">
                <a:solidFill>
                  <a:srgbClr val="2A2622"/>
                </a:solidFill>
                <a:latin typeface="Calibri"/>
              </a:rPr>
              <a:t> </a:t>
            </a:r>
            <a:r>
              <a:rPr sz="1200" b="0" i="0">
                <a:solidFill>
                  <a:srgbClr val="8F3A22"/>
                </a:solidFill>
                <a:latin typeface="Consolas"/>
              </a:rPr>
              <a:t>#Gujarat</a:t>
            </a:r>
            <a:r>
              <a:rPr sz="1350" b="0" i="0">
                <a:solidFill>
                  <a:srgbClr val="2A2622"/>
                </a:solidFill>
                <a:latin typeface="Calibri"/>
              </a:rPr>
              <a:t> · Wave 2: </a:t>
            </a:r>
            <a:r>
              <a:rPr sz="1200" b="0" i="0">
                <a:solidFill>
                  <a:srgbClr val="8F3A22"/>
                </a:solidFill>
                <a:latin typeface="Consolas"/>
              </a:rPr>
              <a:t>#Surat</a:t>
            </a:r>
            <a:r>
              <a:rPr sz="1350" b="0" i="0">
                <a:solidFill>
                  <a:srgbClr val="2A2622"/>
                </a:solidFill>
                <a:latin typeface="Calibri"/>
              </a:rPr>
              <a:t> </a:t>
            </a:r>
            <a:r>
              <a:rPr sz="1200" b="0" i="0">
                <a:solidFill>
                  <a:srgbClr val="8F3A22"/>
                </a:solidFill>
                <a:latin typeface="Consolas"/>
              </a:rPr>
              <a:t>#Vadodara</a:t>
            </a:r>
            <a:r>
              <a:rPr sz="1350" b="0" i="0">
                <a:solidFill>
                  <a:srgbClr val="2A2622"/>
                </a:solidFill>
                <a:latin typeface="Calibri"/>
              </a:rPr>
              <a:t> · Wave 3: </a:t>
            </a:r>
            <a:r>
              <a:rPr sz="1200" b="0" i="0">
                <a:solidFill>
                  <a:srgbClr val="8F3A22"/>
                </a:solidFill>
                <a:latin typeface="Consolas"/>
              </a:rPr>
              <a:t>#Rajkot</a:t>
            </a:r>
            <a:r>
              <a:rPr sz="1350" b="0" i="0">
                <a:solidFill>
                  <a:srgbClr val="2A2622"/>
                </a:solidFill>
                <a:latin typeface="Calibri"/>
              </a:rPr>
              <a:t> · National phase: </a:t>
            </a:r>
            <a:r>
              <a:rPr sz="1200" b="0" i="0">
                <a:solidFill>
                  <a:srgbClr val="8F3A22"/>
                </a:solidFill>
                <a:latin typeface="Consolas"/>
              </a:rPr>
              <a:t>#Mumbai</a:t>
            </a:r>
            <a:r>
              <a:rPr sz="1350" b="0" i="0">
                <a:solidFill>
                  <a:srgbClr val="2A2622"/>
                </a:solidFill>
                <a:latin typeface="Calibri"/>
              </a:rPr>
              <a:t> </a:t>
            </a:r>
            <a:r>
              <a:rPr sz="1200" b="0" i="0">
                <a:solidFill>
                  <a:srgbClr val="8F3A22"/>
                </a:solidFill>
                <a:latin typeface="Consolas"/>
              </a:rPr>
              <a:t>#DelhiNCR</a:t>
            </a:r>
            <a:r>
              <a:rPr sz="1350" b="0" i="0">
                <a:solidFill>
                  <a:srgbClr val="2A2622"/>
                </a:solidFill>
                <a:latin typeface="Calibri"/>
              </a:rPr>
              <a:t> </a:t>
            </a:r>
            <a:r>
              <a:rPr sz="1200" b="0" i="0">
                <a:solidFill>
                  <a:srgbClr val="8F3A22"/>
                </a:solidFill>
                <a:latin typeface="Consolas"/>
              </a:rPr>
              <a:t>#Bengaluru</a:t>
            </a:r>
            <a:r>
              <a:rPr sz="1350" b="0" i="0">
                <a:solidFill>
                  <a:srgbClr val="2A2622"/>
                </a:solidFill>
                <a:latin typeface="Calibri"/>
              </a:rPr>
              <a:t> etc. (only when the content targets that city)</a:t>
            </a:r>
          </a:p>
          <a:p>
            <a:pPr>
              <a:spcBef>
                <a:spcPts val="1000"/>
              </a:spcBef>
              <a:spcAft>
                <a:spcPts val="400"/>
              </a:spcAft>
            </a:pPr>
            <a:r>
              <a:rPr sz="1600" b="1" i="0">
                <a:solidFill>
                  <a:srgbClr val="8F3A22"/>
                </a:solidFill>
                <a:latin typeface="Calibri"/>
              </a:rPr>
              <a:t>SET 5 — NICHE/COMMUNITY (2–3 per post)</a:t>
            </a:r>
          </a:p>
          <a:p>
            <a:pPr>
              <a:spcAft>
                <a:spcPts val="700"/>
              </a:spcAft>
            </a:pPr>
            <a:r>
              <a:rPr sz="1200" b="0" i="0">
                <a:solidFill>
                  <a:srgbClr val="8F3A22"/>
                </a:solidFill>
                <a:latin typeface="Consolas"/>
              </a:rPr>
              <a:t>#SkincareIndia</a:t>
            </a:r>
            <a:r>
              <a:rPr sz="1350" b="0" i="0">
                <a:solidFill>
                  <a:srgbClr val="2A2622"/>
                </a:solidFill>
                <a:latin typeface="Calibri"/>
              </a:rPr>
              <a:t> </a:t>
            </a:r>
            <a:r>
              <a:rPr sz="1200" b="0" i="0">
                <a:solidFill>
                  <a:srgbClr val="8F3A22"/>
                </a:solidFill>
                <a:latin typeface="Consolas"/>
              </a:rPr>
              <a:t>#IndianSkincare</a:t>
            </a:r>
            <a:r>
              <a:rPr sz="1350" b="0" i="0">
                <a:solidFill>
                  <a:srgbClr val="2A2622"/>
                </a:solidFill>
                <a:latin typeface="Calibri"/>
              </a:rPr>
              <a:t> </a:t>
            </a:r>
            <a:r>
              <a:rPr sz="1200" b="0" i="0">
                <a:solidFill>
                  <a:srgbClr val="8F3A22"/>
                </a:solidFill>
                <a:latin typeface="Consolas"/>
              </a:rPr>
              <a:t>#DesiSkincare</a:t>
            </a:r>
            <a:r>
              <a:rPr sz="1350" b="0" i="0">
                <a:solidFill>
                  <a:srgbClr val="2A2622"/>
                </a:solidFill>
                <a:latin typeface="Calibri"/>
              </a:rPr>
              <a:t> </a:t>
            </a:r>
            <a:r>
              <a:rPr sz="1200" b="0" i="0">
                <a:solidFill>
                  <a:srgbClr val="8F3A22"/>
                </a:solidFill>
                <a:latin typeface="Consolas"/>
              </a:rPr>
              <a:t>#SkincareRoutine</a:t>
            </a:r>
            <a:r>
              <a:rPr sz="1350" b="0" i="0">
                <a:solidFill>
                  <a:srgbClr val="2A2622"/>
                </a:solidFill>
                <a:latin typeface="Calibri"/>
              </a:rPr>
              <a:t> </a:t>
            </a:r>
            <a:r>
              <a:rPr sz="1200" b="0" i="0">
                <a:solidFill>
                  <a:srgbClr val="8F3A22"/>
                </a:solidFill>
                <a:latin typeface="Consolas"/>
              </a:rPr>
              <a:t>#SkincareTips</a:t>
            </a:r>
            <a:r>
              <a:rPr sz="1350" b="0" i="0">
                <a:solidFill>
                  <a:srgbClr val="2A2622"/>
                </a:solidFill>
                <a:latin typeface="Calibri"/>
              </a:rPr>
              <a:t> </a:t>
            </a:r>
            <a:r>
              <a:rPr sz="1200" b="0" i="0">
                <a:solidFill>
                  <a:srgbClr val="8F3A22"/>
                </a:solidFill>
                <a:latin typeface="Consolas"/>
              </a:rPr>
              <a:t>#SkincareEducation</a:t>
            </a:r>
            <a:r>
              <a:rPr sz="1350" b="0" i="0">
                <a:solidFill>
                  <a:srgbClr val="2A2622"/>
                </a:solidFill>
                <a:latin typeface="Calibri"/>
              </a:rPr>
              <a:t> </a:t>
            </a:r>
            <a:r>
              <a:rPr sz="1200" b="0" i="0">
                <a:solidFill>
                  <a:srgbClr val="8F3A22"/>
                </a:solidFill>
                <a:latin typeface="Consolas"/>
              </a:rPr>
              <a:t>#SkincareCommunity</a:t>
            </a:r>
            <a:r>
              <a:rPr sz="1350" b="0" i="0">
                <a:solidFill>
                  <a:srgbClr val="2A2622"/>
                </a:solidFill>
                <a:latin typeface="Calibri"/>
              </a:rPr>
              <a:t> </a:t>
            </a:r>
            <a:r>
              <a:rPr sz="1200" b="0" i="0">
                <a:solidFill>
                  <a:srgbClr val="8F3A22"/>
                </a:solidFill>
                <a:latin typeface="Consolas"/>
              </a:rPr>
              <a:t>#D2CIndia</a:t>
            </a:r>
            <a:r>
              <a:rPr sz="1350" b="0" i="0">
                <a:solidFill>
                  <a:srgbClr val="2A2622"/>
                </a:solidFill>
                <a:latin typeface="Calibri"/>
              </a:rPr>
              <a:t> </a:t>
            </a:r>
            <a:r>
              <a:rPr sz="1200" b="0" i="0">
                <a:solidFill>
                  <a:srgbClr val="8F3A22"/>
                </a:solidFill>
                <a:latin typeface="Consolas"/>
              </a:rPr>
              <a:t>#SupportLocalBrands</a:t>
            </a:r>
            <a:r>
              <a:rPr sz="1350" b="0" i="0">
                <a:solidFill>
                  <a:srgbClr val="2A2622"/>
                </a:solidFill>
                <a:latin typeface="Calibri"/>
              </a:rPr>
              <a:t> </a:t>
            </a:r>
            <a:r>
              <a:rPr sz="1200" b="0" i="0">
                <a:solidFill>
                  <a:srgbClr val="8F3A22"/>
                </a:solidFill>
                <a:latin typeface="Consolas"/>
              </a:rPr>
              <a:t>#MadeInIndia</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264</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Rotation rules</a:t>
            </a:r>
          </a:p>
          <a:p>
            <a:r>
              <a:rPr sz="1200" i="1">
                <a:solidFill>
                  <a:srgbClr val="57504A"/>
                </a:solidFill>
                <a:latin typeface="Calibri"/>
              </a:rPr>
              <a:t>PART 15 — Social Media SEO + Hashtag Framework</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Every post: </a:t>
            </a:r>
            <a:r>
              <a:rPr sz="1350" b="1" i="0">
                <a:solidFill>
                  <a:srgbClr val="2A2622"/>
                </a:solidFill>
                <a:latin typeface="Calibri"/>
              </a:rPr>
              <a:t>1–2 brand + 2–3 product + 2–4 problem + 1–3 location + 2–3 niche</a:t>
            </a:r>
            <a:r>
              <a:rPr sz="1350" b="0" i="0">
                <a:solidFill>
                  <a:srgbClr val="2A2622"/>
                </a:solidFill>
                <a:latin typeface="Calibri"/>
              </a:rPr>
              <a:t> = 8–15 tags.</a:t>
            </a:r>
          </a:p>
          <a:p>
            <a:pPr>
              <a:spcAft>
                <a:spcPts val="400"/>
              </a:spcAft>
            </a:pPr>
            <a:r>
              <a:rPr sz="1350">
                <a:solidFill>
                  <a:srgbClr val="B44A2E"/>
                </a:solidFill>
                <a:latin typeface="Calibri"/>
              </a:rPr>
              <a:t>•  </a:t>
            </a:r>
            <a:r>
              <a:rPr sz="1350" b="1" i="0">
                <a:solidFill>
                  <a:srgbClr val="2A2622"/>
                </a:solidFill>
                <a:latin typeface="Calibri"/>
              </a:rPr>
              <a:t>Never</a:t>
            </a:r>
            <a:r>
              <a:rPr sz="1350" b="0" i="0">
                <a:solidFill>
                  <a:srgbClr val="2A2622"/>
                </a:solidFill>
                <a:latin typeface="Calibri"/>
              </a:rPr>
              <a:t> the exact same tag block twice in a row (rotate within sets).</a:t>
            </a:r>
          </a:p>
          <a:p>
            <a:pPr>
              <a:spcAft>
                <a:spcPts val="400"/>
              </a:spcAft>
            </a:pPr>
            <a:r>
              <a:rPr sz="1350">
                <a:solidFill>
                  <a:srgbClr val="B44A2E"/>
                </a:solidFill>
                <a:latin typeface="Calibri"/>
              </a:rPr>
              <a:t>•  </a:t>
            </a:r>
            <a:r>
              <a:rPr sz="1350" b="1" i="0">
                <a:solidFill>
                  <a:srgbClr val="2A2622"/>
                </a:solidFill>
                <a:latin typeface="Calibri"/>
              </a:rPr>
              <a:t>Never</a:t>
            </a:r>
            <a:r>
              <a:rPr sz="1350" b="0" i="0">
                <a:solidFill>
                  <a:srgbClr val="2A2622"/>
                </a:solidFill>
                <a:latin typeface="Calibri"/>
              </a:rPr>
              <a:t> buy/irrelevant tags (#love, #instagood, #follow4follow — they poison relevance).</a:t>
            </a:r>
          </a:p>
          <a:p>
            <a:pPr>
              <a:spcAft>
                <a:spcPts val="400"/>
              </a:spcAft>
            </a:pPr>
            <a:r>
              <a:rPr sz="1350">
                <a:solidFill>
                  <a:srgbClr val="B44A2E"/>
                </a:solidFill>
                <a:latin typeface="Calibri"/>
              </a:rPr>
              <a:t>•  </a:t>
            </a:r>
            <a:r>
              <a:rPr sz="1350" b="0" i="0">
                <a:solidFill>
                  <a:srgbClr val="2A2622"/>
                </a:solidFill>
                <a:latin typeface="Calibri"/>
              </a:rPr>
              <a:t>Product-launch posts get the full brand set (</a:t>
            </a:r>
            <a:r>
              <a:rPr sz="1200" b="0" i="0">
                <a:solidFill>
                  <a:srgbClr val="8F3A22"/>
                </a:solidFill>
                <a:latin typeface="Consolas"/>
              </a:rPr>
              <a:t>#RangatNaturals #RangatGlow #AameeSkinAamnoLiye</a:t>
            </a:r>
            <a:r>
              <a:rPr sz="1350" b="0" i="0">
                <a:solidFill>
                  <a:srgbClr val="2A2622"/>
                </a:solidFill>
                <a:latin typeface="Calibri"/>
              </a:rPr>
              <a:t>).</a:t>
            </a:r>
          </a:p>
          <a:p>
            <a:pPr>
              <a:spcAft>
                <a:spcPts val="400"/>
              </a:spcAft>
            </a:pPr>
            <a:r>
              <a:rPr sz="1350">
                <a:solidFill>
                  <a:srgbClr val="B44A2E"/>
                </a:solidFill>
                <a:latin typeface="Calibri"/>
              </a:rPr>
              <a:t>•  </a:t>
            </a:r>
            <a:r>
              <a:rPr sz="1350" b="0" i="0">
                <a:solidFill>
                  <a:srgbClr val="2A2622"/>
                </a:solidFill>
                <a:latin typeface="Calibri"/>
              </a:rPr>
              <a:t>Track weekly (30 min, Sunday): impressions from hashtags vs feed vs search → shift set weights (most Indian skincare reach currently comes from search+feed, so keep niche/product sets strong).</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265</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12 READY-MADE SETS (copy-paste, one per post type)</a:t>
            </a:r>
          </a:p>
          <a:p>
            <a:r>
              <a:rPr sz="1200" i="1">
                <a:solidFill>
                  <a:srgbClr val="57504A"/>
                </a:solidFill>
                <a:latin typeface="Calibri"/>
              </a:rPr>
              <a:t>PART 15 — Social Media SEO + Hashtag Framework</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  </a:t>
            </a:r>
            <a:r>
              <a:rPr sz="1350" b="1" i="0">
                <a:solidFill>
                  <a:srgbClr val="2A2622"/>
                </a:solidFill>
                <a:latin typeface="Calibri"/>
              </a:rPr>
              <a:t>Problem reel (oily/monsoon):</a:t>
            </a:r>
            <a:r>
              <a:rPr sz="1350" b="0" i="0">
                <a:solidFill>
                  <a:srgbClr val="2A2622"/>
                </a:solidFill>
                <a:latin typeface="Calibri"/>
              </a:rPr>
              <a:t> #RangatNaturals #OilySkin #MonsoonSkincare #IndianSkin #SkincareTips #Gujarat #Ahmedabad #SkincareIndia #SkincareForOilySkin</a:t>
            </a:r>
          </a:p>
          <a:p>
            <a:pPr>
              <a:spcAft>
                <a:spcPts val="400"/>
              </a:spcAft>
            </a:pPr>
            <a:r>
              <a:rPr sz="1350" b="1">
                <a:solidFill>
                  <a:srgbClr val="8F3A22"/>
                </a:solidFill>
                <a:latin typeface="Calibri"/>
              </a:rPr>
              <a:t>2.  </a:t>
            </a:r>
            <a:r>
              <a:rPr sz="1350" b="1" i="0">
                <a:solidFill>
                  <a:srgbClr val="2A2622"/>
                </a:solidFill>
                <a:latin typeface="Calibri"/>
              </a:rPr>
              <a:t>Vitamin C education:</a:t>
            </a:r>
            <a:r>
              <a:rPr sz="1350" b="0" i="0">
                <a:solidFill>
                  <a:srgbClr val="2A2622"/>
                </a:solidFill>
                <a:latin typeface="Calibri"/>
              </a:rPr>
              <a:t> #RangatNaturals #VitaminCSerum #VitaminCIndia #SkincareEducation #DullSkin #SkincareTips #IndianSkincare #SkincareRoutine</a:t>
            </a:r>
          </a:p>
          <a:p>
            <a:pPr>
              <a:spcAft>
                <a:spcPts val="400"/>
              </a:spcAft>
            </a:pPr>
            <a:r>
              <a:rPr sz="1350" b="1">
                <a:solidFill>
                  <a:srgbClr val="8F3A22"/>
                </a:solidFill>
                <a:latin typeface="Calibri"/>
              </a:rPr>
              <a:t>3.  </a:t>
            </a:r>
            <a:r>
              <a:rPr sz="1350" b="1" i="0">
                <a:solidFill>
                  <a:srgbClr val="2A2622"/>
                </a:solidFill>
                <a:latin typeface="Calibri"/>
              </a:rPr>
              <a:t>Hero product/offer:</a:t>
            </a:r>
            <a:r>
              <a:rPr sz="1350" b="0" i="0">
                <a:solidFill>
                  <a:srgbClr val="2A2622"/>
                </a:solidFill>
                <a:latin typeface="Calibri"/>
              </a:rPr>
              <a:t> #RangatNaturals #RangatGlow #VitaminCSerum #SkinGlow #SkincareIndia #D2CIndia #MadeInIndia #SupportLocalBrands</a:t>
            </a:r>
          </a:p>
          <a:p>
            <a:pPr>
              <a:spcAft>
                <a:spcPts val="400"/>
              </a:spcAft>
            </a:pPr>
            <a:r>
              <a:rPr sz="1350" b="1">
                <a:solidFill>
                  <a:srgbClr val="8F3A22"/>
                </a:solidFill>
                <a:latin typeface="Calibri"/>
              </a:rPr>
              <a:t>4.  </a:t>
            </a:r>
            <a:r>
              <a:rPr sz="1350" b="1" i="0">
                <a:solidFill>
                  <a:srgbClr val="2A2622"/>
                </a:solidFill>
                <a:latin typeface="Calibri"/>
              </a:rPr>
              <a:t>Before/after (disclosed):</a:t>
            </a:r>
            <a:r>
              <a:rPr sz="1350" b="0" i="0">
                <a:solidFill>
                  <a:srgbClr val="2A2622"/>
                </a:solidFill>
                <a:latin typeface="Calibri"/>
              </a:rPr>
              <a:t> #RangatNaturals #RealResults #SkincareJourney #DullSkin #VitaminCSerum #SkincareIndia #SkincareRoutine (no #BeforeAfter spam tags — stay clean)</a:t>
            </a:r>
          </a:p>
          <a:p>
            <a:pPr>
              <a:spcAft>
                <a:spcPts val="400"/>
              </a:spcAft>
            </a:pPr>
            <a:r>
              <a:rPr sz="1350" b="1">
                <a:solidFill>
                  <a:srgbClr val="8F3A22"/>
                </a:solidFill>
                <a:latin typeface="Calibri"/>
              </a:rPr>
              <a:t>5.  </a:t>
            </a:r>
            <a:r>
              <a:rPr sz="1350" b="1" i="0">
                <a:solidFill>
                  <a:srgbClr val="2A2622"/>
                </a:solidFill>
                <a:latin typeface="Calibri"/>
              </a:rPr>
              <a:t>Founder story:</a:t>
            </a:r>
            <a:r>
              <a:rPr sz="1350" b="0" i="0">
                <a:solidFill>
                  <a:srgbClr val="2A2622"/>
                </a:solidFill>
                <a:latin typeface="Calibri"/>
              </a:rPr>
              <a:t> #RangatNaturals #FounderStory #D2CIndia #SupportLocalBrands #Gujarat #Ahmedabad #IndianSkincare #MadeInIndia</a:t>
            </a:r>
          </a:p>
          <a:p>
            <a:pPr>
              <a:spcAft>
                <a:spcPts val="400"/>
              </a:spcAft>
            </a:pPr>
            <a:r>
              <a:rPr sz="1350" b="1">
                <a:solidFill>
                  <a:srgbClr val="8F3A22"/>
                </a:solidFill>
                <a:latin typeface="Calibri"/>
              </a:rPr>
              <a:t>6.  </a:t>
            </a:r>
            <a:r>
              <a:rPr sz="1350" b="1" i="0">
                <a:solidFill>
                  <a:srgbClr val="2A2622"/>
                </a:solidFill>
                <a:latin typeface="Calibri"/>
              </a:rPr>
              <a:t>Sunscreen (wave 2):</a:t>
            </a:r>
            <a:r>
              <a:rPr sz="1350" b="0" i="0">
                <a:solidFill>
                  <a:srgbClr val="2A2622"/>
                </a:solidFill>
                <a:latin typeface="Calibri"/>
              </a:rPr>
              <a:t> #RangatNaturals #Sunscreen #SPF50 #SunscreenIndia #NoWhiteCast #SummerSkincare #SkincareTips #Ahmedabad</a:t>
            </a:r>
          </a:p>
          <a:p>
            <a:pPr>
              <a:spcAft>
                <a:spcPts val="400"/>
              </a:spcAft>
            </a:pPr>
            <a:r>
              <a:rPr sz="1350" b="1">
                <a:solidFill>
                  <a:srgbClr val="8F3A22"/>
                </a:solidFill>
                <a:latin typeface="Calibri"/>
              </a:rPr>
              <a:t>7.  </a:t>
            </a:r>
            <a:r>
              <a:rPr sz="1350" b="1" i="0">
                <a:solidFill>
                  <a:srgbClr val="2A2622"/>
                </a:solidFill>
                <a:latin typeface="Calibri"/>
              </a:rPr>
              <a:t>Face Wash / male:</a:t>
            </a:r>
            <a:r>
              <a:rPr sz="1350" b="0" i="0">
                <a:solidFill>
                  <a:srgbClr val="2A2622"/>
                </a:solidFill>
                <a:latin typeface="Calibri"/>
              </a:rPr>
              <a:t> #RangatNaturals #FaceWash #FaceWashIndia #MensGrooming #OilySkin #SkincareTips #IndianSkincare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266</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12 READY-MADE SETS (copy-paste, one per post type)</a:t>
            </a:r>
          </a:p>
          <a:p>
            <a:r>
              <a:rPr sz="1200" i="1">
                <a:solidFill>
                  <a:srgbClr val="57504A"/>
                </a:solidFill>
                <a:latin typeface="Calibri"/>
              </a:rPr>
              <a:t>PART 15 — Social Media SEO + Hashtag Framework</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8.  </a:t>
            </a:r>
            <a:r>
              <a:rPr sz="1350" b="1" i="0">
                <a:solidFill>
                  <a:srgbClr val="2A2622"/>
                </a:solidFill>
                <a:latin typeface="Calibri"/>
              </a:rPr>
              <a:t>Gujarat relatable:</a:t>
            </a:r>
            <a:r>
              <a:rPr sz="1350" b="0" i="0">
                <a:solidFill>
                  <a:srgbClr val="2A2622"/>
                </a:solidFill>
                <a:latin typeface="Calibri"/>
              </a:rPr>
              <a:t> #RangatNaturals #AameeSkinAamnoLiye #Gujarat #Amdavad #DesiSkincare #Gujarati #IndianSkincare #SkincareIndia</a:t>
            </a:r>
          </a:p>
          <a:p>
            <a:pPr>
              <a:spcAft>
                <a:spcPts val="400"/>
              </a:spcAft>
            </a:pPr>
            <a:r>
              <a:rPr sz="1350" b="1">
                <a:solidFill>
                  <a:srgbClr val="8F3A22"/>
                </a:solidFill>
                <a:latin typeface="Calibri"/>
              </a:rPr>
              <a:t>9.  </a:t>
            </a:r>
            <a:r>
              <a:rPr sz="1350" b="1" i="0">
                <a:solidFill>
                  <a:srgbClr val="2A2622"/>
                </a:solidFill>
                <a:latin typeface="Calibri"/>
              </a:rPr>
              <a:t>Wedding glow (Oct–Feb):</a:t>
            </a:r>
            <a:r>
              <a:rPr sz="1350" b="0" i="0">
                <a:solidFill>
                  <a:srgbClr val="2A2622"/>
                </a:solidFill>
                <a:latin typeface="Calibri"/>
              </a:rPr>
              <a:t> #RangatNaturals #WeddingGlow #BrideSkincare #SkincareRoutine #Sunscreen #VitaminCSerum #SkincareIndia #Gujarat</a:t>
            </a:r>
          </a:p>
          <a:p>
            <a:pPr>
              <a:spcAft>
                <a:spcPts val="400"/>
              </a:spcAft>
            </a:pPr>
            <a:r>
              <a:rPr sz="1350" b="1">
                <a:solidFill>
                  <a:srgbClr val="8F3A22"/>
                </a:solidFill>
                <a:latin typeface="Calibri"/>
              </a:rPr>
              <a:t>10.  </a:t>
            </a:r>
            <a:r>
              <a:rPr sz="1350" b="1" i="0">
                <a:solidFill>
                  <a:srgbClr val="2A2622"/>
                </a:solidFill>
                <a:latin typeface="Calibri"/>
              </a:rPr>
              <a:t>Diwali gifting (Nov):</a:t>
            </a:r>
            <a:r>
              <a:rPr sz="1350" b="0" i="0">
                <a:solidFill>
                  <a:srgbClr val="2A2622"/>
                </a:solidFill>
                <a:latin typeface="Calibri"/>
              </a:rPr>
              <a:t> #RangatNaturals #DiwaliGifts #GiftBox #SkincareGift #Diwali2026 #Gujarat #D2CIndia #SupportLocalBrands</a:t>
            </a:r>
          </a:p>
          <a:p>
            <a:pPr>
              <a:spcAft>
                <a:spcPts val="400"/>
              </a:spcAft>
            </a:pPr>
            <a:r>
              <a:rPr sz="1350" b="1">
                <a:solidFill>
                  <a:srgbClr val="8F3A22"/>
                </a:solidFill>
                <a:latin typeface="Calibri"/>
              </a:rPr>
              <a:t>11.  </a:t>
            </a:r>
            <a:r>
              <a:rPr sz="1350" b="1" i="0">
                <a:solidFill>
                  <a:srgbClr val="2A2622"/>
                </a:solidFill>
                <a:latin typeface="Calibri"/>
              </a:rPr>
              <a:t>Winter (Dec–Feb):</a:t>
            </a:r>
            <a:r>
              <a:rPr sz="1350" b="0" i="0">
                <a:solidFill>
                  <a:srgbClr val="2A2622"/>
                </a:solidFill>
                <a:latin typeface="Calibri"/>
              </a:rPr>
              <a:t> #RangatNaturals #DrySkin #WinterSkincare #FaceCream #LipCare #SkincareTips #IndianSkincare #Rajkot</a:t>
            </a:r>
          </a:p>
          <a:p>
            <a:pPr>
              <a:spcAft>
                <a:spcPts val="400"/>
              </a:spcAft>
            </a:pPr>
            <a:r>
              <a:rPr sz="1350" b="1">
                <a:solidFill>
                  <a:srgbClr val="8F3A22"/>
                </a:solidFill>
                <a:latin typeface="Calibri"/>
              </a:rPr>
              <a:t>12.  </a:t>
            </a:r>
            <a:r>
              <a:rPr sz="1350" b="1" i="0">
                <a:solidFill>
                  <a:srgbClr val="2A2622"/>
                </a:solidFill>
                <a:latin typeface="Calibri"/>
              </a:rPr>
              <a:t>Referral/community:</a:t>
            </a:r>
            <a:r>
              <a:rPr sz="1350" b="0" i="0">
                <a:solidFill>
                  <a:srgbClr val="2A2622"/>
                </a:solidFill>
                <a:latin typeface="Calibri"/>
              </a:rPr>
              <a:t> #RangatNaturals #RangatGlow #SkincareCommunity #SkincareIndia #SupportLocalBrands #D2CIndia #MadeInIndia</a:t>
            </a:r>
          </a:p>
          <a:p>
            <a:pPr>
              <a:spcAft>
                <a:spcPts val="700"/>
              </a:spcAft>
            </a:pPr>
            <a:r>
              <a:rPr sz="1350" b="1" i="0">
                <a:solidFill>
                  <a:srgbClr val="2A2622"/>
                </a:solidFill>
                <a:latin typeface="Calibri"/>
              </a:rPr>
              <a:t>Growth phase note:</a:t>
            </a:r>
            <a:r>
              <a:rPr sz="1350" b="0" i="0">
                <a:solidFill>
                  <a:srgbClr val="2A2622"/>
                </a:solidFill>
                <a:latin typeface="Calibri"/>
              </a:rPr>
              <a:t> as the account scales (10k+), drop generic niche tags (#SkincareTips) — they stop helping and start hurting relevance — and lean on brand + product + problem + location sets + search optimization.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267</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16</a:t>
            </a:r>
          </a:p>
        </p:txBody>
      </p:sp>
      <p:sp>
        <p:nvSpPr>
          <p:cNvPr id="4" name="TextBox 3"/>
          <p:cNvSpPr txBox="1"/>
          <p:nvPr/>
        </p:nvSpPr>
        <p:spPr>
          <a:xfrm>
            <a:off x="914400" y="2377440"/>
            <a:ext cx="10362895" cy="1645920"/>
          </a:xfrm>
          <a:prstGeom prst="rect">
            <a:avLst/>
          </a:prstGeom>
          <a:noFill/>
        </p:spPr>
        <p:txBody>
          <a:bodyPr wrap="square">
            <a:spAutoFit/>
          </a:bodyPr>
          <a:lstStyle/>
          <a:p>
            <a:r>
              <a:rPr sz="3000" b="1">
                <a:solidFill>
                  <a:srgbClr val="8F3A22"/>
                </a:solidFill>
                <a:latin typeface="Calibri"/>
              </a:rPr>
              <a:t>§16 META ADS STRATEGY + §17 BUDGETS — RANGAT NATURALS</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Meta Ads: 4 Campaigns + Budget Strategy</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268</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CEO call: ads IMMEDIATELY or after organic proof?</a:t>
            </a:r>
          </a:p>
          <a:p>
            <a:r>
              <a:rPr sz="1200" i="1">
                <a:solidFill>
                  <a:srgbClr val="57504A"/>
                </a:solidFill>
                <a:latin typeface="Calibri"/>
              </a:rPr>
              <a:t>PART 16 — Meta Ads: 4 Campaigns + Budget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After organic proof — but the clock starts Day 15, not Day 90.</a:t>
            </a:r>
          </a:p>
          <a:p>
            <a:pPr>
              <a:spcAft>
                <a:spcPts val="700"/>
              </a:spcAft>
            </a:pPr>
            <a:r>
              <a:rPr sz="1350" b="0" i="0">
                <a:solidFill>
                  <a:srgbClr val="2A2622"/>
                </a:solidFill>
                <a:latin typeface="Calibri"/>
              </a:rPr>
              <a:t>Reasoning (money-first):</a:t>
            </a:r>
          </a:p>
          <a:p>
            <a:pPr>
              <a:spcAft>
                <a:spcPts val="400"/>
              </a:spcAft>
            </a:pPr>
            <a:r>
              <a:rPr sz="1350" b="1">
                <a:solidFill>
                  <a:srgbClr val="8F3A22"/>
                </a:solidFill>
                <a:latin typeface="Calibri"/>
              </a:rPr>
              <a:t>1.  </a:t>
            </a:r>
            <a:r>
              <a:rPr sz="1350" b="0" i="0">
                <a:solidFill>
                  <a:srgbClr val="2A2622"/>
                </a:solidFill>
                <a:latin typeface="Calibri"/>
              </a:rPr>
              <a:t>A new cosmetics brand with zero reviews running ads on Day 1 = paying ₹150–₹300 per "hmm, who is this?" that never converts. Indian skincare prospecting CPMs are already high (₹100–260) because every D2C brand fights for the same feed.</a:t>
            </a:r>
          </a:p>
          <a:p>
            <a:pPr>
              <a:spcAft>
                <a:spcPts val="400"/>
              </a:spcAft>
            </a:pPr>
            <a:r>
              <a:rPr sz="1350" b="1">
                <a:solidFill>
                  <a:srgbClr val="8F3A22"/>
                </a:solidFill>
                <a:latin typeface="Calibri"/>
              </a:rPr>
              <a:t>2.  </a:t>
            </a:r>
            <a:r>
              <a:rPr sz="1350" b="0" i="0">
                <a:solidFill>
                  <a:srgbClr val="2A2622"/>
                </a:solidFill>
                <a:latin typeface="Calibri"/>
              </a:rPr>
              <a:t>Your </a:t>
            </a:r>
            <a:r>
              <a:rPr sz="1350" b="1" i="0">
                <a:solidFill>
                  <a:srgbClr val="2A2622"/>
                </a:solidFill>
                <a:latin typeface="Calibri"/>
              </a:rPr>
              <a:t>first ad creative must contain proof</a:t>
            </a:r>
            <a:r>
              <a:rPr sz="1350" b="0" i="0">
                <a:solidFill>
                  <a:srgbClr val="2A2622"/>
                </a:solidFill>
                <a:latin typeface="Calibri"/>
              </a:rPr>
              <a:t> (a real testimonial, a real before/after with disclosure, a real unboxing). That proof doesn't exist before ~Day 17.</a:t>
            </a:r>
          </a:p>
          <a:p>
            <a:pPr>
              <a:spcAft>
                <a:spcPts val="400"/>
              </a:spcAft>
            </a:pPr>
            <a:r>
              <a:rPr sz="1350" b="1">
                <a:solidFill>
                  <a:srgbClr val="8F3A22"/>
                </a:solidFill>
                <a:latin typeface="Calibri"/>
              </a:rPr>
              <a:t>3.  </a:t>
            </a:r>
            <a:r>
              <a:rPr sz="1350" b="0" i="0">
                <a:solidFill>
                  <a:srgbClr val="2A2622"/>
                </a:solidFill>
                <a:latin typeface="Calibri"/>
              </a:rPr>
              <a:t>BUT: waiting 90 days wastes the launch window (Oct–Feb = wedding/Diwali season). So: </a:t>
            </a:r>
            <a:r>
              <a:rPr sz="1350" b="1" i="0">
                <a:solidFill>
                  <a:srgbClr val="2A2622"/>
                </a:solidFill>
                <a:latin typeface="Calibri"/>
              </a:rPr>
              <a:t>organic-only Days 1–14 → optional ₹200/day boost Day 15–20 (only on organic-validated reels) → full ads from Day 21 (launch) at ₹500/day.</a:t>
            </a:r>
          </a:p>
          <a:p>
            <a:pPr>
              <a:spcAft>
                <a:spcPts val="700"/>
              </a:spcAft>
            </a:pPr>
            <a:r>
              <a:rPr sz="1350" b="1" i="0">
                <a:solidFill>
                  <a:srgbClr val="2A2622"/>
                </a:solidFill>
                <a:latin typeface="Calibri"/>
              </a:rPr>
              <a:t>The only pre-launch ad spend that makes sense (Day 15–20, optional):</a:t>
            </a:r>
            <a:r>
              <a:rPr sz="1350" b="0" i="0">
                <a:solidFill>
                  <a:srgbClr val="2A2622"/>
                </a:solidFill>
                <a:latin typeface="Calibri"/>
              </a:rPr>
              <a:t> take your single best organic Reel (reach CTR ≥ 1.5%, 25%+ 3-sec retention) and run it as a </a:t>
            </a:r>
            <a:r>
              <a:rPr sz="1350" b="1" i="0">
                <a:solidFill>
                  <a:srgbClr val="2A2622"/>
                </a:solidFill>
                <a:latin typeface="Calibri"/>
              </a:rPr>
              <a:t>traffic/follower objective at ₹200/day, Ahmedabad only, 20–40F</a:t>
            </a:r>
            <a:r>
              <a:rPr sz="1350" b="0" i="0">
                <a:solidFill>
                  <a:srgbClr val="2A2622"/>
                </a:solidFill>
                <a:latin typeface="Calibri"/>
              </a:rPr>
              <a:t> — goal: followers + waitlist DMs, not sales. If it can't beat organic CTR, kill it and save the money.</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269</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CEO call: ads IMMEDIATELY or after organic proof?</a:t>
            </a:r>
          </a:p>
          <a:p>
            <a:r>
              <a:rPr sz="1200" i="1">
                <a:solidFill>
                  <a:srgbClr val="57504A"/>
                </a:solidFill>
                <a:latin typeface="Calibri"/>
              </a:rPr>
              <a:t>PART 16 — Meta Ads: 4 Campaigns + Budget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Ad infrastructure (build by Day 14, before any spend):</a:t>
            </a:r>
          </a:p>
          <a:p>
            <a:pPr>
              <a:spcAft>
                <a:spcPts val="400"/>
              </a:spcAft>
            </a:pPr>
            <a:r>
              <a:rPr sz="1350">
                <a:solidFill>
                  <a:srgbClr val="B44A2E"/>
                </a:solidFill>
                <a:latin typeface="Calibri"/>
              </a:rPr>
              <a:t>•  </a:t>
            </a:r>
            <a:r>
              <a:rPr sz="1350" b="0" i="0">
                <a:solidFill>
                  <a:srgbClr val="2A2622"/>
                </a:solidFill>
                <a:latin typeface="Calibri"/>
              </a:rPr>
              <a:t>Meta Business Manager + ad account, payment (₹ via card/UPI-supported method), time zone IST.</a:t>
            </a:r>
          </a:p>
          <a:p>
            <a:pPr>
              <a:spcAft>
                <a:spcPts val="400"/>
              </a:spcAft>
            </a:pPr>
            <a:r>
              <a:rPr sz="1350">
                <a:solidFill>
                  <a:srgbClr val="B44A2E"/>
                </a:solidFill>
                <a:latin typeface="Calibri"/>
              </a:rPr>
              <a:t>•  </a:t>
            </a:r>
            <a:r>
              <a:rPr sz="1350" b="1" i="0">
                <a:solidFill>
                  <a:srgbClr val="2A2622"/>
                </a:solidFill>
                <a:latin typeface="Calibri"/>
              </a:rPr>
              <a:t>Meta Pixel</a:t>
            </a:r>
            <a:r>
              <a:rPr sz="1350" b="0" i="0">
                <a:solidFill>
                  <a:srgbClr val="2A2622"/>
                </a:solidFill>
                <a:latin typeface="Calibri"/>
              </a:rPr>
              <a:t> on website (if live) + </a:t>
            </a:r>
            <a:r>
              <a:rPr sz="1350" b="1" i="0">
                <a:solidFill>
                  <a:srgbClr val="2A2622"/>
                </a:solidFill>
                <a:latin typeface="Calibri"/>
              </a:rPr>
              <a:t>Conversions API</a:t>
            </a:r>
            <a:r>
              <a:rPr sz="1350" b="0" i="0">
                <a:solidFill>
                  <a:srgbClr val="2A2622"/>
                </a:solidFill>
                <a:latin typeface="Calibri"/>
              </a:rPr>
              <a:t> — events: PageView, AddToCart, InitiateCheckout, Purchase.</a:t>
            </a:r>
          </a:p>
          <a:p>
            <a:pPr>
              <a:spcAft>
                <a:spcPts val="400"/>
              </a:spcAft>
            </a:pPr>
            <a:r>
              <a:rPr sz="1350">
                <a:solidFill>
                  <a:srgbClr val="B44A2E"/>
                </a:solidFill>
                <a:latin typeface="Calibri"/>
              </a:rPr>
              <a:t>•  </a:t>
            </a:r>
            <a:r>
              <a:rPr sz="1350" b="1" i="0">
                <a:solidFill>
                  <a:srgbClr val="2A2622"/>
                </a:solidFill>
                <a:latin typeface="Calibri"/>
              </a:rPr>
              <a:t>WhatsApp Business API</a:t>
            </a:r>
            <a:r>
              <a:rPr sz="1350" b="0" i="0">
                <a:solidFill>
                  <a:srgbClr val="2A2622"/>
                </a:solidFill>
                <a:latin typeface="Calibri"/>
              </a:rPr>
              <a:t> connected (Click-to-WhatsApp objective) + the GLOW quick-reply flow.</a:t>
            </a:r>
          </a:p>
          <a:p>
            <a:pPr>
              <a:spcAft>
                <a:spcPts val="400"/>
              </a:spcAft>
            </a:pPr>
            <a:r>
              <a:rPr sz="1350">
                <a:solidFill>
                  <a:srgbClr val="B44A2E"/>
                </a:solidFill>
                <a:latin typeface="Calibri"/>
              </a:rPr>
              <a:t>•  </a:t>
            </a:r>
            <a:r>
              <a:rPr sz="1350" b="1" i="0">
                <a:solidFill>
                  <a:srgbClr val="2A2622"/>
                </a:solidFill>
                <a:latin typeface="Calibri"/>
              </a:rPr>
              <a:t>Catalog</a:t>
            </a:r>
            <a:r>
              <a:rPr sz="1350" b="0" i="0">
                <a:solidFill>
                  <a:srgbClr val="2A2622"/>
                </a:solidFill>
                <a:latin typeface="Calibri"/>
              </a:rPr>
              <a:t> (serum, face wash, moisturizer, kits) with the real photos.</a:t>
            </a:r>
          </a:p>
          <a:p>
            <a:pPr>
              <a:spcAft>
                <a:spcPts val="400"/>
              </a:spcAft>
            </a:pPr>
            <a:r>
              <a:rPr sz="1350">
                <a:solidFill>
                  <a:srgbClr val="B44A2E"/>
                </a:solidFill>
                <a:latin typeface="Calibri"/>
              </a:rPr>
              <a:t>•  </a:t>
            </a:r>
            <a:r>
              <a:rPr sz="1350" b="0" i="0">
                <a:solidFill>
                  <a:srgbClr val="2A2622"/>
                </a:solidFill>
                <a:latin typeface="Calibri"/>
              </a:rPr>
              <a:t>Creative permission forms collected from testers/creators (ad use rights — see §8).</a:t>
            </a:r>
          </a:p>
          <a:p>
            <a:pPr>
              <a:spcAft>
                <a:spcPts val="400"/>
              </a:spcAft>
            </a:pPr>
            <a:r>
              <a:rPr sz="1350">
                <a:solidFill>
                  <a:srgbClr val="B44A2E"/>
                </a:solidFill>
                <a:latin typeface="Calibri"/>
              </a:rPr>
              <a:t>•  </a:t>
            </a:r>
            <a:r>
              <a:rPr sz="1350" b="1" i="0">
                <a:solidFill>
                  <a:srgbClr val="2A2622"/>
                </a:solidFill>
                <a:latin typeface="Calibri"/>
              </a:rPr>
              <a:t>Creative bank ready Day 20:</a:t>
            </a:r>
            <a:r>
              <a:rPr sz="1350" b="0" i="0">
                <a:solidFill>
                  <a:srgbClr val="2A2622"/>
                </a:solidFill>
                <a:latin typeface="Calibri"/>
              </a:rPr>
              <a:t> 6 videos (D17 B/A, D19 creator, D21 launch, D22 objection, D24 unboxing, D26 testimonial) + 3 statics (offer card, texture, box-content).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270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4 CAMPAIGNS</a:t>
            </a:r>
          </a:p>
          <a:p>
            <a:r>
              <a:rPr sz="1200" i="1">
                <a:solidFill>
                  <a:srgbClr val="57504A"/>
                </a:solidFill>
                <a:latin typeface="Calibri"/>
              </a:rPr>
              <a:t>PART 16 — Meta Ads: 4 Campaigns + Budget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CAMPAIGN 1 — "GLOW PROSPECT" (cold, conversions) — LIVE DAY 21</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271</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4 CAMPAIGNS</a:t>
            </a:r>
          </a:p>
          <a:p>
            <a:r>
              <a:rPr sz="1200" i="1">
                <a:solidFill>
                  <a:srgbClr val="57504A"/>
                </a:solidFill>
                <a:latin typeface="Calibri"/>
              </a:rPr>
              <a:t>PART 16 — Meta Ads: 4 Campaigns + Budget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2778236"/>
                <a:gridCol w="8773378"/>
              </a:tblGrid>
              <a:tr h="359228">
                <a:tc>
                  <a:txBody>
                    <a:bodyPr wrap="square"/>
                    <a:lstStyle/>
                    <a:p>
                      <a:r>
                        <a:rPr sz="1050" b="1" i="0">
                          <a:solidFill>
                            <a:srgbClr val="FFFFFF"/>
                          </a:solidFill>
                          <a:latin typeface="Calibri"/>
                        </a:rPr>
                        <a:t>Element</a:t>
                      </a:r>
                    </a:p>
                  </a:txBody>
                  <a:tcPr marL="45720" marR="45720" marT="18288" marB="18288" anchor="t">
                    <a:solidFill>
                      <a:srgbClr val="B44A2E"/>
                    </a:solidFill>
                  </a:tcPr>
                </a:tc>
                <a:tc>
                  <a:txBody>
                    <a:bodyPr wrap="square"/>
                    <a:lstStyle/>
                    <a:p>
                      <a:r>
                        <a:rPr sz="1050" b="1" i="0">
                          <a:solidFill>
                            <a:srgbClr val="FFFFFF"/>
                          </a:solidFill>
                          <a:latin typeface="Calibri"/>
                        </a:rPr>
                        <a:t>Spec</a:t>
                      </a:r>
                    </a:p>
                  </a:txBody>
                  <a:tcPr marL="45720" marR="45720" marT="18288" marB="18288" anchor="t">
                    <a:solidFill>
                      <a:srgbClr val="B44A2E"/>
                    </a:solidFill>
                  </a:tcPr>
                </a:tc>
              </a:tr>
              <a:tr h="359228">
                <a:tc>
                  <a:txBody>
                    <a:bodyPr wrap="square"/>
                    <a:lstStyle/>
                    <a:p>
                      <a:r>
                        <a:rPr sz="1050" b="1" i="0">
                          <a:solidFill>
                            <a:srgbClr val="2A2622"/>
                          </a:solidFill>
                          <a:latin typeface="Calibri"/>
                        </a:rPr>
                        <a:t>Objective</a:t>
                      </a:r>
                    </a:p>
                  </a:txBody>
                  <a:tcPr marL="45720" marR="45720" marT="18288" marB="18288" anchor="t">
                    <a:solidFill>
                      <a:srgbClr val="FFFFFF"/>
                    </a:solidFill>
                  </a:tcPr>
                </a:tc>
                <a:tc>
                  <a:txBody>
                    <a:bodyPr wrap="square"/>
                    <a:lstStyle/>
                    <a:p>
                      <a:r>
                        <a:rPr sz="1050" b="0" i="0">
                          <a:solidFill>
                            <a:srgbClr val="2A2622"/>
                          </a:solidFill>
                          <a:latin typeface="Calibri"/>
                        </a:rPr>
                        <a:t>Sales (Conversions) — Purchase on website OR Click-to-WhatsApp (run WhatsApp objective as a second ad set if website is new/low-converting — for a new Indian brand, </a:t>
                      </a:r>
                      <a:r>
                        <a:rPr sz="1050" b="1" i="0">
                          <a:solidFill>
                            <a:srgbClr val="2A2622"/>
                          </a:solidFill>
                          <a:latin typeface="Calibri"/>
                        </a:rPr>
                        <a:t>WhatsApp often wins first month</a:t>
                      </a:r>
                      <a:r>
                        <a:rPr sz="1050" b="0" i="0">
                          <a:solidFill>
                            <a:srgbClr val="2A2622"/>
                          </a:solidFill>
                          <a:latin typeface="Calibri"/>
                        </a:rPr>
                        <a:t>)</a:t>
                      </a:r>
                    </a:p>
                  </a:txBody>
                  <a:tcPr marL="45720" marR="45720" marT="18288" marB="18288" anchor="t">
                    <a:solidFill>
                      <a:srgbClr val="FFFFFF"/>
                    </a:solidFill>
                  </a:tcPr>
                </a:tc>
              </a:tr>
              <a:tr h="359228">
                <a:tc>
                  <a:txBody>
                    <a:bodyPr wrap="square"/>
                    <a:lstStyle/>
                    <a:p>
                      <a:r>
                        <a:rPr sz="1050" b="1" i="0">
                          <a:solidFill>
                            <a:srgbClr val="2A2622"/>
                          </a:solidFill>
                          <a:latin typeface="Calibri"/>
                        </a:rPr>
                        <a:t>Campaign structure</a:t>
                      </a:r>
                    </a:p>
                  </a:txBody>
                  <a:tcPr marL="45720" marR="45720" marT="18288" marB="18288" anchor="t">
                    <a:solidFill>
                      <a:srgbClr val="F6F1E7"/>
                    </a:solidFill>
                  </a:tcPr>
                </a:tc>
                <a:tc>
                  <a:txBody>
                    <a:bodyPr wrap="square"/>
                    <a:lstStyle/>
                    <a:p>
                      <a:r>
                        <a:rPr sz="1050" b="0" i="0">
                          <a:solidFill>
                            <a:srgbClr val="2A2622"/>
                          </a:solidFill>
                          <a:latin typeface="Calibri"/>
                        </a:rPr>
                        <a:t>1 campaign → 2 ad sets (A: broad; B: interest) → 3–4 ads each, same creatives</a:t>
                      </a:r>
                    </a:p>
                  </a:txBody>
                  <a:tcPr marL="45720" marR="45720" marT="18288" marB="18288" anchor="t">
                    <a:solidFill>
                      <a:srgbClr val="F6F1E7"/>
                    </a:solidFill>
                  </a:tcPr>
                </a:tc>
              </a:tr>
              <a:tr h="359228">
                <a:tc>
                  <a:txBody>
                    <a:bodyPr wrap="square"/>
                    <a:lstStyle/>
                    <a:p>
                      <a:r>
                        <a:rPr sz="1050" b="1" i="0">
                          <a:solidFill>
                            <a:srgbClr val="2A2622"/>
                          </a:solidFill>
                          <a:latin typeface="Calibri"/>
                        </a:rPr>
                        <a:t>Ad Set A (broad)</a:t>
                      </a:r>
                    </a:p>
                  </a:txBody>
                  <a:tcPr marL="45720" marR="45720" marT="18288" marB="18288" anchor="t">
                    <a:solidFill>
                      <a:srgbClr val="FFFFFF"/>
                    </a:solidFill>
                  </a:tcPr>
                </a:tc>
                <a:tc>
                  <a:txBody>
                    <a:bodyPr wrap="square"/>
                    <a:lstStyle/>
                    <a:p>
                      <a:r>
                        <a:rPr sz="1050" b="0" i="0">
                          <a:solidFill>
                            <a:srgbClr val="2A2622"/>
                          </a:solidFill>
                          <a:latin typeface="Calibri"/>
                        </a:rPr>
                        <a:t>20–40, Women + Men (80/20), </a:t>
                      </a:r>
                      <a:r>
                        <a:rPr sz="1050" b="1" i="0">
                          <a:solidFill>
                            <a:srgbClr val="2A2622"/>
                          </a:solidFill>
                          <a:latin typeface="Calibri"/>
                        </a:rPr>
                        <a:t>Ahmedabad + 40km</a:t>
                      </a:r>
                      <a:r>
                        <a:rPr sz="1050" b="0" i="0">
                          <a:solidFill>
                            <a:srgbClr val="2A2622"/>
                          </a:solidFill>
                          <a:latin typeface="Calibri"/>
                        </a:rPr>
                        <a:t>, no interests, placements: Advantage+ (Reels + Feed + Stories first)</a:t>
                      </a:r>
                    </a:p>
                  </a:txBody>
                  <a:tcPr marL="45720" marR="45720" marT="18288" marB="18288" anchor="t">
                    <a:solidFill>
                      <a:srgbClr val="FFFFFF"/>
                    </a:solidFill>
                  </a:tcPr>
                </a:tc>
              </a:tr>
              <a:tr h="359228">
                <a:tc>
                  <a:txBody>
                    <a:bodyPr wrap="square"/>
                    <a:lstStyle/>
                    <a:p>
                      <a:r>
                        <a:rPr sz="1050" b="1" i="0">
                          <a:solidFill>
                            <a:srgbClr val="2A2622"/>
                          </a:solidFill>
                          <a:latin typeface="Calibri"/>
                        </a:rPr>
                        <a:t>Ad Set B (interest)</a:t>
                      </a:r>
                    </a:p>
                  </a:txBody>
                  <a:tcPr marL="45720" marR="45720" marT="18288" marB="18288" anchor="t">
                    <a:solidFill>
                      <a:srgbClr val="F6F1E7"/>
                    </a:solidFill>
                  </a:tcPr>
                </a:tc>
                <a:tc>
                  <a:txBody>
                    <a:bodyPr wrap="square"/>
                    <a:lstStyle/>
                    <a:p>
                      <a:r>
                        <a:rPr sz="1050" b="0" i="0">
                          <a:solidFill>
                            <a:srgbClr val="2A2622"/>
                          </a:solidFill>
                          <a:latin typeface="Calibri"/>
                        </a:rPr>
                        <a:t>Same age/gender, </a:t>
                      </a:r>
                      <a:r>
                        <a:rPr sz="1050" b="1" i="0">
                          <a:solidFill>
                            <a:srgbClr val="2A2622"/>
                          </a:solidFill>
                          <a:latin typeface="Calibri"/>
                        </a:rPr>
                        <a:t>All Gujarat</a:t>
                      </a:r>
                      <a:r>
                        <a:rPr sz="1050" b="0" i="0">
                          <a:solidFill>
                            <a:srgbClr val="2A2622"/>
                          </a:solidFill>
                          <a:latin typeface="Calibri"/>
                        </a:rPr>
                        <a:t> (Ahmedabad, Surat, Vadodara, Rajkot), interests: skincare, vitamin C, sunscreen + brand interests (Plum, Minimalist, Dot &amp; Key, Neutrogena, Cetaphil, Glow)</a:t>
                      </a:r>
                    </a:p>
                  </a:txBody>
                  <a:tcPr marL="45720" marR="45720" marT="18288" marB="18288" anchor="t">
                    <a:solidFill>
                      <a:srgbClr val="F6F1E7"/>
                    </a:solidFill>
                  </a:tcPr>
                </a:tc>
              </a:tr>
              <a:tr h="359228">
                <a:tc>
                  <a:txBody>
                    <a:bodyPr wrap="square"/>
                    <a:lstStyle/>
                    <a:p>
                      <a:r>
                        <a:rPr sz="1050" b="1" i="0">
                          <a:solidFill>
                            <a:srgbClr val="2A2622"/>
                          </a:solidFill>
                          <a:latin typeface="Calibri"/>
                        </a:rPr>
                        <a:t>Creative (4)</a:t>
                      </a:r>
                    </a:p>
                  </a:txBody>
                  <a:tcPr marL="45720" marR="45720" marT="18288" marB="18288" anchor="t">
                    <a:solidFill>
                      <a:srgbClr val="FFFFFF"/>
                    </a:solidFill>
                  </a:tcPr>
                </a:tc>
                <a:tc>
                  <a:txBody>
                    <a:bodyPr wrap="square"/>
                    <a:lstStyle/>
                    <a:p>
                      <a:r>
                        <a:rPr sz="1050" b="0" i="0">
                          <a:solidFill>
                            <a:srgbClr val="2A2622"/>
                          </a:solidFill>
                          <a:latin typeface="Calibri"/>
                        </a:rPr>
                        <a:t>① D17 before/after (30s cut, disclosed) ② D26 story-testimonial (UGC) ③ D21 launch offer ④ D16 texture + offer card</a:t>
                      </a:r>
                    </a:p>
                  </a:txBody>
                  <a:tcPr marL="45720" marR="45720" marT="18288" marB="18288" anchor="t">
                    <a:solidFill>
                      <a:srgbClr val="FFFFFF"/>
                    </a:solidFill>
                  </a:tcPr>
                </a:tc>
              </a:tr>
              <a:tr h="359228">
                <a:tc>
                  <a:txBody>
                    <a:bodyPr wrap="square"/>
                    <a:lstStyle/>
                    <a:p>
                      <a:r>
                        <a:rPr sz="1050" b="1" i="0">
                          <a:solidFill>
                            <a:srgbClr val="2A2622"/>
                          </a:solidFill>
                          <a:latin typeface="Calibri"/>
                        </a:rPr>
                        <a:t>Hook (creative)</a:t>
                      </a:r>
                    </a:p>
                  </a:txBody>
                  <a:tcPr marL="45720" marR="45720" marT="18288" marB="18288" anchor="t">
                    <a:solidFill>
                      <a:srgbClr val="F6F1E7"/>
                    </a:solidFill>
                  </a:tcPr>
                </a:tc>
                <a:tc>
                  <a:txBody>
                    <a:bodyPr wrap="square"/>
                    <a:lstStyle/>
                    <a:p>
                      <a:r>
                        <a:rPr sz="1050" b="0" i="0">
                          <a:solidFill>
                            <a:srgbClr val="2A2622"/>
                          </a:solidFill>
                          <a:latin typeface="Calibri"/>
                        </a:rPr>
                        <a:t>"4 hafte. 20 aahaiyan. Same light, same angle." / "Naya brand? 4 baar delete karke order kiya — yeh kahani hai."</a:t>
                      </a:r>
                    </a:p>
                  </a:txBody>
                  <a:tcPr marL="45720" marR="45720" marT="18288" marB="18288" anchor="t">
                    <a:solidFill>
                      <a:srgbClr val="F6F1E7"/>
                    </a:solidFill>
                  </a:tcPr>
                </a:tc>
              </a:tr>
              <a:tr h="359228">
                <a:tc>
                  <a:txBody>
                    <a:bodyPr wrap="square"/>
                    <a:lstStyle/>
                    <a:p>
                      <a:r>
                        <a:rPr sz="1050" b="1" i="0">
                          <a:solidFill>
                            <a:srgbClr val="2A2622"/>
                          </a:solidFill>
                          <a:latin typeface="Calibri"/>
                        </a:rPr>
                        <a:t>Primary text</a:t>
                      </a:r>
                    </a:p>
                  </a:txBody>
                  <a:tcPr marL="45720" marR="45720" marT="18288" marB="18288" anchor="t">
                    <a:solidFill>
                      <a:srgbClr val="FFFFFF"/>
                    </a:solidFill>
                  </a:tcPr>
                </a:tc>
                <a:tc>
                  <a:txBody>
                    <a:bodyPr wrap="square"/>
                    <a:lstStyle/>
                    <a:p>
                      <a:r>
                        <a:rPr sz="1050" b="0" i="0">
                          <a:solidFill>
                            <a:srgbClr val="2A2622"/>
                          </a:solidFill>
                          <a:latin typeface="Calibri"/>
                        </a:rPr>
                        <a:t>"Naya brand pehli baar suna? Hum Gujarat se hain — 20 testers, 4 hafte, asli photos (filter nahi). Vitamin C Serum 10%: dull-look ko fresh dikhane me help, 4–6 hafte ka honest timeline. COD + free shipping (launch me). Results har kisi me alag hote hain — yahi hamari sachai. DM 'GLOW' ya yahan order karo. ⬇️"</a:t>
                      </a:r>
                    </a:p>
                  </a:txBody>
                  <a:tcPr marL="45720" marR="45720" marT="18288" marB="18288" anchor="t">
                    <a:solidFill>
                      <a:srgbClr val="FFFFFF"/>
                    </a:solidFill>
                  </a:tcPr>
                </a:tc>
              </a:tr>
              <a:tr h="359228">
                <a:tc>
                  <a:txBody>
                    <a:bodyPr wrap="square"/>
                    <a:lstStyle/>
                    <a:p>
                      <a:r>
                        <a:rPr sz="1050" b="1" i="0">
                          <a:solidFill>
                            <a:srgbClr val="2A2622"/>
                          </a:solidFill>
                          <a:latin typeface="Calibri"/>
                        </a:rPr>
                        <a:t>Headline</a:t>
                      </a:r>
                    </a:p>
                  </a:txBody>
                  <a:tcPr marL="45720" marR="45720" marT="18288" marB="18288" anchor="t">
                    <a:solidFill>
                      <a:srgbClr val="F6F1E7"/>
                    </a:solidFill>
                  </a:tcPr>
                </a:tc>
                <a:tc>
                  <a:txBody>
                    <a:bodyPr wrap="square"/>
                    <a:lstStyle/>
                    <a:p>
                      <a:r>
                        <a:rPr sz="1050" b="0" i="0">
                          <a:solidFill>
                            <a:srgbClr val="2A2622"/>
                          </a:solidFill>
                          <a:latin typeface="Calibri"/>
                        </a:rPr>
                        <a:t>"Pehli 100 orders — FREE Face Wash mini + COD"</a:t>
                      </a:r>
                    </a:p>
                  </a:txBody>
                  <a:tcPr marL="45720" marR="45720" marT="18288" marB="18288" anchor="t">
                    <a:solidFill>
                      <a:srgbClr val="F6F1E7"/>
                    </a:solidFill>
                  </a:tcPr>
                </a:tc>
              </a:tr>
              <a:tr h="359228">
                <a:tc>
                  <a:txBody>
                    <a:bodyPr wrap="square"/>
                    <a:lstStyle/>
                    <a:p>
                      <a:r>
                        <a:rPr sz="1050" b="1" i="0">
                          <a:solidFill>
                            <a:srgbClr val="2A2622"/>
                          </a:solidFill>
                          <a:latin typeface="Calibri"/>
                        </a:rPr>
                        <a:t>CTA button</a:t>
                      </a:r>
                    </a:p>
                  </a:txBody>
                  <a:tcPr marL="45720" marR="45720" marT="18288" marB="18288" anchor="t">
                    <a:solidFill>
                      <a:srgbClr val="FFFFFF"/>
                    </a:solidFill>
                  </a:tcPr>
                </a:tc>
                <a:tc>
                  <a:txBody>
                    <a:bodyPr wrap="square"/>
                    <a:lstStyle/>
                    <a:p>
                      <a:r>
                        <a:rPr sz="1050" b="0" i="0">
                          <a:solidFill>
                            <a:srgbClr val="2A2622"/>
                          </a:solidFill>
                          <a:latin typeface="Calibri"/>
                        </a:rPr>
                        <a:t>"Shop Now" (website) / "Send WhatsApp Message" (WA objective)</a:t>
                      </a:r>
                    </a:p>
                  </a:txBody>
                  <a:tcPr marL="45720" marR="45720" marT="18288" marB="18288" anchor="t">
                    <a:solidFill>
                      <a:srgbClr val="FFFFFF"/>
                    </a:solidFill>
                  </a:tcPr>
                </a:tc>
              </a:tr>
              <a:tr h="359228">
                <a:tc>
                  <a:txBody>
                    <a:bodyPr wrap="square"/>
                    <a:lstStyle/>
                    <a:p>
                      <a:r>
                        <a:rPr sz="1050" b="1" i="0">
                          <a:solidFill>
                            <a:srgbClr val="2A2622"/>
                          </a:solidFill>
                          <a:latin typeface="Calibri"/>
                        </a:rPr>
                        <a:t>Budget</a:t>
                      </a:r>
                    </a:p>
                  </a:txBody>
                  <a:tcPr marL="45720" marR="45720" marT="18288" marB="18288" anchor="t">
                    <a:solidFill>
                      <a:srgbClr val="F6F1E7"/>
                    </a:solidFill>
                  </a:tcPr>
                </a:tc>
                <a:tc>
                  <a:txBody>
                    <a:bodyPr wrap="square"/>
                    <a:lstStyle/>
                    <a:p>
                      <a:r>
                        <a:rPr sz="1050" b="0" i="0">
                          <a:solidFill>
                            <a:srgbClr val="2A2622"/>
                          </a:solidFill>
                          <a:latin typeface="Calibri"/>
                        </a:rPr>
                        <a:t>₹500/day total (Ad Set A ₹300, B ₹200)</a:t>
                      </a:r>
                    </a:p>
                  </a:txBody>
                  <a:tcPr marL="45720" marR="45720" marT="18288" marB="18288" anchor="t">
                    <a:solidFill>
                      <a:srgbClr val="F6F1E7"/>
                    </a:solidFill>
                  </a:tcPr>
                </a:tc>
              </a:tr>
              <a:tr h="359228">
                <a:tc>
                  <a:txBody>
                    <a:bodyPr wrap="square"/>
                    <a:lstStyle/>
                    <a:p>
                      <a:r>
                        <a:rPr sz="1050" b="1" i="0">
                          <a:solidFill>
                            <a:srgbClr val="2A2622"/>
                          </a:solidFill>
                          <a:latin typeface="Calibri"/>
                        </a:rPr>
                        <a:t>Test period</a:t>
                      </a:r>
                    </a:p>
                  </a:txBody>
                  <a:tcPr marL="45720" marR="45720" marT="18288" marB="18288" anchor="t">
                    <a:solidFill>
                      <a:srgbClr val="FFFFFF"/>
                    </a:solidFill>
                  </a:tcPr>
                </a:tc>
                <a:tc>
                  <a:txBody>
                    <a:bodyPr wrap="square"/>
                    <a:lstStyle/>
                    <a:p>
                      <a:r>
                        <a:rPr sz="1050" b="0" i="0">
                          <a:solidFill>
                            <a:srgbClr val="2A2622"/>
                          </a:solidFill>
                          <a:latin typeface="Calibri"/>
                        </a:rPr>
                        <a:t>7 days (do NOT touch before Day 4; Meta needs learning data)</a:t>
                      </a:r>
                    </a:p>
                  </a:txBody>
                  <a:tcPr marL="45720" marR="45720" marT="18288" marB="18288" anchor="t">
                    <a:solidFill>
                      <a:srgbClr val="FFFFFF"/>
                    </a:solidFill>
                  </a:tcPr>
                </a:tc>
              </a:tr>
              <a:tr h="359228">
                <a:tc>
                  <a:txBody>
                    <a:bodyPr wrap="square"/>
                    <a:lstStyle/>
                    <a:p>
                      <a:r>
                        <a:rPr sz="1050" b="1" i="0">
                          <a:solidFill>
                            <a:srgbClr val="2A2622"/>
                          </a:solidFill>
                          <a:latin typeface="Calibri"/>
                        </a:rPr>
                        <a:t>Kill/scale rules</a:t>
                      </a:r>
                    </a:p>
                  </a:txBody>
                  <a:tcPr marL="45720" marR="45720" marT="18288" marB="18288" anchor="t">
                    <a:solidFill>
                      <a:srgbClr val="F6F1E7"/>
                    </a:solidFill>
                  </a:tcPr>
                </a:tc>
                <a:tc>
                  <a:txBody>
                    <a:bodyPr wrap="square"/>
                    <a:lstStyle/>
                    <a:p>
                      <a:r>
                        <a:rPr sz="1050" b="0" i="0">
                          <a:solidFill>
                            <a:srgbClr val="2A2622"/>
                          </a:solidFill>
                          <a:latin typeface="Calibri"/>
                        </a:rPr>
                        <a:t>Day 4: ad with CTR &lt; 0.8% AND no ATC → pause. Day 7: keep top 2 by ATC cost, pause rest. Winner: +30% budget every 48h while ATC stable</a:t>
                      </a:r>
                    </a:p>
                  </a:txBody>
                  <a:tcPr marL="45720" marR="45720" marT="18288" marB="18288" anchor="t">
                    <a:solidFill>
                      <a:srgbClr val="F6F1E7"/>
                    </a:solidFill>
                  </a:tcPr>
                </a:tc>
              </a:tr>
              <a:tr h="359236">
                <a:tc>
                  <a:txBody>
                    <a:bodyPr wrap="square"/>
                    <a:lstStyle/>
                    <a:p>
                      <a:r>
                        <a:rPr sz="1050" b="1" i="0">
                          <a:solidFill>
                            <a:srgbClr val="2A2622"/>
                          </a:solidFill>
                          <a:latin typeface="Calibri"/>
                        </a:rPr>
                        <a:t>Success metrics</a:t>
                      </a:r>
                    </a:p>
                  </a:txBody>
                  <a:tcPr marL="45720" marR="45720" marT="18288" marB="18288" anchor="t">
                    <a:solidFill>
                      <a:srgbClr val="FFFFFF"/>
                    </a:solidFill>
                  </a:tcPr>
                </a:tc>
                <a:tc>
                  <a:txBody>
                    <a:bodyPr wrap="square"/>
                    <a:lstStyle/>
                    <a:p>
                      <a:r>
                        <a:rPr sz="1050" b="0" i="0">
                          <a:solidFill>
                            <a:srgbClr val="2A2622"/>
                          </a:solidFill>
                          <a:latin typeface="Calibri"/>
                        </a:rPr>
                        <a:t>ATC ≤ ₹120 (WA objective: conversation ≤ ₹60), CTR (link) ≥ 1.2%, CPA ≤ ₹350 (first month is learning — accept ₹350–450), ROAS ≥ 1.5x (WA: track "WA→order" manually, target 30%+)</a:t>
                      </a:r>
                    </a:p>
                  </a:txBody>
                  <a:tcPr marL="45720" marR="45720" marT="18288" marB="18288" anchor="t">
                    <a:solidFill>
                      <a:srgbClr val="FFFFFF"/>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272</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4 CAMPAIGNS</a:t>
            </a:r>
          </a:p>
          <a:p>
            <a:r>
              <a:rPr sz="1200" i="1">
                <a:solidFill>
                  <a:srgbClr val="57504A"/>
                </a:solidFill>
                <a:latin typeface="Calibri"/>
              </a:rPr>
              <a:t>PART 16 — Meta Ads: 4 Campaigns + Budget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Why broad works at ₹500/day:</a:t>
            </a:r>
            <a:r>
              <a:rPr sz="1350" b="0" i="0">
                <a:solidFill>
                  <a:srgbClr val="2A2622"/>
                </a:solidFill>
                <a:latin typeface="Calibri"/>
              </a:rPr>
              <a:t> with 1 ad set broad + 3–4 creatives, Meta's algorithm does the audience work — and for skincare, broad frequently beats interest stacks in India (interests = smaller pool = higher CPM + less optimization room).</a:t>
            </a:r>
          </a:p>
          <a:p>
            <a:pPr>
              <a:spcBef>
                <a:spcPts val="1000"/>
              </a:spcBef>
              <a:spcAft>
                <a:spcPts val="400"/>
              </a:spcAft>
            </a:pPr>
            <a:r>
              <a:rPr sz="1600" b="1" i="0">
                <a:solidFill>
                  <a:srgbClr val="8F3A22"/>
                </a:solidFill>
                <a:latin typeface="Calibri"/>
              </a:rPr>
              <a:t>CAMPAIGN 2 — "PROOF &amp; LAL" (warm + lookalike) — LIVE DAY 35+ (after 50+ purchases)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273</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4 CAMPAIGNS</a:t>
            </a:r>
          </a:p>
          <a:p>
            <a:r>
              <a:rPr sz="1200" i="1">
                <a:solidFill>
                  <a:srgbClr val="57504A"/>
                </a:solidFill>
                <a:latin typeface="Calibri"/>
              </a:rPr>
              <a:t>PART 16 — Meta Ads: 4 Campaigns + Budget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5" cy="5029200"/>
        </p:xfrm>
        <a:graphic>
          <a:graphicData uri="http://schemas.openxmlformats.org/drawingml/2006/table">
            <a:tbl>
              <a:tblPr firstRow="1" bandRow="1">
                <a:tableStyleId>{5C22544A-7EE6-4342-B048-85BDC9FD1C3A}</a:tableStyleId>
              </a:tblPr>
              <a:tblGrid>
                <a:gridCol w="2310323"/>
                <a:gridCol w="9241292"/>
              </a:tblGrid>
              <a:tr h="558800">
                <a:tc>
                  <a:txBody>
                    <a:bodyPr wrap="square"/>
                    <a:lstStyle/>
                    <a:p>
                      <a:r>
                        <a:rPr sz="1200" b="1" i="0">
                          <a:solidFill>
                            <a:srgbClr val="FFFFFF"/>
                          </a:solidFill>
                          <a:latin typeface="Calibri"/>
                        </a:rPr>
                        <a:t>Element</a:t>
                      </a:r>
                    </a:p>
                  </a:txBody>
                  <a:tcPr marL="45720" marR="45720" marT="18288" marB="18288" anchor="t">
                    <a:solidFill>
                      <a:srgbClr val="B44A2E"/>
                    </a:solidFill>
                  </a:tcPr>
                </a:tc>
                <a:tc>
                  <a:txBody>
                    <a:bodyPr wrap="square"/>
                    <a:lstStyle/>
                    <a:p>
                      <a:r>
                        <a:rPr sz="1200" b="1" i="0">
                          <a:solidFill>
                            <a:srgbClr val="FFFFFF"/>
                          </a:solidFill>
                          <a:latin typeface="Calibri"/>
                        </a:rPr>
                        <a:t>Spec</a:t>
                      </a:r>
                    </a:p>
                  </a:txBody>
                  <a:tcPr marL="45720" marR="45720" marT="18288" marB="18288" anchor="t">
                    <a:solidFill>
                      <a:srgbClr val="B44A2E"/>
                    </a:solidFill>
                  </a:tcPr>
                </a:tc>
              </a:tr>
              <a:tr h="558800">
                <a:tc>
                  <a:txBody>
                    <a:bodyPr wrap="square"/>
                    <a:lstStyle/>
                    <a:p>
                      <a:r>
                        <a:rPr sz="1200" b="1" i="0">
                          <a:solidFill>
                            <a:srgbClr val="2A2622"/>
                          </a:solidFill>
                          <a:latin typeface="Calibri"/>
                        </a:rPr>
                        <a:t>Objective</a:t>
                      </a:r>
                    </a:p>
                  </a:txBody>
                  <a:tcPr marL="45720" marR="45720" marT="18288" marB="18288" anchor="t">
                    <a:solidFill>
                      <a:srgbClr val="FFFFFF"/>
                    </a:solidFill>
                  </a:tcPr>
                </a:tc>
                <a:tc>
                  <a:txBody>
                    <a:bodyPr wrap="square"/>
                    <a:lstStyle/>
                    <a:p>
                      <a:r>
                        <a:rPr sz="1200" b="0" i="0">
                          <a:solidFill>
                            <a:srgbClr val="2A2622"/>
                          </a:solidFill>
                          <a:latin typeface="Calibri"/>
                        </a:rPr>
                        <a:t>Sales (Conversions)</a:t>
                      </a:r>
                    </a:p>
                  </a:txBody>
                  <a:tcPr marL="45720" marR="45720" marT="18288" marB="18288" anchor="t">
                    <a:solidFill>
                      <a:srgbClr val="FFFFFF"/>
                    </a:solidFill>
                  </a:tcPr>
                </a:tc>
              </a:tr>
              <a:tr h="558800">
                <a:tc>
                  <a:txBody>
                    <a:bodyPr wrap="square"/>
                    <a:lstStyle/>
                    <a:p>
                      <a:r>
                        <a:rPr sz="1200" b="1" i="0">
                          <a:solidFill>
                            <a:srgbClr val="2A2622"/>
                          </a:solidFill>
                          <a:latin typeface="Calibri"/>
                        </a:rPr>
                        <a:t>Structure</a:t>
                      </a:r>
                    </a:p>
                  </a:txBody>
                  <a:tcPr marL="45720" marR="45720" marT="18288" marB="18288" anchor="t">
                    <a:solidFill>
                      <a:srgbClr val="F6F1E7"/>
                    </a:solidFill>
                  </a:tcPr>
                </a:tc>
                <a:tc>
                  <a:txBody>
                    <a:bodyPr wrap="square"/>
                    <a:lstStyle/>
                    <a:p>
                      <a:r>
                        <a:rPr sz="1200" b="0" i="0">
                          <a:solidFill>
                            <a:srgbClr val="2A2622"/>
                          </a:solidFill>
                          <a:latin typeface="Calibri"/>
                        </a:rPr>
                        <a:t>1 campaign → 2 ad sets: </a:t>
                      </a:r>
                      <a:r>
                        <a:rPr sz="1200" b="1" i="0">
                          <a:solidFill>
                            <a:srgbClr val="2A2622"/>
                          </a:solidFill>
                          <a:latin typeface="Calibri"/>
                        </a:rPr>
                        <a:t>A: LAL 1% Purchasers</a:t>
                      </a:r>
                      <a:r>
                        <a:rPr sz="1200" b="0" i="0">
                          <a:solidFill>
                            <a:srgbClr val="2A2622"/>
                          </a:solidFill>
                          <a:latin typeface="Calibri"/>
                        </a:rPr>
                        <a:t> (once you have 50–100 purchasers; before that, LAL of "IG engagers 90d + video viewers 75%"), </a:t>
                      </a:r>
                      <a:r>
                        <a:rPr sz="1200" b="1" i="0">
                          <a:solidFill>
                            <a:srgbClr val="2A2622"/>
                          </a:solidFill>
                          <a:latin typeface="Calibri"/>
                        </a:rPr>
                        <a:t>B: Interest stack All-Gujarat</a:t>
                      </a:r>
                      <a:r>
                        <a:rPr sz="1200" b="0" i="0">
                          <a:solidFill>
                            <a:srgbClr val="2A2622"/>
                          </a:solidFill>
                          <a:latin typeface="Calibri"/>
                        </a:rPr>
                        <a:t> (same as C1-B but with the 2 proven winners only)</a:t>
                      </a:r>
                    </a:p>
                  </a:txBody>
                  <a:tcPr marL="45720" marR="45720" marT="18288" marB="18288" anchor="t">
                    <a:solidFill>
                      <a:srgbClr val="F6F1E7"/>
                    </a:solidFill>
                  </a:tcPr>
                </a:tc>
              </a:tr>
              <a:tr h="558800">
                <a:tc>
                  <a:txBody>
                    <a:bodyPr wrap="square"/>
                    <a:lstStyle/>
                    <a:p>
                      <a:r>
                        <a:rPr sz="1200" b="1" i="0">
                          <a:solidFill>
                            <a:srgbClr val="2A2622"/>
                          </a:solidFill>
                          <a:latin typeface="Calibri"/>
                        </a:rPr>
                        <a:t>Geo</a:t>
                      </a:r>
                    </a:p>
                  </a:txBody>
                  <a:tcPr marL="45720" marR="45720" marT="18288" marB="18288" anchor="t">
                    <a:solidFill>
                      <a:srgbClr val="FFFFFF"/>
                    </a:solidFill>
                  </a:tcPr>
                </a:tc>
                <a:tc>
                  <a:txBody>
                    <a:bodyPr wrap="square"/>
                    <a:lstStyle/>
                    <a:p>
                      <a:r>
                        <a:rPr sz="1200" b="0" i="0">
                          <a:solidFill>
                            <a:srgbClr val="2A2622"/>
                          </a:solidFill>
                          <a:latin typeface="Calibri"/>
                        </a:rPr>
                        <a:t>All Gujarat (add top-3 India cities Day 60+ if ROAS &gt; 2.5x)</a:t>
                      </a:r>
                    </a:p>
                  </a:txBody>
                  <a:tcPr marL="45720" marR="45720" marT="18288" marB="18288" anchor="t">
                    <a:solidFill>
                      <a:srgbClr val="FFFFFF"/>
                    </a:solidFill>
                  </a:tcPr>
                </a:tc>
              </a:tr>
              <a:tr h="558800">
                <a:tc>
                  <a:txBody>
                    <a:bodyPr wrap="square"/>
                    <a:lstStyle/>
                    <a:p>
                      <a:r>
                        <a:rPr sz="1200" b="1" i="0">
                          <a:solidFill>
                            <a:srgbClr val="2A2622"/>
                          </a:solidFill>
                          <a:latin typeface="Calibri"/>
                        </a:rPr>
                        <a:t>Creative</a:t>
                      </a:r>
                    </a:p>
                  </a:txBody>
                  <a:tcPr marL="45720" marR="45720" marT="18288" marB="18288" anchor="t">
                    <a:solidFill>
                      <a:srgbClr val="F6F1E7"/>
                    </a:solidFill>
                  </a:tcPr>
                </a:tc>
                <a:tc>
                  <a:txBody>
                    <a:bodyPr wrap="square"/>
                    <a:lstStyle/>
                    <a:p>
                      <a:r>
                        <a:rPr sz="1200" b="0" i="0">
                          <a:solidFill>
                            <a:srgbClr val="2A2622"/>
                          </a:solidFill>
                          <a:latin typeface="Calibri"/>
                        </a:rPr>
                        <a:t>3: ① best testimonial story ② Day-28 B/A (new cut) ③ unboxing. Same primary text family, headline: "Aapki jaisi aahaiyon ne try kiya"</a:t>
                      </a:r>
                    </a:p>
                  </a:txBody>
                  <a:tcPr marL="45720" marR="45720" marT="18288" marB="18288" anchor="t">
                    <a:solidFill>
                      <a:srgbClr val="F6F1E7"/>
                    </a:solidFill>
                  </a:tcPr>
                </a:tc>
              </a:tr>
              <a:tr h="558800">
                <a:tc>
                  <a:txBody>
                    <a:bodyPr wrap="square"/>
                    <a:lstStyle/>
                    <a:p>
                      <a:r>
                        <a:rPr sz="1200" b="1" i="0">
                          <a:solidFill>
                            <a:srgbClr val="2A2622"/>
                          </a:solidFill>
                          <a:latin typeface="Calibri"/>
                        </a:rPr>
                        <a:t>Budget</a:t>
                      </a:r>
                    </a:p>
                  </a:txBody>
                  <a:tcPr marL="45720" marR="45720" marT="18288" marB="18288" anchor="t">
                    <a:solidFill>
                      <a:srgbClr val="FFFFFF"/>
                    </a:solidFill>
                  </a:tcPr>
                </a:tc>
                <a:tc>
                  <a:txBody>
                    <a:bodyPr wrap="square"/>
                    <a:lstStyle/>
                    <a:p>
                      <a:r>
                        <a:rPr sz="1200" b="0" i="0">
                          <a:solidFill>
                            <a:srgbClr val="2A2622"/>
                          </a:solidFill>
                          <a:latin typeface="Calibri"/>
                        </a:rPr>
                        <a:t>₹500–₹1,000/day (start ₹500: A ₹300/B ₹200)</a:t>
                      </a:r>
                    </a:p>
                  </a:txBody>
                  <a:tcPr marL="45720" marR="45720" marT="18288" marB="18288" anchor="t">
                    <a:solidFill>
                      <a:srgbClr val="FFFFFF"/>
                    </a:solidFill>
                  </a:tcPr>
                </a:tc>
              </a:tr>
              <a:tr h="558800">
                <a:tc>
                  <a:txBody>
                    <a:bodyPr wrap="square"/>
                    <a:lstStyle/>
                    <a:p>
                      <a:r>
                        <a:rPr sz="1200" b="1" i="0">
                          <a:solidFill>
                            <a:srgbClr val="2A2622"/>
                          </a:solidFill>
                          <a:latin typeface="Calibri"/>
                        </a:rPr>
                        <a:t>Test period</a:t>
                      </a:r>
                    </a:p>
                  </a:txBody>
                  <a:tcPr marL="45720" marR="45720" marT="18288" marB="18288" anchor="t">
                    <a:solidFill>
                      <a:srgbClr val="F6F1E7"/>
                    </a:solidFill>
                  </a:tcPr>
                </a:tc>
                <a:tc>
                  <a:txBody>
                    <a:bodyPr wrap="square"/>
                    <a:lstStyle/>
                    <a:p>
                      <a:r>
                        <a:rPr sz="1200" b="0" i="0">
                          <a:solidFill>
                            <a:srgbClr val="2A2622"/>
                          </a:solidFill>
                          <a:latin typeface="Calibri"/>
                        </a:rPr>
                        <a:t>7 days</a:t>
                      </a:r>
                    </a:p>
                  </a:txBody>
                  <a:tcPr marL="45720" marR="45720" marT="18288" marB="18288" anchor="t">
                    <a:solidFill>
                      <a:srgbClr val="F6F1E7"/>
                    </a:solidFill>
                  </a:tcPr>
                </a:tc>
              </a:tr>
              <a:tr h="558800">
                <a:tc>
                  <a:txBody>
                    <a:bodyPr wrap="square"/>
                    <a:lstStyle/>
                    <a:p>
                      <a:r>
                        <a:rPr sz="1200" b="1" i="0">
                          <a:solidFill>
                            <a:srgbClr val="2A2622"/>
                          </a:solidFill>
                          <a:latin typeface="Calibri"/>
                        </a:rPr>
                        <a:t>Success metrics</a:t>
                      </a:r>
                    </a:p>
                  </a:txBody>
                  <a:tcPr marL="45720" marR="45720" marT="18288" marB="18288" anchor="t">
                    <a:solidFill>
                      <a:srgbClr val="FFFFFF"/>
                    </a:solidFill>
                  </a:tcPr>
                </a:tc>
                <a:tc>
                  <a:txBody>
                    <a:bodyPr wrap="square"/>
                    <a:lstStyle/>
                    <a:p>
                      <a:r>
                        <a:rPr sz="1200" b="0" i="0">
                          <a:solidFill>
                            <a:srgbClr val="2A2622"/>
                          </a:solidFill>
                          <a:latin typeface="Calibri"/>
                        </a:rPr>
                        <a:t>CTR ≥ 1.8% (warm should out-click cold), ATC ≤ ₹80, CPA ≤ ₹250, ROAS ≥ 2.5x</a:t>
                      </a:r>
                    </a:p>
                  </a:txBody>
                  <a:tcPr marL="45720" marR="45720" marT="18288" marB="18288" anchor="t">
                    <a:solidFill>
                      <a:srgbClr val="FFFFFF"/>
                    </a:solidFill>
                  </a:tcPr>
                </a:tc>
              </a:tr>
              <a:tr h="558800">
                <a:tc>
                  <a:txBody>
                    <a:bodyPr wrap="square"/>
                    <a:lstStyle/>
                    <a:p>
                      <a:r>
                        <a:rPr sz="1200" b="1" i="0">
                          <a:solidFill>
                            <a:srgbClr val="2A2622"/>
                          </a:solidFill>
                          <a:latin typeface="Calibri"/>
                        </a:rPr>
                        <a:t>Rule</a:t>
                      </a:r>
                    </a:p>
                  </a:txBody>
                  <a:tcPr marL="45720" marR="45720" marT="18288" marB="18288" anchor="t">
                    <a:solidFill>
                      <a:srgbClr val="F6F1E7"/>
                    </a:solidFill>
                  </a:tcPr>
                </a:tc>
                <a:tc>
                  <a:txBody>
                    <a:bodyPr wrap="square"/>
                    <a:lstStyle/>
                    <a:p>
                      <a:r>
                        <a:rPr sz="1200" b="0" i="0">
                          <a:solidFill>
                            <a:srgbClr val="2A2622"/>
                          </a:solidFill>
                          <a:latin typeface="Calibri"/>
                        </a:rPr>
                        <a:t>LAL refresh: re-create LAL every 30 days (purchaser pool grows = better model)</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274</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4 CAMPAIGNS</a:t>
            </a:r>
          </a:p>
          <a:p>
            <a:r>
              <a:rPr sz="1200" i="1">
                <a:solidFill>
                  <a:srgbClr val="57504A"/>
                </a:solidFill>
                <a:latin typeface="Calibri"/>
              </a:rPr>
              <a:t>PART 16 — Meta Ads: 4 Campaigns + Budget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CAMPAIGN 3 — "RECOVER" (retargeting stack) — LIVE DAY 25+</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275</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4 CAMPAIGNS</a:t>
            </a:r>
          </a:p>
          <a:p>
            <a:r>
              <a:rPr sz="1200" i="1">
                <a:solidFill>
                  <a:srgbClr val="57504A"/>
                </a:solidFill>
                <a:latin typeface="Calibri"/>
              </a:rPr>
              <a:t>PART 16 — Meta Ads: 4 Campaigns + Budget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2778236"/>
                <a:gridCol w="8773378"/>
              </a:tblGrid>
              <a:tr h="419100">
                <a:tc>
                  <a:txBody>
                    <a:bodyPr wrap="square"/>
                    <a:lstStyle/>
                    <a:p>
                      <a:r>
                        <a:rPr sz="1200" b="1" i="0">
                          <a:solidFill>
                            <a:srgbClr val="FFFFFF"/>
                          </a:solidFill>
                          <a:latin typeface="Calibri"/>
                        </a:rPr>
                        <a:t>Element</a:t>
                      </a:r>
                    </a:p>
                  </a:txBody>
                  <a:tcPr marL="45720" marR="45720" marT="18288" marB="18288" anchor="t">
                    <a:solidFill>
                      <a:srgbClr val="B44A2E"/>
                    </a:solidFill>
                  </a:tcPr>
                </a:tc>
                <a:tc>
                  <a:txBody>
                    <a:bodyPr wrap="square"/>
                    <a:lstStyle/>
                    <a:p>
                      <a:r>
                        <a:rPr sz="1200" b="1" i="0">
                          <a:solidFill>
                            <a:srgbClr val="FFFFFF"/>
                          </a:solidFill>
                          <a:latin typeface="Calibri"/>
                        </a:rPr>
                        <a:t>Spec</a:t>
                      </a:r>
                    </a:p>
                  </a:txBody>
                  <a:tcPr marL="45720" marR="45720" marT="18288" marB="18288" anchor="t">
                    <a:solidFill>
                      <a:srgbClr val="B44A2E"/>
                    </a:solidFill>
                  </a:tcPr>
                </a:tc>
              </a:tr>
              <a:tr h="419100">
                <a:tc>
                  <a:txBody>
                    <a:bodyPr wrap="square"/>
                    <a:lstStyle/>
                    <a:p>
                      <a:r>
                        <a:rPr sz="1200" b="1" i="0">
                          <a:solidFill>
                            <a:srgbClr val="2A2622"/>
                          </a:solidFill>
                          <a:latin typeface="Calibri"/>
                        </a:rPr>
                        <a:t>Objective</a:t>
                      </a:r>
                    </a:p>
                  </a:txBody>
                  <a:tcPr marL="45720" marR="45720" marT="18288" marB="18288" anchor="t">
                    <a:solidFill>
                      <a:srgbClr val="FFFFFF"/>
                    </a:solidFill>
                  </a:tcPr>
                </a:tc>
                <a:tc>
                  <a:txBody>
                    <a:bodyPr wrap="square"/>
                    <a:lstStyle/>
                    <a:p>
                      <a:r>
                        <a:rPr sz="1200" b="0" i="0">
                          <a:solidFill>
                            <a:srgbClr val="2A2622"/>
                          </a:solidFill>
                          <a:latin typeface="Calibri"/>
                        </a:rPr>
                        <a:t>Sales (Conversions)</a:t>
                      </a:r>
                    </a:p>
                  </a:txBody>
                  <a:tcPr marL="45720" marR="45720" marT="18288" marB="18288" anchor="t">
                    <a:solidFill>
                      <a:srgbClr val="FFFFFF"/>
                    </a:solidFill>
                  </a:tcPr>
                </a:tc>
              </a:tr>
              <a:tr h="419100">
                <a:tc>
                  <a:txBody>
                    <a:bodyPr wrap="square"/>
                    <a:lstStyle/>
                    <a:p>
                      <a:r>
                        <a:rPr sz="1200" b="1" i="0">
                          <a:solidFill>
                            <a:srgbClr val="2A2622"/>
                          </a:solidFill>
                          <a:latin typeface="Calibri"/>
                        </a:rPr>
                        <a:t>Structure</a:t>
                      </a:r>
                    </a:p>
                  </a:txBody>
                  <a:tcPr marL="45720" marR="45720" marT="18288" marB="18288" anchor="t">
                    <a:solidFill>
                      <a:srgbClr val="F6F1E7"/>
                    </a:solidFill>
                  </a:tcPr>
                </a:tc>
                <a:tc>
                  <a:txBody>
                    <a:bodyPr wrap="square"/>
                    <a:lstStyle/>
                    <a:p>
                      <a:r>
                        <a:rPr sz="1200" b="0" i="0">
                          <a:solidFill>
                            <a:srgbClr val="2A2622"/>
                          </a:solidFill>
                          <a:latin typeface="Calibri"/>
                        </a:rPr>
                        <a:t>1 campaign → 4 ad sets (priority order, exclusions applied): ① </a:t>
                      </a:r>
                      <a:r>
                        <a:rPr sz="1200" b="1" i="0">
                          <a:solidFill>
                            <a:srgbClr val="2A2622"/>
                          </a:solidFill>
                          <a:latin typeface="Calibri"/>
                        </a:rPr>
                        <a:t>Video viewers 25–75% + IG/FB engagers 90d</a:t>
                      </a:r>
                      <a:r>
                        <a:rPr sz="1200" b="0" i="0">
                          <a:solidFill>
                            <a:srgbClr val="2A2622"/>
                          </a:solidFill>
                          <a:latin typeface="Calibri"/>
                        </a:rPr>
                        <a:t> (exclude purchasers) ② </a:t>
                      </a:r>
                      <a:r>
                        <a:rPr sz="1200" b="1" i="0">
                          <a:solidFill>
                            <a:srgbClr val="2A2622"/>
                          </a:solidFill>
                          <a:latin typeface="Calibri"/>
                        </a:rPr>
                        <a:t>Website visitors 180d</a:t>
                      </a:r>
                      <a:r>
                        <a:rPr sz="1200" b="0" i="0">
                          <a:solidFill>
                            <a:srgbClr val="2A2622"/>
                          </a:solidFill>
                          <a:latin typeface="Calibri"/>
                        </a:rPr>
                        <a:t> (exclude purchasers + ATC) ③ </a:t>
                      </a:r>
                      <a:r>
                        <a:rPr sz="1200" b="1" i="0">
                          <a:solidFill>
                            <a:srgbClr val="2A2622"/>
                          </a:solidFill>
                          <a:latin typeface="Calibri"/>
                        </a:rPr>
                        <a:t>ATC 30d</a:t>
                      </a:r>
                      <a:r>
                        <a:rPr sz="1200" b="0" i="0">
                          <a:solidFill>
                            <a:srgbClr val="2A2622"/>
                          </a:solidFill>
                          <a:latin typeface="Calibri"/>
                        </a:rPr>
                        <a:t> (exclude purchasers) ④ </a:t>
                      </a:r>
                      <a:r>
                        <a:rPr sz="1200" b="1" i="0">
                          <a:solidFill>
                            <a:srgbClr val="2A2622"/>
                          </a:solidFill>
                          <a:latin typeface="Calibri"/>
                        </a:rPr>
                        <a:t>Checkout 30d</a:t>
                      </a:r>
                      <a:r>
                        <a:rPr sz="1200" b="0" i="0">
                          <a:solidFill>
                            <a:srgbClr val="2A2622"/>
                          </a:solidFill>
                          <a:latin typeface="Calibri"/>
                        </a:rPr>
                        <a:t> (exclude purchasers)</a:t>
                      </a:r>
                    </a:p>
                  </a:txBody>
                  <a:tcPr marL="45720" marR="45720" marT="18288" marB="18288" anchor="t">
                    <a:solidFill>
                      <a:srgbClr val="F6F1E7"/>
                    </a:solidFill>
                  </a:tcPr>
                </a:tc>
              </a:tr>
              <a:tr h="419100">
                <a:tc>
                  <a:txBody>
                    <a:bodyPr wrap="square"/>
                    <a:lstStyle/>
                    <a:p>
                      <a:r>
                        <a:rPr sz="1200" b="1" i="0">
                          <a:solidFill>
                            <a:srgbClr val="2A2622"/>
                          </a:solidFill>
                          <a:latin typeface="Calibri"/>
                        </a:rPr>
                        <a:t>Geo</a:t>
                      </a:r>
                    </a:p>
                  </a:txBody>
                  <a:tcPr marL="45720" marR="45720" marT="18288" marB="18288" anchor="t">
                    <a:solidFill>
                      <a:srgbClr val="FFFFFF"/>
                    </a:solidFill>
                  </a:tcPr>
                </a:tc>
                <a:tc>
                  <a:txBody>
                    <a:bodyPr wrap="square"/>
                    <a:lstStyle/>
                    <a:p>
                      <a:r>
                        <a:rPr sz="1200" b="0" i="0">
                          <a:solidFill>
                            <a:srgbClr val="2A2622"/>
                          </a:solidFill>
                          <a:latin typeface="Calibri"/>
                        </a:rPr>
                        <a:t>Same as prospecting (don't widen retargeting geo — the people are here)</a:t>
                      </a:r>
                    </a:p>
                  </a:txBody>
                  <a:tcPr marL="45720" marR="45720" marT="18288" marB="18288" anchor="t">
                    <a:solidFill>
                      <a:srgbClr val="FFFFFF"/>
                    </a:solidFill>
                  </a:tcPr>
                </a:tc>
              </a:tr>
              <a:tr h="419100">
                <a:tc>
                  <a:txBody>
                    <a:bodyPr wrap="square"/>
                    <a:lstStyle/>
                    <a:p>
                      <a:r>
                        <a:rPr sz="1200" b="1" i="0">
                          <a:solidFill>
                            <a:srgbClr val="2A2622"/>
                          </a:solidFill>
                          <a:latin typeface="Calibri"/>
                        </a:rPr>
                        <a:t>Creative per ad set</a:t>
                      </a:r>
                    </a:p>
                  </a:txBody>
                  <a:tcPr marL="45720" marR="45720" marT="18288" marB="18288" anchor="t">
                    <a:solidFill>
                      <a:srgbClr val="F6F1E7"/>
                    </a:solidFill>
                  </a:tcPr>
                </a:tc>
                <a:tc>
                  <a:txBody>
                    <a:bodyPr wrap="square"/>
                    <a:lstStyle/>
                    <a:p>
                      <a:r>
                        <a:rPr sz="1200" b="0" i="0">
                          <a:solidFill>
                            <a:srgbClr val="2A2622"/>
                          </a:solidFill>
                          <a:latin typeface="Calibri"/>
                        </a:rPr>
                        <a:t>① proof: Day-28 B/A + "Aapne dekha tha? Yeh asli photos hain" ② objection: D22 "4 darr, 4 jawaab" ③ urgency-real: "X/100 seat bachi — COD" ④ trust: D26 testimonial + "COD. Return bhi hai."</a:t>
                      </a:r>
                    </a:p>
                  </a:txBody>
                  <a:tcPr marL="45720" marR="45720" marT="18288" marB="18288" anchor="t">
                    <a:solidFill>
                      <a:srgbClr val="F6F1E7"/>
                    </a:solidFill>
                  </a:tcPr>
                </a:tc>
              </a:tr>
              <a:tr h="419100">
                <a:tc>
                  <a:txBody>
                    <a:bodyPr wrap="square"/>
                    <a:lstStyle/>
                    <a:p>
                      <a:r>
                        <a:rPr sz="1200" b="1" i="0">
                          <a:solidFill>
                            <a:srgbClr val="2A2622"/>
                          </a:solidFill>
                          <a:latin typeface="Calibri"/>
                        </a:rPr>
                        <a:t>Primary text</a:t>
                      </a:r>
                    </a:p>
                  </a:txBody>
                  <a:tcPr marL="45720" marR="45720" marT="18288" marB="18288" anchor="t">
                    <a:solidFill>
                      <a:srgbClr val="FFFFFF"/>
                    </a:solidFill>
                  </a:tcPr>
                </a:tc>
                <a:tc>
                  <a:txBody>
                    <a:bodyPr wrap="square"/>
                    <a:lstStyle/>
                    <a:p>
                      <a:r>
                        <a:rPr sz="1200" b="0" i="0">
                          <a:solidFill>
                            <a:srgbClr val="2A2622"/>
                          </a:solidFill>
                          <a:latin typeface="Calibri"/>
                        </a:rPr>
                        <a:t>Short, warm, one-line: "Pucha tha? Yeh raha jawaab — COD hai, 4–6 hafte ka honest timeline hai, aur asli photos hain."</a:t>
                      </a:r>
                    </a:p>
                  </a:txBody>
                  <a:tcPr marL="45720" marR="45720" marT="18288" marB="18288" anchor="t">
                    <a:solidFill>
                      <a:srgbClr val="FFFFFF"/>
                    </a:solidFill>
                  </a:tcPr>
                </a:tc>
              </a:tr>
              <a:tr h="419100">
                <a:tc>
                  <a:txBody>
                    <a:bodyPr wrap="square"/>
                    <a:lstStyle/>
                    <a:p>
                      <a:r>
                        <a:rPr sz="1200" b="1" i="0">
                          <a:solidFill>
                            <a:srgbClr val="2A2622"/>
                          </a:solidFill>
                          <a:latin typeface="Calibri"/>
                        </a:rPr>
                        <a:t>Headline</a:t>
                      </a:r>
                    </a:p>
                  </a:txBody>
                  <a:tcPr marL="45720" marR="45720" marT="18288" marB="18288" anchor="t">
                    <a:solidFill>
                      <a:srgbClr val="F6F1E7"/>
                    </a:solidFill>
                  </a:tcPr>
                </a:tc>
                <a:tc>
                  <a:txBody>
                    <a:bodyPr wrap="square"/>
                    <a:lstStyle/>
                    <a:p>
                      <a:r>
                        <a:rPr sz="1200" b="0" i="0">
                          <a:solidFill>
                            <a:srgbClr val="2A2622"/>
                          </a:solidFill>
                          <a:latin typeface="Calibri"/>
                        </a:rPr>
                        <a:t>"Aapka decision, aapke time par — par batch 1 X seat pe rukega"</a:t>
                      </a:r>
                    </a:p>
                  </a:txBody>
                  <a:tcPr marL="45720" marR="45720" marT="18288" marB="18288" anchor="t">
                    <a:solidFill>
                      <a:srgbClr val="F6F1E7"/>
                    </a:solidFill>
                  </a:tcPr>
                </a:tc>
              </a:tr>
              <a:tr h="419100">
                <a:tc>
                  <a:txBody>
                    <a:bodyPr wrap="square"/>
                    <a:lstStyle/>
                    <a:p>
                      <a:r>
                        <a:rPr sz="1200" b="1" i="0">
                          <a:solidFill>
                            <a:srgbClr val="2A2622"/>
                          </a:solidFill>
                          <a:latin typeface="Calibri"/>
                        </a:rPr>
                        <a:t>CTA</a:t>
                      </a:r>
                    </a:p>
                  </a:txBody>
                  <a:tcPr marL="45720" marR="45720" marT="18288" marB="18288" anchor="t">
                    <a:solidFill>
                      <a:srgbClr val="FFFFFF"/>
                    </a:solidFill>
                  </a:tcPr>
                </a:tc>
                <a:tc>
                  <a:txBody>
                    <a:bodyPr wrap="square"/>
                    <a:lstStyle/>
                    <a:p>
                      <a:r>
                        <a:rPr sz="1200" b="0" i="0">
                          <a:solidFill>
                            <a:srgbClr val="2A2622"/>
                          </a:solidFill>
                          <a:latin typeface="Calibri"/>
                        </a:rPr>
                        <a:t>"Shop Now" / "Send WhatsApp Message"</a:t>
                      </a:r>
                    </a:p>
                  </a:txBody>
                  <a:tcPr marL="45720" marR="45720" marT="18288" marB="18288" anchor="t">
                    <a:solidFill>
                      <a:srgbClr val="FFFFFF"/>
                    </a:solidFill>
                  </a:tcPr>
                </a:tc>
              </a:tr>
              <a:tr h="419100">
                <a:tc>
                  <a:txBody>
                    <a:bodyPr wrap="square"/>
                    <a:lstStyle/>
                    <a:p>
                      <a:r>
                        <a:rPr sz="1200" b="1" i="0">
                          <a:solidFill>
                            <a:srgbClr val="2A2622"/>
                          </a:solidFill>
                          <a:latin typeface="Calibri"/>
                        </a:rPr>
                        <a:t>Budget</a:t>
                      </a:r>
                    </a:p>
                  </a:txBody>
                  <a:tcPr marL="45720" marR="45720" marT="18288" marB="18288" anchor="t">
                    <a:solidFill>
                      <a:srgbClr val="F6F1E7"/>
                    </a:solidFill>
                  </a:tcPr>
                </a:tc>
                <a:tc>
                  <a:txBody>
                    <a:bodyPr wrap="square"/>
                    <a:lstStyle/>
                    <a:p>
                      <a:r>
                        <a:rPr sz="1200" b="0" i="0">
                          <a:solidFill>
                            <a:srgbClr val="2A2622"/>
                          </a:solidFill>
                          <a:latin typeface="Calibri"/>
                        </a:rPr>
                        <a:t>₹200–₹300/day total (split: ① ₹100 ② ₹60 ③ ₹50 ④ ₹30 — scale whichever has CPA ≤ ₹150)</a:t>
                      </a:r>
                    </a:p>
                  </a:txBody>
                  <a:tcPr marL="45720" marR="45720" marT="18288" marB="18288" anchor="t">
                    <a:solidFill>
                      <a:srgbClr val="F6F1E7"/>
                    </a:solidFill>
                  </a:tcPr>
                </a:tc>
              </a:tr>
              <a:tr h="419100">
                <a:tc>
                  <a:txBody>
                    <a:bodyPr wrap="square"/>
                    <a:lstStyle/>
                    <a:p>
                      <a:r>
                        <a:rPr sz="1200" b="1" i="0">
                          <a:solidFill>
                            <a:srgbClr val="2A2622"/>
                          </a:solidFill>
                          <a:latin typeface="Calibri"/>
                        </a:rPr>
                        <a:t>Frequency cap</a:t>
                      </a:r>
                    </a:p>
                  </a:txBody>
                  <a:tcPr marL="45720" marR="45720" marT="18288" marB="18288" anchor="t">
                    <a:solidFill>
                      <a:srgbClr val="FFFFFF"/>
                    </a:solidFill>
                  </a:tcPr>
                </a:tc>
                <a:tc>
                  <a:txBody>
                    <a:bodyPr wrap="square"/>
                    <a:lstStyle/>
                    <a:p>
                      <a:r>
                        <a:rPr sz="1200" b="0" i="0">
                          <a:solidFill>
                            <a:srgbClr val="2A2622"/>
                          </a:solidFill>
                          <a:latin typeface="Calibri"/>
                        </a:rPr>
                        <a:t>Keep impressions/week ≤ 3–4 per person (retargeting fatigue kills new brands faster than prospecting)</a:t>
                      </a:r>
                    </a:p>
                  </a:txBody>
                  <a:tcPr marL="45720" marR="45720" marT="18288" marB="18288" anchor="t">
                    <a:solidFill>
                      <a:srgbClr val="FFFFFF"/>
                    </a:solidFill>
                  </a:tcPr>
                </a:tc>
              </a:tr>
              <a:tr h="419100">
                <a:tc>
                  <a:txBody>
                    <a:bodyPr wrap="square"/>
                    <a:lstStyle/>
                    <a:p>
                      <a:r>
                        <a:rPr sz="1200" b="1" i="0">
                          <a:solidFill>
                            <a:srgbClr val="2A2622"/>
                          </a:solidFill>
                          <a:latin typeface="Calibri"/>
                        </a:rPr>
                        <a:t>Success metrics</a:t>
                      </a:r>
                    </a:p>
                  </a:txBody>
                  <a:tcPr marL="45720" marR="45720" marT="18288" marB="18288" anchor="t">
                    <a:solidFill>
                      <a:srgbClr val="F6F1E7"/>
                    </a:solidFill>
                  </a:tcPr>
                </a:tc>
                <a:tc>
                  <a:txBody>
                    <a:bodyPr wrap="square"/>
                    <a:lstStyle/>
                    <a:p>
                      <a:r>
                        <a:rPr sz="1200" b="0" i="0">
                          <a:solidFill>
                            <a:srgbClr val="2A2622"/>
                          </a:solidFill>
                          <a:latin typeface="Calibri"/>
                        </a:rPr>
                        <a:t>CPA ≤ ₹150 (retargeting should be 2–3x cheaper than prospecting), ROAS ≥ 3x, CTR ≥ 2%</a:t>
                      </a:r>
                    </a:p>
                  </a:txBody>
                  <a:tcPr marL="45720" marR="45720" marT="18288" marB="18288" anchor="t">
                    <a:solidFill>
                      <a:srgbClr val="F6F1E7"/>
                    </a:solidFill>
                  </a:tcPr>
                </a:tc>
              </a:tr>
              <a:tr h="419100">
                <a:tc>
                  <a:txBody>
                    <a:bodyPr wrap="square"/>
                    <a:lstStyle/>
                    <a:p>
                      <a:r>
                        <a:rPr sz="1200" b="1" i="0">
                          <a:solidFill>
                            <a:srgbClr val="2A2622"/>
                          </a:solidFill>
                          <a:latin typeface="Calibri"/>
                        </a:rPr>
                        <a:t>Note</a:t>
                      </a:r>
                    </a:p>
                  </a:txBody>
                  <a:tcPr marL="45720" marR="45720" marT="18288" marB="18288" anchor="t">
                    <a:solidFill>
                      <a:srgbClr val="FFFFFF"/>
                    </a:solidFill>
                  </a:tcPr>
                </a:tc>
                <a:tc>
                  <a:txBody>
                    <a:bodyPr wrap="square"/>
                    <a:lstStyle/>
                    <a:p>
                      <a:r>
                        <a:rPr sz="1200" b="0" i="0">
                          <a:solidFill>
                            <a:srgbClr val="2A2622"/>
                          </a:solidFill>
                          <a:latin typeface="Calibri"/>
                        </a:rPr>
                        <a:t>Retargeting is where the "second look" orders happen — 20–40% of total revenue by Day 60. Never let it go below ₹150/day once audiences exist.</a:t>
                      </a:r>
                    </a:p>
                  </a:txBody>
                  <a:tcPr marL="45720" marR="45720" marT="18288" marB="18288" anchor="t">
                    <a:solidFill>
                      <a:srgbClr val="FFFFFF"/>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276</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4 CAMPAIGNS</a:t>
            </a:r>
          </a:p>
          <a:p>
            <a:r>
              <a:rPr sz="1200" i="1">
                <a:solidFill>
                  <a:srgbClr val="57504A"/>
                </a:solidFill>
                <a:latin typeface="Calibri"/>
              </a:rPr>
              <a:t>PART 16 — Meta Ads: 4 Campaigns + Budget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CAMPAIGN 4 — "SCALE" (Advantage+/broad scale + new product) — LIVE DAY 60+</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277</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4 CAMPAIGNS</a:t>
            </a:r>
          </a:p>
          <a:p>
            <a:r>
              <a:rPr sz="1200" i="1">
                <a:solidFill>
                  <a:srgbClr val="57504A"/>
                </a:solidFill>
                <a:latin typeface="Calibri"/>
              </a:rPr>
              <a:t>PART 16 — Meta Ads: 4 Campaigns + Budget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3764009"/>
                <a:gridCol w="7787605"/>
              </a:tblGrid>
              <a:tr h="558800">
                <a:tc>
                  <a:txBody>
                    <a:bodyPr wrap="square"/>
                    <a:lstStyle/>
                    <a:p>
                      <a:r>
                        <a:rPr sz="1200" b="1" i="0">
                          <a:solidFill>
                            <a:srgbClr val="FFFFFF"/>
                          </a:solidFill>
                          <a:latin typeface="Calibri"/>
                        </a:rPr>
                        <a:t>Element</a:t>
                      </a:r>
                    </a:p>
                  </a:txBody>
                  <a:tcPr marL="45720" marR="45720" marT="18288" marB="18288" anchor="t">
                    <a:solidFill>
                      <a:srgbClr val="B44A2E"/>
                    </a:solidFill>
                  </a:tcPr>
                </a:tc>
                <a:tc>
                  <a:txBody>
                    <a:bodyPr wrap="square"/>
                    <a:lstStyle/>
                    <a:p>
                      <a:r>
                        <a:rPr sz="1200" b="1" i="0">
                          <a:solidFill>
                            <a:srgbClr val="FFFFFF"/>
                          </a:solidFill>
                          <a:latin typeface="Calibri"/>
                        </a:rPr>
                        <a:t>Spec</a:t>
                      </a:r>
                    </a:p>
                  </a:txBody>
                  <a:tcPr marL="45720" marR="45720" marT="18288" marB="18288" anchor="t">
                    <a:solidFill>
                      <a:srgbClr val="B44A2E"/>
                    </a:solidFill>
                  </a:tcPr>
                </a:tc>
              </a:tr>
              <a:tr h="558800">
                <a:tc>
                  <a:txBody>
                    <a:bodyPr wrap="square"/>
                    <a:lstStyle/>
                    <a:p>
                      <a:r>
                        <a:rPr sz="1200" b="1" i="0">
                          <a:solidFill>
                            <a:srgbClr val="2A2622"/>
                          </a:solidFill>
                          <a:latin typeface="Calibri"/>
                        </a:rPr>
                        <a:t>Objective</a:t>
                      </a:r>
                    </a:p>
                  </a:txBody>
                  <a:tcPr marL="45720" marR="45720" marT="18288" marB="18288" anchor="t">
                    <a:solidFill>
                      <a:srgbClr val="FFFFFF"/>
                    </a:solidFill>
                  </a:tcPr>
                </a:tc>
                <a:tc>
                  <a:txBody>
                    <a:bodyPr wrap="square"/>
                    <a:lstStyle/>
                    <a:p>
                      <a:r>
                        <a:rPr sz="1200" b="0" i="0">
                          <a:solidFill>
                            <a:srgbClr val="2A2622"/>
                          </a:solidFill>
                          <a:latin typeface="Calibri"/>
                        </a:rPr>
                        <a:t>Sales (Conversions)</a:t>
                      </a:r>
                    </a:p>
                  </a:txBody>
                  <a:tcPr marL="45720" marR="45720" marT="18288" marB="18288" anchor="t">
                    <a:solidFill>
                      <a:srgbClr val="FFFFFF"/>
                    </a:solidFill>
                  </a:tcPr>
                </a:tc>
              </a:tr>
              <a:tr h="558800">
                <a:tc>
                  <a:txBody>
                    <a:bodyPr wrap="square"/>
                    <a:lstStyle/>
                    <a:p>
                      <a:r>
                        <a:rPr sz="1200" b="1" i="0">
                          <a:solidFill>
                            <a:srgbClr val="2A2622"/>
                          </a:solidFill>
                          <a:latin typeface="Calibri"/>
                        </a:rPr>
                        <a:t>Structure</a:t>
                      </a:r>
                    </a:p>
                  </a:txBody>
                  <a:tcPr marL="45720" marR="45720" marT="18288" marB="18288" anchor="t">
                    <a:solidFill>
                      <a:srgbClr val="F6F1E7"/>
                    </a:solidFill>
                  </a:tcPr>
                </a:tc>
                <a:tc>
                  <a:txBody>
                    <a:bodyPr wrap="square"/>
                    <a:lstStyle/>
                    <a:p>
                      <a:r>
                        <a:rPr sz="1200" b="1" i="0">
                          <a:solidFill>
                            <a:srgbClr val="2A2622"/>
                          </a:solidFill>
                          <a:latin typeface="Calibri"/>
                        </a:rPr>
                        <a:t>Option A (recommended first):</a:t>
                      </a:r>
                      <a:r>
                        <a:rPr sz="1200" b="0" i="0">
                          <a:solidFill>
                            <a:srgbClr val="2A2622"/>
                          </a:solidFill>
                          <a:latin typeface="Calibri"/>
                        </a:rPr>
                        <a:t> Meta </a:t>
                      </a:r>
                      <a:r>
                        <a:rPr sz="1200" b="1" i="0">
                          <a:solidFill>
                            <a:srgbClr val="2A2622"/>
                          </a:solidFill>
                          <a:latin typeface="Calibri"/>
                        </a:rPr>
                        <a:t>Advantage+ shopping-style campaign</a:t>
                      </a:r>
                      <a:r>
                        <a:rPr sz="1200" b="0" i="0">
                          <a:solidFill>
                            <a:srgbClr val="2A2622"/>
                          </a:solidFill>
                          <a:latin typeface="Calibri"/>
                        </a:rPr>
                        <a:t> (1 ad set, 10 creatives, broad, let Meta optimize) — once 100+ purchase events exist. </a:t>
                      </a:r>
                      <a:r>
                        <a:rPr sz="1200" b="1" i="0">
                          <a:solidFill>
                            <a:srgbClr val="2A2622"/>
                          </a:solidFill>
                          <a:latin typeface="Calibri"/>
                        </a:rPr>
                        <a:t>Option B:</a:t>
                      </a:r>
                      <a:r>
                        <a:rPr sz="1200" b="0" i="0">
                          <a:solidFill>
                            <a:srgbClr val="2A2622"/>
                          </a:solidFill>
                          <a:latin typeface="Calibri"/>
                        </a:rPr>
                        <a:t> manual: 3 ad sets — broad All-Gujarat / broad top-6 India cities / LAL 1% purchasers (30d).</a:t>
                      </a:r>
                    </a:p>
                  </a:txBody>
                  <a:tcPr marL="45720" marR="45720" marT="18288" marB="18288" anchor="t">
                    <a:solidFill>
                      <a:srgbClr val="F6F1E7"/>
                    </a:solidFill>
                  </a:tcPr>
                </a:tc>
              </a:tr>
              <a:tr h="558800">
                <a:tc>
                  <a:txBody>
                    <a:bodyPr wrap="square"/>
                    <a:lstStyle/>
                    <a:p>
                      <a:r>
                        <a:rPr sz="1200" b="1" i="0">
                          <a:solidFill>
                            <a:srgbClr val="2A2622"/>
                          </a:solidFill>
                          <a:latin typeface="Calibri"/>
                        </a:rPr>
                        <a:t>Geo</a:t>
                      </a:r>
                    </a:p>
                  </a:txBody>
                  <a:tcPr marL="45720" marR="45720" marT="18288" marB="18288" anchor="t">
                    <a:solidFill>
                      <a:srgbClr val="FFFFFF"/>
                    </a:solidFill>
                  </a:tcPr>
                </a:tc>
                <a:tc>
                  <a:txBody>
                    <a:bodyPr wrap="square"/>
                    <a:lstStyle/>
                    <a:p>
                      <a:r>
                        <a:rPr sz="1200" b="0" i="0">
                          <a:solidFill>
                            <a:srgbClr val="2A2622"/>
                          </a:solidFill>
                          <a:latin typeface="Calibri"/>
                        </a:rPr>
                        <a:t>All Gujarat + top-6 India cities (Delhi NCR, Mumbai, Pune, Bangalore, Hyderabad, Jaipur) — with "Indian skin" creative (nationalize the message, keep the founder's voice)</a:t>
                      </a:r>
                    </a:p>
                  </a:txBody>
                  <a:tcPr marL="45720" marR="45720" marT="18288" marB="18288" anchor="t">
                    <a:solidFill>
                      <a:srgbClr val="FFFFFF"/>
                    </a:solidFill>
                  </a:tcPr>
                </a:tc>
              </a:tr>
              <a:tr h="558800">
                <a:tc>
                  <a:txBody>
                    <a:bodyPr wrap="square"/>
                    <a:lstStyle/>
                    <a:p>
                      <a:r>
                        <a:rPr sz="1200" b="1" i="0">
                          <a:solidFill>
                            <a:srgbClr val="2A2622"/>
                          </a:solidFill>
                          <a:latin typeface="Calibri"/>
                        </a:rPr>
                        <a:t>Creative</a:t>
                      </a:r>
                    </a:p>
                  </a:txBody>
                  <a:tcPr marL="45720" marR="45720" marT="18288" marB="18288" anchor="t">
                    <a:solidFill>
                      <a:srgbClr val="F6F1E7"/>
                    </a:solidFill>
                  </a:tcPr>
                </a:tc>
                <a:tc>
                  <a:txBody>
                    <a:bodyPr wrap="square"/>
                    <a:lstStyle/>
                    <a:p>
                      <a:r>
                        <a:rPr sz="1200" b="0" i="0">
                          <a:solidFill>
                            <a:srgbClr val="2A2622"/>
                          </a:solidFill>
                          <a:latin typeface="Calibri"/>
                        </a:rPr>
                        <a:t>6–10: the 4 proven winners (new cuts) + 2–3 new angles for Sunscreen (wave-2 hero) + 1 founder video + 1 AI-UGC variant (labeled concept)</a:t>
                      </a:r>
                    </a:p>
                  </a:txBody>
                  <a:tcPr marL="45720" marR="45720" marT="18288" marB="18288" anchor="t">
                    <a:solidFill>
                      <a:srgbClr val="F6F1E7"/>
                    </a:solidFill>
                  </a:tcPr>
                </a:tc>
              </a:tr>
              <a:tr h="558800">
                <a:tc>
                  <a:txBody>
                    <a:bodyPr wrap="square"/>
                    <a:lstStyle/>
                    <a:p>
                      <a:r>
                        <a:rPr sz="1200" b="1" i="0">
                          <a:solidFill>
                            <a:srgbClr val="2A2622"/>
                          </a:solidFill>
                          <a:latin typeface="Calibri"/>
                        </a:rPr>
                        <a:t>Budget</a:t>
                      </a:r>
                    </a:p>
                  </a:txBody>
                  <a:tcPr marL="45720" marR="45720" marT="18288" marB="18288" anchor="t">
                    <a:solidFill>
                      <a:srgbClr val="FFFFFF"/>
                    </a:solidFill>
                  </a:tcPr>
                </a:tc>
                <a:tc>
                  <a:txBody>
                    <a:bodyPr wrap="square"/>
                    <a:lstStyle/>
                    <a:p>
                      <a:r>
                        <a:rPr sz="1200" b="0" i="0">
                          <a:solidFill>
                            <a:srgbClr val="2A2622"/>
                          </a:solidFill>
                          <a:latin typeface="Calibri"/>
                        </a:rPr>
                        <a:t>₹1,000–₹2,500/day (start ₹1,000; +30% every 3 days while CPA ≤ target)</a:t>
                      </a:r>
                    </a:p>
                  </a:txBody>
                  <a:tcPr marL="45720" marR="45720" marT="18288" marB="18288" anchor="t">
                    <a:solidFill>
                      <a:srgbClr val="FFFFFF"/>
                    </a:solidFill>
                  </a:tcPr>
                </a:tc>
              </a:tr>
              <a:tr h="558800">
                <a:tc>
                  <a:txBody>
                    <a:bodyPr wrap="square"/>
                    <a:lstStyle/>
                    <a:p>
                      <a:r>
                        <a:rPr sz="1200" b="1" i="0">
                          <a:solidFill>
                            <a:srgbClr val="2A2622"/>
                          </a:solidFill>
                          <a:latin typeface="Calibri"/>
                        </a:rPr>
                        <a:t>Test period</a:t>
                      </a:r>
                    </a:p>
                  </a:txBody>
                  <a:tcPr marL="45720" marR="45720" marT="18288" marB="18288" anchor="t">
                    <a:solidFill>
                      <a:srgbClr val="F6F1E7"/>
                    </a:solidFill>
                  </a:tcPr>
                </a:tc>
                <a:tc>
                  <a:txBody>
                    <a:bodyPr wrap="square"/>
                    <a:lstStyle/>
                    <a:p>
                      <a:r>
                        <a:rPr sz="1200" b="0" i="0">
                          <a:solidFill>
                            <a:srgbClr val="2A2622"/>
                          </a:solidFill>
                          <a:latin typeface="Calibri"/>
                        </a:rPr>
                        <a:t>10 days (bigger budget = more learning data)</a:t>
                      </a:r>
                    </a:p>
                  </a:txBody>
                  <a:tcPr marL="45720" marR="45720" marT="18288" marB="18288" anchor="t">
                    <a:solidFill>
                      <a:srgbClr val="F6F1E7"/>
                    </a:solidFill>
                  </a:tcPr>
                </a:tc>
              </a:tr>
              <a:tr h="558800">
                <a:tc>
                  <a:txBody>
                    <a:bodyPr wrap="square"/>
                    <a:lstStyle/>
                    <a:p>
                      <a:r>
                        <a:rPr sz="1200" b="1" i="0">
                          <a:solidFill>
                            <a:srgbClr val="2A2622"/>
                          </a:solidFill>
                          <a:latin typeface="Calibri"/>
                        </a:rPr>
                        <a:t>Success metrics</a:t>
                      </a:r>
                    </a:p>
                  </a:txBody>
                  <a:tcPr marL="45720" marR="45720" marT="18288" marB="18288" anchor="t">
                    <a:solidFill>
                      <a:srgbClr val="FFFFFF"/>
                    </a:solidFill>
                  </a:tcPr>
                </a:tc>
                <a:tc>
                  <a:txBody>
                    <a:bodyPr wrap="square"/>
                    <a:lstStyle/>
                    <a:p>
                      <a:r>
                        <a:rPr sz="1200" b="0" i="0">
                          <a:solidFill>
                            <a:srgbClr val="2A2622"/>
                          </a:solidFill>
                          <a:latin typeface="Calibri"/>
                        </a:rPr>
                        <a:t>Blended CPA ≤ ₹300, ROAS ≥ 2.5x, new-city CPA ≤ 1.3x Gujarat CPA (if a city is 2x worse, pause it)</a:t>
                      </a:r>
                    </a:p>
                  </a:txBody>
                  <a:tcPr marL="45720" marR="45720" marT="18288" marB="18288" anchor="t">
                    <a:solidFill>
                      <a:srgbClr val="FFFFFF"/>
                    </a:solidFill>
                  </a:tcPr>
                </a:tc>
              </a:tr>
              <a:tr h="558800">
                <a:tc>
                  <a:txBody>
                    <a:bodyPr wrap="square"/>
                    <a:lstStyle/>
                    <a:p>
                      <a:r>
                        <a:rPr sz="1200" b="1" i="0">
                          <a:solidFill>
                            <a:srgbClr val="2A2622"/>
                          </a:solidFill>
                          <a:latin typeface="Calibri"/>
                        </a:rPr>
                        <a:t>Sunscreen handoff (Day 60–75)</a:t>
                      </a:r>
                    </a:p>
                  </a:txBody>
                  <a:tcPr marL="45720" marR="45720" marT="18288" marB="18288" anchor="t">
                    <a:solidFill>
                      <a:srgbClr val="F6F1E7"/>
                    </a:solidFill>
                  </a:tcPr>
                </a:tc>
                <a:tc>
                  <a:txBody>
                    <a:bodyPr wrap="square"/>
                    <a:lstStyle/>
                    <a:p>
                      <a:r>
                        <a:rPr sz="1200" b="0" i="0">
                          <a:solidFill>
                            <a:srgbClr val="2A2622"/>
                          </a:solidFill>
                          <a:latin typeface="Calibri"/>
                        </a:rPr>
                        <a:t>50% of C4 budget on Sunscreen creative (same audiences, new product) — existing buyers cross-sold via Campaign 3's site-visitors ad set with "kit" creative</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278</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4 CAMPAIGNS</a:t>
            </a:r>
          </a:p>
          <a:p>
            <a:r>
              <a:rPr sz="1200" i="1">
                <a:solidFill>
                  <a:srgbClr val="57504A"/>
                </a:solidFill>
                <a:latin typeface="Calibri"/>
              </a:rPr>
              <a:t>PART 16 — Meta Ads: 4 Campaigns + Budget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Campaign sequencing summary</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279</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 name="Rectangle 4"/>
          <p:cNvSpPr/>
          <p:nvPr/>
        </p:nvSpPr>
        <p:spPr>
          <a:xfrm>
            <a:off x="320040" y="1261872"/>
            <a:ext cx="11551615" cy="5212080"/>
          </a:xfrm>
          <a:prstGeom prst="rect">
            <a:avLst/>
          </a:prstGeom>
          <a:solidFill>
            <a:srgbClr val="F1EDE4"/>
          </a:solidFill>
          <a:ln w="9525">
            <a:solidFill>
              <a:srgbClr val="D8C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4 CAMPAIGNS</a:t>
            </a:r>
          </a:p>
          <a:p>
            <a:r>
              <a:rPr sz="1200" i="1">
                <a:solidFill>
                  <a:srgbClr val="57504A"/>
                </a:solidFill>
                <a:latin typeface="Calibri"/>
              </a:rPr>
              <a:t>PART 16 — Meta Ads: 4 Campaigns + Budget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0"/>
            <a:ext cx="11460175" cy="4937760"/>
          </a:xfrm>
          <a:prstGeom prst="rect">
            <a:avLst/>
          </a:prstGeom>
          <a:noFill/>
        </p:spPr>
        <p:txBody>
          <a:bodyPr wrap="square">
            <a:spAutoFit/>
          </a:bodyPr>
          <a:lstStyle/>
          <a:p>
            <a:pPr>
              <a:spcAft>
                <a:spcPts val="100"/>
              </a:spcAft>
            </a:pPr>
            <a:r>
              <a:rPr sz="1150">
                <a:solidFill>
                  <a:srgbClr val="2A2622"/>
                </a:solidFill>
                <a:latin typeface="Consolas"/>
              </a:rPr>
              <a:t>Day 1–14   : NO ads (organic proof building)</a:t>
            </a:r>
          </a:p>
          <a:p>
            <a:pPr>
              <a:spcAft>
                <a:spcPts val="100"/>
              </a:spcAft>
            </a:pPr>
            <a:r>
              <a:rPr sz="1150">
                <a:solidFill>
                  <a:srgbClr val="2A2622"/>
                </a:solidFill>
                <a:latin typeface="Consolas"/>
              </a:rPr>
              <a:t>Day 15–20  : OPTIONAL ₹200/day boost on 1 validated organic reel (Ahmedabad, follower/traffic)</a:t>
            </a:r>
          </a:p>
          <a:p>
            <a:pPr>
              <a:spcAft>
                <a:spcPts val="100"/>
              </a:spcAft>
            </a:pPr>
            <a:r>
              <a:rPr sz="1150">
                <a:solidFill>
                  <a:srgbClr val="2A2622"/>
                </a:solidFill>
                <a:latin typeface="Consolas"/>
              </a:rPr>
              <a:t>Day 21     : C1 LIVE ₹500/day  (launch)</a:t>
            </a:r>
          </a:p>
          <a:p>
            <a:pPr>
              <a:spcAft>
                <a:spcPts val="100"/>
              </a:spcAft>
            </a:pPr>
            <a:r>
              <a:rPr sz="1150">
                <a:solidFill>
                  <a:srgbClr val="2A2622"/>
                </a:solidFill>
                <a:latin typeface="Consolas"/>
              </a:rPr>
              <a:t>Day 25     : C3 LIVE ₹200/day  (retargeting audiences now exist)</a:t>
            </a:r>
          </a:p>
          <a:p>
            <a:pPr>
              <a:spcAft>
                <a:spcPts val="100"/>
              </a:spcAft>
            </a:pPr>
            <a:r>
              <a:rPr sz="1150">
                <a:solidFill>
                  <a:srgbClr val="2A2622"/>
                </a:solidFill>
                <a:latin typeface="Consolas"/>
              </a:rPr>
              <a:t>Day 35     : C2 LIVE ₹500/day  (warm + LAL)</a:t>
            </a:r>
          </a:p>
          <a:p>
            <a:pPr>
              <a:spcAft>
                <a:spcPts val="100"/>
              </a:spcAft>
            </a:pPr>
            <a:r>
              <a:rPr sz="1150">
                <a:solidFill>
                  <a:srgbClr val="2A2622"/>
                </a:solidFill>
                <a:latin typeface="Consolas"/>
              </a:rPr>
              <a:t>Day 60     : C4 LIVE ₹1,000/day (scale + national + sunscreen handoff)</a:t>
            </a:r>
          </a:p>
          <a:p>
            <a:pPr>
              <a:spcAft>
                <a:spcPts val="100"/>
              </a:spcAft>
            </a:pPr>
            <a:r>
              <a:rPr sz="1150">
                <a:solidFill>
                  <a:srgbClr val="2A2622"/>
                </a:solidFill>
                <a:latin typeface="Consolas"/>
              </a:rPr>
              <a:t>Day 90     : full engine = C1+C2+C3+C4, total ₹2,000–5,000/day, weekly optimization rhythm</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280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4 CAMPAIGNS</a:t>
            </a:r>
          </a:p>
          <a:p>
            <a:r>
              <a:rPr sz="1200" i="1">
                <a:solidFill>
                  <a:srgbClr val="57504A"/>
                </a:solidFill>
                <a:latin typeface="Calibri"/>
              </a:rPr>
              <a:t>PART 16 — Meta Ads: 4 Campaigns + Budget Strategy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Weekly ad operating rhythm (60 min, every Sunday):</a:t>
            </a:r>
          </a:p>
          <a:p>
            <a:pPr>
              <a:spcAft>
                <a:spcPts val="400"/>
              </a:spcAft>
            </a:pPr>
            <a:r>
              <a:rPr sz="1350" b="1">
                <a:solidFill>
                  <a:srgbClr val="8F3A22"/>
                </a:solidFill>
                <a:latin typeface="Calibri"/>
              </a:rPr>
              <a:t>1.  </a:t>
            </a:r>
            <a:r>
              <a:rPr sz="1350" b="0" i="0">
                <a:solidFill>
                  <a:srgbClr val="2A2622"/>
                </a:solidFill>
                <a:latin typeface="Calibri"/>
              </a:rPr>
              <a:t>Read: CTR, ATC, CPA, ROAS per ad (7-day windows).</a:t>
            </a:r>
          </a:p>
          <a:p>
            <a:pPr>
              <a:spcAft>
                <a:spcPts val="400"/>
              </a:spcAft>
            </a:pPr>
            <a:r>
              <a:rPr sz="1350" b="1">
                <a:solidFill>
                  <a:srgbClr val="8F3A22"/>
                </a:solidFill>
                <a:latin typeface="Calibri"/>
              </a:rPr>
              <a:t>2.  </a:t>
            </a:r>
            <a:r>
              <a:rPr sz="1350" b="0" i="0">
                <a:solidFill>
                  <a:srgbClr val="2A2622"/>
                </a:solidFill>
                <a:latin typeface="Calibri"/>
              </a:rPr>
              <a:t>Kill: bottom 20% (CTR &lt; 0.8% cold / no ATC). Scale: +30% to winners (max +50%/day).</a:t>
            </a:r>
          </a:p>
          <a:p>
            <a:pPr>
              <a:spcAft>
                <a:spcPts val="400"/>
              </a:spcAft>
            </a:pPr>
            <a:r>
              <a:rPr sz="1350" b="1">
                <a:solidFill>
                  <a:srgbClr val="8F3A22"/>
                </a:solidFill>
                <a:latin typeface="Calibri"/>
              </a:rPr>
              <a:t>3.  </a:t>
            </a:r>
            <a:r>
              <a:rPr sz="1350" b="0" i="0">
                <a:solidFill>
                  <a:srgbClr val="2A2622"/>
                </a:solidFill>
                <a:latin typeface="Calibri"/>
              </a:rPr>
              <a:t>Refresh: any creative &gt; 21 days with falling CTR → new cut of same script.</a:t>
            </a:r>
          </a:p>
          <a:p>
            <a:pPr>
              <a:spcAft>
                <a:spcPts val="400"/>
              </a:spcAft>
            </a:pPr>
            <a:r>
              <a:rPr sz="1350" b="1">
                <a:solidFill>
                  <a:srgbClr val="8F3A22"/>
                </a:solidFill>
                <a:latin typeface="Calibri"/>
              </a:rPr>
              <a:t>4.  </a:t>
            </a:r>
            <a:r>
              <a:rPr sz="1350" b="0" i="0">
                <a:solidFill>
                  <a:srgbClr val="2A2622"/>
                </a:solidFill>
                <a:latin typeface="Calibri"/>
              </a:rPr>
              <a:t>Creatives: bank should always hold </a:t>
            </a:r>
            <a:r>
              <a:rPr sz="1350" b="1" i="0">
                <a:solidFill>
                  <a:srgbClr val="2A2622"/>
                </a:solidFill>
                <a:latin typeface="Calibri"/>
              </a:rPr>
              <a:t>≥6 live + 6 in queue</a:t>
            </a:r>
            <a:r>
              <a:rPr sz="1350" b="0" i="0">
                <a:solidFill>
                  <a:srgbClr val="2A2622"/>
                </a:solidFill>
                <a:latin typeface="Calibri"/>
              </a:rPr>
              <a:t> (never run dry).</a:t>
            </a:r>
          </a:p>
          <a:p>
            <a:pPr>
              <a:spcAft>
                <a:spcPts val="400"/>
              </a:spcAft>
            </a:pPr>
            <a:r>
              <a:rPr sz="1350" b="1">
                <a:solidFill>
                  <a:srgbClr val="8F3A22"/>
                </a:solidFill>
                <a:latin typeface="Calibri"/>
              </a:rPr>
              <a:t>5.  </a:t>
            </a:r>
            <a:r>
              <a:rPr sz="1350" b="0" i="0">
                <a:solidFill>
                  <a:srgbClr val="2A2622"/>
                </a:solidFill>
                <a:latin typeface="Calibri"/>
              </a:rPr>
              <a:t>Learn: log winning hook + format in the hook sheet → next week's organic content uses it (organic ↔ ads flywheel).</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281</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17</a:t>
            </a:r>
          </a:p>
        </p:txBody>
      </p:sp>
      <p:sp>
        <p:nvSpPr>
          <p:cNvPr id="4" name="TextBox 3"/>
          <p:cNvSpPr txBox="1"/>
          <p:nvPr/>
        </p:nvSpPr>
        <p:spPr>
          <a:xfrm>
            <a:off x="914400" y="2377440"/>
            <a:ext cx="10362895" cy="1645920"/>
          </a:xfrm>
          <a:prstGeom prst="rect">
            <a:avLst/>
          </a:prstGeom>
          <a:noFill/>
        </p:spPr>
        <p:txBody>
          <a:bodyPr wrap="square">
            <a:spAutoFit/>
          </a:bodyPr>
          <a:lstStyle/>
          <a:p>
            <a:r>
              <a:rPr sz="3000" b="1">
                <a:solidFill>
                  <a:srgbClr val="8F3A22"/>
                </a:solidFill>
                <a:latin typeface="Calibri"/>
              </a:rPr>
              <a:t>§18 CREATIVE TESTING + §20 RETARGETING — RANGAT NATURALS</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Creative Testing System + Retargeting Sequence</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282</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CREATIVE TESTING SYSTEM (Section 18)</a:t>
            </a:r>
          </a:p>
          <a:p>
            <a:r>
              <a:rPr sz="1200" i="1">
                <a:solidFill>
                  <a:srgbClr val="57504A"/>
                </a:solidFill>
                <a:latin typeface="Calibri"/>
              </a:rPr>
              <a:t>PART 17 — Creative Testing System + Retargeting Sequence</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How many creatives to test (and why)</a:t>
            </a:r>
          </a:p>
          <a:p>
            <a:pPr>
              <a:spcAft>
                <a:spcPts val="400"/>
              </a:spcAft>
            </a:pPr>
            <a:r>
              <a:rPr sz="1350">
                <a:solidFill>
                  <a:srgbClr val="B44A2E"/>
                </a:solidFill>
                <a:latin typeface="Calibri"/>
              </a:rPr>
              <a:t>•  </a:t>
            </a:r>
            <a:r>
              <a:rPr sz="1350" b="1" i="0">
                <a:solidFill>
                  <a:srgbClr val="2A2622"/>
                </a:solidFill>
                <a:latin typeface="Calibri"/>
              </a:rPr>
              <a:t>Cold prospecting (C1):</a:t>
            </a:r>
            <a:r>
              <a:rPr sz="1350" b="0" i="0">
                <a:solidFill>
                  <a:srgbClr val="2A2622"/>
                </a:solidFill>
                <a:latin typeface="Calibri"/>
              </a:rPr>
              <a:t> </a:t>
            </a:r>
            <a:r>
              <a:rPr sz="1350" b="1" i="0">
                <a:solidFill>
                  <a:srgbClr val="2A2622"/>
                </a:solidFill>
                <a:latin typeface="Calibri"/>
              </a:rPr>
              <a:t>4–8 creatives per campaign, 2–3 per ad set, 7-day test.</a:t>
            </a:r>
            <a:r>
              <a:rPr sz="1350" b="0" i="0">
                <a:solidFill>
                  <a:srgbClr val="2A2622"/>
                </a:solidFill>
                <a:latin typeface="Calibri"/>
              </a:rPr>
              <a:t> Fewer than 4 = no data; more than 8 at ₹500/day = each creative starves (&lt;1,000 impressions/day each = noise).</a:t>
            </a:r>
          </a:p>
          <a:p>
            <a:pPr>
              <a:spcAft>
                <a:spcPts val="400"/>
              </a:spcAft>
            </a:pPr>
            <a:r>
              <a:rPr sz="1350">
                <a:solidFill>
                  <a:srgbClr val="B44A2E"/>
                </a:solidFill>
                <a:latin typeface="Calibri"/>
              </a:rPr>
              <a:t>•  </a:t>
            </a:r>
            <a:r>
              <a:rPr sz="1350" b="1" i="0">
                <a:solidFill>
                  <a:srgbClr val="2A2622"/>
                </a:solidFill>
                <a:latin typeface="Calibri"/>
              </a:rPr>
              <a:t>Retargeting (C3):</a:t>
            </a:r>
            <a:r>
              <a:rPr sz="1350" b="0" i="0">
                <a:solidFill>
                  <a:srgbClr val="2A2622"/>
                </a:solidFill>
                <a:latin typeface="Calibri"/>
              </a:rPr>
              <a:t> 1–2 creatives per audience (they're small — 4 creatives would burn out a 2k-person audience in a week).</a:t>
            </a:r>
          </a:p>
          <a:p>
            <a:pPr>
              <a:spcAft>
                <a:spcPts val="400"/>
              </a:spcAft>
            </a:pPr>
            <a:r>
              <a:rPr sz="1350">
                <a:solidFill>
                  <a:srgbClr val="B44A2E"/>
                </a:solidFill>
                <a:latin typeface="Calibri"/>
              </a:rPr>
              <a:t>•  </a:t>
            </a:r>
            <a:r>
              <a:rPr sz="1350" b="1" i="0">
                <a:solidFill>
                  <a:srgbClr val="2A2622"/>
                </a:solidFill>
                <a:latin typeface="Calibri"/>
              </a:rPr>
              <a:t>Always have 2x your live count in the queue</a:t>
            </a:r>
            <a:r>
              <a:rPr sz="1350" b="0" i="0">
                <a:solidFill>
                  <a:srgbClr val="2A2622"/>
                </a:solidFill>
                <a:latin typeface="Calibri"/>
              </a:rPr>
              <a:t> (6 live → 6 in queue). Creative fatigue in Indian D2C hits in </a:t>
            </a:r>
            <a:r>
              <a:rPr sz="1350" b="1" i="0">
                <a:solidFill>
                  <a:srgbClr val="2A2622"/>
                </a:solidFill>
                <a:latin typeface="Calibri"/>
              </a:rPr>
              <a:t>2–4 weeks</a:t>
            </a:r>
            <a:r>
              <a:rPr sz="1350" b="0" i="0">
                <a:solidFill>
                  <a:srgbClr val="2A2622"/>
                </a:solidFill>
                <a:latin typeface="Calibri"/>
              </a:rPr>
              <a:t> (CPM up, CTR down, CPA up) — the brand that keeps a fresh cut ready wins the scale game.</a:t>
            </a:r>
          </a:p>
          <a:p>
            <a:pPr>
              <a:spcBef>
                <a:spcPts val="1000"/>
              </a:spcBef>
              <a:spcAft>
                <a:spcPts val="400"/>
              </a:spcAft>
            </a:pPr>
            <a:r>
              <a:rPr sz="1600" b="1" i="0">
                <a:solidFill>
                  <a:srgbClr val="8F3A22"/>
                </a:solidFill>
                <a:latin typeface="Calibri"/>
              </a:rPr>
              <a:t>The 8 creative archetypes to test (in priority order for a new brand)</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283</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CREATIVE TESTING SYSTEM (Section 18)</a:t>
            </a:r>
          </a:p>
          <a:p>
            <a:r>
              <a:rPr sz="1200" i="1">
                <a:solidFill>
                  <a:srgbClr val="57504A"/>
                </a:solidFill>
                <a:latin typeface="Calibri"/>
              </a:rPr>
              <a:t>PART 17 — Creative Testing System + Retargeting Sequence</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93158"/>
                <a:gridCol w="2701587"/>
                <a:gridCol w="5589491"/>
                <a:gridCol w="3167378"/>
              </a:tblGrid>
              <a:tr h="558800">
                <a:tc>
                  <a:txBody>
                    <a:bodyPr wrap="square"/>
                    <a:lstStyle/>
                    <a:p>
                      <a:r>
                        <a:rPr sz="1200" b="1" i="0">
                          <a:solidFill>
                            <a:srgbClr val="FFFFFF"/>
                          </a:solidFill>
                          <a:latin typeface="Calibri"/>
                        </a:rPr>
                        <a:t>#</a:t>
                      </a:r>
                    </a:p>
                  </a:txBody>
                  <a:tcPr marL="45720" marR="45720" marT="18288" marB="18288" anchor="t">
                    <a:solidFill>
                      <a:srgbClr val="B44A2E"/>
                    </a:solidFill>
                  </a:tcPr>
                </a:tc>
                <a:tc>
                  <a:txBody>
                    <a:bodyPr wrap="square"/>
                    <a:lstStyle/>
                    <a:p>
                      <a:r>
                        <a:rPr sz="1200" b="1" i="0">
                          <a:solidFill>
                            <a:srgbClr val="FFFFFF"/>
                          </a:solidFill>
                          <a:latin typeface="Calibri"/>
                        </a:rPr>
                        <a:t>Archetype</a:t>
                      </a:r>
                    </a:p>
                  </a:txBody>
                  <a:tcPr marL="45720" marR="45720" marT="18288" marB="18288" anchor="t">
                    <a:solidFill>
                      <a:srgbClr val="B44A2E"/>
                    </a:solidFill>
                  </a:tcPr>
                </a:tc>
                <a:tc>
                  <a:txBody>
                    <a:bodyPr wrap="square"/>
                    <a:lstStyle/>
                    <a:p>
                      <a:r>
                        <a:rPr sz="1200" b="1" i="0">
                          <a:solidFill>
                            <a:srgbClr val="FFFFFF"/>
                          </a:solidFill>
                          <a:latin typeface="Calibri"/>
                        </a:rPr>
                        <a:t>Why first/late</a:t>
                      </a:r>
                    </a:p>
                  </a:txBody>
                  <a:tcPr marL="45720" marR="45720" marT="18288" marB="18288" anchor="t">
                    <a:solidFill>
                      <a:srgbClr val="B44A2E"/>
                    </a:solidFill>
                  </a:tcPr>
                </a:tc>
                <a:tc>
                  <a:txBody>
                    <a:bodyPr wrap="square"/>
                    <a:lstStyle/>
                    <a:p>
                      <a:r>
                        <a:rPr sz="1200" b="1" i="0">
                          <a:solidFill>
                            <a:srgbClr val="FFFFFF"/>
                          </a:solidFill>
                          <a:latin typeface="Calibri"/>
                        </a:rPr>
                        <a:t>RANGAT example</a:t>
                      </a:r>
                    </a:p>
                  </a:txBody>
                  <a:tcPr marL="45720" marR="45720" marT="18288" marB="18288" anchor="t">
                    <a:solidFill>
                      <a:srgbClr val="B44A2E"/>
                    </a:solidFill>
                  </a:tcPr>
                </a:tc>
              </a:tr>
              <a:tr h="558800">
                <a:tc>
                  <a:txBody>
                    <a:bodyPr wrap="square"/>
                    <a:lstStyle/>
                    <a:p>
                      <a:r>
                        <a:rPr sz="1200" b="0" i="0">
                          <a:solidFill>
                            <a:srgbClr val="2A2622"/>
                          </a:solidFill>
                          <a:latin typeface="Calibri"/>
                        </a:rPr>
                        <a:t>1</a:t>
                      </a:r>
                    </a:p>
                  </a:txBody>
                  <a:tcPr marL="45720" marR="45720" marT="18288" marB="18288" anchor="t">
                    <a:solidFill>
                      <a:srgbClr val="FFFFFF"/>
                    </a:solidFill>
                  </a:tcPr>
                </a:tc>
                <a:tc>
                  <a:txBody>
                    <a:bodyPr wrap="square"/>
                    <a:lstStyle/>
                    <a:p>
                      <a:r>
                        <a:rPr sz="1200" b="1" i="0">
                          <a:solidFill>
                            <a:srgbClr val="2A2622"/>
                          </a:solidFill>
                          <a:latin typeface="Calibri"/>
                        </a:rPr>
                        <a:t>UGC testimonial (story)</a:t>
                      </a:r>
                    </a:p>
                  </a:txBody>
                  <a:tcPr marL="45720" marR="45720" marT="18288" marB="18288" anchor="t">
                    <a:solidFill>
                      <a:srgbClr val="FFFFFF"/>
                    </a:solidFill>
                  </a:tcPr>
                </a:tc>
                <a:tc>
                  <a:txBody>
                    <a:bodyPr wrap="square"/>
                    <a:lstStyle/>
                    <a:p>
                      <a:r>
                        <a:rPr sz="1200" b="0" i="0">
                          <a:solidFill>
                            <a:srgbClr val="2A2622"/>
                          </a:solidFill>
                          <a:latin typeface="Calibri"/>
                        </a:rPr>
                        <a:t>FIRST — highest-converting format for unknown brands; the "4 baar delete karke order kiya" story</a:t>
                      </a:r>
                    </a:p>
                  </a:txBody>
                  <a:tcPr marL="45720" marR="45720" marT="18288" marB="18288" anchor="t">
                    <a:solidFill>
                      <a:srgbClr val="FFFFFF"/>
                    </a:solidFill>
                  </a:tcPr>
                </a:tc>
                <a:tc>
                  <a:txBody>
                    <a:bodyPr wrap="square"/>
                    <a:lstStyle/>
                    <a:p>
                      <a:r>
                        <a:rPr sz="1200" b="0" i="0">
                          <a:solidFill>
                            <a:srgbClr val="2A2622"/>
                          </a:solidFill>
                          <a:latin typeface="Calibri"/>
                        </a:rPr>
                        <a:t>D26 customer story (30s)</a:t>
                      </a:r>
                    </a:p>
                  </a:txBody>
                  <a:tcPr marL="45720" marR="45720" marT="18288" marB="18288" anchor="t">
                    <a:solidFill>
                      <a:srgbClr val="FFFFFF"/>
                    </a:solidFill>
                  </a:tcPr>
                </a:tc>
              </a:tr>
              <a:tr h="558800">
                <a:tc>
                  <a:txBody>
                    <a:bodyPr wrap="square"/>
                    <a:lstStyle/>
                    <a:p>
                      <a:r>
                        <a:rPr sz="1200" b="0" i="0">
                          <a:solidFill>
                            <a:srgbClr val="2A2622"/>
                          </a:solidFill>
                          <a:latin typeface="Calibri"/>
                        </a:rPr>
                        <a:t>2</a:t>
                      </a:r>
                    </a:p>
                  </a:txBody>
                  <a:tcPr marL="45720" marR="45720" marT="18288" marB="18288" anchor="t">
                    <a:solidFill>
                      <a:srgbClr val="F6F1E7"/>
                    </a:solidFill>
                  </a:tcPr>
                </a:tc>
                <a:tc>
                  <a:txBody>
                    <a:bodyPr wrap="square"/>
                    <a:lstStyle/>
                    <a:p>
                      <a:r>
                        <a:rPr sz="1200" b="1" i="0">
                          <a:solidFill>
                            <a:srgbClr val="2A2622"/>
                          </a:solidFill>
                          <a:latin typeface="Calibri"/>
                        </a:rPr>
                        <a:t>Disclosed before/after</a:t>
                      </a:r>
                    </a:p>
                  </a:txBody>
                  <a:tcPr marL="45720" marR="45720" marT="18288" marB="18288" anchor="t">
                    <a:solidFill>
                      <a:srgbClr val="F6F1E7"/>
                    </a:solidFill>
                  </a:tcPr>
                </a:tc>
                <a:tc>
                  <a:txBody>
                    <a:bodyPr wrap="square"/>
                    <a:lstStyle/>
                    <a:p>
                      <a:r>
                        <a:rPr sz="1200" b="0" i="0">
                          <a:solidFill>
                            <a:srgbClr val="2A2622"/>
                          </a:solidFill>
                          <a:latin typeface="Calibri"/>
                        </a:rPr>
                        <a:t>FIRST — the #1 ROAS driver in Indian skincare; must be real + disclosed</a:t>
                      </a:r>
                    </a:p>
                  </a:txBody>
                  <a:tcPr marL="45720" marR="45720" marT="18288" marB="18288" anchor="t">
                    <a:solidFill>
                      <a:srgbClr val="F6F1E7"/>
                    </a:solidFill>
                  </a:tcPr>
                </a:tc>
                <a:tc>
                  <a:txBody>
                    <a:bodyPr wrap="square"/>
                    <a:lstStyle/>
                    <a:p>
                      <a:r>
                        <a:rPr sz="1200" b="0" i="0">
                          <a:solidFill>
                            <a:srgbClr val="2A2622"/>
                          </a:solidFill>
                          <a:latin typeface="Calibri"/>
                        </a:rPr>
                        <a:t>D17 Day-1→28 (30s)</a:t>
                      </a:r>
                    </a:p>
                  </a:txBody>
                  <a:tcPr marL="45720" marR="45720" marT="18288" marB="18288" anchor="t">
                    <a:solidFill>
                      <a:srgbClr val="F6F1E7"/>
                    </a:solidFill>
                  </a:tcPr>
                </a:tc>
              </a:tr>
              <a:tr h="558800">
                <a:tc>
                  <a:txBody>
                    <a:bodyPr wrap="square"/>
                    <a:lstStyle/>
                    <a:p>
                      <a:r>
                        <a:rPr sz="1200" b="0" i="0">
                          <a:solidFill>
                            <a:srgbClr val="2A2622"/>
                          </a:solidFill>
                          <a:latin typeface="Calibri"/>
                        </a:rPr>
                        <a:t>3</a:t>
                      </a:r>
                    </a:p>
                  </a:txBody>
                  <a:tcPr marL="45720" marR="45720" marT="18288" marB="18288" anchor="t">
                    <a:solidFill>
                      <a:srgbClr val="FFFFFF"/>
                    </a:solidFill>
                  </a:tcPr>
                </a:tc>
                <a:tc>
                  <a:txBody>
                    <a:bodyPr wrap="square"/>
                    <a:lstStyle/>
                    <a:p>
                      <a:r>
                        <a:rPr sz="1200" b="1" i="0">
                          <a:solidFill>
                            <a:srgbClr val="2A2622"/>
                          </a:solidFill>
                          <a:latin typeface="Calibri"/>
                        </a:rPr>
                        <a:t>Problem → solution</a:t>
                      </a:r>
                    </a:p>
                  </a:txBody>
                  <a:tcPr marL="45720" marR="45720" marT="18288" marB="18288" anchor="t">
                    <a:solidFill>
                      <a:srgbClr val="FFFFFF"/>
                    </a:solidFill>
                  </a:tcPr>
                </a:tc>
                <a:tc>
                  <a:txBody>
                    <a:bodyPr wrap="square"/>
                    <a:lstStyle/>
                    <a:p>
                      <a:r>
                        <a:rPr sz="1200" b="0" i="0">
                          <a:solidFill>
                            <a:srgbClr val="2A2622"/>
                          </a:solidFill>
                          <a:latin typeface="Calibri"/>
                        </a:rPr>
                        <a:t>FIRST — stops the scroll on the pain</a:t>
                      </a:r>
                    </a:p>
                  </a:txBody>
                  <a:tcPr marL="45720" marR="45720" marT="18288" marB="18288" anchor="t">
                    <a:solidFill>
                      <a:srgbClr val="FFFFFF"/>
                    </a:solidFill>
                  </a:tcPr>
                </a:tc>
                <a:tc>
                  <a:txBody>
                    <a:bodyPr wrap="square"/>
                    <a:lstStyle/>
                    <a:p>
                      <a:r>
                        <a:rPr sz="1200" b="0" i="0">
                          <a:solidFill>
                            <a:srgbClr val="2A2622"/>
                          </a:solidFill>
                          <a:latin typeface="Calibri"/>
                        </a:rPr>
                        <a:t>D11 "Bahar ka main, andar ka dull"</a:t>
                      </a:r>
                    </a:p>
                  </a:txBody>
                  <a:tcPr marL="45720" marR="45720" marT="18288" marB="18288" anchor="t">
                    <a:solidFill>
                      <a:srgbClr val="FFFFFF"/>
                    </a:solidFill>
                  </a:tcPr>
                </a:tc>
              </a:tr>
              <a:tr h="558800">
                <a:tc>
                  <a:txBody>
                    <a:bodyPr wrap="square"/>
                    <a:lstStyle/>
                    <a:p>
                      <a:r>
                        <a:rPr sz="1200" b="0" i="0">
                          <a:solidFill>
                            <a:srgbClr val="2A2622"/>
                          </a:solidFill>
                          <a:latin typeface="Calibri"/>
                        </a:rPr>
                        <a:t>4</a:t>
                      </a:r>
                    </a:p>
                  </a:txBody>
                  <a:tcPr marL="45720" marR="45720" marT="18288" marB="18288" anchor="t">
                    <a:solidFill>
                      <a:srgbClr val="F6F1E7"/>
                    </a:solidFill>
                  </a:tcPr>
                </a:tc>
                <a:tc>
                  <a:txBody>
                    <a:bodyPr wrap="square"/>
                    <a:lstStyle/>
                    <a:p>
                      <a:r>
                        <a:rPr sz="1200" b="1" i="0">
                          <a:solidFill>
                            <a:srgbClr val="2A2622"/>
                          </a:solidFill>
                          <a:latin typeface="Calibri"/>
                        </a:rPr>
                        <a:t>Product demonstration</a:t>
                      </a:r>
                    </a:p>
                  </a:txBody>
                  <a:tcPr marL="45720" marR="45720" marT="18288" marB="18288" anchor="t">
                    <a:solidFill>
                      <a:srgbClr val="F6F1E7"/>
                    </a:solidFill>
                  </a:tcPr>
                </a:tc>
                <a:tc>
                  <a:txBody>
                    <a:bodyPr wrap="square"/>
                    <a:lstStyle/>
                    <a:p>
                      <a:r>
                        <a:rPr sz="1200" b="0" i="0">
                          <a:solidFill>
                            <a:srgbClr val="2A2622"/>
                          </a:solidFill>
                          <a:latin typeface="Calibri"/>
                        </a:rPr>
                        <a:t>2nd week — texture/ASMR builds desire once curiosity exists</a:t>
                      </a:r>
                    </a:p>
                  </a:txBody>
                  <a:tcPr marL="45720" marR="45720" marT="18288" marB="18288" anchor="t">
                    <a:solidFill>
                      <a:srgbClr val="F6F1E7"/>
                    </a:solidFill>
                  </a:tcPr>
                </a:tc>
                <a:tc>
                  <a:txBody>
                    <a:bodyPr wrap="square"/>
                    <a:lstStyle/>
                    <a:p>
                      <a:r>
                        <a:rPr sz="1200" b="0" i="0">
                          <a:solidFill>
                            <a:srgbClr val="2A2622"/>
                          </a:solidFill>
                          <a:latin typeface="Calibri"/>
                        </a:rPr>
                        <a:t>D16 "10 second, 1 drop"</a:t>
                      </a:r>
                    </a:p>
                  </a:txBody>
                  <a:tcPr marL="45720" marR="45720" marT="18288" marB="18288" anchor="t">
                    <a:solidFill>
                      <a:srgbClr val="F6F1E7"/>
                    </a:solidFill>
                  </a:tcPr>
                </a:tc>
              </a:tr>
              <a:tr h="558800">
                <a:tc>
                  <a:txBody>
                    <a:bodyPr wrap="square"/>
                    <a:lstStyle/>
                    <a:p>
                      <a:r>
                        <a:rPr sz="1200" b="0" i="0">
                          <a:solidFill>
                            <a:srgbClr val="2A2622"/>
                          </a:solidFill>
                          <a:latin typeface="Calibri"/>
                        </a:rPr>
                        <a:t>5</a:t>
                      </a:r>
                    </a:p>
                  </a:txBody>
                  <a:tcPr marL="45720" marR="45720" marT="18288" marB="18288" anchor="t">
                    <a:solidFill>
                      <a:srgbClr val="FFFFFF"/>
                    </a:solidFill>
                  </a:tcPr>
                </a:tc>
                <a:tc>
                  <a:txBody>
                    <a:bodyPr wrap="square"/>
                    <a:lstStyle/>
                    <a:p>
                      <a:r>
                        <a:rPr sz="1200" b="1" i="0">
                          <a:solidFill>
                            <a:srgbClr val="2A2622"/>
                          </a:solidFill>
                          <a:latin typeface="Calibri"/>
                        </a:rPr>
                        <a:t>Founder video</a:t>
                      </a:r>
                    </a:p>
                  </a:txBody>
                  <a:tcPr marL="45720" marR="45720" marT="18288" marB="18288" anchor="t">
                    <a:solidFill>
                      <a:srgbClr val="FFFFFF"/>
                    </a:solidFill>
                  </a:tcPr>
                </a:tc>
                <a:tc>
                  <a:txBody>
                    <a:bodyPr wrap="square"/>
                    <a:lstStyle/>
                    <a:p>
                      <a:r>
                        <a:rPr sz="1200" b="0" i="0">
                          <a:solidFill>
                            <a:srgbClr val="2A2622"/>
                          </a:solidFill>
                          <a:latin typeface="Calibri"/>
                        </a:rPr>
                        <a:t>2nd week — "who are you?" answer, trust</a:t>
                      </a:r>
                    </a:p>
                  </a:txBody>
                  <a:tcPr marL="45720" marR="45720" marT="18288" marB="18288" anchor="t">
                    <a:solidFill>
                      <a:srgbClr val="FFFFFF"/>
                    </a:solidFill>
                  </a:tcPr>
                </a:tc>
                <a:tc>
                  <a:txBody>
                    <a:bodyPr wrap="square"/>
                    <a:lstStyle/>
                    <a:p>
                      <a:r>
                        <a:rPr sz="1200" b="0" i="0">
                          <a:solidFill>
                            <a:srgbClr val="2A2622"/>
                          </a:solidFill>
                          <a:latin typeface="Calibri"/>
                        </a:rPr>
                        <a:t>D20 "Kal se live, 100 boxes"</a:t>
                      </a:r>
                    </a:p>
                  </a:txBody>
                  <a:tcPr marL="45720" marR="45720" marT="18288" marB="18288" anchor="t">
                    <a:solidFill>
                      <a:srgbClr val="FFFFFF"/>
                    </a:solidFill>
                  </a:tcPr>
                </a:tc>
              </a:tr>
              <a:tr h="558800">
                <a:tc>
                  <a:txBody>
                    <a:bodyPr wrap="square"/>
                    <a:lstStyle/>
                    <a:p>
                      <a:r>
                        <a:rPr sz="1200" b="0" i="0">
                          <a:solidFill>
                            <a:srgbClr val="2A2622"/>
                          </a:solidFill>
                          <a:latin typeface="Calibri"/>
                        </a:rPr>
                        <a:t>6</a:t>
                      </a:r>
                    </a:p>
                  </a:txBody>
                  <a:tcPr marL="45720" marR="45720" marT="18288" marB="18288" anchor="t">
                    <a:solidFill>
                      <a:srgbClr val="F6F1E7"/>
                    </a:solidFill>
                  </a:tcPr>
                </a:tc>
                <a:tc>
                  <a:txBody>
                    <a:bodyPr wrap="square"/>
                    <a:lstStyle/>
                    <a:p>
                      <a:r>
                        <a:rPr sz="1200" b="1" i="0">
                          <a:solidFill>
                            <a:srgbClr val="2A2622"/>
                          </a:solidFill>
                          <a:latin typeface="Calibri"/>
                        </a:rPr>
                        <a:t>Testimonial (quote + product)</a:t>
                      </a:r>
                    </a:p>
                  </a:txBody>
                  <a:tcPr marL="45720" marR="45720" marT="18288" marB="18288" anchor="t">
                    <a:solidFill>
                      <a:srgbClr val="F6F1E7"/>
                    </a:solidFill>
                  </a:tcPr>
                </a:tc>
                <a:tc>
                  <a:txBody>
                    <a:bodyPr wrap="square"/>
                    <a:lstStyle/>
                    <a:p>
                      <a:r>
                        <a:rPr sz="1200" b="0" i="0">
                          <a:solidFill>
                            <a:srgbClr val="2A2622"/>
                          </a:solidFill>
                          <a:latin typeface="Calibri"/>
                        </a:rPr>
                        <a:t>Retargeting workhorse — short, social-proof</a:t>
                      </a:r>
                    </a:p>
                  </a:txBody>
                  <a:tcPr marL="45720" marR="45720" marT="18288" marB="18288" anchor="t">
                    <a:solidFill>
                      <a:srgbClr val="F6F1E7"/>
                    </a:solidFill>
                  </a:tcPr>
                </a:tc>
                <a:tc>
                  <a:txBody>
                    <a:bodyPr wrap="square"/>
                    <a:lstStyle/>
                    <a:p>
                      <a:r>
                        <a:rPr sz="1200" b="0" i="0">
                          <a:solidFill>
                            <a:srgbClr val="2A2622"/>
                          </a:solidFill>
                          <a:latin typeface="Calibri"/>
                        </a:rPr>
                        <a:t>D26 cut 15s + quote card</a:t>
                      </a:r>
                    </a:p>
                  </a:txBody>
                  <a:tcPr marL="45720" marR="45720" marT="18288" marB="18288" anchor="t">
                    <a:solidFill>
                      <a:srgbClr val="F6F1E7"/>
                    </a:solidFill>
                  </a:tcPr>
                </a:tc>
              </a:tr>
              <a:tr h="558800">
                <a:tc>
                  <a:txBody>
                    <a:bodyPr wrap="square"/>
                    <a:lstStyle/>
                    <a:p>
                      <a:r>
                        <a:rPr sz="1200" b="0" i="0">
                          <a:solidFill>
                            <a:srgbClr val="2A2622"/>
                          </a:solidFill>
                          <a:latin typeface="Calibri"/>
                        </a:rPr>
                        <a:t>7</a:t>
                      </a:r>
                    </a:p>
                  </a:txBody>
                  <a:tcPr marL="45720" marR="45720" marT="18288" marB="18288" anchor="t">
                    <a:solidFill>
                      <a:srgbClr val="FFFFFF"/>
                    </a:solidFill>
                  </a:tcPr>
                </a:tc>
                <a:tc>
                  <a:txBody>
                    <a:bodyPr wrap="square"/>
                    <a:lstStyle/>
                    <a:p>
                      <a:r>
                        <a:rPr sz="1200" b="1" i="0">
                          <a:solidFill>
                            <a:srgbClr val="2A2622"/>
                          </a:solidFill>
                          <a:latin typeface="Calibri"/>
                        </a:rPr>
                        <a:t>Educational Reel</a:t>
                      </a:r>
                    </a:p>
                  </a:txBody>
                  <a:tcPr marL="45720" marR="45720" marT="18288" marB="18288" anchor="t">
                    <a:solidFill>
                      <a:srgbClr val="FFFFFF"/>
                    </a:solidFill>
                  </a:tcPr>
                </a:tc>
                <a:tc>
                  <a:txBody>
                    <a:bodyPr wrap="square"/>
                    <a:lstStyle/>
                    <a:p>
                      <a:r>
                        <a:rPr sz="1200" b="0" i="0">
                          <a:solidFill>
                            <a:srgbClr val="2A2622"/>
                          </a:solidFill>
                          <a:latin typeface="Calibri"/>
                        </a:rPr>
                        <a:t>Retargeting + search — works as a "second look" nudge</a:t>
                      </a:r>
                    </a:p>
                  </a:txBody>
                  <a:tcPr marL="45720" marR="45720" marT="18288" marB="18288" anchor="t">
                    <a:solidFill>
                      <a:srgbClr val="FFFFFF"/>
                    </a:solidFill>
                  </a:tcPr>
                </a:tc>
                <a:tc>
                  <a:txBody>
                    <a:bodyPr wrap="square"/>
                    <a:lstStyle/>
                    <a:p>
                      <a:r>
                        <a:rPr sz="1200" b="0" i="0">
                          <a:solidFill>
                            <a:srgbClr val="2A2622"/>
                          </a:solidFill>
                          <a:latin typeface="Calibri"/>
                        </a:rPr>
                        <a:t>D9 how-to (30s)</a:t>
                      </a:r>
                    </a:p>
                  </a:txBody>
                  <a:tcPr marL="45720" marR="45720" marT="18288" marB="18288" anchor="t">
                    <a:solidFill>
                      <a:srgbClr val="FFFFFF"/>
                    </a:solidFill>
                  </a:tcPr>
                </a:tc>
              </a:tr>
              <a:tr h="558800">
                <a:tc>
                  <a:txBody>
                    <a:bodyPr wrap="square"/>
                    <a:lstStyle/>
                    <a:p>
                      <a:r>
                        <a:rPr sz="1200" b="0" i="0">
                          <a:solidFill>
                            <a:srgbClr val="2A2622"/>
                          </a:solidFill>
                          <a:latin typeface="Calibri"/>
                        </a:rPr>
                        <a:t>8</a:t>
                      </a:r>
                    </a:p>
                  </a:txBody>
                  <a:tcPr marL="45720" marR="45720" marT="18288" marB="18288" anchor="t">
                    <a:solidFill>
                      <a:srgbClr val="F6F1E7"/>
                    </a:solidFill>
                  </a:tcPr>
                </a:tc>
                <a:tc>
                  <a:txBody>
                    <a:bodyPr wrap="square"/>
                    <a:lstStyle/>
                    <a:p>
                      <a:r>
                        <a:rPr sz="1200" b="1" i="0">
                          <a:solidFill>
                            <a:srgbClr val="2A2622"/>
                          </a:solidFill>
                          <a:latin typeface="Calibri"/>
                        </a:rPr>
                        <a:t>Offer Reel</a:t>
                      </a:r>
                    </a:p>
                  </a:txBody>
                  <a:tcPr marL="45720" marR="45720" marT="18288" marB="18288" anchor="t">
                    <a:solidFill>
                      <a:srgbClr val="F6F1E7"/>
                    </a:solidFill>
                  </a:tcPr>
                </a:tc>
                <a:tc>
                  <a:txBody>
                    <a:bodyPr wrap="square"/>
                    <a:lstStyle/>
                    <a:p>
                      <a:r>
                        <a:rPr sz="1200" b="0" i="0">
                          <a:solidFill>
                            <a:srgbClr val="2A2622"/>
                          </a:solidFill>
                          <a:latin typeface="Calibri"/>
                        </a:rPr>
                        <a:t>Launch week only (then rotates) — "Founding 100"</a:t>
                      </a:r>
                    </a:p>
                  </a:txBody>
                  <a:tcPr marL="45720" marR="45720" marT="18288" marB="18288" anchor="t">
                    <a:solidFill>
                      <a:srgbClr val="F6F1E7"/>
                    </a:solidFill>
                  </a:tcPr>
                </a:tc>
                <a:tc>
                  <a:txBody>
                    <a:bodyPr wrap="square"/>
                    <a:lstStyle/>
                    <a:p>
                      <a:r>
                        <a:rPr sz="1200" b="0" i="0">
                          <a:solidFill>
                            <a:srgbClr val="2A2622"/>
                          </a:solidFill>
                          <a:latin typeface="Calibri"/>
                        </a:rPr>
                        <a:t>D21 launch</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284</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CREATIVE TESTING SYSTEM (Section 18)</a:t>
            </a:r>
          </a:p>
          <a:p>
            <a:r>
              <a:rPr sz="1200" i="1">
                <a:solidFill>
                  <a:srgbClr val="57504A"/>
                </a:solidFill>
                <a:latin typeface="Calibri"/>
              </a:rPr>
              <a:t>PART 17 — Creative Testing System + Retargeting Sequence</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Test matrix (C1, first 7 days):</a:t>
            </a:r>
            <a:r>
              <a:rPr sz="1350" b="0" i="0">
                <a:solidFill>
                  <a:srgbClr val="2A2622"/>
                </a:solidFill>
                <a:latin typeface="Calibri"/>
              </a:rPr>
              <a:t> 4 creatives × 2 ad sets (broad + interest), all same CTA/offer, different HOOK and ARCHETYPE. That isolates what's working: hook, format, or audience.</a:t>
            </a:r>
          </a:p>
          <a:p>
            <a:pPr>
              <a:spcBef>
                <a:spcPts val="1000"/>
              </a:spcBef>
              <a:spcAft>
                <a:spcPts val="400"/>
              </a:spcAft>
            </a:pPr>
            <a:r>
              <a:rPr sz="1600" b="1" i="0">
                <a:solidFill>
                  <a:srgbClr val="8F3A22"/>
                </a:solidFill>
                <a:latin typeface="Calibri"/>
              </a:rPr>
              <a:t>Reading the data: the 4-day and 7-day reviews</a:t>
            </a:r>
          </a:p>
          <a:p>
            <a:pPr>
              <a:spcAft>
                <a:spcPts val="700"/>
              </a:spcAft>
            </a:pPr>
            <a:r>
              <a:rPr sz="1350" b="1" i="0">
                <a:solidFill>
                  <a:srgbClr val="2A2622"/>
                </a:solidFill>
                <a:latin typeface="Calibri"/>
              </a:rPr>
              <a:t>Day 4 (look, don't touch unless something is broken):</a:t>
            </a:r>
          </a:p>
          <a:p>
            <a:pPr>
              <a:spcAft>
                <a:spcPts val="400"/>
              </a:spcAft>
            </a:pPr>
            <a:r>
              <a:rPr sz="1350">
                <a:solidFill>
                  <a:srgbClr val="B44A2E"/>
                </a:solidFill>
                <a:latin typeface="Calibri"/>
              </a:rPr>
              <a:t>•  </a:t>
            </a:r>
            <a:r>
              <a:rPr sz="1350" b="0" i="0">
                <a:solidFill>
                  <a:srgbClr val="2A2622"/>
                </a:solidFill>
                <a:latin typeface="Calibri"/>
              </a:rPr>
              <a:t>CTR (link) by creative → the </a:t>
            </a:r>
            <a:r>
              <a:rPr sz="1350" b="1" i="0">
                <a:solidFill>
                  <a:srgbClr val="2A2622"/>
                </a:solidFill>
                <a:latin typeface="Calibri"/>
              </a:rPr>
              <a:t>hook quality</a:t>
            </a:r>
            <a:r>
              <a:rPr sz="1350" b="0" i="0">
                <a:solidFill>
                  <a:srgbClr val="2A2622"/>
                </a:solidFill>
                <a:latin typeface="Calibri"/>
              </a:rPr>
              <a:t> signal. &lt; 0.8% = hook failed (people saw it, didn't care).</a:t>
            </a:r>
          </a:p>
          <a:p>
            <a:pPr>
              <a:spcAft>
                <a:spcPts val="400"/>
              </a:spcAft>
            </a:pPr>
            <a:r>
              <a:rPr sz="1350">
                <a:solidFill>
                  <a:srgbClr val="B44A2E"/>
                </a:solidFill>
                <a:latin typeface="Calibri"/>
              </a:rPr>
              <a:t>•  </a:t>
            </a:r>
            <a:r>
              <a:rPr sz="1350" b="0" i="0">
                <a:solidFill>
                  <a:srgbClr val="2A2622"/>
                </a:solidFill>
                <a:latin typeface="Calibri"/>
              </a:rPr>
              <a:t>3-sec/15-sec hold rate (from video insights) → the </a:t>
            </a:r>
            <a:r>
              <a:rPr sz="1350" b="1" i="0">
                <a:solidFill>
                  <a:srgbClr val="2A2622"/>
                </a:solidFill>
                <a:latin typeface="Calibri"/>
              </a:rPr>
              <a:t>first 2 seconds</a:t>
            </a:r>
            <a:r>
              <a:rPr sz="1350" b="0" i="0">
                <a:solidFill>
                  <a:srgbClr val="2A2622"/>
                </a:solidFill>
                <a:latin typeface="Calibri"/>
              </a:rPr>
              <a:t> signal. 3-sec hold &lt; 30% = thumbnail/hook frame failed.</a:t>
            </a:r>
          </a:p>
          <a:p>
            <a:pPr>
              <a:spcAft>
                <a:spcPts val="400"/>
              </a:spcAft>
            </a:pPr>
            <a:r>
              <a:rPr sz="1350">
                <a:solidFill>
                  <a:srgbClr val="B44A2E"/>
                </a:solidFill>
                <a:latin typeface="Calibri"/>
              </a:rPr>
              <a:t>•  </a:t>
            </a:r>
            <a:r>
              <a:rPr sz="1350" b="0" i="0">
                <a:solidFill>
                  <a:srgbClr val="2A2622"/>
                </a:solidFill>
                <a:latin typeface="Calibri"/>
              </a:rPr>
              <a:t>ATC count by creative → the </a:t>
            </a:r>
            <a:r>
              <a:rPr sz="1350" b="1" i="0">
                <a:solidFill>
                  <a:srgbClr val="2A2622"/>
                </a:solidFill>
                <a:latin typeface="Calibri"/>
              </a:rPr>
              <a:t>message</a:t>
            </a:r>
            <a:r>
              <a:rPr sz="1350" b="0" i="0">
                <a:solidFill>
                  <a:srgbClr val="2A2622"/>
                </a:solidFill>
                <a:latin typeface="Calibri"/>
              </a:rPr>
              <a:t> signal.</a:t>
            </a:r>
          </a:p>
          <a:p>
            <a:pPr>
              <a:spcAft>
                <a:spcPts val="700"/>
              </a:spcAft>
            </a:pPr>
            <a:r>
              <a:rPr sz="1350" b="1" i="0">
                <a:solidFill>
                  <a:srgbClr val="2A2622"/>
                </a:solidFill>
                <a:latin typeface="Calibri"/>
              </a:rPr>
              <a:t>Day 7 (decide):</a:t>
            </a:r>
          </a:p>
          <a:p>
            <a:pPr>
              <a:spcAft>
                <a:spcPts val="400"/>
              </a:spcAft>
            </a:pPr>
            <a:r>
              <a:rPr sz="1350">
                <a:solidFill>
                  <a:srgbClr val="B44A2E"/>
                </a:solidFill>
                <a:latin typeface="Calibri"/>
              </a:rPr>
              <a:t>•  </a:t>
            </a:r>
            <a:r>
              <a:rPr sz="1350" b="0" i="0">
                <a:solidFill>
                  <a:srgbClr val="2A2622"/>
                </a:solidFill>
                <a:latin typeface="Calibri"/>
              </a:rPr>
              <a:t>Rank creatives by </a:t>
            </a:r>
            <a:r>
              <a:rPr sz="1350" b="1" i="0">
                <a:solidFill>
                  <a:srgbClr val="2A2622"/>
                </a:solidFill>
                <a:latin typeface="Calibri"/>
              </a:rPr>
              <a:t>ATC cost</a:t>
            </a:r>
            <a:r>
              <a:rPr sz="1350" b="0" i="0">
                <a:solidFill>
                  <a:srgbClr val="2A2622"/>
                </a:solidFill>
                <a:latin typeface="Calibri"/>
              </a:rPr>
              <a:t> (not views, not likes). Top 2 survive; bottom 2 paused.</a:t>
            </a:r>
          </a:p>
          <a:p>
            <a:pPr>
              <a:spcAft>
                <a:spcPts val="400"/>
              </a:spcAft>
            </a:pPr>
            <a:r>
              <a:rPr sz="1350">
                <a:solidFill>
                  <a:srgbClr val="B44A2E"/>
                </a:solidFill>
                <a:latin typeface="Calibri"/>
              </a:rPr>
              <a:t>•  </a:t>
            </a:r>
            <a:r>
              <a:rPr sz="1350" b="0" i="0">
                <a:solidFill>
                  <a:srgbClr val="2A2622"/>
                </a:solidFill>
                <a:latin typeface="Calibri"/>
              </a:rPr>
              <a:t>Compare ad sets: if broad CPA &lt; interest CPA → shift budget 70/30 to broad.</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285</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CREATIVE TESTING SYSTEM (Section 18)</a:t>
            </a:r>
          </a:p>
          <a:p>
            <a:r>
              <a:rPr sz="1200" i="1">
                <a:solidFill>
                  <a:srgbClr val="57504A"/>
                </a:solidFill>
                <a:latin typeface="Calibri"/>
              </a:rPr>
              <a:t>PART 17 — Creative Testing System + Retargeting Sequence</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New creative in:</a:t>
            </a:r>
            <a:r>
              <a:rPr sz="1350" b="0" i="0">
                <a:solidFill>
                  <a:srgbClr val="2A2622"/>
                </a:solidFill>
                <a:latin typeface="Calibri"/>
              </a:rPr>
              <a:t> queue 2 new cuts (new hook, same proven archetype) → they test in the next 7-day window.</a:t>
            </a:r>
          </a:p>
          <a:p>
            <a:pPr>
              <a:spcBef>
                <a:spcPts val="1000"/>
              </a:spcBef>
              <a:spcAft>
                <a:spcPts val="400"/>
              </a:spcAft>
            </a:pPr>
            <a:r>
              <a:rPr sz="1600" b="1" i="0">
                <a:solidFill>
                  <a:srgbClr val="8F3A22"/>
                </a:solidFill>
                <a:latin typeface="Calibri"/>
              </a:rPr>
              <a:t>Scaling a winner (the safe ladder)</a:t>
            </a:r>
          </a:p>
          <a:p>
            <a:pPr>
              <a:spcAft>
                <a:spcPts val="400"/>
              </a:spcAft>
            </a:pPr>
            <a:r>
              <a:rPr sz="1350" b="1">
                <a:solidFill>
                  <a:srgbClr val="8F3A22"/>
                </a:solidFill>
                <a:latin typeface="Calibri"/>
              </a:rPr>
              <a:t>1.  </a:t>
            </a:r>
            <a:r>
              <a:rPr sz="1350" b="0" i="0">
                <a:solidFill>
                  <a:srgbClr val="2A2622"/>
                </a:solidFill>
                <a:latin typeface="Calibri"/>
              </a:rPr>
              <a:t>Winner found (ATC ≤ target, CPA trending down) → </a:t>
            </a:r>
            <a:r>
              <a:rPr sz="1350" b="1" i="0">
                <a:solidFill>
                  <a:srgbClr val="2A2622"/>
                </a:solidFill>
                <a:latin typeface="Calibri"/>
              </a:rPr>
              <a:t>+30% budget every 48 hours</a:t>
            </a:r>
            <a:r>
              <a:rPr sz="1350" b="0" i="0">
                <a:solidFill>
                  <a:srgbClr val="2A2622"/>
                </a:solidFill>
                <a:latin typeface="Calibri"/>
              </a:rPr>
              <a:t> while CPA stays ≤ 1.2× target.</a:t>
            </a:r>
          </a:p>
          <a:p>
            <a:pPr>
              <a:spcAft>
                <a:spcPts val="400"/>
              </a:spcAft>
            </a:pPr>
            <a:r>
              <a:rPr sz="1350" b="1">
                <a:solidFill>
                  <a:srgbClr val="8F3A22"/>
                </a:solidFill>
                <a:latin typeface="Calibri"/>
              </a:rPr>
              <a:t>2.  </a:t>
            </a:r>
            <a:r>
              <a:rPr sz="1350" b="0" i="0">
                <a:solidFill>
                  <a:srgbClr val="2A2622"/>
                </a:solidFill>
                <a:latin typeface="Calibri"/>
              </a:rPr>
              <a:t>CPA rises &gt; 1.3× target for 3 days → stop scaling, add a </a:t>
            </a:r>
            <a:r>
              <a:rPr sz="1350" b="1" i="0">
                <a:solidFill>
                  <a:srgbClr val="2A2622"/>
                </a:solidFill>
                <a:latin typeface="Calibri"/>
              </a:rPr>
              <a:t>new cut of the same script</a:t>
            </a:r>
            <a:r>
              <a:rPr sz="1350" b="0" i="0">
                <a:solidFill>
                  <a:srgbClr val="2A2622"/>
                </a:solidFill>
                <a:latin typeface="Calibri"/>
              </a:rPr>
              <a:t> (new hook, same body) — often the creative, not the audience, is the limit.</a:t>
            </a:r>
          </a:p>
          <a:p>
            <a:pPr>
              <a:spcAft>
                <a:spcPts val="400"/>
              </a:spcAft>
            </a:pPr>
            <a:r>
              <a:rPr sz="1350" b="1">
                <a:solidFill>
                  <a:srgbClr val="8F3A22"/>
                </a:solidFill>
                <a:latin typeface="Calibri"/>
              </a:rPr>
              <a:t>3.  </a:t>
            </a:r>
            <a:r>
              <a:rPr sz="1350" b="0" i="0">
                <a:solidFill>
                  <a:srgbClr val="2A2622"/>
                </a:solidFill>
                <a:latin typeface="Calibri"/>
              </a:rPr>
              <a:t>Fatigue signature (any 2 of): CPM +30% vs week 1, CTR −25%, CPA +50%, comment sentiment flat/down → rotate to the queued cut, keep the winner's CTA/offer.</a:t>
            </a:r>
          </a:p>
          <a:p>
            <a:pPr>
              <a:spcAft>
                <a:spcPts val="400"/>
              </a:spcAft>
            </a:pPr>
            <a:r>
              <a:rPr sz="1350" b="1">
                <a:solidFill>
                  <a:srgbClr val="8F3A22"/>
                </a:solidFill>
                <a:latin typeface="Calibri"/>
              </a:rPr>
              <a:t>4.  </a:t>
            </a:r>
            <a:r>
              <a:rPr sz="1350" b="0" i="0">
                <a:solidFill>
                  <a:srgbClr val="2A2622"/>
                </a:solidFill>
                <a:latin typeface="Calibri"/>
              </a:rPr>
              <a:t>A creative that survives 4+ weeks = </a:t>
            </a:r>
            <a:r>
              <a:rPr sz="1350" b="1" i="0">
                <a:solidFill>
                  <a:srgbClr val="2A2622"/>
                </a:solidFill>
                <a:latin typeface="Calibri"/>
              </a:rPr>
              <a:t>retire it to retargeting</a:t>
            </a:r>
            <a:r>
              <a:rPr sz="1350" b="0" i="0">
                <a:solidFill>
                  <a:srgbClr val="2A2622"/>
                </a:solidFill>
                <a:latin typeface="Calibri"/>
              </a:rPr>
              <a:t> (it still works for warm people; cold is saturated).</a:t>
            </a:r>
          </a:p>
          <a:p>
            <a:pPr>
              <a:spcBef>
                <a:spcPts val="1000"/>
              </a:spcBef>
              <a:spcAft>
                <a:spcPts val="400"/>
              </a:spcAft>
            </a:pPr>
            <a:r>
              <a:rPr sz="1600" b="1" i="0">
                <a:solidFill>
                  <a:srgbClr val="8F3A22"/>
                </a:solidFill>
                <a:latin typeface="Calibri"/>
              </a:rPr>
              <a:t>The metrics, defined for a new cosmetics brand (what each one tells you)</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286</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CREATIVE TESTING SYSTEM (Section 18)</a:t>
            </a:r>
          </a:p>
          <a:p>
            <a:r>
              <a:rPr sz="1200" i="1">
                <a:solidFill>
                  <a:srgbClr val="57504A"/>
                </a:solidFill>
                <a:latin typeface="Calibri"/>
              </a:rPr>
              <a:t>PART 17 — Creative Testing System + Retargeting Sequence</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3" cy="5029200"/>
        </p:xfrm>
        <a:graphic>
          <a:graphicData uri="http://schemas.openxmlformats.org/drawingml/2006/table">
            <a:tbl>
              <a:tblPr firstRow="1" bandRow="1">
                <a:tableStyleId>{5C22544A-7EE6-4342-B048-85BDC9FD1C3A}</a:tableStyleId>
              </a:tblPr>
              <a:tblGrid>
                <a:gridCol w="2042274"/>
                <a:gridCol w="1850811"/>
                <a:gridCol w="3829264"/>
                <a:gridCol w="3829264"/>
              </a:tblGrid>
              <a:tr h="628650">
                <a:tc>
                  <a:txBody>
                    <a:bodyPr wrap="square"/>
                    <a:lstStyle/>
                    <a:p>
                      <a:r>
                        <a:rPr sz="1200" b="1" i="0">
                          <a:solidFill>
                            <a:srgbClr val="FFFFFF"/>
                          </a:solidFill>
                          <a:latin typeface="Calibri"/>
                        </a:rPr>
                        <a:t>Metric</a:t>
                      </a:r>
                    </a:p>
                  </a:txBody>
                  <a:tcPr marL="45720" marR="45720" marT="18288" marB="18288" anchor="t">
                    <a:solidFill>
                      <a:srgbClr val="B44A2E"/>
                    </a:solidFill>
                  </a:tcPr>
                </a:tc>
                <a:tc>
                  <a:txBody>
                    <a:bodyPr wrap="square"/>
                    <a:lstStyle/>
                    <a:p>
                      <a:r>
                        <a:rPr sz="1200" b="1" i="0">
                          <a:solidFill>
                            <a:srgbClr val="FFFFFF"/>
                          </a:solidFill>
                          <a:latin typeface="Calibri"/>
                        </a:rPr>
                        <a:t>What it is</a:t>
                      </a:r>
                    </a:p>
                  </a:txBody>
                  <a:tcPr marL="45720" marR="45720" marT="18288" marB="18288" anchor="t">
                    <a:solidFill>
                      <a:srgbClr val="B44A2E"/>
                    </a:solidFill>
                  </a:tcPr>
                </a:tc>
                <a:tc>
                  <a:txBody>
                    <a:bodyPr wrap="square"/>
                    <a:lstStyle/>
                    <a:p>
                      <a:r>
                        <a:rPr sz="1200" b="1" i="0">
                          <a:solidFill>
                            <a:srgbClr val="FFFFFF"/>
                          </a:solidFill>
                          <a:latin typeface="Calibri"/>
                        </a:rPr>
                        <a:t>Healthy range (India D2C skincare, 2025–26 data)</a:t>
                      </a:r>
                    </a:p>
                  </a:txBody>
                  <a:tcPr marL="45720" marR="45720" marT="18288" marB="18288" anchor="t">
                    <a:solidFill>
                      <a:srgbClr val="B44A2E"/>
                    </a:solidFill>
                  </a:tcPr>
                </a:tc>
                <a:tc>
                  <a:txBody>
                    <a:bodyPr wrap="square"/>
                    <a:lstStyle/>
                    <a:p>
                      <a:r>
                        <a:rPr sz="1200" b="1" i="0">
                          <a:solidFill>
                            <a:srgbClr val="FFFFFF"/>
                          </a:solidFill>
                          <a:latin typeface="Calibri"/>
                        </a:rPr>
                        <a:t>What it means for RANGAT</a:t>
                      </a:r>
                    </a:p>
                  </a:txBody>
                  <a:tcPr marL="45720" marR="45720" marT="18288" marB="18288" anchor="t">
                    <a:solidFill>
                      <a:srgbClr val="B44A2E"/>
                    </a:solidFill>
                  </a:tcPr>
                </a:tc>
              </a:tr>
              <a:tr h="628650">
                <a:tc>
                  <a:txBody>
                    <a:bodyPr wrap="square"/>
                    <a:lstStyle/>
                    <a:p>
                      <a:r>
                        <a:rPr sz="1200" b="1" i="0">
                          <a:solidFill>
                            <a:srgbClr val="2A2622"/>
                          </a:solidFill>
                          <a:latin typeface="Calibri"/>
                        </a:rPr>
                        <a:t>CPM</a:t>
                      </a:r>
                    </a:p>
                  </a:txBody>
                  <a:tcPr marL="45720" marR="45720" marT="18288" marB="18288" anchor="t">
                    <a:solidFill>
                      <a:srgbClr val="FFFFFF"/>
                    </a:solidFill>
                  </a:tcPr>
                </a:tc>
                <a:tc>
                  <a:txBody>
                    <a:bodyPr wrap="square"/>
                    <a:lstStyle/>
                    <a:p>
                      <a:r>
                        <a:rPr sz="1200" b="0" i="0">
                          <a:solidFill>
                            <a:srgbClr val="2A2622"/>
                          </a:solidFill>
                          <a:latin typeface="Calibri"/>
                        </a:rPr>
                        <a:t>Cost per 1,000 impressions</a:t>
                      </a:r>
                    </a:p>
                  </a:txBody>
                  <a:tcPr marL="45720" marR="45720" marT="18288" marB="18288" anchor="t">
                    <a:solidFill>
                      <a:srgbClr val="FFFFFF"/>
                    </a:solidFill>
                  </a:tcPr>
                </a:tc>
                <a:tc>
                  <a:txBody>
                    <a:bodyPr wrap="square"/>
                    <a:lstStyle/>
                    <a:p>
                      <a:r>
                        <a:rPr sz="1200" b="0" i="0">
                          <a:solidFill>
                            <a:srgbClr val="2A2622"/>
                          </a:solidFill>
                          <a:latin typeface="Calibri"/>
                        </a:rPr>
                        <a:t>₹100–260 (cold, skincare)</a:t>
                      </a:r>
                    </a:p>
                  </a:txBody>
                  <a:tcPr marL="45720" marR="45720" marT="18288" marB="18288" anchor="t">
                    <a:solidFill>
                      <a:srgbClr val="FFFFFF"/>
                    </a:solidFill>
                  </a:tcPr>
                </a:tc>
                <a:tc>
                  <a:txBody>
                    <a:bodyPr wrap="square"/>
                    <a:lstStyle/>
                    <a:p>
                      <a:r>
                        <a:rPr sz="1200" b="0" i="0">
                          <a:solidFill>
                            <a:srgbClr val="2A2622"/>
                          </a:solidFill>
                          <a:latin typeface="Calibri"/>
                        </a:rPr>
                        <a:t>Rising CPM = fatigue or competition (Diwali spike Nov — expect +30–50%)</a:t>
                      </a:r>
                    </a:p>
                  </a:txBody>
                  <a:tcPr marL="45720" marR="45720" marT="18288" marB="18288" anchor="t">
                    <a:solidFill>
                      <a:srgbClr val="FFFFFF"/>
                    </a:solidFill>
                  </a:tcPr>
                </a:tc>
              </a:tr>
              <a:tr h="628650">
                <a:tc>
                  <a:txBody>
                    <a:bodyPr wrap="square"/>
                    <a:lstStyle/>
                    <a:p>
                      <a:r>
                        <a:rPr sz="1200" b="1" i="0">
                          <a:solidFill>
                            <a:srgbClr val="2A2622"/>
                          </a:solidFill>
                          <a:latin typeface="Calibri"/>
                        </a:rPr>
                        <a:t>CTR (link)</a:t>
                      </a:r>
                    </a:p>
                  </a:txBody>
                  <a:tcPr marL="45720" marR="45720" marT="18288" marB="18288" anchor="t">
                    <a:solidFill>
                      <a:srgbClr val="F6F1E7"/>
                    </a:solidFill>
                  </a:tcPr>
                </a:tc>
                <a:tc>
                  <a:txBody>
                    <a:bodyPr wrap="square"/>
                    <a:lstStyle/>
                    <a:p>
                      <a:r>
                        <a:rPr sz="1200" b="0" i="0">
                          <a:solidFill>
                            <a:srgbClr val="2A2622"/>
                          </a:solidFill>
                          <a:latin typeface="Calibri"/>
                        </a:rPr>
                        <a:t>% of people who clicked</a:t>
                      </a:r>
                    </a:p>
                  </a:txBody>
                  <a:tcPr marL="45720" marR="45720" marT="18288" marB="18288" anchor="t">
                    <a:solidFill>
                      <a:srgbClr val="F6F1E7"/>
                    </a:solidFill>
                  </a:tcPr>
                </a:tc>
                <a:tc>
                  <a:txBody>
                    <a:bodyPr wrap="square"/>
                    <a:lstStyle/>
                    <a:p>
                      <a:r>
                        <a:rPr sz="1200" b="0" i="0">
                          <a:solidFill>
                            <a:srgbClr val="2A2622"/>
                          </a:solidFill>
                          <a:latin typeface="Calibri"/>
                        </a:rPr>
                        <a:t>Cold 1.0–1.8% · Warm/retarget 2–4%</a:t>
                      </a:r>
                    </a:p>
                  </a:txBody>
                  <a:tcPr marL="45720" marR="45720" marT="18288" marB="18288" anchor="t">
                    <a:solidFill>
                      <a:srgbClr val="F6F1E7"/>
                    </a:solidFill>
                  </a:tcPr>
                </a:tc>
                <a:tc>
                  <a:txBody>
                    <a:bodyPr wrap="square"/>
                    <a:lstStyle/>
                    <a:p>
                      <a:r>
                        <a:rPr sz="1200" b="0" i="0">
                          <a:solidFill>
                            <a:srgbClr val="2A2622"/>
                          </a:solidFill>
                          <a:latin typeface="Calibri"/>
                        </a:rPr>
                        <a:t>Your hook score. &lt; 0.8% cold = new hook, not new budget</a:t>
                      </a:r>
                    </a:p>
                  </a:txBody>
                  <a:tcPr marL="45720" marR="45720" marT="18288" marB="18288" anchor="t">
                    <a:solidFill>
                      <a:srgbClr val="F6F1E7"/>
                    </a:solidFill>
                  </a:tcPr>
                </a:tc>
              </a:tr>
              <a:tr h="628650">
                <a:tc>
                  <a:txBody>
                    <a:bodyPr wrap="square"/>
                    <a:lstStyle/>
                    <a:p>
                      <a:r>
                        <a:rPr sz="1200" b="1" i="0">
                          <a:solidFill>
                            <a:srgbClr val="2A2622"/>
                          </a:solidFill>
                          <a:latin typeface="Calibri"/>
                        </a:rPr>
                        <a:t>CPC</a:t>
                      </a:r>
                    </a:p>
                  </a:txBody>
                  <a:tcPr marL="45720" marR="45720" marT="18288" marB="18288" anchor="t">
                    <a:solidFill>
                      <a:srgbClr val="FFFFFF"/>
                    </a:solidFill>
                  </a:tcPr>
                </a:tc>
                <a:tc>
                  <a:txBody>
                    <a:bodyPr wrap="square"/>
                    <a:lstStyle/>
                    <a:p>
                      <a:r>
                        <a:rPr sz="1200" b="0" i="0">
                          <a:solidFill>
                            <a:srgbClr val="2A2622"/>
                          </a:solidFill>
                          <a:latin typeface="Calibri"/>
                        </a:rPr>
                        <a:t>Cost per click</a:t>
                      </a:r>
                    </a:p>
                  </a:txBody>
                  <a:tcPr marL="45720" marR="45720" marT="18288" marB="18288" anchor="t">
                    <a:solidFill>
                      <a:srgbClr val="FFFFFF"/>
                    </a:solidFill>
                  </a:tcPr>
                </a:tc>
                <a:tc>
                  <a:txBody>
                    <a:bodyPr wrap="square"/>
                    <a:lstStyle/>
                    <a:p>
                      <a:r>
                        <a:rPr sz="1200" b="0" i="0">
                          <a:solidFill>
                            <a:srgbClr val="2A2622"/>
                          </a:solidFill>
                          <a:latin typeface="Calibri"/>
                        </a:rPr>
                        <a:t>₹8–20 cold</a:t>
                      </a:r>
                    </a:p>
                  </a:txBody>
                  <a:tcPr marL="45720" marR="45720" marT="18288" marB="18288" anchor="t">
                    <a:solidFill>
                      <a:srgbClr val="FFFFFF"/>
                    </a:solidFill>
                  </a:tcPr>
                </a:tc>
                <a:tc>
                  <a:txBody>
                    <a:bodyPr wrap="square"/>
                    <a:lstStyle/>
                    <a:p>
                      <a:r>
                        <a:rPr sz="1200" b="0" i="0">
                          <a:solidFill>
                            <a:srgbClr val="2A2622"/>
                          </a:solidFill>
                          <a:latin typeface="Calibri"/>
                        </a:rPr>
                        <a:t>Watch only as CPM/CTR derivative — don't chase it</a:t>
                      </a:r>
                    </a:p>
                  </a:txBody>
                  <a:tcPr marL="45720" marR="45720" marT="18288" marB="18288" anchor="t">
                    <a:solidFill>
                      <a:srgbClr val="FFFFFF"/>
                    </a:solidFill>
                  </a:tcPr>
                </a:tc>
              </a:tr>
              <a:tr h="628650">
                <a:tc>
                  <a:txBody>
                    <a:bodyPr wrap="square"/>
                    <a:lstStyle/>
                    <a:p>
                      <a:r>
                        <a:rPr sz="1200" b="1" i="0">
                          <a:solidFill>
                            <a:srgbClr val="2A2622"/>
                          </a:solidFill>
                          <a:latin typeface="Calibri"/>
                        </a:rPr>
                        <a:t>ATC</a:t>
                      </a:r>
                      <a:r>
                        <a:rPr sz="1200" b="0" i="0">
                          <a:solidFill>
                            <a:srgbClr val="2A2622"/>
                          </a:solidFill>
                          <a:latin typeface="Calibri"/>
                        </a:rPr>
                        <a:t> (Add To Cart / conversation)</a:t>
                      </a:r>
                    </a:p>
                  </a:txBody>
                  <a:tcPr marL="45720" marR="45720" marT="18288" marB="18288" anchor="t">
                    <a:solidFill>
                      <a:srgbClr val="F6F1E7"/>
                    </a:solidFill>
                  </a:tcPr>
                </a:tc>
                <a:tc>
                  <a:txBody>
                    <a:bodyPr wrap="square"/>
                    <a:lstStyle/>
                    <a:p>
                      <a:r>
                        <a:rPr sz="1200" b="0" i="0">
                          <a:solidFill>
                            <a:srgbClr val="2A2622"/>
                          </a:solidFill>
                          <a:latin typeface="Calibri"/>
                        </a:rPr>
                        <a:t>Cart adds or WA chats started</a:t>
                      </a:r>
                    </a:p>
                  </a:txBody>
                  <a:tcPr marL="45720" marR="45720" marT="18288" marB="18288" anchor="t">
                    <a:solidFill>
                      <a:srgbClr val="F6F1E7"/>
                    </a:solidFill>
                  </a:tcPr>
                </a:tc>
                <a:tc>
                  <a:txBody>
                    <a:bodyPr wrap="square"/>
                    <a:lstStyle/>
                    <a:p>
                      <a:r>
                        <a:rPr sz="1200" b="0" i="0">
                          <a:solidFill>
                            <a:srgbClr val="2A2622"/>
                          </a:solidFill>
                          <a:latin typeface="Calibri"/>
                        </a:rPr>
                        <a:t>ATC cost ≤ ₹120 cold (site) · WA chat ≤ ₹60</a:t>
                      </a:r>
                    </a:p>
                  </a:txBody>
                  <a:tcPr marL="45720" marR="45720" marT="18288" marB="18288" anchor="t">
                    <a:solidFill>
                      <a:srgbClr val="F6F1E7"/>
                    </a:solidFill>
                  </a:tcPr>
                </a:tc>
                <a:tc>
                  <a:txBody>
                    <a:bodyPr wrap="square"/>
                    <a:lstStyle/>
                    <a:p>
                      <a:r>
                        <a:rPr sz="1200" b="1" i="0">
                          <a:solidFill>
                            <a:srgbClr val="2A2622"/>
                          </a:solidFill>
                          <a:latin typeface="Calibri"/>
                        </a:rPr>
                        <a:t>Your leading indicator.</a:t>
                      </a:r>
                      <a:r>
                        <a:rPr sz="1200" b="0" i="0">
                          <a:solidFill>
                            <a:srgbClr val="2A2622"/>
                          </a:solidFill>
                          <a:latin typeface="Calibri"/>
                        </a:rPr>
                        <a:t> ATC cost 3 days before CPA tells you tomorrow's CPA</a:t>
                      </a:r>
                    </a:p>
                  </a:txBody>
                  <a:tcPr marL="45720" marR="45720" marT="18288" marB="18288" anchor="t">
                    <a:solidFill>
                      <a:srgbClr val="F6F1E7"/>
                    </a:solidFill>
                  </a:tcPr>
                </a:tc>
              </a:tr>
              <a:tr h="628650">
                <a:tc>
                  <a:txBody>
                    <a:bodyPr wrap="square"/>
                    <a:lstStyle/>
                    <a:p>
                      <a:r>
                        <a:rPr sz="1200" b="1" i="0">
                          <a:solidFill>
                            <a:srgbClr val="2A2622"/>
                          </a:solidFill>
                          <a:latin typeface="Calibri"/>
                        </a:rPr>
                        <a:t>CVR</a:t>
                      </a:r>
                    </a:p>
                  </a:txBody>
                  <a:tcPr marL="45720" marR="45720" marT="18288" marB="18288" anchor="t">
                    <a:solidFill>
                      <a:srgbClr val="FFFFFF"/>
                    </a:solidFill>
                  </a:tcPr>
                </a:tc>
                <a:tc>
                  <a:txBody>
                    <a:bodyPr wrap="square"/>
                    <a:lstStyle/>
                    <a:p>
                      <a:r>
                        <a:rPr sz="1200" b="0" i="0">
                          <a:solidFill>
                            <a:srgbClr val="2A2622"/>
                          </a:solidFill>
                          <a:latin typeface="Calibri"/>
                        </a:rPr>
                        <a:t>% of clicks that buy</a:t>
                      </a:r>
                    </a:p>
                  </a:txBody>
                  <a:tcPr marL="45720" marR="45720" marT="18288" marB="18288" anchor="t">
                    <a:solidFill>
                      <a:srgbClr val="FFFFFF"/>
                    </a:solidFill>
                  </a:tcPr>
                </a:tc>
                <a:tc>
                  <a:txBody>
                    <a:bodyPr wrap="square"/>
                    <a:lstStyle/>
                    <a:p>
                      <a:r>
                        <a:rPr sz="1200" b="0" i="0">
                          <a:solidFill>
                            <a:srgbClr val="2A2622"/>
                          </a:solidFill>
                          <a:latin typeface="Calibri"/>
                        </a:rPr>
                        <a:t>1.5–3.5% (site) · 25–40% of WA chats (new brand, COD)</a:t>
                      </a:r>
                    </a:p>
                  </a:txBody>
                  <a:tcPr marL="45720" marR="45720" marT="18288" marB="18288" anchor="t">
                    <a:solidFill>
                      <a:srgbClr val="FFFFFF"/>
                    </a:solidFill>
                  </a:tcPr>
                </a:tc>
                <a:tc>
                  <a:txBody>
                    <a:bodyPr wrap="square"/>
                    <a:lstStyle/>
                    <a:p>
                      <a:r>
                        <a:rPr sz="1200" b="0" i="0">
                          <a:solidFill>
                            <a:srgbClr val="2A2622"/>
                          </a:solidFill>
                          <a:latin typeface="Calibri"/>
                        </a:rPr>
                        <a:t>If CTR fine but CVR low → landing page/price/trust issue, NOT creative</a:t>
                      </a:r>
                    </a:p>
                  </a:txBody>
                  <a:tcPr marL="45720" marR="45720" marT="18288" marB="18288" anchor="t">
                    <a:solidFill>
                      <a:srgbClr val="FFFFFF"/>
                    </a:solidFill>
                  </a:tcPr>
                </a:tc>
              </a:tr>
              <a:tr h="628650">
                <a:tc>
                  <a:txBody>
                    <a:bodyPr wrap="square"/>
                    <a:lstStyle/>
                    <a:p>
                      <a:r>
                        <a:rPr sz="1200" b="1" i="0">
                          <a:solidFill>
                            <a:srgbClr val="2A2622"/>
                          </a:solidFill>
                          <a:latin typeface="Calibri"/>
                        </a:rPr>
                        <a:t>CPA</a:t>
                      </a:r>
                    </a:p>
                  </a:txBody>
                  <a:tcPr marL="45720" marR="45720" marT="18288" marB="18288" anchor="t">
                    <a:solidFill>
                      <a:srgbClr val="F6F1E7"/>
                    </a:solidFill>
                  </a:tcPr>
                </a:tc>
                <a:tc>
                  <a:txBody>
                    <a:bodyPr wrap="square"/>
                    <a:lstStyle/>
                    <a:p>
                      <a:r>
                        <a:rPr sz="1200" b="0" i="0">
                          <a:solidFill>
                            <a:srgbClr val="2A2622"/>
                          </a:solidFill>
                          <a:latin typeface="Calibri"/>
                        </a:rPr>
                        <a:t>Cost per order</a:t>
                      </a:r>
                    </a:p>
                  </a:txBody>
                  <a:tcPr marL="45720" marR="45720" marT="18288" marB="18288" anchor="t">
                    <a:solidFill>
                      <a:srgbClr val="F6F1E7"/>
                    </a:solidFill>
                  </a:tcPr>
                </a:tc>
                <a:tc>
                  <a:txBody>
                    <a:bodyPr wrap="square"/>
                    <a:lstStyle/>
                    <a:p>
                      <a:r>
                        <a:rPr sz="1200" b="0" i="0">
                          <a:solidFill>
                            <a:srgbClr val="2A2622"/>
                          </a:solidFill>
                          <a:latin typeface="Calibri"/>
                        </a:rPr>
                        <a:t>Month 1: ₹300–450 (accept) · Month 3: ≤ ₹250 · Mature: ≤ ₹200</a:t>
                      </a:r>
                    </a:p>
                  </a:txBody>
                  <a:tcPr marL="45720" marR="45720" marT="18288" marB="18288" anchor="t">
                    <a:solidFill>
                      <a:srgbClr val="F6F1E7"/>
                    </a:solidFill>
                  </a:tcPr>
                </a:tc>
                <a:tc>
                  <a:txBody>
                    <a:bodyPr wrap="square"/>
                    <a:lstStyle/>
                    <a:p>
                      <a:r>
                        <a:rPr sz="1200" b="0" i="0">
                          <a:solidFill>
                            <a:srgbClr val="2A2622"/>
                          </a:solidFill>
                          <a:latin typeface="Calibri"/>
                        </a:rPr>
                        <a:t>The number you manage daily</a:t>
                      </a:r>
                    </a:p>
                  </a:txBody>
                  <a:tcPr marL="45720" marR="45720" marT="18288" marB="18288" anchor="t">
                    <a:solidFill>
                      <a:srgbClr val="F6F1E7"/>
                    </a:solidFill>
                  </a:tcPr>
                </a:tc>
              </a:tr>
              <a:tr h="628650">
                <a:tc>
                  <a:txBody>
                    <a:bodyPr wrap="square"/>
                    <a:lstStyle/>
                    <a:p>
                      <a:r>
                        <a:rPr sz="1200" b="1" i="0">
                          <a:solidFill>
                            <a:srgbClr val="2A2622"/>
                          </a:solidFill>
                          <a:latin typeface="Calibri"/>
                        </a:rPr>
                        <a:t>ROAS</a:t>
                      </a:r>
                    </a:p>
                  </a:txBody>
                  <a:tcPr marL="45720" marR="45720" marT="18288" marB="18288" anchor="t">
                    <a:solidFill>
                      <a:srgbClr val="FFFFFF"/>
                    </a:solidFill>
                  </a:tcPr>
                </a:tc>
                <a:tc>
                  <a:txBody>
                    <a:bodyPr wrap="square"/>
                    <a:lstStyle/>
                    <a:p>
                      <a:r>
                        <a:rPr sz="1200" b="0" i="0">
                          <a:solidFill>
                            <a:srgbClr val="2A2622"/>
                          </a:solidFill>
                          <a:latin typeface="Calibri"/>
                        </a:rPr>
                        <a:t>Revenue ÷ ad spend</a:t>
                      </a:r>
                    </a:p>
                  </a:txBody>
                  <a:tcPr marL="45720" marR="45720" marT="18288" marB="18288" anchor="t">
                    <a:solidFill>
                      <a:srgbClr val="FFFFFF"/>
                    </a:solidFill>
                  </a:tcPr>
                </a:tc>
                <a:tc>
                  <a:txBody>
                    <a:bodyPr wrap="square"/>
                    <a:lstStyle/>
                    <a:p>
                      <a:r>
                        <a:rPr sz="1200" b="0" i="0">
                          <a:solidFill>
                            <a:srgbClr val="2A2622"/>
                          </a:solidFill>
                          <a:latin typeface="Calibri"/>
                        </a:rPr>
                        <a:t>Month 1: 1.5–2x (learning) · Month 3: 2.5–3.5x · Mature: 3.5x+</a:t>
                      </a:r>
                    </a:p>
                  </a:txBody>
                  <a:tcPr marL="45720" marR="45720" marT="18288" marB="18288" anchor="t">
                    <a:solidFill>
                      <a:srgbClr val="FFFFFF"/>
                    </a:solidFill>
                  </a:tcPr>
                </a:tc>
                <a:tc>
                  <a:txBody>
                    <a:bodyPr wrap="square"/>
                    <a:lstStyle/>
                    <a:p>
                      <a:r>
                        <a:rPr sz="1200" b="1" i="0">
                          <a:solidFill>
                            <a:srgbClr val="2A2622"/>
                          </a:solidFill>
                          <a:latin typeface="Calibri"/>
                        </a:rPr>
                        <a:t>DO NOT judge a new brand on ROAS alone</a:t>
                      </a:r>
                      <a:r>
                        <a:rPr sz="1200" b="0" i="0">
                          <a:solidFill>
                            <a:srgbClr val="2A2622"/>
                          </a:solidFill>
                          <a:latin typeface="Calibri"/>
                        </a:rPr>
                        <a:t> — at ₹500/day, 2 lost orders = ROAS noise. Judge ATC + CPA for 30 days, then ROAS</a:t>
                      </a:r>
                    </a:p>
                  </a:txBody>
                  <a:tcPr marL="45720" marR="45720" marT="18288" marB="18288" anchor="t">
                    <a:solidFill>
                      <a:srgbClr val="FFFFFF"/>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287</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CREATIVE TESTING SYSTEM (Section 18)</a:t>
            </a:r>
          </a:p>
          <a:p>
            <a:r>
              <a:rPr sz="1200" i="1">
                <a:solidFill>
                  <a:srgbClr val="57504A"/>
                </a:solidFill>
                <a:latin typeface="Calibri"/>
              </a:rPr>
              <a:t>PART 17 — Creative Testing System + Retargeting Sequence</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What matters MOST for a new brand (priority order):</a:t>
            </a:r>
          </a:p>
          <a:p>
            <a:pPr>
              <a:spcAft>
                <a:spcPts val="400"/>
              </a:spcAft>
            </a:pPr>
            <a:r>
              <a:rPr sz="1350" b="1">
                <a:solidFill>
                  <a:srgbClr val="8F3A22"/>
                </a:solidFill>
                <a:latin typeface="Calibri"/>
              </a:rPr>
              <a:t>1.  </a:t>
            </a:r>
            <a:r>
              <a:rPr sz="1350" b="1" i="0">
                <a:solidFill>
                  <a:srgbClr val="2A2622"/>
                </a:solidFill>
                <a:latin typeface="Calibri"/>
              </a:rPr>
              <a:t>ATC cost / WA conversation cost</a:t>
            </a:r>
            <a:r>
              <a:rPr sz="1350" b="0" i="0">
                <a:solidFill>
                  <a:srgbClr val="2A2622"/>
                </a:solidFill>
                <a:latin typeface="Calibri"/>
              </a:rPr>
              <a:t> (leading indicator, earliest signal)</a:t>
            </a:r>
          </a:p>
          <a:p>
            <a:pPr>
              <a:spcAft>
                <a:spcPts val="400"/>
              </a:spcAft>
            </a:pPr>
            <a:r>
              <a:rPr sz="1350" b="1">
                <a:solidFill>
                  <a:srgbClr val="8F3A22"/>
                </a:solidFill>
                <a:latin typeface="Calibri"/>
              </a:rPr>
              <a:t>2.  </a:t>
            </a:r>
            <a:r>
              <a:rPr sz="1350" b="1" i="0">
                <a:solidFill>
                  <a:srgbClr val="2A2622"/>
                </a:solidFill>
                <a:latin typeface="Calibri"/>
              </a:rPr>
              <a:t>CPA</a:t>
            </a:r>
            <a:r>
              <a:rPr sz="1350" b="0" i="0">
                <a:solidFill>
                  <a:srgbClr val="2A2622"/>
                </a:solidFill>
                <a:latin typeface="Calibri"/>
              </a:rPr>
              <a:t> (the money number)</a:t>
            </a:r>
          </a:p>
          <a:p>
            <a:pPr>
              <a:spcAft>
                <a:spcPts val="400"/>
              </a:spcAft>
            </a:pPr>
            <a:r>
              <a:rPr sz="1350" b="1">
                <a:solidFill>
                  <a:srgbClr val="8F3A22"/>
                </a:solidFill>
                <a:latin typeface="Calibri"/>
              </a:rPr>
              <a:t>3.  </a:t>
            </a:r>
            <a:r>
              <a:rPr sz="1350" b="1" i="0">
                <a:solidFill>
                  <a:srgbClr val="2A2622"/>
                </a:solidFill>
                <a:latin typeface="Calibri"/>
              </a:rPr>
              <a:t>CTR</a:t>
            </a:r>
            <a:r>
              <a:rPr sz="1350" b="0" i="0">
                <a:solidFill>
                  <a:srgbClr val="2A2622"/>
                </a:solidFill>
                <a:latin typeface="Calibri"/>
              </a:rPr>
              <a:t> (the hook quality number)</a:t>
            </a:r>
          </a:p>
          <a:p>
            <a:pPr>
              <a:spcAft>
                <a:spcPts val="400"/>
              </a:spcAft>
            </a:pPr>
            <a:r>
              <a:rPr sz="1350" b="1">
                <a:solidFill>
                  <a:srgbClr val="8F3A22"/>
                </a:solidFill>
                <a:latin typeface="Calibri"/>
              </a:rPr>
              <a:t>4.  </a:t>
            </a:r>
            <a:r>
              <a:rPr sz="1350" b="1" i="0">
                <a:solidFill>
                  <a:srgbClr val="2A2622"/>
                </a:solidFill>
                <a:latin typeface="Calibri"/>
              </a:rPr>
              <a:t>ROAS</a:t>
            </a:r>
            <a:r>
              <a:rPr sz="1350" b="0" i="0">
                <a:solidFill>
                  <a:srgbClr val="2A2622"/>
                </a:solidFill>
                <a:latin typeface="Calibri"/>
              </a:rPr>
              <a:t> (the lagging verdict — only meaningful after ~₹15–20k spend or ~50 orders)</a:t>
            </a:r>
          </a:p>
          <a:p>
            <a:pPr>
              <a:spcAft>
                <a:spcPts val="400"/>
              </a:spcAft>
            </a:pPr>
            <a:r>
              <a:rPr sz="1350" b="1">
                <a:solidFill>
                  <a:srgbClr val="8F3A22"/>
                </a:solidFill>
                <a:latin typeface="Calibri"/>
              </a:rPr>
              <a:t>5.  </a:t>
            </a:r>
            <a:r>
              <a:rPr sz="1350" b="0" i="0">
                <a:solidFill>
                  <a:srgbClr val="2A2622"/>
                </a:solidFill>
                <a:latin typeface="Calibri"/>
              </a:rPr>
              <a:t>CPM/CPC (context only)</a:t>
            </a:r>
          </a:p>
          <a:p>
            <a:pPr>
              <a:spcAft>
                <a:spcPts val="700"/>
              </a:spcAft>
            </a:pPr>
            <a:r>
              <a:rPr sz="1350" b="1" i="0">
                <a:solidFill>
                  <a:srgbClr val="2A2622"/>
                </a:solidFill>
                <a:latin typeface="Calibri"/>
              </a:rPr>
              <a:t>The math you must know (AOV = ₹600 serum, ₹950 kit):</a:t>
            </a:r>
          </a:p>
          <a:p>
            <a:pPr>
              <a:spcAft>
                <a:spcPts val="400"/>
              </a:spcAft>
            </a:pPr>
            <a:r>
              <a:rPr sz="1350">
                <a:solidFill>
                  <a:srgbClr val="B44A2E"/>
                </a:solidFill>
                <a:latin typeface="Calibri"/>
              </a:rPr>
              <a:t>•  </a:t>
            </a:r>
            <a:r>
              <a:rPr sz="1350" b="0" i="0">
                <a:solidFill>
                  <a:srgbClr val="2A2622"/>
                </a:solidFill>
                <a:latin typeface="Calibri"/>
              </a:rPr>
              <a:t>At ₹500/day = ₹15,000/month. At CPA ₹350 → ~43 orders → ₹34–41k revenue → ROAS ~2.3–2.7x. Month 1 is a </a:t>
            </a:r>
            <a:r>
              <a:rPr sz="1350" b="1" i="0">
                <a:solidFill>
                  <a:srgbClr val="2A2622"/>
                </a:solidFill>
                <a:latin typeface="Calibri"/>
              </a:rPr>
              <a:t>buying data</a:t>
            </a:r>
            <a:r>
              <a:rPr sz="1350" b="0" i="0">
                <a:solidFill>
                  <a:srgbClr val="2A2622"/>
                </a:solidFill>
                <a:latin typeface="Calibri"/>
              </a:rPr>
              <a:t> month; profit comes from Month 3 (lower CPA) + repeat purchases (which ads don't pay for).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288</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CREATIVE TESTING SYSTEM (Section 18)</a:t>
            </a:r>
          </a:p>
          <a:p>
            <a:r>
              <a:rPr sz="1200" i="1">
                <a:solidFill>
                  <a:srgbClr val="57504A"/>
                </a:solidFill>
                <a:latin typeface="Calibri"/>
              </a:rPr>
              <a:t>PART 17 — Creative Testing System + Retargeting Sequence</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LTV math:</a:t>
            </a:r>
            <a:r>
              <a:rPr sz="1350" b="0" i="0">
                <a:solidFill>
                  <a:srgbClr val="2A2622"/>
                </a:solidFill>
                <a:latin typeface="Calibri"/>
              </a:rPr>
              <a:t> a serum buyer who repeats once at 60 days (refill) = LTV ₹1,100–1,200 with COGS ~₹250–300/order. CAC ₹300 is only "expensive" if you ignore the repeat. </a:t>
            </a:r>
            <a:r>
              <a:rPr sz="1350" b="1" i="0">
                <a:solidFill>
                  <a:srgbClr val="2A2622"/>
                </a:solidFill>
                <a:latin typeface="Calibri"/>
              </a:rPr>
              <a:t>This is why the Day-14/28 WhatsApp sequences (§21) are part of the ad strategy — they're where ROAS actually becomes 4x+.</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289</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RETARGETING — THE SEQUENCE (Section 20)</a:t>
            </a:r>
          </a:p>
          <a:p>
            <a:r>
              <a:rPr sz="1200" i="1">
                <a:solidFill>
                  <a:srgbClr val="57504A"/>
                </a:solidFill>
                <a:latin typeface="Calibri"/>
              </a:rPr>
              <a:t>PART 17 — Creative Testing System + Retargeting Sequence</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The audiences (build once, Day 25+)</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290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RETARGETING — THE SEQUENCE (Section 20)</a:t>
            </a:r>
          </a:p>
          <a:p>
            <a:r>
              <a:rPr sz="1200" i="1">
                <a:solidFill>
                  <a:srgbClr val="57504A"/>
                </a:solidFill>
                <a:latin typeface="Calibri"/>
              </a:rPr>
              <a:t>PART 17 — Creative Testing System + Retargeting Sequence</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3" cy="5029200"/>
        </p:xfrm>
        <a:graphic>
          <a:graphicData uri="http://schemas.openxmlformats.org/drawingml/2006/table">
            <a:tbl>
              <a:tblPr firstRow="1" bandRow="1">
                <a:tableStyleId>{5C22544A-7EE6-4342-B048-85BDC9FD1C3A}</a:tableStyleId>
              </a:tblPr>
              <a:tblGrid>
                <a:gridCol w="1050146"/>
                <a:gridCol w="5250734"/>
                <a:gridCol w="1155161"/>
                <a:gridCol w="4095572"/>
              </a:tblGrid>
              <a:tr h="628650">
                <a:tc>
                  <a:txBody>
                    <a:bodyPr wrap="square"/>
                    <a:lstStyle/>
                    <a:p>
                      <a:r>
                        <a:rPr sz="1200" b="1" i="0">
                          <a:solidFill>
                            <a:srgbClr val="FFFFFF"/>
                          </a:solidFill>
                          <a:latin typeface="Calibri"/>
                        </a:rPr>
                        <a:t>#</a:t>
                      </a:r>
                    </a:p>
                  </a:txBody>
                  <a:tcPr marL="45720" marR="45720" marT="18288" marB="18288" anchor="t">
                    <a:solidFill>
                      <a:srgbClr val="B44A2E"/>
                    </a:solidFill>
                  </a:tcPr>
                </a:tc>
                <a:tc>
                  <a:txBody>
                    <a:bodyPr wrap="square"/>
                    <a:lstStyle/>
                    <a:p>
                      <a:r>
                        <a:rPr sz="1200" b="1" i="0">
                          <a:solidFill>
                            <a:srgbClr val="FFFFFF"/>
                          </a:solidFill>
                          <a:latin typeface="Calibri"/>
                        </a:rPr>
                        <a:t>Audience</a:t>
                      </a:r>
                    </a:p>
                  </a:txBody>
                  <a:tcPr marL="45720" marR="45720" marT="18288" marB="18288" anchor="t">
                    <a:solidFill>
                      <a:srgbClr val="B44A2E"/>
                    </a:solidFill>
                  </a:tcPr>
                </a:tc>
                <a:tc>
                  <a:txBody>
                    <a:bodyPr wrap="square"/>
                    <a:lstStyle/>
                    <a:p>
                      <a:r>
                        <a:rPr sz="1200" b="1" i="0">
                          <a:solidFill>
                            <a:srgbClr val="FFFFFF"/>
                          </a:solidFill>
                          <a:latin typeface="Calibri"/>
                        </a:rPr>
                        <a:t>Window</a:t>
                      </a:r>
                    </a:p>
                  </a:txBody>
                  <a:tcPr marL="45720" marR="45720" marT="18288" marB="18288" anchor="t">
                    <a:solidFill>
                      <a:srgbClr val="B44A2E"/>
                    </a:solidFill>
                  </a:tcPr>
                </a:tc>
                <a:tc>
                  <a:txBody>
                    <a:bodyPr wrap="square"/>
                    <a:lstStyle/>
                    <a:p>
                      <a:r>
                        <a:rPr sz="1200" b="1" i="0">
                          <a:solidFill>
                            <a:srgbClr val="FFFFFF"/>
                          </a:solidFill>
                          <a:latin typeface="Calibri"/>
                        </a:rPr>
                        <a:t>Size check</a:t>
                      </a:r>
                    </a:p>
                  </a:txBody>
                  <a:tcPr marL="45720" marR="45720" marT="18288" marB="18288" anchor="t">
                    <a:solidFill>
                      <a:srgbClr val="B44A2E"/>
                    </a:solidFill>
                  </a:tcPr>
                </a:tc>
              </a:tr>
              <a:tr h="628650">
                <a:tc>
                  <a:txBody>
                    <a:bodyPr wrap="square"/>
                    <a:lstStyle/>
                    <a:p>
                      <a:r>
                        <a:rPr sz="1200" b="0" i="0">
                          <a:solidFill>
                            <a:srgbClr val="2A2622"/>
                          </a:solidFill>
                          <a:latin typeface="Calibri"/>
                        </a:rPr>
                        <a:t>R1</a:t>
                      </a:r>
                    </a:p>
                  </a:txBody>
                  <a:tcPr marL="45720" marR="45720" marT="18288" marB="18288" anchor="t">
                    <a:solidFill>
                      <a:srgbClr val="FFFFFF"/>
                    </a:solidFill>
                  </a:tcPr>
                </a:tc>
                <a:tc>
                  <a:txBody>
                    <a:bodyPr wrap="square"/>
                    <a:lstStyle/>
                    <a:p>
                      <a:r>
                        <a:rPr sz="1200" b="0" i="0">
                          <a:solidFill>
                            <a:srgbClr val="2A2622"/>
                          </a:solidFill>
                          <a:latin typeface="Calibri"/>
                        </a:rPr>
                        <a:t>Video viewers (IG/FB/YT Short views) 25–75%</a:t>
                      </a:r>
                    </a:p>
                  </a:txBody>
                  <a:tcPr marL="45720" marR="45720" marT="18288" marB="18288" anchor="t">
                    <a:solidFill>
                      <a:srgbClr val="FFFFFF"/>
                    </a:solidFill>
                  </a:tcPr>
                </a:tc>
                <a:tc>
                  <a:txBody>
                    <a:bodyPr wrap="square"/>
                    <a:lstStyle/>
                    <a:p>
                      <a:r>
                        <a:rPr sz="1200" b="0" i="0">
                          <a:solidFill>
                            <a:srgbClr val="2A2622"/>
                          </a:solidFill>
                          <a:latin typeface="Calibri"/>
                        </a:rPr>
                        <a:t>90d</a:t>
                      </a:r>
                    </a:p>
                  </a:txBody>
                  <a:tcPr marL="45720" marR="45720" marT="18288" marB="18288" anchor="t">
                    <a:solidFill>
                      <a:srgbClr val="FFFFFF"/>
                    </a:solidFill>
                  </a:tcPr>
                </a:tc>
                <a:tc>
                  <a:txBody>
                    <a:bodyPr wrap="square"/>
                    <a:lstStyle/>
                    <a:p>
                      <a:r>
                        <a:rPr sz="1200" b="0" i="0">
                          <a:solidFill>
                            <a:srgbClr val="2A2622"/>
                          </a:solidFill>
                          <a:latin typeface="Calibri"/>
                        </a:rPr>
                        <a:t>expect 2k–20k by Day 30</a:t>
                      </a:r>
                    </a:p>
                  </a:txBody>
                  <a:tcPr marL="45720" marR="45720" marT="18288" marB="18288" anchor="t">
                    <a:solidFill>
                      <a:srgbClr val="FFFFFF"/>
                    </a:solidFill>
                  </a:tcPr>
                </a:tc>
              </a:tr>
              <a:tr h="628650">
                <a:tc>
                  <a:txBody>
                    <a:bodyPr wrap="square"/>
                    <a:lstStyle/>
                    <a:p>
                      <a:r>
                        <a:rPr sz="1200" b="0" i="0">
                          <a:solidFill>
                            <a:srgbClr val="2A2622"/>
                          </a:solidFill>
                          <a:latin typeface="Calibri"/>
                        </a:rPr>
                        <a:t>R2</a:t>
                      </a:r>
                    </a:p>
                  </a:txBody>
                  <a:tcPr marL="45720" marR="45720" marT="18288" marB="18288" anchor="t">
                    <a:solidFill>
                      <a:srgbClr val="F6F1E7"/>
                    </a:solidFill>
                  </a:tcPr>
                </a:tc>
                <a:tc>
                  <a:txBody>
                    <a:bodyPr wrap="square"/>
                    <a:lstStyle/>
                    <a:p>
                      <a:r>
                        <a:rPr sz="1200" b="0" i="0">
                          <a:solidFill>
                            <a:srgbClr val="2A2622"/>
                          </a:solidFill>
                          <a:latin typeface="Calibri"/>
                        </a:rPr>
                        <a:t>IG profile visitors + FB page engagers</a:t>
                      </a:r>
                    </a:p>
                  </a:txBody>
                  <a:tcPr marL="45720" marR="45720" marT="18288" marB="18288" anchor="t">
                    <a:solidFill>
                      <a:srgbClr val="F6F1E7"/>
                    </a:solidFill>
                  </a:tcPr>
                </a:tc>
                <a:tc>
                  <a:txBody>
                    <a:bodyPr wrap="square"/>
                    <a:lstStyle/>
                    <a:p>
                      <a:r>
                        <a:rPr sz="1200" b="0" i="0">
                          <a:solidFill>
                            <a:srgbClr val="2A2622"/>
                          </a:solidFill>
                          <a:latin typeface="Calibri"/>
                        </a:rPr>
                        <a:t>90d</a:t>
                      </a:r>
                    </a:p>
                  </a:txBody>
                  <a:tcPr marL="45720" marR="45720" marT="18288" marB="18288" anchor="t">
                    <a:solidFill>
                      <a:srgbClr val="F6F1E7"/>
                    </a:solidFill>
                  </a:tcPr>
                </a:tc>
                <a:tc>
                  <a:txBody>
                    <a:bodyPr wrap="square"/>
                    <a:lstStyle/>
                    <a:p>
                      <a:r>
                        <a:rPr sz="1200" b="0" i="0">
                          <a:solidFill>
                            <a:srgbClr val="2A2622"/>
                          </a:solidFill>
                          <a:latin typeface="Calibri"/>
                        </a:rPr>
                        <a:t>expect 1k–8k</a:t>
                      </a:r>
                    </a:p>
                  </a:txBody>
                  <a:tcPr marL="45720" marR="45720" marT="18288" marB="18288" anchor="t">
                    <a:solidFill>
                      <a:srgbClr val="F6F1E7"/>
                    </a:solidFill>
                  </a:tcPr>
                </a:tc>
              </a:tr>
              <a:tr h="628650">
                <a:tc>
                  <a:txBody>
                    <a:bodyPr wrap="square"/>
                    <a:lstStyle/>
                    <a:p>
                      <a:r>
                        <a:rPr sz="1200" b="0" i="0">
                          <a:solidFill>
                            <a:srgbClr val="2A2622"/>
                          </a:solidFill>
                          <a:latin typeface="Calibri"/>
                        </a:rPr>
                        <a:t>R3</a:t>
                      </a:r>
                    </a:p>
                  </a:txBody>
                  <a:tcPr marL="45720" marR="45720" marT="18288" marB="18288" anchor="t">
                    <a:solidFill>
                      <a:srgbClr val="FFFFFF"/>
                    </a:solidFill>
                  </a:tcPr>
                </a:tc>
                <a:tc>
                  <a:txBody>
                    <a:bodyPr wrap="square"/>
                    <a:lstStyle/>
                    <a:p>
                      <a:r>
                        <a:rPr sz="1200" b="0" i="0">
                          <a:solidFill>
                            <a:srgbClr val="2A2622"/>
                          </a:solidFill>
                          <a:latin typeface="Calibri"/>
                        </a:rPr>
                        <a:t>Website visitors (exclude purchasers, exclude ATC)</a:t>
                      </a:r>
                    </a:p>
                  </a:txBody>
                  <a:tcPr marL="45720" marR="45720" marT="18288" marB="18288" anchor="t">
                    <a:solidFill>
                      <a:srgbClr val="FFFFFF"/>
                    </a:solidFill>
                  </a:tcPr>
                </a:tc>
                <a:tc>
                  <a:txBody>
                    <a:bodyPr wrap="square"/>
                    <a:lstStyle/>
                    <a:p>
                      <a:r>
                        <a:rPr sz="1200" b="0" i="0">
                          <a:solidFill>
                            <a:srgbClr val="2A2622"/>
                          </a:solidFill>
                          <a:latin typeface="Calibri"/>
                        </a:rPr>
                        <a:t>180d</a:t>
                      </a:r>
                    </a:p>
                  </a:txBody>
                  <a:tcPr marL="45720" marR="45720" marT="18288" marB="18288" anchor="t">
                    <a:solidFill>
                      <a:srgbClr val="FFFFFF"/>
                    </a:solidFill>
                  </a:tcPr>
                </a:tc>
                <a:tc>
                  <a:txBody>
                    <a:bodyPr wrap="square"/>
                    <a:lstStyle/>
                    <a:p>
                      <a:r>
                        <a:rPr sz="1200" b="0" i="0">
                          <a:solidFill>
                            <a:srgbClr val="2A2622"/>
                          </a:solidFill>
                          <a:latin typeface="Calibri"/>
                        </a:rPr>
                        <a:t>grows from Day 21</a:t>
                      </a:r>
                    </a:p>
                  </a:txBody>
                  <a:tcPr marL="45720" marR="45720" marT="18288" marB="18288" anchor="t">
                    <a:solidFill>
                      <a:srgbClr val="FFFFFF"/>
                    </a:solidFill>
                  </a:tcPr>
                </a:tc>
              </a:tr>
              <a:tr h="628650">
                <a:tc>
                  <a:txBody>
                    <a:bodyPr wrap="square"/>
                    <a:lstStyle/>
                    <a:p>
                      <a:r>
                        <a:rPr sz="1200" b="0" i="0">
                          <a:solidFill>
                            <a:srgbClr val="2A2622"/>
                          </a:solidFill>
                          <a:latin typeface="Calibri"/>
                        </a:rPr>
                        <a:t>R4</a:t>
                      </a:r>
                    </a:p>
                  </a:txBody>
                  <a:tcPr marL="45720" marR="45720" marT="18288" marB="18288" anchor="t">
                    <a:solidFill>
                      <a:srgbClr val="F6F1E7"/>
                    </a:solidFill>
                  </a:tcPr>
                </a:tc>
                <a:tc>
                  <a:txBody>
                    <a:bodyPr wrap="square"/>
                    <a:lstStyle/>
                    <a:p>
                      <a:r>
                        <a:rPr sz="1200" b="0" i="0">
                          <a:solidFill>
                            <a:srgbClr val="2A2622"/>
                          </a:solidFill>
                          <a:latin typeface="Calibri"/>
                        </a:rPr>
                        <a:t>Added to Cart (exclude purchasers)</a:t>
                      </a:r>
                    </a:p>
                  </a:txBody>
                  <a:tcPr marL="45720" marR="45720" marT="18288" marB="18288" anchor="t">
                    <a:solidFill>
                      <a:srgbClr val="F6F1E7"/>
                    </a:solidFill>
                  </a:tcPr>
                </a:tc>
                <a:tc>
                  <a:txBody>
                    <a:bodyPr wrap="square"/>
                    <a:lstStyle/>
                    <a:p>
                      <a:r>
                        <a:rPr sz="1200" b="0" i="0">
                          <a:solidFill>
                            <a:srgbClr val="2A2622"/>
                          </a:solidFill>
                          <a:latin typeface="Calibri"/>
                        </a:rPr>
                        <a:t>30d</a:t>
                      </a:r>
                    </a:p>
                  </a:txBody>
                  <a:tcPr marL="45720" marR="45720" marT="18288" marB="18288" anchor="t">
                    <a:solidFill>
                      <a:srgbClr val="F6F1E7"/>
                    </a:solidFill>
                  </a:tcPr>
                </a:tc>
                <a:tc>
                  <a:txBody>
                    <a:bodyPr wrap="square"/>
                    <a:lstStyle/>
                    <a:p/>
                  </a:txBody>
                  <a:tcPr marL="45720" marR="45720" marT="18288" marB="18288" anchor="t">
                    <a:solidFill>
                      <a:srgbClr val="F6F1E7"/>
                    </a:solidFill>
                  </a:tcPr>
                </a:tc>
              </a:tr>
              <a:tr h="628650">
                <a:tc>
                  <a:txBody>
                    <a:bodyPr wrap="square"/>
                    <a:lstStyle/>
                    <a:p>
                      <a:r>
                        <a:rPr sz="1200" b="0" i="0">
                          <a:solidFill>
                            <a:srgbClr val="2A2622"/>
                          </a:solidFill>
                          <a:latin typeface="Calibri"/>
                        </a:rPr>
                        <a:t>R5</a:t>
                      </a:r>
                    </a:p>
                  </a:txBody>
                  <a:tcPr marL="45720" marR="45720" marT="18288" marB="18288" anchor="t">
                    <a:solidFill>
                      <a:srgbClr val="FFFFFF"/>
                    </a:solidFill>
                  </a:tcPr>
                </a:tc>
                <a:tc>
                  <a:txBody>
                    <a:bodyPr wrap="square"/>
                    <a:lstStyle/>
                    <a:p>
                      <a:r>
                        <a:rPr sz="1200" b="0" i="0">
                          <a:solidFill>
                            <a:srgbClr val="2A2622"/>
                          </a:solidFill>
                          <a:latin typeface="Calibri"/>
                        </a:rPr>
                        <a:t>Initiated Checkout (exclude purchasers)</a:t>
                      </a:r>
                    </a:p>
                  </a:txBody>
                  <a:tcPr marL="45720" marR="45720" marT="18288" marB="18288" anchor="t">
                    <a:solidFill>
                      <a:srgbClr val="FFFFFF"/>
                    </a:solidFill>
                  </a:tcPr>
                </a:tc>
                <a:tc>
                  <a:txBody>
                    <a:bodyPr wrap="square"/>
                    <a:lstStyle/>
                    <a:p>
                      <a:r>
                        <a:rPr sz="1200" b="0" i="0">
                          <a:solidFill>
                            <a:srgbClr val="2A2622"/>
                          </a:solidFill>
                          <a:latin typeface="Calibri"/>
                        </a:rPr>
                        <a:t>30d</a:t>
                      </a:r>
                    </a:p>
                  </a:txBody>
                  <a:tcPr marL="45720" marR="45720" marT="18288" marB="18288" anchor="t">
                    <a:solidFill>
                      <a:srgbClr val="FFFFFF"/>
                    </a:solidFill>
                  </a:tcPr>
                </a:tc>
                <a:tc>
                  <a:txBody>
                    <a:bodyPr wrap="square"/>
                    <a:lstStyle/>
                    <a:p/>
                  </a:txBody>
                  <a:tcPr marL="45720" marR="45720" marT="18288" marB="18288" anchor="t">
                    <a:solidFill>
                      <a:srgbClr val="FFFFFF"/>
                    </a:solidFill>
                  </a:tcPr>
                </a:tc>
              </a:tr>
              <a:tr h="628650">
                <a:tc>
                  <a:txBody>
                    <a:bodyPr wrap="square"/>
                    <a:lstStyle/>
                    <a:p>
                      <a:r>
                        <a:rPr sz="1200" b="0" i="0">
                          <a:solidFill>
                            <a:srgbClr val="2A2622"/>
                          </a:solidFill>
                          <a:latin typeface="Calibri"/>
                        </a:rPr>
                        <a:t>R6</a:t>
                      </a:r>
                    </a:p>
                  </a:txBody>
                  <a:tcPr marL="45720" marR="45720" marT="18288" marB="18288" anchor="t">
                    <a:solidFill>
                      <a:srgbClr val="F6F1E7"/>
                    </a:solidFill>
                  </a:tcPr>
                </a:tc>
                <a:tc>
                  <a:txBody>
                    <a:bodyPr wrap="square"/>
                    <a:lstStyle/>
                    <a:p>
                      <a:r>
                        <a:rPr sz="1200" b="0" i="0">
                          <a:solidFill>
                            <a:srgbClr val="2A2622"/>
                          </a:solidFill>
                          <a:latin typeface="Calibri"/>
                        </a:rPr>
                        <a:t>Purchasers (exclude from ALL above)</a:t>
                      </a:r>
                    </a:p>
                  </a:txBody>
                  <a:tcPr marL="45720" marR="45720" marT="18288" marB="18288" anchor="t">
                    <a:solidFill>
                      <a:srgbClr val="F6F1E7"/>
                    </a:solidFill>
                  </a:tcPr>
                </a:tc>
                <a:tc>
                  <a:txBody>
                    <a:bodyPr wrap="square"/>
                    <a:lstStyle/>
                    <a:p>
                      <a:r>
                        <a:rPr sz="1200" b="0" i="0">
                          <a:solidFill>
                            <a:srgbClr val="2A2622"/>
                          </a:solidFill>
                          <a:latin typeface="Calibri"/>
                        </a:rPr>
                        <a:t>180d</a:t>
                      </a:r>
                    </a:p>
                  </a:txBody>
                  <a:tcPr marL="45720" marR="45720" marT="18288" marB="18288" anchor="t">
                    <a:solidFill>
                      <a:srgbClr val="F6F1E7"/>
                    </a:solidFill>
                  </a:tcPr>
                </a:tc>
                <a:tc>
                  <a:txBody>
                    <a:bodyPr wrap="square"/>
                    <a:lstStyle/>
                    <a:p>
                      <a:r>
                        <a:rPr sz="1200" b="0" i="0">
                          <a:solidFill>
                            <a:srgbClr val="2A2622"/>
                          </a:solidFill>
                          <a:latin typeface="Calibri"/>
                        </a:rPr>
                        <a:t>→ used for upsell/cross-sell + LAL seed</a:t>
                      </a:r>
                    </a:p>
                  </a:txBody>
                  <a:tcPr marL="45720" marR="45720" marT="18288" marB="18288" anchor="t">
                    <a:solidFill>
                      <a:srgbClr val="F6F1E7"/>
                    </a:solidFill>
                  </a:tcPr>
                </a:tc>
              </a:tr>
              <a:tr h="628650">
                <a:tc>
                  <a:txBody>
                    <a:bodyPr wrap="square"/>
                    <a:lstStyle/>
                    <a:p>
                      <a:r>
                        <a:rPr sz="1200" b="0" i="0">
                          <a:solidFill>
                            <a:srgbClr val="2A2622"/>
                          </a:solidFill>
                          <a:latin typeface="Calibri"/>
                        </a:rPr>
                        <a:t>R7 (later)</a:t>
                      </a:r>
                    </a:p>
                  </a:txBody>
                  <a:tcPr marL="45720" marR="45720" marT="18288" marB="18288" anchor="t">
                    <a:solidFill>
                      <a:srgbClr val="FFFFFF"/>
                    </a:solidFill>
                  </a:tcPr>
                </a:tc>
                <a:tc>
                  <a:txBody>
                    <a:bodyPr wrap="square"/>
                    <a:lstStyle/>
                    <a:p>
                      <a:r>
                        <a:rPr sz="1200" b="0" i="0">
                          <a:solidFill>
                            <a:srgbClr val="2A2622"/>
                          </a:solidFill>
                          <a:latin typeface="Calibri"/>
                        </a:rPr>
                        <a:t>LAL 1% of R6</a:t>
                      </a:r>
                    </a:p>
                  </a:txBody>
                  <a:tcPr marL="45720" marR="45720" marT="18288" marB="18288" anchor="t">
                    <a:solidFill>
                      <a:srgbClr val="FFFFFF"/>
                    </a:solidFill>
                  </a:tcPr>
                </a:tc>
                <a:tc>
                  <a:txBody>
                    <a:bodyPr wrap="square"/>
                    <a:lstStyle/>
                    <a:p>
                      <a:r>
                        <a:rPr sz="1200" b="0" i="0">
                          <a:solidFill>
                            <a:srgbClr val="2A2622"/>
                          </a:solidFill>
                          <a:latin typeface="Calibri"/>
                        </a:rPr>
                        <a:t>30d refresh</a:t>
                      </a:r>
                    </a:p>
                  </a:txBody>
                  <a:tcPr marL="45720" marR="45720" marT="18288" marB="18288" anchor="t">
                    <a:solidFill>
                      <a:srgbClr val="FFFFFF"/>
                    </a:solidFill>
                  </a:tcPr>
                </a:tc>
                <a:tc>
                  <a:txBody>
                    <a:bodyPr wrap="square"/>
                    <a:lstStyle/>
                    <a:p>
                      <a:r>
                        <a:rPr sz="1200" b="0" i="0">
                          <a:solidFill>
                            <a:srgbClr val="2A2622"/>
                          </a:solidFill>
                          <a:latin typeface="Calibri"/>
                        </a:rPr>
                        <a:t>once 50+ purchasers</a:t>
                      </a:r>
                    </a:p>
                  </a:txBody>
                  <a:tcPr marL="45720" marR="45720" marT="18288" marB="18288" anchor="t">
                    <a:solidFill>
                      <a:srgbClr val="FFFFFF"/>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291</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RETARGETING — THE SEQUENCE (Section 20)</a:t>
            </a:r>
          </a:p>
          <a:p>
            <a:r>
              <a:rPr sz="1200" i="1">
                <a:solidFill>
                  <a:srgbClr val="57504A"/>
                </a:solidFill>
                <a:latin typeface="Calibri"/>
              </a:rPr>
              <a:t>PART 17 — Creative Testing System + Retargeting Sequence</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Exclusions are the system:</a:t>
            </a:r>
            <a:r>
              <a:rPr sz="1350" b="0" i="0">
                <a:solidFill>
                  <a:srgbClr val="2A2622"/>
                </a:solidFill>
                <a:latin typeface="Calibri"/>
              </a:rPr>
              <a:t> every prospecting audience excludes R6 (never show "buy now" to a buyer) and R4/R5 (let retargeting own them). Every retargeting audience excludes R6.</a:t>
            </a:r>
          </a:p>
          <a:p>
            <a:pPr>
              <a:spcBef>
                <a:spcPts val="1000"/>
              </a:spcBef>
              <a:spcAft>
                <a:spcPts val="400"/>
              </a:spcAft>
            </a:pPr>
            <a:r>
              <a:rPr sz="1600" b="1" i="0">
                <a:solidFill>
                  <a:srgbClr val="8F3A22"/>
                </a:solidFill>
                <a:latin typeface="Calibri"/>
              </a:rPr>
              <a:t>The correct sequence (who sees what, in what order)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292</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 name="Rectangle 4"/>
          <p:cNvSpPr/>
          <p:nvPr/>
        </p:nvSpPr>
        <p:spPr>
          <a:xfrm>
            <a:off x="320040" y="1261872"/>
            <a:ext cx="11551615" cy="5212080"/>
          </a:xfrm>
          <a:prstGeom prst="rect">
            <a:avLst/>
          </a:prstGeom>
          <a:solidFill>
            <a:srgbClr val="F1EDE4"/>
          </a:solidFill>
          <a:ln w="9525">
            <a:solidFill>
              <a:srgbClr val="D8C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RETARGETING — THE SEQUENCE (Section 20)</a:t>
            </a:r>
          </a:p>
          <a:p>
            <a:r>
              <a:rPr sz="1200" i="1">
                <a:solidFill>
                  <a:srgbClr val="57504A"/>
                </a:solidFill>
                <a:latin typeface="Calibri"/>
              </a:rPr>
              <a:t>PART 17 — Creative Testing System + Retargeting Sequence</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0"/>
            <a:ext cx="11460175" cy="4937760"/>
          </a:xfrm>
          <a:prstGeom prst="rect">
            <a:avLst/>
          </a:prstGeom>
          <a:noFill/>
        </p:spPr>
        <p:txBody>
          <a:bodyPr wrap="square">
            <a:spAutoFit/>
          </a:bodyPr>
          <a:lstStyle/>
          <a:p>
            <a:pPr>
              <a:spcAft>
                <a:spcPts val="100"/>
              </a:spcAft>
            </a:pPr>
            <a:r>
              <a:rPr sz="1150">
                <a:solidFill>
                  <a:srgbClr val="2A2622"/>
                </a:solidFill>
                <a:latin typeface="Consolas"/>
              </a:rPr>
              <a:t>R1  video viewers 25–75%   → "second look" proof content (B/A, testimonial)</a:t>
            </a:r>
          </a:p>
          <a:p>
            <a:pPr>
              <a:spcAft>
                <a:spcPts val="100"/>
              </a:spcAft>
            </a:pPr>
            <a:r>
              <a:rPr sz="1150">
                <a:solidFill>
                  <a:srgbClr val="2A2622"/>
                </a:solidFill>
                <a:latin typeface="Consolas"/>
              </a:rPr>
              <a:t>R2  profile/engagers       → trust content (founder, "how it works", reviews)</a:t>
            </a:r>
          </a:p>
          <a:p>
            <a:pPr>
              <a:spcAft>
                <a:spcPts val="100"/>
              </a:spcAft>
            </a:pPr>
            <a:r>
              <a:rPr sz="1150">
                <a:solidFill>
                  <a:srgbClr val="2A2622"/>
                </a:solidFill>
                <a:latin typeface="Consolas"/>
              </a:rPr>
              <a:t>R3  website visitors       → objection killer (COD, returns, timeline) + offer</a:t>
            </a:r>
          </a:p>
          <a:p>
            <a:pPr>
              <a:spcAft>
                <a:spcPts val="100"/>
              </a:spcAft>
            </a:pPr>
            <a:r>
              <a:rPr sz="1150">
                <a:solidFill>
                  <a:srgbClr val="2A2622"/>
                </a:solidFill>
                <a:latin typeface="Consolas"/>
              </a:rPr>
              <a:t>R4  ATC                    → urgency-real ("X seat bachi") + testimonial</a:t>
            </a:r>
          </a:p>
          <a:p>
            <a:pPr>
              <a:spcAft>
                <a:spcPts val="100"/>
              </a:spcAft>
            </a:pPr>
            <a:r>
              <a:rPr sz="1150">
                <a:solidFill>
                  <a:srgbClr val="2A2622"/>
                </a:solidFill>
                <a:latin typeface="Consolas"/>
              </a:rPr>
              <a:t>R5  checkout               → trust + risk reversal (COD, "aapka number save hai")</a:t>
            </a:r>
          </a:p>
          <a:p>
            <a:pPr>
              <a:spcAft>
                <a:spcPts val="100"/>
              </a:spcAft>
            </a:pPr>
            <a:r>
              <a:rPr sz="1150">
                <a:solidFill>
                  <a:srgbClr val="2A2622"/>
                </a:solidFill>
                <a:latin typeface="Consolas"/>
              </a:rPr>
              <a:t>R6  purchasers             → NOT "buy again now" — Day-28 "kya chal raha hai?" + cross-sell (kit) + review ask (WhatsApp-first, ads second)</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293</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RETARGETING — THE SEQUENCE (Section 20)</a:t>
            </a:r>
          </a:p>
          <a:p>
            <a:r>
              <a:rPr sz="1200" i="1">
                <a:solidFill>
                  <a:srgbClr val="57504A"/>
                </a:solidFill>
                <a:latin typeface="Calibri"/>
              </a:rPr>
              <a:t>PART 17 — Creative Testing System + Retargeting Sequence</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Why this order:</a:t>
            </a:r>
            <a:r>
              <a:rPr sz="1350" b="0" i="0">
                <a:solidFill>
                  <a:srgbClr val="2A2622"/>
                </a:solidFill>
                <a:latin typeface="Calibri"/>
              </a:rPr>
              <a:t> a video viewer needs </a:t>
            </a:r>
            <a:r>
              <a:rPr sz="1350" b="0" i="1">
                <a:solidFill>
                  <a:srgbClr val="2A2622"/>
                </a:solidFill>
                <a:latin typeface="Calibri"/>
              </a:rPr>
              <a:t>proof</a:t>
            </a:r>
            <a:r>
              <a:rPr sz="1350" b="0" i="0">
                <a:solidFill>
                  <a:srgbClr val="2A2622"/>
                </a:solidFill>
                <a:latin typeface="Calibri"/>
              </a:rPr>
              <a:t> (they've never seen the product). A website visitor needs </a:t>
            </a:r>
            <a:r>
              <a:rPr sz="1350" b="0" i="1">
                <a:solidFill>
                  <a:srgbClr val="2A2622"/>
                </a:solidFill>
                <a:latin typeface="Calibri"/>
              </a:rPr>
              <a:t>risk reversal</a:t>
            </a:r>
            <a:r>
              <a:rPr sz="1350" b="0" i="0">
                <a:solidFill>
                  <a:srgbClr val="2A2622"/>
                </a:solidFill>
                <a:latin typeface="Calibri"/>
              </a:rPr>
              <a:t> (they priced it and left). An ATC user needs </a:t>
            </a:r>
            <a:r>
              <a:rPr sz="1350" b="0" i="1">
                <a:solidFill>
                  <a:srgbClr val="2A2622"/>
                </a:solidFill>
                <a:latin typeface="Calibri"/>
              </a:rPr>
              <a:t>urgency</a:t>
            </a:r>
            <a:r>
              <a:rPr sz="1350" b="0" i="0">
                <a:solidFill>
                  <a:srgbClr val="2A2622"/>
                </a:solidFill>
                <a:latin typeface="Calibri"/>
              </a:rPr>
              <a:t>. A checkout user needs </a:t>
            </a:r>
            <a:r>
              <a:rPr sz="1350" b="0" i="1">
                <a:solidFill>
                  <a:srgbClr val="2A2622"/>
                </a:solidFill>
                <a:latin typeface="Calibri"/>
              </a:rPr>
              <a:t>reassurance</a:t>
            </a:r>
            <a:r>
              <a:rPr sz="1350" b="0" i="0">
                <a:solidFill>
                  <a:srgbClr val="2A2622"/>
                </a:solidFill>
                <a:latin typeface="Calibri"/>
              </a:rPr>
              <a:t>. A buyer needs </a:t>
            </a:r>
            <a:r>
              <a:rPr sz="1350" b="0" i="1">
                <a:solidFill>
                  <a:srgbClr val="2A2622"/>
                </a:solidFill>
                <a:latin typeface="Calibri"/>
              </a:rPr>
              <a:t>relationship</a:t>
            </a:r>
            <a:r>
              <a:rPr sz="1350" b="0" i="0">
                <a:solidFill>
                  <a:srgbClr val="2A2622"/>
                </a:solidFill>
                <a:latin typeface="Calibri"/>
              </a:rPr>
              <a:t> (not another sales ad — that's the #1 retargeting mistake: napping buyers with more sales ads).</a:t>
            </a:r>
          </a:p>
          <a:p>
            <a:pPr>
              <a:spcBef>
                <a:spcPts val="1000"/>
              </a:spcBef>
              <a:spcAft>
                <a:spcPts val="400"/>
              </a:spcAft>
            </a:pPr>
            <a:r>
              <a:rPr sz="1600" b="1" i="0">
                <a:solidFill>
                  <a:srgbClr val="8F3A22"/>
                </a:solidFill>
                <a:latin typeface="Calibri"/>
              </a:rPr>
              <a:t>Copy per audience (paste-ready)</a:t>
            </a:r>
          </a:p>
          <a:p>
            <a:pPr>
              <a:spcAft>
                <a:spcPts val="400"/>
              </a:spcAft>
            </a:pPr>
            <a:r>
              <a:rPr sz="1350">
                <a:solidFill>
                  <a:srgbClr val="B44A2E"/>
                </a:solidFill>
                <a:latin typeface="Calibri"/>
              </a:rPr>
              <a:t>•  </a:t>
            </a:r>
            <a:r>
              <a:rPr sz="1350" b="1" i="0">
                <a:solidFill>
                  <a:srgbClr val="2A2622"/>
                </a:solidFill>
                <a:latin typeface="Calibri"/>
              </a:rPr>
              <a:t>R1 (viewers):</a:t>
            </a:r>
            <a:r>
              <a:rPr sz="1350" b="0" i="0">
                <a:solidFill>
                  <a:srgbClr val="2A2622"/>
                </a:solidFill>
                <a:latin typeface="Calibri"/>
              </a:rPr>
              <a:t> "Aapne 2 din pehle hamari video dekhi thi — yeh 4 hafte ke asli photos hain. Same light, same angle, filter nahi. Results har kisi me alag hote hain — isliye COD, isliye return bhi. ⬇️"</a:t>
            </a:r>
          </a:p>
          <a:p>
            <a:pPr>
              <a:spcAft>
                <a:spcPts val="400"/>
              </a:spcAft>
            </a:pPr>
            <a:r>
              <a:rPr sz="1350">
                <a:solidFill>
                  <a:srgbClr val="B44A2E"/>
                </a:solidFill>
                <a:latin typeface="Calibri"/>
              </a:rPr>
              <a:t>•  </a:t>
            </a:r>
            <a:r>
              <a:rPr sz="1350" b="1" i="0">
                <a:solidFill>
                  <a:srgbClr val="2A2622"/>
                </a:solidFill>
                <a:latin typeface="Calibri"/>
              </a:rPr>
              <a:t>R2 (engagers):</a:t>
            </a:r>
            <a:r>
              <a:rPr sz="1350" b="0" i="0">
                <a:solidFill>
                  <a:srgbClr val="2A2622"/>
                </a:solidFill>
                <a:latin typeface="Calibri"/>
              </a:rPr>
              <a:t> "Aap humari page par aaye the. Ek sach baat: hum 20 testers se 4 hafte tak daily photos lete hain — aap bhi 4 hafte baad yahan ho sakti ho. DM 'GLOW' — 15 minute me reply."</a:t>
            </a:r>
          </a:p>
          <a:p>
            <a:pPr>
              <a:spcAft>
                <a:spcPts val="400"/>
              </a:spcAft>
            </a:pPr>
            <a:r>
              <a:rPr sz="1350">
                <a:solidFill>
                  <a:srgbClr val="B44A2E"/>
                </a:solidFill>
                <a:latin typeface="Calibri"/>
              </a:rPr>
              <a:t>•  </a:t>
            </a:r>
            <a:r>
              <a:rPr sz="1350" b="1" i="0">
                <a:solidFill>
                  <a:srgbClr val="2A2622"/>
                </a:solidFill>
                <a:latin typeface="Calibri"/>
              </a:rPr>
              <a:t>R3 (site visitors):</a:t>
            </a:r>
            <a:r>
              <a:rPr sz="1350" b="0" i="0">
                <a:solidFill>
                  <a:srgbClr val="2A2622"/>
                </a:solidFill>
                <a:latin typeface="Calibri"/>
              </a:rPr>
              <a:t> "Price dekha? Ab risk nahi: COD, parcel khol ke dekho, return bhi hai. Aur 4–6 hafte ka honest timeline — 3-din wale wada nahi karte. ⬇️"</a:t>
            </a:r>
          </a:p>
          <a:p>
            <a:pPr>
              <a:spcAft>
                <a:spcPts val="400"/>
              </a:spcAft>
            </a:pPr>
            <a:r>
              <a:rPr sz="1350">
                <a:solidFill>
                  <a:srgbClr val="B44A2E"/>
                </a:solidFill>
                <a:latin typeface="Calibri"/>
              </a:rPr>
              <a:t>•  </a:t>
            </a:r>
            <a:r>
              <a:rPr sz="1350" b="1" i="0">
                <a:solidFill>
                  <a:srgbClr val="2A2622"/>
                </a:solidFill>
                <a:latin typeface="Calibri"/>
              </a:rPr>
              <a:t>R4 (ATC):</a:t>
            </a:r>
            <a:r>
              <a:rPr sz="1350" b="0" i="0">
                <a:solidFill>
                  <a:srgbClr val="2A2622"/>
                </a:solidFill>
                <a:latin typeface="Calibri"/>
              </a:rPr>
              <a:t> "Aapka item cart me hai. Batch 1 me se ab X seat bachi hain — phir agla batch agle mahine. COD hai, aaj ka order kal pack."</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294</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RETARGETING — THE SEQUENCE (Section 20)</a:t>
            </a:r>
          </a:p>
          <a:p>
            <a:r>
              <a:rPr sz="1200" i="1">
                <a:solidFill>
                  <a:srgbClr val="57504A"/>
                </a:solidFill>
                <a:latin typeface="Calibri"/>
              </a:rPr>
              <a:t>PART 17 — Creative Testing System + Retargeting Sequence</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R5 (checkout):</a:t>
            </a:r>
            <a:r>
              <a:rPr sz="1350" b="0" i="0">
                <a:solidFill>
                  <a:srgbClr val="2A2622"/>
                </a:solidFill>
                <a:latin typeface="Calibri"/>
              </a:rPr>
              <a:t> "Aap 1 step door thi. Koi bhi sawaal — WhatsApp par insaan hai, bot nahi. COD. Return. Bas."</a:t>
            </a:r>
          </a:p>
          <a:p>
            <a:pPr>
              <a:spcAft>
                <a:spcPts val="400"/>
              </a:spcAft>
            </a:pPr>
            <a:r>
              <a:rPr sz="1350">
                <a:solidFill>
                  <a:srgbClr val="B44A2E"/>
                </a:solidFill>
                <a:latin typeface="Calibri"/>
              </a:rPr>
              <a:t>•  </a:t>
            </a:r>
            <a:r>
              <a:rPr sz="1350" b="1" i="0">
                <a:solidFill>
                  <a:srgbClr val="2A2622"/>
                </a:solidFill>
                <a:latin typeface="Calibri"/>
              </a:rPr>
              <a:t>R6 (purchasers — cross-sell only, after Day 21 post-purchase):</a:t>
            </a:r>
            <a:r>
              <a:rPr sz="1350" b="0" i="0">
                <a:solidFill>
                  <a:srgbClr val="2A2622"/>
                </a:solidFill>
                <a:latin typeface="Calibri"/>
              </a:rPr>
              <a:t> "Aapka 28 din ka hisa baaki hai — aur sunscreen agle mahine aa raha hai. Early list me rahi? (link)" · Later: "Kit upgrade: 3-step complete, ₹X off aapke liye (existing customer)."</a:t>
            </a:r>
          </a:p>
          <a:p>
            <a:pPr>
              <a:spcBef>
                <a:spcPts val="1000"/>
              </a:spcBef>
              <a:spcAft>
                <a:spcPts val="400"/>
              </a:spcAft>
            </a:pPr>
            <a:r>
              <a:rPr sz="1600" b="1" i="0">
                <a:solidFill>
                  <a:srgbClr val="8F3A22"/>
                </a:solidFill>
                <a:latin typeface="Calibri"/>
              </a:rPr>
              <a:t>Budget &amp; frequency rules</a:t>
            </a:r>
          </a:p>
          <a:p>
            <a:pPr>
              <a:spcAft>
                <a:spcPts val="400"/>
              </a:spcAft>
            </a:pPr>
            <a:r>
              <a:rPr sz="1350">
                <a:solidFill>
                  <a:srgbClr val="B44A2E"/>
                </a:solidFill>
                <a:latin typeface="Calibri"/>
              </a:rPr>
              <a:t>•  </a:t>
            </a:r>
            <a:r>
              <a:rPr sz="1350" b="0" i="0">
                <a:solidFill>
                  <a:srgbClr val="2A2622"/>
                </a:solidFill>
                <a:latin typeface="Calibri"/>
              </a:rPr>
              <a:t>Retargeting total = </a:t>
            </a:r>
            <a:r>
              <a:rPr sz="1350" b="1" i="0">
                <a:solidFill>
                  <a:srgbClr val="2A2622"/>
                </a:solidFill>
                <a:latin typeface="Calibri"/>
              </a:rPr>
              <a:t>15–25% of ad budget</a:t>
            </a:r>
            <a:r>
              <a:rPr sz="1350" b="0" i="0">
                <a:solidFill>
                  <a:srgbClr val="2A2622"/>
                </a:solidFill>
                <a:latin typeface="Calibri"/>
              </a:rPr>
              <a:t> (at ₹500/day → ₹100–125; at ₹2,000 → ₹400).</a:t>
            </a:r>
          </a:p>
          <a:p>
            <a:pPr>
              <a:spcAft>
                <a:spcPts val="400"/>
              </a:spcAft>
            </a:pPr>
            <a:r>
              <a:rPr sz="1350">
                <a:solidFill>
                  <a:srgbClr val="B44A2E"/>
                </a:solidFill>
                <a:latin typeface="Calibri"/>
              </a:rPr>
              <a:t>•  </a:t>
            </a:r>
            <a:r>
              <a:rPr sz="1350" b="0" i="0">
                <a:solidFill>
                  <a:srgbClr val="2A2622"/>
                </a:solidFill>
                <a:latin typeface="Calibri"/>
              </a:rPr>
              <a:t>Frequency cap discipline: ≤ 3–4 impressions/person/week. (Meta doesn't expose a hard cap for custom audiences in most setups — manage by </a:t>
            </a:r>
            <a:r>
              <a:rPr sz="1350" b="1" i="0">
                <a:solidFill>
                  <a:srgbClr val="2A2622"/>
                </a:solidFill>
                <a:latin typeface="Calibri"/>
              </a:rPr>
              <a:t>rotating 2 creatives every 10 days</a:t>
            </a:r>
            <a:r>
              <a:rPr sz="1350" b="0" i="0">
                <a:solidFill>
                  <a:srgbClr val="2A2622"/>
                </a:solidFill>
                <a:latin typeface="Calibri"/>
              </a:rPr>
              <a:t> and </a:t>
            </a:r>
            <a:r>
              <a:rPr sz="1350" b="1" i="0">
                <a:solidFill>
                  <a:srgbClr val="2A2622"/>
                </a:solidFill>
                <a:latin typeface="Calibri"/>
              </a:rPr>
              <a:t>shrinking windows</a:t>
            </a:r>
            <a:r>
              <a:rPr sz="1350" b="0" i="0">
                <a:solidFill>
                  <a:srgbClr val="2A2622"/>
                </a:solidFill>
                <a:latin typeface="Calibri"/>
              </a:rPr>
              <a:t> (90d → 60d) when frequency creeps up.)</a:t>
            </a:r>
          </a:p>
          <a:p>
            <a:pPr>
              <a:spcAft>
                <a:spcPts val="400"/>
              </a:spcAft>
            </a:pPr>
            <a:r>
              <a:rPr sz="1350">
                <a:solidFill>
                  <a:srgbClr val="B44A2E"/>
                </a:solidFill>
                <a:latin typeface="Calibri"/>
              </a:rPr>
              <a:t>•  </a:t>
            </a:r>
            <a:r>
              <a:rPr sz="1350" b="0" i="0">
                <a:solidFill>
                  <a:srgbClr val="2A2622"/>
                </a:solidFill>
                <a:latin typeface="Calibri"/>
              </a:rPr>
              <a:t>Retargeting should hit </a:t>
            </a:r>
            <a:r>
              <a:rPr sz="1350" b="1" i="0">
                <a:solidFill>
                  <a:srgbClr val="2A2622"/>
                </a:solidFill>
                <a:latin typeface="Calibri"/>
              </a:rPr>
              <a:t>CPA ≤ ₹150 and ROAS ≥ 3x</a:t>
            </a:r>
            <a:r>
              <a:rPr sz="1350" b="0" i="0">
                <a:solidFill>
                  <a:srgbClr val="2A2622"/>
                </a:solidFill>
                <a:latin typeface="Calibri"/>
              </a:rPr>
              <a:t> by Day 45. If not → the issue is usually the </a:t>
            </a:r>
            <a:r>
              <a:rPr sz="1350" b="0" i="1">
                <a:solidFill>
                  <a:srgbClr val="2A2622"/>
                </a:solidFill>
                <a:latin typeface="Calibri"/>
              </a:rPr>
              <a:t>creative</a:t>
            </a:r>
            <a:r>
              <a:rPr sz="1350" b="0" i="0">
                <a:solidFill>
                  <a:srgbClr val="2A2622"/>
                </a:solidFill>
                <a:latin typeface="Calibri"/>
              </a:rPr>
              <a:t> (sales-ads on warm people) — swap to proof/objection creative.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295</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RETARGETING — THE SEQUENCE (Section 20)</a:t>
            </a:r>
          </a:p>
          <a:p>
            <a:r>
              <a:rPr sz="1200" i="1">
                <a:solidFill>
                  <a:srgbClr val="57504A"/>
                </a:solidFill>
                <a:latin typeface="Calibri"/>
              </a:rPr>
              <a:t>PART 17 — Creative Testing System + Retargeting Sequence</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WhatsApp is the real retargeting channel:</a:t>
            </a:r>
            <a:r>
              <a:rPr sz="1350" b="0" i="0">
                <a:solidFill>
                  <a:srgbClr val="2A2622"/>
                </a:solidFill>
                <a:latin typeface="Calibri"/>
              </a:rPr>
              <a:t> for a COD-first Indian brand, a human WhatsApp nudge ("Kya aapne socha? COD hai") out-converts a 5th Facebook ad. Retargeting ads should </a:t>
            </a:r>
            <a:r>
              <a:rPr sz="1350" b="0" i="1">
                <a:solidFill>
                  <a:srgbClr val="2A2622"/>
                </a:solidFill>
                <a:latin typeface="Calibri"/>
              </a:rPr>
              <a:t>push to WhatsApp</a:t>
            </a:r>
            <a:r>
              <a:rPr sz="1350" b="0" i="0">
                <a:solidFill>
                  <a:srgbClr val="2A2622"/>
                </a:solidFill>
                <a:latin typeface="Calibri"/>
              </a:rPr>
              <a:t>, not just to the site.</a:t>
            </a:r>
          </a:p>
          <a:p>
            <a:pPr>
              <a:spcBef>
                <a:spcPts val="1000"/>
              </a:spcBef>
              <a:spcAft>
                <a:spcPts val="400"/>
              </a:spcAft>
            </a:pPr>
            <a:r>
              <a:rPr sz="1600" b="1" i="0">
                <a:solidFill>
                  <a:srgbClr val="8F3A22"/>
                </a:solidFill>
                <a:latin typeface="Calibri"/>
              </a:rPr>
              <a:t>The full funnel order (ads ↔ organic ↔ WhatsApp together)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296</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 name="Rectangle 4"/>
          <p:cNvSpPr/>
          <p:nvPr/>
        </p:nvSpPr>
        <p:spPr>
          <a:xfrm>
            <a:off x="320040" y="1261872"/>
            <a:ext cx="11551615" cy="5212080"/>
          </a:xfrm>
          <a:prstGeom prst="rect">
            <a:avLst/>
          </a:prstGeom>
          <a:solidFill>
            <a:srgbClr val="F1EDE4"/>
          </a:solidFill>
          <a:ln w="9525">
            <a:solidFill>
              <a:srgbClr val="D8C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RETARGETING — THE SEQUENCE (Section 20)</a:t>
            </a:r>
          </a:p>
          <a:p>
            <a:r>
              <a:rPr sz="1200" i="1">
                <a:solidFill>
                  <a:srgbClr val="57504A"/>
                </a:solidFill>
                <a:latin typeface="Calibri"/>
              </a:rPr>
              <a:t>PART 17 — Creative Testing System + Retargeting Sequence</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0"/>
            <a:ext cx="11460175" cy="4937760"/>
          </a:xfrm>
          <a:prstGeom prst="rect">
            <a:avLst/>
          </a:prstGeom>
          <a:noFill/>
        </p:spPr>
        <p:txBody>
          <a:bodyPr wrap="square">
            <a:spAutoFit/>
          </a:bodyPr>
          <a:lstStyle/>
          <a:p>
            <a:pPr>
              <a:spcAft>
                <a:spcPts val="100"/>
              </a:spcAft>
            </a:pPr>
            <a:r>
              <a:rPr sz="1150">
                <a:solidFill>
                  <a:srgbClr val="2A2622"/>
                </a:solidFill>
                <a:latin typeface="Consolas"/>
              </a:rPr>
              <a:t>COLD  : C1 prospect (Reels/Feed)          → attention</a:t>
            </a:r>
          </a:p>
          <a:p>
            <a:pPr>
              <a:spcAft>
                <a:spcPts val="100"/>
              </a:spcAft>
            </a:pPr>
            <a:r>
              <a:rPr sz="1150">
                <a:solidFill>
                  <a:srgbClr val="2A2622"/>
                </a:solidFill>
                <a:latin typeface="Consolas"/>
              </a:rPr>
              <a:t>WARM  : C2 LAL + organic Reels            → trust</a:t>
            </a:r>
          </a:p>
          <a:p>
            <a:pPr>
              <a:spcAft>
                <a:spcPts val="100"/>
              </a:spcAft>
            </a:pPr>
            <a:r>
              <a:rPr sz="1150">
                <a:solidFill>
                  <a:srgbClr val="2A2622"/>
                </a:solidFill>
                <a:latin typeface="Consolas"/>
              </a:rPr>
              <a:t>WARM2 : C3 R1/R2 (proof) + Stories        → consideration</a:t>
            </a:r>
          </a:p>
          <a:p>
            <a:pPr>
              <a:spcAft>
                <a:spcPts val="100"/>
              </a:spcAft>
            </a:pPr>
            <a:r>
              <a:rPr sz="1150">
                <a:solidFill>
                  <a:srgbClr val="2A2622"/>
                </a:solidFill>
                <a:latin typeface="Consolas"/>
              </a:rPr>
              <a:t>HOT   : C3 R3/R4 (risk + urgency)         → intent</a:t>
            </a:r>
          </a:p>
          <a:p>
            <a:pPr>
              <a:spcAft>
                <a:spcPts val="100"/>
              </a:spcAft>
            </a:pPr>
            <a:r>
              <a:rPr sz="1150">
                <a:solidFill>
                  <a:srgbClr val="2A2622"/>
                </a:solidFill>
                <a:latin typeface="Consolas"/>
              </a:rPr>
              <a:t>CLOSE : WhatsApp chat (human, 15-min SLA) → order (COD)</a:t>
            </a:r>
          </a:p>
          <a:p>
            <a:pPr>
              <a:spcAft>
                <a:spcPts val="100"/>
              </a:spcAft>
            </a:pPr>
            <a:r>
              <a:rPr sz="1150">
                <a:solidFill>
                  <a:srgbClr val="2A2622"/>
                </a:solidFill>
                <a:latin typeface="Consolas"/>
              </a:rPr>
              <a:t>POST  : Day-1/7/14/28 WhatsApp sequences  → review + repeat</a:t>
            </a:r>
          </a:p>
          <a:p>
            <a:pPr>
              <a:spcAft>
                <a:spcPts val="100"/>
              </a:spcAft>
            </a:pPr>
            <a:r>
              <a:rPr sz="1150">
                <a:solidFill>
                  <a:srgbClr val="2A2622"/>
                </a:solidFill>
                <a:latin typeface="Consolas"/>
              </a:rPr>
              <a:t>REPEAT: R6 cross-sell + referral + kit    → LTV</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297</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18</a:t>
            </a:r>
          </a:p>
        </p:txBody>
      </p:sp>
      <p:sp>
        <p:nvSpPr>
          <p:cNvPr id="4" name="TextBox 3"/>
          <p:cNvSpPr txBox="1"/>
          <p:nvPr/>
        </p:nvSpPr>
        <p:spPr>
          <a:xfrm>
            <a:off x="914400" y="2377440"/>
            <a:ext cx="10362895" cy="1645920"/>
          </a:xfrm>
          <a:prstGeom prst="rect">
            <a:avLst/>
          </a:prstGeom>
          <a:noFill/>
        </p:spPr>
        <p:txBody>
          <a:bodyPr wrap="square">
            <a:spAutoFit/>
          </a:bodyPr>
          <a:lstStyle/>
          <a:p>
            <a:r>
              <a:rPr sz="3000" b="1">
                <a:solidFill>
                  <a:srgbClr val="8F3A22"/>
                </a:solidFill>
                <a:latin typeface="Calibri"/>
              </a:rPr>
              <a:t>§19 SALES ADS LIBRARY — RANGAT NATURALS (paste-ready)</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Sales Ads Library (Hooks / Texts / Headlines / CTAs)</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298</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Sales Ads Library (Hooks / Texts / Headlines / CTAs)</a:t>
            </a:r>
          </a:p>
          <a:p>
            <a:r>
              <a:rPr sz="1200" i="1">
                <a:solidFill>
                  <a:srgbClr val="57504A"/>
                </a:solidFill>
                <a:latin typeface="Calibri"/>
              </a:rPr>
              <a:t>PART 18 — Sales Ads Library (Hooks / Texts / Headlines / CTAs)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Context:</a:t>
            </a:r>
            <a:r>
              <a:rPr sz="1350" b="0" i="0">
                <a:solidFill>
                  <a:srgbClr val="2A2622"/>
                </a:solidFill>
                <a:latin typeface="Calibri"/>
              </a:rPr>
              <a:t> These are the words for the creatives in </a:t>
            </a:r>
            <a:r>
              <a:rPr sz="1200" b="0" i="0">
                <a:solidFill>
                  <a:srgbClr val="8F3A22"/>
                </a:solidFill>
                <a:latin typeface="Consolas"/>
              </a:rPr>
              <a:t>15-meta-ads</a:t>
            </a:r>
            <a:r>
              <a:rPr sz="1350" b="0" i="0">
                <a:solidFill>
                  <a:srgbClr val="2A2622"/>
                </a:solidFill>
                <a:latin typeface="Calibri"/>
              </a:rPr>
              <a:t> (C1–C4). Product = Vitamin C Serum 10% (hero), Face Wash, kits. All copy: honest-timeline, COD-forward, risk-reversed, compliant (no cure/remove/100% claims). Primary texts are written for the </a:t>
            </a:r>
            <a:r>
              <a:rPr sz="1350" b="1" i="0">
                <a:solidFill>
                  <a:srgbClr val="2A2622"/>
                </a:solidFill>
                <a:latin typeface="Calibri"/>
              </a:rPr>
              <a:t>Meta "Primary text" field</a:t>
            </a:r>
            <a:r>
              <a:rPr sz="1350" b="0" i="0">
                <a:solidFill>
                  <a:srgbClr val="2A2622"/>
                </a:solidFill>
                <a:latin typeface="Calibri"/>
              </a:rPr>
              <a:t> (first 125 chars = the part most people see).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299</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10 AD HOOKS (first line of video / first line of primary text)</a:t>
            </a:r>
          </a:p>
          <a:p>
            <a:r>
              <a:rPr sz="1200" i="1">
                <a:solidFill>
                  <a:srgbClr val="57504A"/>
                </a:solidFill>
                <a:latin typeface="Calibri"/>
              </a:rPr>
              <a:t>PART 18 — Sales Ads Library (Hooks / Texts / Headlines / CTAs)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  </a:t>
            </a:r>
            <a:r>
              <a:rPr sz="1350" b="0" i="0">
                <a:solidFill>
                  <a:srgbClr val="2A2622"/>
                </a:solidFill>
                <a:latin typeface="Calibri"/>
              </a:rPr>
              <a:t>"4 hafte. 20 aahaiyan. Same light, same angle — asli photos."</a:t>
            </a:r>
          </a:p>
          <a:p>
            <a:pPr>
              <a:spcAft>
                <a:spcPts val="400"/>
              </a:spcAft>
            </a:pPr>
            <a:r>
              <a:rPr sz="1350" b="1">
                <a:solidFill>
                  <a:srgbClr val="8F3A22"/>
                </a:solidFill>
                <a:latin typeface="Calibri"/>
              </a:rPr>
              <a:t>2.  </a:t>
            </a:r>
            <a:r>
              <a:rPr sz="1350" b="0" i="0">
                <a:solidFill>
                  <a:srgbClr val="2A2622"/>
                </a:solidFill>
                <a:latin typeface="Calibri"/>
              </a:rPr>
              <a:t>"Naya brand? 4 baar cart se hataya — phir bhi order kiya. Yeh kahani hai."</a:t>
            </a:r>
          </a:p>
          <a:p>
            <a:pPr>
              <a:spcAft>
                <a:spcPts val="400"/>
              </a:spcAft>
            </a:pPr>
            <a:r>
              <a:rPr sz="1350" b="1">
                <a:solidFill>
                  <a:srgbClr val="8F3A22"/>
                </a:solidFill>
                <a:latin typeface="Calibri"/>
              </a:rPr>
              <a:t>3.  </a:t>
            </a:r>
            <a:r>
              <a:rPr sz="1350" b="0" i="0">
                <a:solidFill>
                  <a:srgbClr val="2A2622"/>
                </a:solidFill>
                <a:latin typeface="Calibri"/>
              </a:rPr>
              <a:t>"Gujarat me 40 degree — aapki skin ke liye humne 3 mahine laga diye."</a:t>
            </a:r>
          </a:p>
          <a:p>
            <a:pPr>
              <a:spcAft>
                <a:spcPts val="400"/>
              </a:spcAft>
            </a:pPr>
            <a:r>
              <a:rPr sz="1350" b="1">
                <a:solidFill>
                  <a:srgbClr val="8F3A22"/>
                </a:solidFill>
                <a:latin typeface="Calibri"/>
              </a:rPr>
              <a:t>4.  </a:t>
            </a:r>
            <a:r>
              <a:rPr sz="1350" b="0" i="0">
                <a:solidFill>
                  <a:srgbClr val="2A2622"/>
                </a:solidFill>
                <a:latin typeface="Calibri"/>
              </a:rPr>
              <a:t>"Koi 3-din wala wada nahi. 4–6 hafte, honestly. Yehi humara farq hai."</a:t>
            </a:r>
          </a:p>
          <a:p>
            <a:pPr>
              <a:spcAft>
                <a:spcPts val="400"/>
              </a:spcAft>
            </a:pPr>
            <a:r>
              <a:rPr sz="1350" b="1">
                <a:solidFill>
                  <a:srgbClr val="8F3A22"/>
                </a:solidFill>
                <a:latin typeface="Calibri"/>
              </a:rPr>
              <a:t>5.  </a:t>
            </a:r>
            <a:r>
              <a:rPr sz="1350" b="0" i="0">
                <a:solidFill>
                  <a:srgbClr val="2A2622"/>
                </a:solidFill>
                <a:latin typeface="Calibri"/>
              </a:rPr>
              <a:t>"Chehra subah theek, shaandh thaka hua? Yeh normal nahi hai."</a:t>
            </a:r>
          </a:p>
          <a:p>
            <a:pPr>
              <a:spcAft>
                <a:spcPts val="400"/>
              </a:spcAft>
            </a:pPr>
            <a:r>
              <a:rPr sz="1350" b="1">
                <a:solidFill>
                  <a:srgbClr val="8F3A22"/>
                </a:solidFill>
                <a:latin typeface="Calibri"/>
              </a:rPr>
              <a:t>6.  </a:t>
            </a:r>
            <a:r>
              <a:rPr sz="1350" b="0" i="0">
                <a:solidFill>
                  <a:srgbClr val="2A2622"/>
                </a:solidFill>
                <a:latin typeface="Calibri"/>
              </a:rPr>
              <a:t>"COD. Parcel kholo. Pasand nahi? Return. Pehli baar naye brand se — tension nahi."</a:t>
            </a:r>
          </a:p>
          <a:p>
            <a:pPr>
              <a:spcAft>
                <a:spcPts val="400"/>
              </a:spcAft>
            </a:pPr>
            <a:r>
              <a:rPr sz="1350" b="1">
                <a:solidFill>
                  <a:srgbClr val="8F3A22"/>
                </a:solidFill>
                <a:latin typeface="Calibri"/>
              </a:rPr>
              <a:t>7.  </a:t>
            </a:r>
            <a:r>
              <a:rPr sz="1350" b="0" i="0">
                <a:solidFill>
                  <a:srgbClr val="2A2622"/>
                </a:solidFill>
                <a:latin typeface="Calibri"/>
              </a:rPr>
              <a:t>"10% Vitamin C, simple label, batch card — 3 cheezein jo hum hamesha check karte hain."</a:t>
            </a:r>
          </a:p>
          <a:p>
            <a:pPr>
              <a:spcAft>
                <a:spcPts val="400"/>
              </a:spcAft>
            </a:pPr>
            <a:r>
              <a:rPr sz="1350" b="1">
                <a:solidFill>
                  <a:srgbClr val="8F3A22"/>
                </a:solidFill>
                <a:latin typeface="Calibri"/>
              </a:rPr>
              <a:t>8.  </a:t>
            </a:r>
            <a:r>
              <a:rPr sz="1350" b="0" i="0">
                <a:solidFill>
                  <a:srgbClr val="2A2622"/>
                </a:solidFill>
                <a:latin typeface="Calibri"/>
              </a:rPr>
              <a:t>"Pehli 100 orders: FREE Face Wash mini + FREE shipping. Phir? Regular price."</a:t>
            </a:r>
          </a:p>
          <a:p>
            <a:pPr>
              <a:spcAft>
                <a:spcPts val="400"/>
              </a:spcAft>
            </a:pPr>
            <a:r>
              <a:rPr sz="1350" b="1">
                <a:solidFill>
                  <a:srgbClr val="8F3A22"/>
                </a:solidFill>
                <a:latin typeface="Calibri"/>
              </a:rPr>
              <a:t>9.  </a:t>
            </a:r>
            <a:r>
              <a:rPr sz="1350" b="0" i="0">
                <a:solidFill>
                  <a:srgbClr val="2A2622"/>
                </a:solidFill>
                <a:latin typeface="Calibri"/>
              </a:rPr>
              <a:t>"2000 wali imported routine vs 600 ka Indian plan — ingredient list khol ke dekho."</a:t>
            </a:r>
          </a:p>
          <a:p>
            <a:pPr>
              <a:spcAft>
                <a:spcPts val="400"/>
              </a:spcAft>
            </a:pPr>
            <a:r>
              <a:rPr sz="1350" b="1">
                <a:solidFill>
                  <a:srgbClr val="8F3A22"/>
                </a:solidFill>
                <a:latin typeface="Calibri"/>
              </a:rPr>
              <a:t>10.  </a:t>
            </a:r>
            <a:r>
              <a:rPr sz="1350" b="0" i="0">
                <a:solidFill>
                  <a:srgbClr val="2A2622"/>
                </a:solidFill>
                <a:latin typeface="Calibri"/>
              </a:rPr>
              <a:t>"Aamee skin, aamno liye. Gujarat se shuru, India ke liye bana."</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300</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10 PRIMARY TEXTS (Meta primary text field)</a:t>
            </a:r>
          </a:p>
          <a:p>
            <a:r>
              <a:rPr sz="1200" i="1">
                <a:solidFill>
                  <a:srgbClr val="57504A"/>
                </a:solidFill>
                <a:latin typeface="Calibri"/>
              </a:rPr>
              <a:t>PART 18 — Sales Ads Library (Hooks / Texts / Headlines / CTAs)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  </a:t>
            </a:r>
            <a:r>
              <a:rPr sz="1350" b="0" i="0">
                <a:solidFill>
                  <a:srgbClr val="2A2622"/>
                </a:solidFill>
                <a:latin typeface="Calibri"/>
              </a:rPr>
              <a:t>"Naya brand pehli baar suna? Samajh sakte hain — isliye sab dikhate hain: 20 testers, 4 hafte, same-light photos, filter nahi. Vitamin C Serum 10% — dull-look ko fresh dikhane me help, 4–6 hafte ka honest timeline. COD + free shipping (launch me). Results har kisi me alag hote hain — yahi hamari sachai hai. ⬇️"</a:t>
            </a:r>
          </a:p>
          <a:p>
            <a:pPr>
              <a:spcAft>
                <a:spcPts val="400"/>
              </a:spcAft>
            </a:pPr>
            <a:r>
              <a:rPr sz="1350" b="1">
                <a:solidFill>
                  <a:srgbClr val="8F3A22"/>
                </a:solidFill>
                <a:latin typeface="Calibri"/>
              </a:rPr>
              <a:t>2.  </a:t>
            </a:r>
            <a:r>
              <a:rPr sz="1350" b="0" i="0">
                <a:solidFill>
                  <a:srgbClr val="2A2622"/>
                </a:solidFill>
                <a:latin typeface="Calibri"/>
              </a:rPr>
              <a:t>"Hum manufacturer nahi hain. Hum RANGAT NATURALS hain — formula chunta hai, test karta hai, certified Indian facility me banwata hai, aur seedhe aap tak pahuchata hai. Isliye daam aam hai — quality pe compromise nahi, middlemen pe hai. COD. Return bhi. ⬇️"</a:t>
            </a:r>
          </a:p>
          <a:p>
            <a:pPr>
              <a:spcAft>
                <a:spcPts val="400"/>
              </a:spcAft>
            </a:pPr>
            <a:r>
              <a:rPr sz="1350" b="1">
                <a:solidFill>
                  <a:srgbClr val="8F3A22"/>
                </a:solidFill>
                <a:latin typeface="Calibri"/>
              </a:rPr>
              <a:t>3.  </a:t>
            </a:r>
            <a:r>
              <a:rPr sz="1350" b="0" i="0">
                <a:solidFill>
                  <a:srgbClr val="2A2622"/>
                </a:solidFill>
                <a:latin typeface="Calibri"/>
              </a:rPr>
              <a:t>"40 degree, dhool, phir ghar ka AC — yeh teeno aapki skin roz saamne aati hain. Hamara plan simple: 60 second ka wash, 3 drops ka serum, roz subah. 4 hafte me aap khud farq dekhogi. COD + free Face Wash mini (pehli 100 orders). ⬇️"</a:t>
            </a:r>
          </a:p>
          <a:p>
            <a:pPr>
              <a:spcAft>
                <a:spcPts val="400"/>
              </a:spcAft>
            </a:pPr>
            <a:r>
              <a:rPr sz="1350" b="1">
                <a:solidFill>
                  <a:srgbClr val="8F3A22"/>
                </a:solidFill>
                <a:latin typeface="Calibri"/>
              </a:rPr>
              <a:t>4.  </a:t>
            </a:r>
            <a:r>
              <a:rPr sz="1350" b="0" i="0">
                <a:solidFill>
                  <a:srgbClr val="2A2622"/>
                </a:solidFill>
                <a:latin typeface="Calibri"/>
              </a:rPr>
              <a:t>"Aapka sabse bada sawaal: 'kya sach me kaam karega?' Isliye yeh dikhate hain: Day 1 ki photo, Day 28 ki photo — same window, same light, date stamp ke saath. Koi kaafi, koi kam, har koi alag — yehi asli result hota hai. Try karo: COD. ⬇️"</a:t>
            </a:r>
          </a:p>
          <a:p>
            <a:pPr>
              <a:spcAft>
                <a:spcPts val="400"/>
              </a:spcAft>
            </a:pPr>
            <a:r>
              <a:rPr sz="1350" b="1">
                <a:solidFill>
                  <a:srgbClr val="8F3A22"/>
                </a:solidFill>
                <a:latin typeface="Calibri"/>
              </a:rPr>
              <a:t>5.  </a:t>
            </a:r>
            <a:r>
              <a:rPr sz="1350" b="0" i="0">
                <a:solidFill>
                  <a:srgbClr val="2A2622"/>
                </a:solidFill>
                <a:latin typeface="Calibri"/>
              </a:rPr>
              <a:t>"Student? Busy? 600 ke andar bhi sahi routine chalta hai — 3 steps, 2 minute. Face Wash + Vitamin C 10% + gel moisturizer. Ek box me, COD, ghar par delivery. Aur 4–6 hafte ka honest timeline — magic nahi, consistency. ⬇️"</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301</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10 PRIMARY TEXTS (Meta primary text field)</a:t>
            </a:r>
          </a:p>
          <a:p>
            <a:r>
              <a:rPr sz="1200" i="1">
                <a:solidFill>
                  <a:srgbClr val="57504A"/>
                </a:solidFill>
                <a:latin typeface="Calibri"/>
              </a:rPr>
              <a:t>PART 18 — Sales Ads Library (Hooks / Texts / Headlines / CTAs)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6.  </a:t>
            </a:r>
            <a:r>
              <a:rPr sz="1350" b="0" i="0">
                <a:solidFill>
                  <a:srgbClr val="2A2622"/>
                </a:solidFill>
                <a:latin typeface="Calibri"/>
              </a:rPr>
              <a:t>"Pehli 100 orders me aapki review — photo ke saath — hamari page par feature hogi. Yeh woh cheez hai jo koi 2000-crore ka brand nahi karega. Kyunki pehla batch 100 ka hai, aur hum chahte hain pehle 100 aahaiyan ka experience khud baat kare. ⬇️"</a:t>
            </a:r>
          </a:p>
          <a:p>
            <a:pPr>
              <a:spcAft>
                <a:spcPts val="400"/>
              </a:spcAft>
            </a:pPr>
            <a:r>
              <a:rPr sz="1350" b="1">
                <a:solidFill>
                  <a:srgbClr val="8F3A22"/>
                </a:solidFill>
                <a:latin typeface="Calibri"/>
              </a:rPr>
              <a:t>7.  </a:t>
            </a:r>
            <a:r>
              <a:rPr sz="1350" b="0" i="0">
                <a:solidFill>
                  <a:srgbClr val="2A2622"/>
                </a:solidFill>
                <a:latin typeface="Calibri"/>
              </a:rPr>
              <a:t>"Oily skin wale, ruko: moisturizer chahiye hota hai — gel type. Skin ko paani chahiye, oil nahi. Aur Vitamin C? 3–4 drops, khurrak chehre par, subah, SPF ke saath. 4 hafte. Watch it. COD + free shipping launch me. ⬇️"</a:t>
            </a:r>
          </a:p>
          <a:p>
            <a:pPr>
              <a:spcAft>
                <a:spcPts val="400"/>
              </a:spcAft>
            </a:pPr>
            <a:r>
              <a:rPr sz="1350" b="1">
                <a:solidFill>
                  <a:srgbClr val="8F3A22"/>
                </a:solidFill>
                <a:latin typeface="Calibri"/>
              </a:rPr>
              <a:t>8.  </a:t>
            </a:r>
            <a:r>
              <a:rPr sz="1350" b="0" i="0">
                <a:solidFill>
                  <a:srgbClr val="2A2622"/>
                </a:solidFill>
                <a:latin typeface="Calibri"/>
              </a:rPr>
              <a:t>"Mard bhi skin. 60 second ka face wash — SG Highway ka dhool, 9-to-9 ki thakan, shine 4 baje tak. Yahi ek step hai. COD, aam daam, koi baazi nahi. Try karo. ⬇️"</a:t>
            </a:r>
          </a:p>
          <a:p>
            <a:pPr>
              <a:spcAft>
                <a:spcPts val="400"/>
              </a:spcAft>
            </a:pPr>
            <a:r>
              <a:rPr sz="1350" b="1">
                <a:solidFill>
                  <a:srgbClr val="8F3A22"/>
                </a:solidFill>
                <a:latin typeface="Calibri"/>
              </a:rPr>
              <a:t>9.  </a:t>
            </a:r>
            <a:r>
              <a:rPr sz="1350" b="0" i="0">
                <a:solidFill>
                  <a:srgbClr val="2A2622"/>
                </a:solidFill>
                <a:latin typeface="Calibri"/>
              </a:rPr>
              <a:t>"Wedding season aa raha hai. Glow '2 din pehle' wala nahi — '6 hafte pehle' wala. Serum + SPF ka simple plan, 4–6 hafte ka honest timeline. Aaj se shuru karo, wedding pe fresh-look pakka. COD. ⬇️"</a:t>
            </a:r>
          </a:p>
          <a:p>
            <a:pPr>
              <a:spcAft>
                <a:spcPts val="400"/>
              </a:spcAft>
            </a:pPr>
            <a:r>
              <a:rPr sz="1350" b="1">
                <a:solidFill>
                  <a:srgbClr val="8F3A22"/>
                </a:solidFill>
                <a:latin typeface="Calibri"/>
              </a:rPr>
              <a:t>10.  </a:t>
            </a:r>
            <a:r>
              <a:rPr sz="1350" b="0" i="0">
                <a:solidFill>
                  <a:srgbClr val="2A2622"/>
                </a:solidFill>
                <a:latin typeface="Calibri"/>
              </a:rPr>
              <a:t>"Referral: aapke friend ko ₹100 off, aapko next order par ₹100 off. Humara sabse sasta ad aapki recommendation hai — aur aapki story 100 logon tak pahunchti hai. Code link par milega. ⬇️"</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302</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10 HEADLINES (Meta headline field — max 5 chars of space, ~25 words practical)</a:t>
            </a:r>
          </a:p>
          <a:p>
            <a:r>
              <a:rPr sz="1200" i="1">
                <a:solidFill>
                  <a:srgbClr val="57504A"/>
                </a:solidFill>
                <a:latin typeface="Calibri"/>
              </a:rPr>
              <a:t>PART 18 — Sales Ads Library (Hooks / Texts / Headlines / CTAs)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  </a:t>
            </a:r>
            <a:r>
              <a:rPr sz="1350" b="0" i="0">
                <a:solidFill>
                  <a:srgbClr val="2A2622"/>
                </a:solidFill>
                <a:latin typeface="Calibri"/>
              </a:rPr>
              <a:t>"Pehli 100 orders — FREE Face Wash mini + COD"</a:t>
            </a:r>
          </a:p>
          <a:p>
            <a:pPr>
              <a:spcAft>
                <a:spcPts val="400"/>
              </a:spcAft>
            </a:pPr>
            <a:r>
              <a:rPr sz="1350" b="1">
                <a:solidFill>
                  <a:srgbClr val="8F3A22"/>
                </a:solidFill>
                <a:latin typeface="Calibri"/>
              </a:rPr>
              <a:t>2.  </a:t>
            </a:r>
            <a:r>
              <a:rPr sz="1350" b="0" i="0">
                <a:solidFill>
                  <a:srgbClr val="2A2622"/>
                </a:solidFill>
                <a:latin typeface="Calibri"/>
              </a:rPr>
              <a:t>"4 hafte, 20 testers, asli photos — dekho khud"</a:t>
            </a:r>
          </a:p>
          <a:p>
            <a:pPr>
              <a:spcAft>
                <a:spcPts val="400"/>
              </a:spcAft>
            </a:pPr>
            <a:r>
              <a:rPr sz="1350" b="1">
                <a:solidFill>
                  <a:srgbClr val="8F3A22"/>
                </a:solidFill>
                <a:latin typeface="Calibri"/>
              </a:rPr>
              <a:t>3.  </a:t>
            </a:r>
            <a:r>
              <a:rPr sz="1350" b="0" i="0">
                <a:solidFill>
                  <a:srgbClr val="2A2622"/>
                </a:solidFill>
                <a:latin typeface="Calibri"/>
              </a:rPr>
              <a:t>"Vitamin C 10% — 4–6 hafte ka honest timeline"</a:t>
            </a:r>
          </a:p>
          <a:p>
            <a:pPr>
              <a:spcAft>
                <a:spcPts val="400"/>
              </a:spcAft>
            </a:pPr>
            <a:r>
              <a:rPr sz="1350" b="1">
                <a:solidFill>
                  <a:srgbClr val="8F3A22"/>
                </a:solidFill>
                <a:latin typeface="Calibri"/>
              </a:rPr>
              <a:t>4.  </a:t>
            </a:r>
            <a:r>
              <a:rPr sz="1350" b="0" i="0">
                <a:solidFill>
                  <a:srgbClr val="2A2622"/>
                </a:solidFill>
                <a:latin typeface="Calibri"/>
              </a:rPr>
              <a:t>"COD + Return — pehli baar naye brand se, tension nahi"</a:t>
            </a:r>
          </a:p>
          <a:p>
            <a:pPr>
              <a:spcAft>
                <a:spcPts val="400"/>
              </a:spcAft>
            </a:pPr>
            <a:r>
              <a:rPr sz="1350" b="1">
                <a:solidFill>
                  <a:srgbClr val="8F3A22"/>
                </a:solidFill>
                <a:latin typeface="Calibri"/>
              </a:rPr>
              <a:t>5.  </a:t>
            </a:r>
            <a:r>
              <a:rPr sz="1350" b="0" i="0">
                <a:solidFill>
                  <a:srgbClr val="2A2622"/>
                </a:solidFill>
                <a:latin typeface="Calibri"/>
              </a:rPr>
              <a:t>"60 second wash + 3 drops serum = roz subah"</a:t>
            </a:r>
          </a:p>
          <a:p>
            <a:pPr>
              <a:spcAft>
                <a:spcPts val="400"/>
              </a:spcAft>
            </a:pPr>
            <a:r>
              <a:rPr sz="1350" b="1">
                <a:solidFill>
                  <a:srgbClr val="8F3A22"/>
                </a:solidFill>
                <a:latin typeface="Calibri"/>
              </a:rPr>
              <a:t>6.  </a:t>
            </a:r>
            <a:r>
              <a:rPr sz="1350" b="0" i="0">
                <a:solidFill>
                  <a:srgbClr val="2A2622"/>
                </a:solidFill>
                <a:latin typeface="Calibri"/>
              </a:rPr>
              <a:t>"Aamee skin, aamno liye — Gujarat se shuru"</a:t>
            </a:r>
          </a:p>
          <a:p>
            <a:pPr>
              <a:spcAft>
                <a:spcPts val="400"/>
              </a:spcAft>
            </a:pPr>
            <a:r>
              <a:rPr sz="1350" b="1">
                <a:solidFill>
                  <a:srgbClr val="8F3A22"/>
                </a:solidFill>
                <a:latin typeface="Calibri"/>
              </a:rPr>
              <a:t>7.  </a:t>
            </a:r>
            <a:r>
              <a:rPr sz="1350" b="0" i="0">
                <a:solidFill>
                  <a:srgbClr val="2A2622"/>
                </a:solidFill>
                <a:latin typeface="Calibri"/>
              </a:rPr>
              <a:t>"Dull-look? 4 hafte me farq jo khud dikhe"</a:t>
            </a:r>
          </a:p>
          <a:p>
            <a:pPr>
              <a:spcAft>
                <a:spcPts val="400"/>
              </a:spcAft>
            </a:pPr>
            <a:r>
              <a:rPr sz="1350" b="1">
                <a:solidFill>
                  <a:srgbClr val="8F3A22"/>
                </a:solidFill>
                <a:latin typeface="Calibri"/>
              </a:rPr>
              <a:t>8.  </a:t>
            </a:r>
            <a:r>
              <a:rPr sz="1350" b="0" i="0">
                <a:solidFill>
                  <a:srgbClr val="2A2622"/>
                </a:solidFill>
                <a:latin typeface="Calibri"/>
              </a:rPr>
              <a:t>"Batch 1: X seat bachi — phir agla month"</a:t>
            </a:r>
          </a:p>
          <a:p>
            <a:pPr>
              <a:spcAft>
                <a:spcPts val="400"/>
              </a:spcAft>
            </a:pPr>
            <a:r>
              <a:rPr sz="1350" b="1">
                <a:solidFill>
                  <a:srgbClr val="8F3A22"/>
                </a:solidFill>
                <a:latin typeface="Calibri"/>
              </a:rPr>
              <a:t>9.  </a:t>
            </a:r>
            <a:r>
              <a:rPr sz="1350" b="0" i="0">
                <a:solidFill>
                  <a:srgbClr val="2A2622"/>
                </a:solidFill>
                <a:latin typeface="Calibri"/>
              </a:rPr>
              <a:t>"3 steps, 2 minute, ek box — poora morning routine"</a:t>
            </a:r>
          </a:p>
          <a:p>
            <a:pPr>
              <a:spcAft>
                <a:spcPts val="400"/>
              </a:spcAft>
            </a:pPr>
            <a:r>
              <a:rPr sz="1350" b="1">
                <a:solidFill>
                  <a:srgbClr val="8F3A22"/>
                </a:solidFill>
                <a:latin typeface="Calibri"/>
              </a:rPr>
              <a:t>10.  </a:t>
            </a:r>
            <a:r>
              <a:rPr sz="1350" b="0" i="0">
                <a:solidFill>
                  <a:srgbClr val="2A2622"/>
                </a:solidFill>
                <a:latin typeface="Calibri"/>
              </a:rPr>
              <a:t>"Do ₹100, lo ₹100 — referral code link par"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303</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10 CTAS (the ONE action — rotate by funnel stage)</a:t>
            </a:r>
          </a:p>
          <a:p>
            <a:r>
              <a:rPr sz="1200" i="1">
                <a:solidFill>
                  <a:srgbClr val="57504A"/>
                </a:solidFill>
                <a:latin typeface="Calibri"/>
              </a:rPr>
              <a:t>PART 18 — Sales Ads Library (Hooks / Texts / Headlines / CTAs)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  </a:t>
            </a:r>
            <a:r>
              <a:rPr sz="1350" b="1" i="0">
                <a:solidFill>
                  <a:srgbClr val="2A2622"/>
                </a:solidFill>
                <a:latin typeface="Calibri"/>
              </a:rPr>
              <a:t>DM "GLOW"</a:t>
            </a:r>
            <a:r>
              <a:rPr sz="1350" b="0" i="0">
                <a:solidFill>
                  <a:srgbClr val="2A2622"/>
                </a:solidFill>
                <a:latin typeface="Calibri"/>
              </a:rPr>
              <a:t> — (profile/organic + WA objective) the funnel keyword</a:t>
            </a:r>
          </a:p>
          <a:p>
            <a:pPr>
              <a:spcAft>
                <a:spcPts val="400"/>
              </a:spcAft>
            </a:pPr>
            <a:r>
              <a:rPr sz="1350" b="1">
                <a:solidFill>
                  <a:srgbClr val="8F3A22"/>
                </a:solidFill>
                <a:latin typeface="Calibri"/>
              </a:rPr>
              <a:t>2.  </a:t>
            </a:r>
            <a:r>
              <a:rPr sz="1350" b="1" i="0">
                <a:solidFill>
                  <a:srgbClr val="2A2622"/>
                </a:solidFill>
                <a:latin typeface="Calibri"/>
              </a:rPr>
              <a:t>"Send WhatsApp Message — 15 minute me reply"</a:t>
            </a:r>
            <a:r>
              <a:rPr sz="1350" b="0" i="0">
                <a:solidFill>
                  <a:srgbClr val="2A2622"/>
                </a:solidFill>
                <a:latin typeface="Calibri"/>
              </a:rPr>
              <a:t> — (CTA button, WA objective)</a:t>
            </a:r>
          </a:p>
          <a:p>
            <a:pPr>
              <a:spcAft>
                <a:spcPts val="400"/>
              </a:spcAft>
            </a:pPr>
            <a:r>
              <a:rPr sz="1350" b="1">
                <a:solidFill>
                  <a:srgbClr val="8F3A22"/>
                </a:solidFill>
                <a:latin typeface="Calibri"/>
              </a:rPr>
              <a:t>3.  </a:t>
            </a:r>
            <a:r>
              <a:rPr sz="1350" b="1" i="0">
                <a:solidFill>
                  <a:srgbClr val="2A2622"/>
                </a:solidFill>
                <a:latin typeface="Calibri"/>
              </a:rPr>
              <a:t>"Shop Now — COD available"</a:t>
            </a:r>
            <a:r>
              <a:rPr sz="1350" b="0" i="0">
                <a:solidFill>
                  <a:srgbClr val="2A2622"/>
                </a:solidFill>
                <a:latin typeface="Calibri"/>
              </a:rPr>
              <a:t> — (site objective, cold)</a:t>
            </a:r>
          </a:p>
          <a:p>
            <a:pPr>
              <a:spcAft>
                <a:spcPts val="400"/>
              </a:spcAft>
            </a:pPr>
            <a:r>
              <a:rPr sz="1350" b="1">
                <a:solidFill>
                  <a:srgbClr val="8F3A22"/>
                </a:solidFill>
                <a:latin typeface="Calibri"/>
              </a:rPr>
              <a:t>4.  </a:t>
            </a:r>
            <a:r>
              <a:rPr sz="1350" b="1" i="0">
                <a:solidFill>
                  <a:srgbClr val="2A2622"/>
                </a:solidFill>
                <a:latin typeface="Calibri"/>
              </a:rPr>
              <a:t>"Free Face Wash mini — pehli 100 orders me"</a:t>
            </a:r>
            <a:r>
              <a:rPr sz="1350" b="0" i="0">
                <a:solidFill>
                  <a:srgbClr val="2A2622"/>
                </a:solidFill>
                <a:latin typeface="Calibri"/>
              </a:rPr>
              <a:t> — (offer CTA, launch week)</a:t>
            </a:r>
          </a:p>
          <a:p>
            <a:pPr>
              <a:spcAft>
                <a:spcPts val="400"/>
              </a:spcAft>
            </a:pPr>
            <a:r>
              <a:rPr sz="1350" b="1">
                <a:solidFill>
                  <a:srgbClr val="8F3A22"/>
                </a:solidFill>
                <a:latin typeface="Calibri"/>
              </a:rPr>
              <a:t>5.  </a:t>
            </a:r>
            <a:r>
              <a:rPr sz="1350" b="1" i="0">
                <a:solidFill>
                  <a:srgbClr val="2A2622"/>
                </a:solidFill>
                <a:latin typeface="Calibri"/>
              </a:rPr>
              <a:t>"Asli photos dekho — link par"</a:t>
            </a:r>
            <a:r>
              <a:rPr sz="1350" b="0" i="0">
                <a:solidFill>
                  <a:srgbClr val="2A2622"/>
                </a:solidFill>
                <a:latin typeface="Calibri"/>
              </a:rPr>
              <a:t> — (proof CTA, retargeting R1)</a:t>
            </a:r>
          </a:p>
          <a:p>
            <a:pPr>
              <a:spcAft>
                <a:spcPts val="400"/>
              </a:spcAft>
            </a:pPr>
            <a:r>
              <a:rPr sz="1350" b="1">
                <a:solidFill>
                  <a:srgbClr val="8F3A22"/>
                </a:solidFill>
                <a:latin typeface="Calibri"/>
              </a:rPr>
              <a:t>6.  </a:t>
            </a:r>
            <a:r>
              <a:rPr sz="1350" b="1" i="0">
                <a:solidFill>
                  <a:srgbClr val="2A2622"/>
                </a:solidFill>
                <a:latin typeface="Calibri"/>
              </a:rPr>
              <a:t>"Koi sawaal? Insaan hai, bot nahi"</a:t>
            </a:r>
            <a:r>
              <a:rPr sz="1350" b="0" i="0">
                <a:solidFill>
                  <a:srgbClr val="2A2622"/>
                </a:solidFill>
                <a:latin typeface="Calibri"/>
              </a:rPr>
              <a:t> — (trust CTA, R5 checkout)</a:t>
            </a:r>
          </a:p>
          <a:p>
            <a:pPr>
              <a:spcAft>
                <a:spcPts val="400"/>
              </a:spcAft>
            </a:pPr>
            <a:r>
              <a:rPr sz="1350" b="1">
                <a:solidFill>
                  <a:srgbClr val="8F3A22"/>
                </a:solidFill>
                <a:latin typeface="Calibri"/>
              </a:rPr>
              <a:t>7.  </a:t>
            </a:r>
            <a:r>
              <a:rPr sz="1350" b="1" i="0">
                <a:solidFill>
                  <a:srgbClr val="2A2622"/>
                </a:solidFill>
                <a:latin typeface="Calibri"/>
              </a:rPr>
              <a:t>"Save karo — kal routine shuru"</a:t>
            </a:r>
            <a:r>
              <a:rPr sz="1350" b="0" i="0">
                <a:solidFill>
                  <a:srgbClr val="2A2622"/>
                </a:solidFill>
                <a:latin typeface="Calibri"/>
              </a:rPr>
              <a:t> — (organic, save-bait)</a:t>
            </a:r>
          </a:p>
          <a:p>
            <a:pPr>
              <a:spcAft>
                <a:spcPts val="400"/>
              </a:spcAft>
            </a:pPr>
            <a:r>
              <a:rPr sz="1350" b="1">
                <a:solidFill>
                  <a:srgbClr val="8F3A22"/>
                </a:solidFill>
                <a:latin typeface="Calibri"/>
              </a:rPr>
              <a:t>8.  </a:t>
            </a:r>
            <a:r>
              <a:rPr sz="1350" b="1" i="0">
                <a:solidFill>
                  <a:srgbClr val="2A2622"/>
                </a:solidFill>
                <a:latin typeface="Calibri"/>
              </a:rPr>
              <a:t>"Apna code lo — 1 dost ko bhejo"</a:t>
            </a:r>
            <a:r>
              <a:rPr sz="1350" b="0" i="0">
                <a:solidFill>
                  <a:srgbClr val="2A2622"/>
                </a:solidFill>
                <a:latin typeface="Calibri"/>
              </a:rPr>
              <a:t> — (referral)</a:t>
            </a:r>
          </a:p>
          <a:p>
            <a:pPr>
              <a:spcAft>
                <a:spcPts val="400"/>
              </a:spcAft>
            </a:pPr>
            <a:r>
              <a:rPr sz="1350" b="1">
                <a:solidFill>
                  <a:srgbClr val="8F3A22"/>
                </a:solidFill>
                <a:latin typeface="Calibri"/>
              </a:rPr>
              <a:t>9.  </a:t>
            </a:r>
            <a:r>
              <a:rPr sz="1350" b="1" i="0">
                <a:solidFill>
                  <a:srgbClr val="2A2622"/>
                </a:solidFill>
                <a:latin typeface="Calibri"/>
              </a:rPr>
              <a:t>"Waitlist me jao — batch 2"</a:t>
            </a:r>
            <a:r>
              <a:rPr sz="1350" b="0" i="0">
                <a:solidFill>
                  <a:srgbClr val="2A2622"/>
                </a:solidFill>
                <a:latin typeface="Calibri"/>
              </a:rPr>
              <a:t> — (scarcity, sold-out state)</a:t>
            </a:r>
          </a:p>
          <a:p>
            <a:pPr>
              <a:spcAft>
                <a:spcPts val="400"/>
              </a:spcAft>
            </a:pPr>
            <a:r>
              <a:rPr sz="1350" b="1">
                <a:solidFill>
                  <a:srgbClr val="8F3A22"/>
                </a:solidFill>
                <a:latin typeface="Calibri"/>
              </a:rPr>
              <a:t>10.  </a:t>
            </a:r>
            <a:r>
              <a:rPr sz="1350" b="1" i="0">
                <a:solidFill>
                  <a:srgbClr val="2A2622"/>
                </a:solidFill>
                <a:latin typeface="Calibri"/>
              </a:rPr>
              <a:t>"GLOW likho — aaj ka order kal pack"</a:t>
            </a:r>
            <a:r>
              <a:rPr sz="1350" b="0" i="0">
                <a:solidFill>
                  <a:srgbClr val="2A2622"/>
                </a:solidFill>
                <a:latin typeface="Calibri"/>
              </a:rPr>
              <a:t> — (urgency-real, final push)</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304</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3 FULL AD ASSEMBLIES (creative + text + headline + CTA, ready to build)</a:t>
            </a:r>
          </a:p>
          <a:p>
            <a:r>
              <a:rPr sz="1200" i="1">
                <a:solidFill>
                  <a:srgbClr val="57504A"/>
                </a:solidFill>
                <a:latin typeface="Calibri"/>
              </a:rPr>
              <a:t>PART 18 — Sales Ads Library (Hooks / Texts / Headlines / CTAs)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AD 1 — "THE STORY TESTIMONIAL" (C1, cold, UGC video)</a:t>
            </a:r>
          </a:p>
          <a:p>
            <a:pPr>
              <a:spcAft>
                <a:spcPts val="400"/>
              </a:spcAft>
            </a:pPr>
            <a:r>
              <a:rPr sz="1350">
                <a:solidFill>
                  <a:srgbClr val="B44A2E"/>
                </a:solidFill>
                <a:latin typeface="Calibri"/>
              </a:rPr>
              <a:t>•  </a:t>
            </a:r>
            <a:r>
              <a:rPr sz="1350" b="1" i="0">
                <a:solidFill>
                  <a:srgbClr val="2A2622"/>
                </a:solidFill>
                <a:latin typeface="Calibri"/>
              </a:rPr>
              <a:t>Creative:</a:t>
            </a:r>
            <a:r>
              <a:rPr sz="1350" b="0" i="0">
                <a:solidFill>
                  <a:srgbClr val="2A2622"/>
                </a:solidFill>
                <a:latin typeface="Calibri"/>
              </a:rPr>
              <a:t> D26 customer story (30s) — her words: "4 baar delete karke order kiya…"</a:t>
            </a:r>
          </a:p>
          <a:p>
            <a:pPr>
              <a:spcAft>
                <a:spcPts val="400"/>
              </a:spcAft>
            </a:pPr>
            <a:r>
              <a:rPr sz="1350">
                <a:solidFill>
                  <a:srgbClr val="B44A2E"/>
                </a:solidFill>
                <a:latin typeface="Calibri"/>
              </a:rPr>
              <a:t>•  </a:t>
            </a:r>
            <a:r>
              <a:rPr sz="1350" b="1" i="0">
                <a:solidFill>
                  <a:srgbClr val="2A2622"/>
                </a:solidFill>
                <a:latin typeface="Calibri"/>
              </a:rPr>
              <a:t>Hook (frame 1 + spoken):</a:t>
            </a:r>
            <a:r>
              <a:rPr sz="1350" b="0" i="0">
                <a:solidFill>
                  <a:srgbClr val="2A2622"/>
                </a:solidFill>
                <a:latin typeface="Calibri"/>
              </a:rPr>
              <a:t> "Naya brand. Pehli baar. 4 baar cart se hataya."</a:t>
            </a:r>
          </a:p>
          <a:p>
            <a:pPr>
              <a:spcAft>
                <a:spcPts val="400"/>
              </a:spcAft>
            </a:pPr>
            <a:r>
              <a:rPr sz="1350">
                <a:solidFill>
                  <a:srgbClr val="B44A2E"/>
                </a:solidFill>
                <a:latin typeface="Calibri"/>
              </a:rPr>
              <a:t>•  </a:t>
            </a:r>
            <a:r>
              <a:rPr sz="1350" b="1" i="0">
                <a:solidFill>
                  <a:srgbClr val="2A2622"/>
                </a:solidFill>
                <a:latin typeface="Calibri"/>
              </a:rPr>
              <a:t>Primary text:</a:t>
            </a:r>
            <a:r>
              <a:rPr sz="1350" b="0" i="0">
                <a:solidFill>
                  <a:srgbClr val="2A2622"/>
                </a:solidFill>
                <a:latin typeface="Calibri"/>
              </a:rPr>
              <a:t> #2 above.</a:t>
            </a:r>
          </a:p>
          <a:p>
            <a:pPr>
              <a:spcAft>
                <a:spcPts val="400"/>
              </a:spcAft>
            </a:pPr>
            <a:r>
              <a:rPr sz="1350">
                <a:solidFill>
                  <a:srgbClr val="B44A2E"/>
                </a:solidFill>
                <a:latin typeface="Calibri"/>
              </a:rPr>
              <a:t>•  </a:t>
            </a:r>
            <a:r>
              <a:rPr sz="1350" b="1" i="0">
                <a:solidFill>
                  <a:srgbClr val="2A2622"/>
                </a:solidFill>
                <a:latin typeface="Calibri"/>
              </a:rPr>
              <a:t>Headline:</a:t>
            </a:r>
            <a:r>
              <a:rPr sz="1350" b="0" i="0">
                <a:solidFill>
                  <a:srgbClr val="2A2622"/>
                </a:solidFill>
                <a:latin typeface="Calibri"/>
              </a:rPr>
              <a:t> #4 ("COD + Return — pehli baar naye brand se, tension nahi")</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Send WhatsApp Message</a:t>
            </a:r>
          </a:p>
          <a:p>
            <a:pPr>
              <a:spcAft>
                <a:spcPts val="400"/>
              </a:spcAft>
            </a:pPr>
            <a:r>
              <a:rPr sz="1350">
                <a:solidFill>
                  <a:srgbClr val="B44A2E"/>
                </a:solidFill>
                <a:latin typeface="Calibri"/>
              </a:rPr>
              <a:t>•  </a:t>
            </a:r>
            <a:r>
              <a:rPr sz="1350" b="1" i="0">
                <a:solidFill>
                  <a:srgbClr val="2A2622"/>
                </a:solidFill>
                <a:latin typeface="Calibri"/>
              </a:rPr>
              <a:t>Why it works:</a:t>
            </a:r>
            <a:r>
              <a:rPr sz="1350" b="0" i="0">
                <a:solidFill>
                  <a:srgbClr val="2A2622"/>
                </a:solidFill>
                <a:latin typeface="Calibri"/>
              </a:rPr>
              <a:t> story format + risk reversal in headline = the two biggest unknown-brand blockers killed in one screen.</a:t>
            </a:r>
          </a:p>
          <a:p>
            <a:pPr>
              <a:spcBef>
                <a:spcPts val="1000"/>
              </a:spcBef>
              <a:spcAft>
                <a:spcPts val="400"/>
              </a:spcAft>
            </a:pPr>
            <a:r>
              <a:rPr sz="1600" b="1" i="0">
                <a:solidFill>
                  <a:srgbClr val="8F3A22"/>
                </a:solidFill>
                <a:latin typeface="Calibri"/>
              </a:rPr>
              <a:t>AD 2 — "THE DISCLOSED 4-WEEK" (C1 + C3, cold + warm)</a:t>
            </a:r>
          </a:p>
          <a:p>
            <a:pPr>
              <a:spcAft>
                <a:spcPts val="400"/>
              </a:spcAft>
            </a:pPr>
            <a:r>
              <a:rPr sz="1350">
                <a:solidFill>
                  <a:srgbClr val="B44A2E"/>
                </a:solidFill>
                <a:latin typeface="Calibri"/>
              </a:rPr>
              <a:t>•  </a:t>
            </a:r>
            <a:r>
              <a:rPr sz="1350" b="1" i="0">
                <a:solidFill>
                  <a:srgbClr val="2A2622"/>
                </a:solidFill>
                <a:latin typeface="Calibri"/>
              </a:rPr>
              <a:t>Creative:</a:t>
            </a:r>
            <a:r>
              <a:rPr sz="1350" b="0" i="0">
                <a:solidFill>
                  <a:srgbClr val="2A2622"/>
                </a:solidFill>
                <a:latin typeface="Calibri"/>
              </a:rPr>
              <a:t> D17 Day-1→28 reel (30s cut), disclaimer bar on every frame.</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"4 hafte. 20 aahaiyan. Same light, same angle."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305</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3 FULL AD ASSEMBLIES (creative + text + headline + CTA, ready to build)</a:t>
            </a:r>
          </a:p>
          <a:p>
            <a:r>
              <a:rPr sz="1200" i="1">
                <a:solidFill>
                  <a:srgbClr val="57504A"/>
                </a:solidFill>
                <a:latin typeface="Calibri"/>
              </a:rPr>
              <a:t>PART 18 — Sales Ads Library (Hooks / Texts / Headlines / CTAs)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Primary text:</a:t>
            </a:r>
            <a:r>
              <a:rPr sz="1350" b="0" i="0">
                <a:solidFill>
                  <a:srgbClr val="2A2622"/>
                </a:solidFill>
                <a:latin typeface="Calibri"/>
              </a:rPr>
              <a:t> #1 above.</a:t>
            </a:r>
          </a:p>
          <a:p>
            <a:pPr>
              <a:spcAft>
                <a:spcPts val="400"/>
              </a:spcAft>
            </a:pPr>
            <a:r>
              <a:rPr sz="1350">
                <a:solidFill>
                  <a:srgbClr val="B44A2E"/>
                </a:solidFill>
                <a:latin typeface="Calibri"/>
              </a:rPr>
              <a:t>•  </a:t>
            </a:r>
            <a:r>
              <a:rPr sz="1350" b="1" i="0">
                <a:solidFill>
                  <a:srgbClr val="2A2622"/>
                </a:solidFill>
                <a:latin typeface="Calibri"/>
              </a:rPr>
              <a:t>Headline:</a:t>
            </a:r>
            <a:r>
              <a:rPr sz="1350" b="0" i="0">
                <a:solidFill>
                  <a:srgbClr val="2A2622"/>
                </a:solidFill>
                <a:latin typeface="Calibri"/>
              </a:rPr>
              <a:t> #2 ("4 hafte, 20 testers, asli photos — dekho khud")</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Shop Now (COD in first comment pinned: "COD hai ✅")</a:t>
            </a:r>
          </a:p>
          <a:p>
            <a:pPr>
              <a:spcAft>
                <a:spcPts val="400"/>
              </a:spcAft>
            </a:pPr>
            <a:r>
              <a:rPr sz="1350">
                <a:solidFill>
                  <a:srgbClr val="B44A2E"/>
                </a:solidFill>
                <a:latin typeface="Calibri"/>
              </a:rPr>
              <a:t>•  </a:t>
            </a:r>
            <a:r>
              <a:rPr sz="1350" b="1" i="0">
                <a:solidFill>
                  <a:srgbClr val="2A2622"/>
                </a:solidFill>
                <a:latin typeface="Calibri"/>
              </a:rPr>
              <a:t>Why it works:</a:t>
            </a:r>
            <a:r>
              <a:rPr sz="1350" b="0" i="0">
                <a:solidFill>
                  <a:srgbClr val="2A2622"/>
                </a:solidFill>
                <a:latin typeface="Calibri"/>
              </a:rPr>
              <a:t> disclosed B/A = highest-CTR archetype in Indian skincare; the disclaimer </a:t>
            </a:r>
            <a:r>
              <a:rPr sz="1350" b="0" i="1">
                <a:solidFill>
                  <a:srgbClr val="2A2622"/>
                </a:solidFill>
                <a:latin typeface="Calibri"/>
              </a:rPr>
              <a:t>increases</a:t>
            </a:r>
            <a:r>
              <a:rPr sz="1350" b="0" i="0">
                <a:solidFill>
                  <a:srgbClr val="2A2622"/>
                </a:solidFill>
                <a:latin typeface="Calibri"/>
              </a:rPr>
              <a:t> trust (rare in category).</a:t>
            </a:r>
          </a:p>
          <a:p>
            <a:pPr>
              <a:spcBef>
                <a:spcPts val="1000"/>
              </a:spcBef>
              <a:spcAft>
                <a:spcPts val="400"/>
              </a:spcAft>
            </a:pPr>
            <a:r>
              <a:rPr sz="1600" b="1" i="0">
                <a:solidFill>
                  <a:srgbClr val="8F3A22"/>
                </a:solidFill>
                <a:latin typeface="Calibri"/>
              </a:rPr>
              <a:t>AD 3 — "THE OFFER CLOSE" (C1 launch week + C3 R4)</a:t>
            </a:r>
          </a:p>
          <a:p>
            <a:pPr>
              <a:spcAft>
                <a:spcPts val="400"/>
              </a:spcAft>
            </a:pPr>
            <a:r>
              <a:rPr sz="1350">
                <a:solidFill>
                  <a:srgbClr val="B44A2E"/>
                </a:solidFill>
                <a:latin typeface="Calibri"/>
              </a:rPr>
              <a:t>•  </a:t>
            </a:r>
            <a:r>
              <a:rPr sz="1350" b="1" i="0">
                <a:solidFill>
                  <a:srgbClr val="2A2622"/>
                </a:solidFill>
                <a:latin typeface="Calibri"/>
              </a:rPr>
              <a:t>Creative:</a:t>
            </a:r>
            <a:r>
              <a:rPr sz="1350" b="0" i="0">
                <a:solidFill>
                  <a:srgbClr val="2A2622"/>
                </a:solidFill>
                <a:latin typeface="Calibri"/>
              </a:rPr>
              <a:t> D21 launch reel (30s cut) — box, 100 units, offer on screen.</a:t>
            </a:r>
          </a:p>
          <a:p>
            <a:pPr>
              <a:spcAft>
                <a:spcPts val="400"/>
              </a:spcAft>
            </a:pPr>
            <a:r>
              <a:rPr sz="1350">
                <a:solidFill>
                  <a:srgbClr val="B44A2E"/>
                </a:solidFill>
                <a:latin typeface="Calibri"/>
              </a:rPr>
              <a:t>•  </a:t>
            </a:r>
            <a:r>
              <a:rPr sz="1350" b="1" i="0">
                <a:solidFill>
                  <a:srgbClr val="2A2622"/>
                </a:solidFill>
                <a:latin typeface="Calibri"/>
              </a:rPr>
              <a:t>Hook:</a:t>
            </a:r>
            <a:r>
              <a:rPr sz="1350" b="0" i="0">
                <a:solidFill>
                  <a:srgbClr val="2A2622"/>
                </a:solidFill>
                <a:latin typeface="Calibri"/>
              </a:rPr>
              <a:t> "Pehli 100 orders. Phir regular price."</a:t>
            </a:r>
          </a:p>
          <a:p>
            <a:pPr>
              <a:spcAft>
                <a:spcPts val="400"/>
              </a:spcAft>
            </a:pPr>
            <a:r>
              <a:rPr sz="1350">
                <a:solidFill>
                  <a:srgbClr val="B44A2E"/>
                </a:solidFill>
                <a:latin typeface="Calibri"/>
              </a:rPr>
              <a:t>•  </a:t>
            </a:r>
            <a:r>
              <a:rPr sz="1350" b="1" i="0">
                <a:solidFill>
                  <a:srgbClr val="2A2622"/>
                </a:solidFill>
                <a:latin typeface="Calibri"/>
              </a:rPr>
              <a:t>Primary text:</a:t>
            </a:r>
            <a:r>
              <a:rPr sz="1350" b="0" i="0">
                <a:solidFill>
                  <a:srgbClr val="2A2622"/>
                </a:solidFill>
                <a:latin typeface="Calibri"/>
              </a:rPr>
              <a:t> #4 above.</a:t>
            </a:r>
          </a:p>
          <a:p>
            <a:pPr>
              <a:spcAft>
                <a:spcPts val="400"/>
              </a:spcAft>
            </a:pPr>
            <a:r>
              <a:rPr sz="1350">
                <a:solidFill>
                  <a:srgbClr val="B44A2E"/>
                </a:solidFill>
                <a:latin typeface="Calibri"/>
              </a:rPr>
              <a:t>•  </a:t>
            </a:r>
            <a:r>
              <a:rPr sz="1350" b="1" i="0">
                <a:solidFill>
                  <a:srgbClr val="2A2622"/>
                </a:solidFill>
                <a:latin typeface="Calibri"/>
              </a:rPr>
              <a:t>Headline:</a:t>
            </a:r>
            <a:r>
              <a:rPr sz="1350" b="0" i="0">
                <a:solidFill>
                  <a:srgbClr val="2A2622"/>
                </a:solidFill>
                <a:latin typeface="Calibri"/>
              </a:rPr>
              <a:t> #1 ("Pehli 100 orders — FREE Face Wash mini + COD")</a:t>
            </a:r>
          </a:p>
          <a:p>
            <a:pPr>
              <a:spcAft>
                <a:spcPts val="400"/>
              </a:spcAft>
            </a:pPr>
            <a:r>
              <a:rPr sz="1350">
                <a:solidFill>
                  <a:srgbClr val="B44A2E"/>
                </a:solidFill>
                <a:latin typeface="Calibri"/>
              </a:rPr>
              <a:t>•  </a:t>
            </a:r>
            <a:r>
              <a:rPr sz="1350" b="1" i="0">
                <a:solidFill>
                  <a:srgbClr val="2A2622"/>
                </a:solidFill>
                <a:latin typeface="Calibri"/>
              </a:rPr>
              <a:t>CTA:</a:t>
            </a:r>
            <a:r>
              <a:rPr sz="1350" b="0" i="0">
                <a:solidFill>
                  <a:srgbClr val="2A2622"/>
                </a:solidFill>
                <a:latin typeface="Calibri"/>
              </a:rPr>
              <a:t> Send WhatsApp Message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306</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3 FULL AD ASSEMBLIES (creative + text + headline + CTA, ready to build)</a:t>
            </a:r>
          </a:p>
          <a:p>
            <a:r>
              <a:rPr sz="1200" i="1">
                <a:solidFill>
                  <a:srgbClr val="57504A"/>
                </a:solidFill>
                <a:latin typeface="Calibri"/>
              </a:rPr>
              <a:t>PART 18 — Sales Ads Library (Hooks / Texts / Headlines / CTAs)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Why it works:</a:t>
            </a:r>
            <a:r>
              <a:rPr sz="1350" b="0" i="0">
                <a:solidFill>
                  <a:srgbClr val="2A2622"/>
                </a:solidFill>
                <a:latin typeface="Calibri"/>
              </a:rPr>
              <a:t> real scarcity (batch) + free item (not fake %) + COD = the full Indian first-order stack in one ad.</a:t>
            </a:r>
          </a:p>
          <a:p>
            <a:pPr>
              <a:spcAft>
                <a:spcPts val="700"/>
              </a:spcAft>
            </a:pPr>
            <a:r>
              <a:rPr sz="1350" b="1" i="0">
                <a:solidFill>
                  <a:srgbClr val="2A2622"/>
                </a:solidFill>
                <a:latin typeface="Calibri"/>
              </a:rPr>
              <a:t>Build note:</a:t>
            </a:r>
            <a:r>
              <a:rPr sz="1350" b="0" i="0">
                <a:solidFill>
                  <a:srgbClr val="2A2622"/>
                </a:solidFill>
                <a:latin typeface="Calibri"/>
              </a:rPr>
              <a:t> pin a first comment on every ad: "COD ✅ · Return ✅ · 4–6 hafte honest timeline · Results vary" — the pinned comment is where Indian buyers check before ordering; make it zero-effort.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307</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19</a:t>
            </a:r>
          </a:p>
        </p:txBody>
      </p:sp>
      <p:sp>
        <p:nvSpPr>
          <p:cNvPr id="4" name="TextBox 3"/>
          <p:cNvSpPr txBox="1"/>
          <p:nvPr/>
        </p:nvSpPr>
        <p:spPr>
          <a:xfrm>
            <a:off x="914400" y="2377440"/>
            <a:ext cx="10362895" cy="1645920"/>
          </a:xfrm>
          <a:prstGeom prst="rect">
            <a:avLst/>
          </a:prstGeom>
          <a:noFill/>
        </p:spPr>
        <p:txBody>
          <a:bodyPr wrap="square">
            <a:spAutoFit/>
          </a:bodyPr>
          <a:lstStyle/>
          <a:p>
            <a:r>
              <a:rPr sz="2400" b="1">
                <a:solidFill>
                  <a:srgbClr val="8F3A22"/>
                </a:solidFill>
                <a:latin typeface="Calibri"/>
              </a:rPr>
              <a:t>§21 CONTENT→SALES FUNNEL + §22 VIRAL VS SALES + §23 BUYER PSYCHOLOGY — RANGAT NATURALS</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Content→Sales Funnel + Viral vs Sales + Buyer Psychology</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308</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CONTENT → SALES SYSTEM (Section 21)</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The machine. Every asset you make belongs to exactly one stage. If a post doesn't know its stage, it doesn't ship.</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309</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 name="Rectangle 4"/>
          <p:cNvSpPr/>
          <p:nvPr/>
        </p:nvSpPr>
        <p:spPr>
          <a:xfrm>
            <a:off x="320040" y="1261872"/>
            <a:ext cx="11551615" cy="5212080"/>
          </a:xfrm>
          <a:prstGeom prst="rect">
            <a:avLst/>
          </a:prstGeom>
          <a:solidFill>
            <a:srgbClr val="F1EDE4"/>
          </a:solidFill>
          <a:ln w="9525">
            <a:solidFill>
              <a:srgbClr val="D8C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CONTENT → SALES SYSTEM (Section 21)</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0"/>
            <a:ext cx="11460175" cy="4937760"/>
          </a:xfrm>
          <a:prstGeom prst="rect">
            <a:avLst/>
          </a:prstGeom>
          <a:noFill/>
        </p:spPr>
        <p:txBody>
          <a:bodyPr wrap="square">
            <a:spAutoFit/>
          </a:bodyPr>
          <a:lstStyle/>
          <a:p>
            <a:pPr>
              <a:spcAft>
                <a:spcPts val="100"/>
              </a:spcAft>
            </a:pPr>
            <a:r>
              <a:rPr sz="1150">
                <a:solidFill>
                  <a:srgbClr val="2A2622"/>
                </a:solidFill>
                <a:latin typeface="Consolas"/>
              </a:rPr>
              <a:t>REEL  →  PROFILE  →  TRUST  →  PRODUCT  →  WEBSITE/WHATSAPP  →  PURCHASE  →  REVIEW  →  REPEAT  →  REFERRAL</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310</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CONTENT → SALES SYSTEM (Section 21)</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STAGE 1 — REEL (Attention): "Stop scrolling"</a:t>
            </a:r>
          </a:p>
          <a:p>
            <a:pPr>
              <a:spcAft>
                <a:spcPts val="400"/>
              </a:spcAft>
            </a:pPr>
            <a:r>
              <a:rPr sz="1350">
                <a:solidFill>
                  <a:srgbClr val="B44A2E"/>
                </a:solidFill>
                <a:latin typeface="Calibri"/>
              </a:rPr>
              <a:t>•  </a:t>
            </a:r>
            <a:r>
              <a:rPr sz="1350" b="1" i="0">
                <a:solidFill>
                  <a:srgbClr val="2A2622"/>
                </a:solidFill>
                <a:latin typeface="Calibri"/>
              </a:rPr>
              <a:t>Content that belongs here:</a:t>
            </a:r>
            <a:r>
              <a:rPr sz="1350" b="0" i="0">
                <a:solidFill>
                  <a:srgbClr val="2A2622"/>
                </a:solidFill>
                <a:latin typeface="Calibri"/>
              </a:rPr>
              <a:t> Problem hooks, myth-busts, relatable/Gujarati humor, texture ASMR, creator drops, founder stories. 1-in-5 is a direct sales reel.</a:t>
            </a:r>
          </a:p>
          <a:p>
            <a:pPr>
              <a:spcAft>
                <a:spcPts val="400"/>
              </a:spcAft>
            </a:pPr>
            <a:r>
              <a:rPr sz="1350">
                <a:solidFill>
                  <a:srgbClr val="B44A2E"/>
                </a:solidFill>
                <a:latin typeface="Calibri"/>
              </a:rPr>
              <a:t>•  </a:t>
            </a:r>
            <a:r>
              <a:rPr sz="1350" b="1" i="0">
                <a:solidFill>
                  <a:srgbClr val="2A2622"/>
                </a:solidFill>
                <a:latin typeface="Calibri"/>
              </a:rPr>
              <a:t>Job done when:</a:t>
            </a:r>
            <a:r>
              <a:rPr sz="1350" b="0" i="0">
                <a:solidFill>
                  <a:srgbClr val="2A2622"/>
                </a:solidFill>
                <a:latin typeface="Calibri"/>
              </a:rPr>
              <a:t> 3-sec hold ≥ 30%, saves/comments, and — the real metric — </a:t>
            </a:r>
            <a:r>
              <a:rPr sz="1350" b="1" i="0">
                <a:solidFill>
                  <a:srgbClr val="2A2622"/>
                </a:solidFill>
                <a:latin typeface="Calibri"/>
              </a:rPr>
              <a:t>profile visits</a:t>
            </a:r>
            <a:r>
              <a:rPr sz="1350" b="0" i="0">
                <a:solidFill>
                  <a:srgbClr val="2A2622"/>
                </a:solidFill>
                <a:latin typeface="Calibri"/>
              </a:rPr>
              <a:t> from the reel.</a:t>
            </a:r>
          </a:p>
          <a:p>
            <a:pPr>
              <a:spcAft>
                <a:spcPts val="400"/>
              </a:spcAft>
            </a:pPr>
            <a:r>
              <a:rPr sz="1350">
                <a:solidFill>
                  <a:srgbClr val="B44A2E"/>
                </a:solidFill>
                <a:latin typeface="Calibri"/>
              </a:rPr>
              <a:t>•  </a:t>
            </a:r>
            <a:r>
              <a:rPr sz="1350" b="1" i="0">
                <a:solidFill>
                  <a:srgbClr val="2A2622"/>
                </a:solidFill>
                <a:latin typeface="Calibri"/>
              </a:rPr>
              <a:t>Rules:</a:t>
            </a:r>
            <a:r>
              <a:rPr sz="1350" b="0" i="0">
                <a:solidFill>
                  <a:srgbClr val="2A2622"/>
                </a:solidFill>
                <a:latin typeface="Calibri"/>
              </a:rPr>
              <a:t> hook in 2 sec; one idea per reel; last 3 sec = CTA (follow / save / DM GLOW). The CTA decides what stage-2 sees.</a:t>
            </a:r>
          </a:p>
          <a:p>
            <a:pPr>
              <a:spcAft>
                <a:spcPts val="400"/>
              </a:spcAft>
            </a:pPr>
            <a:r>
              <a:rPr sz="1350">
                <a:solidFill>
                  <a:srgbClr val="B44A2E"/>
                </a:solidFill>
                <a:latin typeface="Calibri"/>
              </a:rPr>
              <a:t>•  </a:t>
            </a:r>
            <a:r>
              <a:rPr sz="1350" b="1" i="0">
                <a:solidFill>
                  <a:srgbClr val="2A2622"/>
                </a:solidFill>
                <a:latin typeface="Calibri"/>
              </a:rPr>
              <a:t>Metric:</a:t>
            </a:r>
            <a:r>
              <a:rPr sz="1350" b="0" i="0">
                <a:solidFill>
                  <a:srgbClr val="2A2622"/>
                </a:solidFill>
                <a:latin typeface="Calibri"/>
              </a:rPr>
              <a:t> reach, 3-sec hold, saves, profile visits per reel.</a:t>
            </a:r>
          </a:p>
          <a:p>
            <a:pPr>
              <a:spcBef>
                <a:spcPts val="1000"/>
              </a:spcBef>
              <a:spcAft>
                <a:spcPts val="400"/>
              </a:spcAft>
            </a:pPr>
            <a:r>
              <a:rPr sz="1600" b="1" i="0">
                <a:solidFill>
                  <a:srgbClr val="8F3A22"/>
                </a:solidFill>
                <a:latin typeface="Calibri"/>
              </a:rPr>
              <a:t>STAGE 2 — PROFILE (Judgment): "Who are you? 3 seconds."</a:t>
            </a:r>
          </a:p>
          <a:p>
            <a:pPr>
              <a:spcAft>
                <a:spcPts val="400"/>
              </a:spcAft>
            </a:pPr>
            <a:r>
              <a:rPr sz="1350">
                <a:solidFill>
                  <a:srgbClr val="B44A2E"/>
                </a:solidFill>
                <a:latin typeface="Calibri"/>
              </a:rPr>
              <a:t>•  </a:t>
            </a:r>
            <a:r>
              <a:rPr sz="1350" b="1" i="0">
                <a:solidFill>
                  <a:srgbClr val="2A2622"/>
                </a:solidFill>
                <a:latin typeface="Calibri"/>
              </a:rPr>
              <a:t>Content that belongs here:</a:t>
            </a:r>
            <a:r>
              <a:rPr sz="1350" b="0" i="0">
                <a:solidFill>
                  <a:srgbClr val="2A2622"/>
                </a:solidFill>
                <a:latin typeface="Calibri"/>
              </a:rPr>
              <a:t> bio (category + products + COD + one action), name field with keywords, founder avatar, 3 pinned posts (buy / proof / who), 6 highlights (RESULTS first).</a:t>
            </a:r>
          </a:p>
          <a:p>
            <a:pPr>
              <a:spcAft>
                <a:spcPts val="400"/>
              </a:spcAft>
            </a:pPr>
            <a:r>
              <a:rPr sz="1350">
                <a:solidFill>
                  <a:srgbClr val="B44A2E"/>
                </a:solidFill>
                <a:latin typeface="Calibri"/>
              </a:rPr>
              <a:t>•  </a:t>
            </a:r>
            <a:r>
              <a:rPr sz="1350" b="1" i="0">
                <a:solidFill>
                  <a:srgbClr val="2A2622"/>
                </a:solidFill>
                <a:latin typeface="Calibri"/>
              </a:rPr>
              <a:t>Job done when:</a:t>
            </a:r>
            <a:r>
              <a:rPr sz="1350" b="0" i="0">
                <a:solidFill>
                  <a:srgbClr val="2A2622"/>
                </a:solidFill>
                <a:latin typeface="Calibri"/>
              </a:rPr>
              <a:t> a stranger who came from a reel can say in 10 seconds: "Indian skincare, VC serum, COD, DM GLOW."</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311</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CONTENT → SALES SYSTEM (Section 21)</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Rules:</a:t>
            </a:r>
            <a:r>
              <a:rPr sz="1350" b="0" i="0">
                <a:solidFill>
                  <a:srgbClr val="2A2622"/>
                </a:solidFill>
                <a:latin typeface="Calibri"/>
              </a:rPr>
              <a:t> 3-second test (§2) audited weekly. Pinned = always current offer + newest proof + founder.</a:t>
            </a:r>
          </a:p>
          <a:p>
            <a:pPr>
              <a:spcAft>
                <a:spcPts val="400"/>
              </a:spcAft>
            </a:pPr>
            <a:r>
              <a:rPr sz="1350">
                <a:solidFill>
                  <a:srgbClr val="B44A2E"/>
                </a:solidFill>
                <a:latin typeface="Calibri"/>
              </a:rPr>
              <a:t>•  </a:t>
            </a:r>
            <a:r>
              <a:rPr sz="1350" b="1" i="0">
                <a:solidFill>
                  <a:srgbClr val="2A2622"/>
                </a:solidFill>
                <a:latin typeface="Calibri"/>
              </a:rPr>
              <a:t>Metric:</a:t>
            </a:r>
            <a:r>
              <a:rPr sz="1350" b="0" i="0">
                <a:solidFill>
                  <a:srgbClr val="2A2622"/>
                </a:solidFill>
                <a:latin typeface="Calibri"/>
              </a:rPr>
              <a:t> profile→bio-link clicks; profile→DM rate.</a:t>
            </a:r>
          </a:p>
          <a:p>
            <a:pPr>
              <a:spcBef>
                <a:spcPts val="1000"/>
              </a:spcBef>
              <a:spcAft>
                <a:spcPts val="400"/>
              </a:spcAft>
            </a:pPr>
            <a:r>
              <a:rPr sz="1600" b="1" i="0">
                <a:solidFill>
                  <a:srgbClr val="8F3A22"/>
                </a:solidFill>
                <a:latin typeface="Calibri"/>
              </a:rPr>
              <a:t>STAGE 3 — TRUST (Conviction): "Is this real? Will it work on ME?"</a:t>
            </a:r>
          </a:p>
          <a:p>
            <a:pPr>
              <a:spcAft>
                <a:spcPts val="400"/>
              </a:spcAft>
            </a:pPr>
            <a:r>
              <a:rPr sz="1350">
                <a:solidFill>
                  <a:srgbClr val="B44A2E"/>
                </a:solidFill>
                <a:latin typeface="Calibri"/>
              </a:rPr>
              <a:t>•  </a:t>
            </a:r>
            <a:r>
              <a:rPr sz="1350" b="1" i="0">
                <a:solidFill>
                  <a:srgbClr val="2A2622"/>
                </a:solidFill>
                <a:latin typeface="Calibri"/>
              </a:rPr>
              <a:t>Content that belongs here:</a:t>
            </a:r>
            <a:r>
              <a:rPr sz="1350" b="0" i="0">
                <a:solidFill>
                  <a:srgbClr val="2A2622"/>
                </a:solidFill>
                <a:latin typeface="Calibri"/>
              </a:rPr>
              <a:t> Day-1→28 disclosed program, "4 darr 4 jawaab" objection reel, founder story #2 (factory, batch card), tester honesty reels (with negatives), anti-fake positioning, real review clips, unboxings.</a:t>
            </a:r>
          </a:p>
          <a:p>
            <a:pPr>
              <a:spcAft>
                <a:spcPts val="400"/>
              </a:spcAft>
            </a:pPr>
            <a:r>
              <a:rPr sz="1350">
                <a:solidFill>
                  <a:srgbClr val="B44A2E"/>
                </a:solidFill>
                <a:latin typeface="Calibri"/>
              </a:rPr>
              <a:t>•  </a:t>
            </a:r>
            <a:r>
              <a:rPr sz="1350" b="1" i="0">
                <a:solidFill>
                  <a:srgbClr val="2A2622"/>
                </a:solidFill>
                <a:latin typeface="Calibri"/>
              </a:rPr>
              <a:t>Job done when:</a:t>
            </a:r>
            <a:r>
              <a:rPr sz="1350" b="0" i="0">
                <a:solidFill>
                  <a:srgbClr val="2A2622"/>
                </a:solidFill>
                <a:latin typeface="Calibri"/>
              </a:rPr>
              <a:t> the DM starts with "kaise order karna hai" instead of "yeh sachcha hai kya."</a:t>
            </a:r>
          </a:p>
          <a:p>
            <a:pPr>
              <a:spcAft>
                <a:spcPts val="400"/>
              </a:spcAft>
            </a:pPr>
            <a:r>
              <a:rPr sz="1350">
                <a:solidFill>
                  <a:srgbClr val="B44A2E"/>
                </a:solidFill>
                <a:latin typeface="Calibri"/>
              </a:rPr>
              <a:t>•  </a:t>
            </a:r>
            <a:r>
              <a:rPr sz="1350" b="1" i="0">
                <a:solidFill>
                  <a:srgbClr val="2A2622"/>
                </a:solidFill>
                <a:latin typeface="Calibri"/>
              </a:rPr>
              <a:t>Rules:</a:t>
            </a:r>
            <a:r>
              <a:rPr sz="1350" b="0" i="0">
                <a:solidFill>
                  <a:srgbClr val="2A2622"/>
                </a:solidFill>
                <a:latin typeface="Calibri"/>
              </a:rPr>
              <a:t> one real negative per 3 positives; consent forms on file; "results may vary" always on disclosed B/A.</a:t>
            </a:r>
          </a:p>
          <a:p>
            <a:pPr>
              <a:spcAft>
                <a:spcPts val="400"/>
              </a:spcAft>
            </a:pPr>
            <a:r>
              <a:rPr sz="1350">
                <a:solidFill>
                  <a:srgbClr val="B44A2E"/>
                </a:solidFill>
                <a:latin typeface="Calibri"/>
              </a:rPr>
              <a:t>•  </a:t>
            </a:r>
            <a:r>
              <a:rPr sz="1350" b="1" i="0">
                <a:solidFill>
                  <a:srgbClr val="2A2622"/>
                </a:solidFill>
                <a:latin typeface="Calibri"/>
              </a:rPr>
              <a:t>Metric:</a:t>
            </a:r>
            <a:r>
              <a:rPr sz="1350" b="0" i="0">
                <a:solidFill>
                  <a:srgbClr val="2A2622"/>
                </a:solidFill>
                <a:latin typeface="Calibri"/>
              </a:rPr>
              <a:t> share of DM conversations that are purchase-intent vs trust-questions (target: trust-questions drop from ~60% week 1 to &lt;30% by week 6).</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312</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CONTENT → SALES SYSTEM (Section 21)</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STAGE 4 — PRODUCT (Desire + clarity): "What exactly am I getting?"</a:t>
            </a:r>
          </a:p>
          <a:p>
            <a:pPr>
              <a:spcAft>
                <a:spcPts val="400"/>
              </a:spcAft>
            </a:pPr>
            <a:r>
              <a:rPr sz="1350">
                <a:solidFill>
                  <a:srgbClr val="B44A2E"/>
                </a:solidFill>
                <a:latin typeface="Calibri"/>
              </a:rPr>
              <a:t>•  </a:t>
            </a:r>
            <a:r>
              <a:rPr sz="1350" b="1" i="0">
                <a:solidFill>
                  <a:srgbClr val="2A2622"/>
                </a:solidFill>
                <a:latin typeface="Calibri"/>
              </a:rPr>
              <a:t>Content that belongs here:</a:t>
            </a:r>
            <a:r>
              <a:rPr sz="1350" b="0" i="0">
                <a:solidFill>
                  <a:srgbClr val="2A2622"/>
                </a:solidFill>
                <a:latin typeface="Calibri"/>
              </a:rPr>
              <a:t> how-to (5-step VC), texture demos, "box me kya hai," kit routines (60-sec), price-value breakdown, seasonal relevance (monsoon/wedding/winter).</a:t>
            </a:r>
          </a:p>
          <a:p>
            <a:pPr>
              <a:spcAft>
                <a:spcPts val="400"/>
              </a:spcAft>
            </a:pPr>
            <a:r>
              <a:rPr sz="1350">
                <a:solidFill>
                  <a:srgbClr val="B44A2E"/>
                </a:solidFill>
                <a:latin typeface="Calibri"/>
              </a:rPr>
              <a:t>•  </a:t>
            </a:r>
            <a:r>
              <a:rPr sz="1350" b="1" i="0">
                <a:solidFill>
                  <a:srgbClr val="2A2622"/>
                </a:solidFill>
                <a:latin typeface="Calibri"/>
              </a:rPr>
              <a:t>Job done when:</a:t>
            </a:r>
            <a:r>
              <a:rPr sz="1350" b="0" i="0">
                <a:solidFill>
                  <a:srgbClr val="2A2622"/>
                </a:solidFill>
                <a:latin typeface="Calibri"/>
              </a:rPr>
              <a:t> the DM question becomes "COD chalega? / kitne din me aayega?"</a:t>
            </a:r>
          </a:p>
          <a:p>
            <a:pPr>
              <a:spcAft>
                <a:spcPts val="400"/>
              </a:spcAft>
            </a:pPr>
            <a:r>
              <a:rPr sz="1350">
                <a:solidFill>
                  <a:srgbClr val="B44A2E"/>
                </a:solidFill>
                <a:latin typeface="Calibri"/>
              </a:rPr>
              <a:t>•  </a:t>
            </a:r>
            <a:r>
              <a:rPr sz="1350" b="1" i="0">
                <a:solidFill>
                  <a:srgbClr val="2A2622"/>
                </a:solidFill>
                <a:latin typeface="Calibri"/>
              </a:rPr>
              <a:t>Rules:</a:t>
            </a:r>
            <a:r>
              <a:rPr sz="1350" b="0" i="0">
                <a:solidFill>
                  <a:srgbClr val="2A2622"/>
                </a:solidFill>
                <a:latin typeface="Calibri"/>
              </a:rPr>
              <a:t> every product post states: what it does (safe language) · what it won't do · who it's for · price · COD/return · one CTA.</a:t>
            </a:r>
          </a:p>
          <a:p>
            <a:pPr>
              <a:spcAft>
                <a:spcPts val="400"/>
              </a:spcAft>
            </a:pPr>
            <a:r>
              <a:rPr sz="1350">
                <a:solidFill>
                  <a:srgbClr val="B44A2E"/>
                </a:solidFill>
                <a:latin typeface="Calibri"/>
              </a:rPr>
              <a:t>•  </a:t>
            </a:r>
            <a:r>
              <a:rPr sz="1350" b="1" i="0">
                <a:solidFill>
                  <a:srgbClr val="2A2622"/>
                </a:solidFill>
                <a:latin typeface="Calibri"/>
              </a:rPr>
              <a:t>Metric:</a:t>
            </a:r>
            <a:r>
              <a:rPr sz="1350" b="0" i="0">
                <a:solidFill>
                  <a:srgbClr val="2A2622"/>
                </a:solidFill>
                <a:latin typeface="Calibri"/>
              </a:rPr>
              <a:t> DMs that mention the product name; kit share of orders.</a:t>
            </a:r>
          </a:p>
          <a:p>
            <a:pPr>
              <a:spcBef>
                <a:spcPts val="1000"/>
              </a:spcBef>
              <a:spcAft>
                <a:spcPts val="400"/>
              </a:spcAft>
            </a:pPr>
            <a:r>
              <a:rPr sz="1600" b="1" i="0">
                <a:solidFill>
                  <a:srgbClr val="8F3A22"/>
                </a:solidFill>
                <a:latin typeface="Calibri"/>
              </a:rPr>
              <a:t>STAGE 5 — WEBSITE / WHATSAPP (The close): human, fast, COD</a:t>
            </a:r>
          </a:p>
          <a:p>
            <a:pPr>
              <a:spcAft>
                <a:spcPts val="400"/>
              </a:spcAft>
            </a:pPr>
            <a:r>
              <a:rPr sz="1350">
                <a:solidFill>
                  <a:srgbClr val="B44A2E"/>
                </a:solidFill>
                <a:latin typeface="Calibri"/>
              </a:rPr>
              <a:t>•  </a:t>
            </a:r>
            <a:r>
              <a:rPr sz="1350" b="1" i="0">
                <a:solidFill>
                  <a:srgbClr val="2A2622"/>
                </a:solidFill>
                <a:latin typeface="Calibri"/>
              </a:rPr>
              <a:t>Content that belongs here:</a:t>
            </a:r>
            <a:r>
              <a:rPr sz="1350" b="0" i="0">
                <a:solidFill>
                  <a:srgbClr val="2A2622"/>
                </a:solidFill>
                <a:latin typeface="Calibri"/>
              </a:rPr>
              <a:t> the </a:t>
            </a:r>
            <a:r>
              <a:rPr sz="1350" b="1" i="0">
                <a:solidFill>
                  <a:srgbClr val="2A2622"/>
                </a:solidFill>
                <a:latin typeface="Calibri"/>
              </a:rPr>
              <a:t>GLOW DM script</a:t>
            </a:r>
            <a:r>
              <a:rPr sz="1350" b="0" i="0">
                <a:solidFill>
                  <a:srgbClr val="2A2622"/>
                </a:solidFill>
                <a:latin typeface="Calibri"/>
              </a:rPr>
              <a:t> (§25), WhatsApp Business: catalog with photos + price + "COD available" in every description; quick replies (price, delivery time, returns, results timeline); labels (NEW / ORDER / D7 / D14 / BUYER); broadcast lists; </a:t>
            </a:r>
            <a:r>
              <a:rPr sz="1350" b="1" i="0">
                <a:solidFill>
                  <a:srgbClr val="2A2622"/>
                </a:solidFill>
                <a:latin typeface="Calibri"/>
              </a:rPr>
              <a:t>status = your Stories</a:t>
            </a:r>
            <a:r>
              <a:rPr sz="1350" b="0" i="0">
                <a:solidFill>
                  <a:srgbClr val="2A2622"/>
                </a:solidFill>
                <a:latin typeface="Calibri"/>
              </a:rPr>
              <a:t>; 15-minute reply SLA (7 AM–11 PM); auto-reply outside hours.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313</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CONTENT → SALES SYSTEM (Section 21)</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Job done when:</a:t>
            </a:r>
            <a:r>
              <a:rPr sz="1350" b="0" i="0">
                <a:solidFill>
                  <a:srgbClr val="2A2622"/>
                </a:solidFill>
                <a:latin typeface="Calibri"/>
              </a:rPr>
              <a:t> a warm DM → order within 1 conversation (target ≥ 40% of warm DMs convert; COD pre-confirmation call for first-time buyers).</a:t>
            </a:r>
          </a:p>
          <a:p>
            <a:pPr>
              <a:spcAft>
                <a:spcPts val="400"/>
              </a:spcAft>
            </a:pPr>
            <a:r>
              <a:rPr sz="1350">
                <a:solidFill>
                  <a:srgbClr val="B44A2E"/>
                </a:solidFill>
                <a:latin typeface="Calibri"/>
              </a:rPr>
              <a:t>•  </a:t>
            </a:r>
            <a:r>
              <a:rPr sz="1350" b="1" i="0">
                <a:solidFill>
                  <a:srgbClr val="2A2622"/>
                </a:solidFill>
                <a:latin typeface="Calibri"/>
              </a:rPr>
              <a:t>The DM script (GLOW):</a:t>
            </a:r>
          </a:p>
          <a:p>
            <a:pPr>
              <a:spcAft>
                <a:spcPts val="400"/>
              </a:spcAft>
            </a:pPr>
            <a:r>
              <a:rPr sz="1350" b="1">
                <a:solidFill>
                  <a:srgbClr val="8F3A22"/>
                </a:solidFill>
                <a:latin typeface="Calibri"/>
              </a:rPr>
              <a:t>1.  </a:t>
            </a:r>
            <a:r>
              <a:rPr sz="1350" b="0" i="0">
                <a:solidFill>
                  <a:srgbClr val="2A2622"/>
                </a:solidFill>
                <a:latin typeface="Calibri"/>
              </a:rPr>
              <a:t>Auto: "Namaste! 🙏 GLOW = Vitamin C Serum 10%, launch price ₹X, FREE Face Wash mini, FREE shipping, COD. Kya aap bhi join karna chahti ho? (city batao — delivery time batate hain)"</a:t>
            </a:r>
          </a:p>
          <a:p>
            <a:pPr>
              <a:spcAft>
                <a:spcPts val="400"/>
              </a:spcAft>
            </a:pPr>
            <a:r>
              <a:rPr sz="1350" b="1">
                <a:solidFill>
                  <a:srgbClr val="8F3A22"/>
                </a:solidFill>
                <a:latin typeface="Calibri"/>
              </a:rPr>
              <a:t>2.  </a:t>
            </a:r>
            <a:r>
              <a:rPr sz="1350" b="0" i="0">
                <a:solidFill>
                  <a:srgbClr val="2A2622"/>
                </a:solidFill>
                <a:latin typeface="Calibri"/>
              </a:rPr>
              <a:t>They reply city → "Ahmedabad 2–3 din me aayega. COD me paise parcel ke baad. Koi sawaal?"</a:t>
            </a:r>
          </a:p>
          <a:p>
            <a:pPr>
              <a:spcAft>
                <a:spcPts val="400"/>
              </a:spcAft>
            </a:pPr>
            <a:r>
              <a:rPr sz="1350" b="1">
                <a:solidFill>
                  <a:srgbClr val="8F3A22"/>
                </a:solidFill>
                <a:latin typeface="Calibri"/>
              </a:rPr>
              <a:t>3.  </a:t>
            </a:r>
            <a:r>
              <a:rPr sz="1350" b="0" i="0">
                <a:solidFill>
                  <a:srgbClr val="2A2622"/>
                </a:solidFill>
                <a:latin typeface="Calibri"/>
              </a:rPr>
              <a:t>Objections → price: "Launch me ₹X + free mini — phir regular. Aur COD hai, pehle dekho phir paise." / doubt: "4 hafte ka 20-tester program hai — photos 'RESULTS' highlight me. COD hai isliye risk aapka nahi." / timeline: "Honest: 4–6 hafte daily use. 3-din wada karne wale se door rahiye."</a:t>
            </a:r>
          </a:p>
          <a:p>
            <a:pPr>
              <a:spcAft>
                <a:spcPts val="400"/>
              </a:spcAft>
            </a:pPr>
            <a:r>
              <a:rPr sz="1350" b="1">
                <a:solidFill>
                  <a:srgbClr val="8F3A22"/>
                </a:solidFill>
                <a:latin typeface="Calibri"/>
              </a:rPr>
              <a:t>4.  </a:t>
            </a:r>
            <a:r>
              <a:rPr sz="1350" b="0" i="0">
                <a:solidFill>
                  <a:srgbClr val="2A2622"/>
                </a:solidFill>
                <a:latin typeface="Calibri"/>
              </a:rPr>
              <a:t>Close: "Theek hai, aapka number save kar leti hoon. [name, city, product] — sahi hai? Parcel nikalte hi WhatsApp pe number milta hai."</a:t>
            </a:r>
          </a:p>
          <a:p>
            <a:pPr>
              <a:spcAft>
                <a:spcPts val="400"/>
              </a:spcAft>
            </a:pPr>
            <a:r>
              <a:rPr sz="1350" b="1">
                <a:solidFill>
                  <a:srgbClr val="8F3A22"/>
                </a:solidFill>
                <a:latin typeface="Calibri"/>
              </a:rPr>
              <a:t>5.  </a:t>
            </a:r>
            <a:r>
              <a:rPr sz="1350" b="0" i="0">
                <a:solidFill>
                  <a:srgbClr val="2A2622"/>
                </a:solidFill>
                <a:latin typeface="Calibri"/>
              </a:rPr>
              <a:t>Post-order: instant confirmation + "Din 7 pe hum khud message kar rahe hain — use ka tarah bhejenge."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314</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CONTENT → SALES SYSTEM (Section 21)</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Metric:</a:t>
            </a:r>
            <a:r>
              <a:rPr sz="1350" b="0" i="0">
                <a:solidFill>
                  <a:srgbClr val="2A2622"/>
                </a:solidFill>
                <a:latin typeface="Calibri"/>
              </a:rPr>
              <a:t> DM→order % (target 35–45% warm), reply time (&lt;15 min), COD failure rate (&lt;15%).</a:t>
            </a:r>
          </a:p>
          <a:p>
            <a:pPr>
              <a:spcBef>
                <a:spcPts val="1000"/>
              </a:spcBef>
              <a:spcAft>
                <a:spcPts val="400"/>
              </a:spcAft>
            </a:pPr>
            <a:r>
              <a:rPr sz="1600" b="1" i="0">
                <a:solidFill>
                  <a:srgbClr val="8F3A22"/>
                </a:solidFill>
                <a:latin typeface="Calibri"/>
              </a:rPr>
              <a:t>STAGE 6 — PURCHASE (Fulfillment as marketing)</a:t>
            </a:r>
          </a:p>
          <a:p>
            <a:pPr>
              <a:spcAft>
                <a:spcPts val="400"/>
              </a:spcAft>
            </a:pPr>
            <a:r>
              <a:rPr sz="1350">
                <a:solidFill>
                  <a:srgbClr val="B44A2E"/>
                </a:solidFill>
                <a:latin typeface="Calibri"/>
              </a:rPr>
              <a:t>•  </a:t>
            </a:r>
            <a:r>
              <a:rPr sz="1350" b="1" i="0">
                <a:solidFill>
                  <a:srgbClr val="2A2622"/>
                </a:solidFill>
                <a:latin typeface="Calibri"/>
              </a:rPr>
              <a:t>Content that belongs here:</a:t>
            </a:r>
            <a:r>
              <a:rPr sz="1350" b="0" i="0">
                <a:solidFill>
                  <a:srgbClr val="2A2622"/>
                </a:solidFill>
                <a:latin typeface="Calibri"/>
              </a:rPr>
              <a:t> the </a:t>
            </a:r>
            <a:r>
              <a:rPr sz="1350" b="1" i="0">
                <a:solidFill>
                  <a:srgbClr val="2A2622"/>
                </a:solidFill>
                <a:latin typeface="Calibri"/>
              </a:rPr>
              <a:t>box itself</a:t>
            </a:r>
            <a:r>
              <a:rPr sz="1350" b="0" i="0">
                <a:solidFill>
                  <a:srgbClr val="2A2622"/>
                </a:solidFill>
                <a:latin typeface="Calibri"/>
              </a:rPr>
              <a:t>: thank-you card (handwritten feel), usage guide (day 1/7/14/28 expectations — sets honest timeline = fewer returns + better reviews), a "review card" (QR/WhatsApp: "photo bhejo, ₹100 off next order"), referral card ("do ₹100 lo ₹100" + their code), tissue/finish = unboxing-worthiness.</a:t>
            </a:r>
          </a:p>
          <a:p>
            <a:pPr>
              <a:spcAft>
                <a:spcPts val="400"/>
              </a:spcAft>
            </a:pPr>
            <a:r>
              <a:rPr sz="1350">
                <a:solidFill>
                  <a:srgbClr val="B44A2E"/>
                </a:solidFill>
                <a:latin typeface="Calibri"/>
              </a:rPr>
              <a:t>•  </a:t>
            </a:r>
            <a:r>
              <a:rPr sz="1350" b="1" i="0">
                <a:solidFill>
                  <a:srgbClr val="2A2622"/>
                </a:solidFill>
                <a:latin typeface="Calibri"/>
              </a:rPr>
              <a:t>Shipping comms:</a:t>
            </a:r>
            <a:r>
              <a:rPr sz="1350" b="0" i="0">
                <a:solidFill>
                  <a:srgbClr val="2A2622"/>
                </a:solidFill>
                <a:latin typeface="Calibri"/>
              </a:rPr>
              <a:t> order confirmed → packed (photo of THEIR box!) → shipped (tracking) → out for delivery → delivered. 5 WhatsApp touches pre-delivery. (The "photo of your actual box" is a 10-second trust rocket — do it for every order in month 1.)</a:t>
            </a:r>
          </a:p>
          <a:p>
            <a:pPr>
              <a:spcAft>
                <a:spcPts val="400"/>
              </a:spcAft>
            </a:pPr>
            <a:r>
              <a:rPr sz="1350">
                <a:solidFill>
                  <a:srgbClr val="B44A2E"/>
                </a:solidFill>
                <a:latin typeface="Calibri"/>
              </a:rPr>
              <a:t>•  </a:t>
            </a:r>
            <a:r>
              <a:rPr sz="1350" b="1" i="0">
                <a:solidFill>
                  <a:srgbClr val="2A2622"/>
                </a:solidFill>
                <a:latin typeface="Calibri"/>
              </a:rPr>
              <a:t>Metric:</a:t>
            </a:r>
            <a:r>
              <a:rPr sz="1350" b="0" i="0">
                <a:solidFill>
                  <a:srgbClr val="2A2622"/>
                </a:solidFill>
                <a:latin typeface="Calibri"/>
              </a:rPr>
              <a:t> COD success (≥85% month 1 → 92%+ by month 3), delivery time, returns (&lt;5%).</a:t>
            </a:r>
          </a:p>
          <a:p>
            <a:pPr>
              <a:spcBef>
                <a:spcPts val="1000"/>
              </a:spcBef>
              <a:spcAft>
                <a:spcPts val="400"/>
              </a:spcAft>
            </a:pPr>
            <a:r>
              <a:rPr sz="1600" b="1" i="0">
                <a:solidFill>
                  <a:srgbClr val="8F3A22"/>
                </a:solidFill>
                <a:latin typeface="Calibri"/>
              </a:rPr>
              <a:t>STAGE 7 — REVIEW (The flywheel ignition)</a:t>
            </a:r>
          </a:p>
          <a:p>
            <a:pPr>
              <a:spcAft>
                <a:spcPts val="400"/>
              </a:spcAft>
            </a:pPr>
            <a:r>
              <a:rPr sz="1350">
                <a:solidFill>
                  <a:srgbClr val="B44A2E"/>
                </a:solidFill>
                <a:latin typeface="Calibri"/>
              </a:rPr>
              <a:t>•  </a:t>
            </a:r>
            <a:r>
              <a:rPr sz="1350" b="1" i="0">
                <a:solidFill>
                  <a:srgbClr val="2A2622"/>
                </a:solidFill>
                <a:latin typeface="Calibri"/>
              </a:rPr>
              <a:t>The WhatsApp sequence (the whole repeat/review engine):</a:t>
            </a:r>
          </a:p>
          <a:p>
            <a:pPr lvl="1">
              <a:spcAft>
                <a:spcPts val="400"/>
              </a:spcAft>
            </a:pPr>
            <a:r>
              <a:rPr sz="1350">
                <a:solidFill>
                  <a:srgbClr val="B44A2E"/>
                </a:solidFill>
                <a:latin typeface="Calibri"/>
              </a:rPr>
              <a:t>–  </a:t>
            </a:r>
            <a:r>
              <a:rPr sz="1350" b="1" i="0">
                <a:solidFill>
                  <a:srgbClr val="2A2622"/>
                </a:solidFill>
                <a:latin typeface="Calibri"/>
              </a:rPr>
              <a:t>Day 1 (delivery):</a:t>
            </a:r>
            <a:r>
              <a:rPr sz="1350" b="0" i="0">
                <a:solidFill>
                  <a:srgbClr val="2A2622"/>
                </a:solidFill>
                <a:latin typeface="Calibri"/>
              </a:rPr>
              <a:t> "Aaya? Din 1 ka tarika: [2 lines]. Koi bhi cheez — main yahan hoon."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315</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CONTENT → SALES SYSTEM (Section 21)</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lvl="1">
              <a:spcAft>
                <a:spcPts val="400"/>
              </a:spcAft>
            </a:pPr>
            <a:r>
              <a:rPr sz="1350">
                <a:solidFill>
                  <a:srgbClr val="B44A2E"/>
                </a:solidFill>
                <a:latin typeface="Calibri"/>
              </a:rPr>
              <a:t>–  </a:t>
            </a:r>
            <a:r>
              <a:rPr sz="1350" b="1" i="0">
                <a:solidFill>
                  <a:srgbClr val="2A2622"/>
                </a:solidFill>
                <a:latin typeface="Calibri"/>
              </a:rPr>
              <a:t>Day 7:</a:t>
            </a:r>
            <a:r>
              <a:rPr sz="1350" b="0" i="0">
                <a:solidFill>
                  <a:srgbClr val="2A2622"/>
                </a:solidFill>
                <a:latin typeface="Calibri"/>
              </a:rPr>
              <a:t> "1 hafte ho gaya. Aaj kya feel? (honest, 1 line me)" + the "day-7 photo" ask: "Same window light me 1 photo bhejo? Aapke jaise ka program me dikhate hain (permission ke saath)."</a:t>
            </a:r>
          </a:p>
          <a:p>
            <a:pPr lvl="1">
              <a:spcAft>
                <a:spcPts val="400"/>
              </a:spcAft>
            </a:pPr>
            <a:r>
              <a:rPr sz="1350">
                <a:solidFill>
                  <a:srgbClr val="B44A2E"/>
                </a:solidFill>
                <a:latin typeface="Calibri"/>
              </a:rPr>
              <a:t>–  </a:t>
            </a:r>
            <a:r>
              <a:rPr sz="1350" b="1" i="0">
                <a:solidFill>
                  <a:srgbClr val="2A2622"/>
                </a:solidFill>
                <a:latin typeface="Calibri"/>
              </a:rPr>
              <a:t>Day 14:</a:t>
            </a:r>
            <a:r>
              <a:rPr sz="1350" b="0" i="0">
                <a:solidFill>
                  <a:srgbClr val="2A2622"/>
                </a:solidFill>
                <a:latin typeface="Calibri"/>
              </a:rPr>
              <a:t> "Aadha tarika. Fresh-look aaya hai? 1 line review bhejo — ₹100 off next order. (Photo optional, sirf word bhi chalega)"</a:t>
            </a:r>
          </a:p>
          <a:p>
            <a:pPr lvl="1">
              <a:spcAft>
                <a:spcPts val="400"/>
              </a:spcAft>
            </a:pPr>
            <a:r>
              <a:rPr sz="1350">
                <a:solidFill>
                  <a:srgbClr val="B44A2E"/>
                </a:solidFill>
                <a:latin typeface="Calibri"/>
              </a:rPr>
              <a:t>–  </a:t>
            </a:r>
            <a:r>
              <a:rPr sz="1350" b="1" i="0">
                <a:solidFill>
                  <a:srgbClr val="2A2622"/>
                </a:solidFill>
                <a:latin typeface="Calibri"/>
              </a:rPr>
              <a:t>Day 28:</a:t>
            </a:r>
            <a:r>
              <a:rPr sz="1350" b="0" i="0">
                <a:solidFill>
                  <a:srgbClr val="2A2622"/>
                </a:solidFill>
                <a:latin typeface="Calibri"/>
              </a:rPr>
              <a:t> "4 hafte! Day-28 photo + 2 line review? (Consent: page/ads par dikhana?) — yehi hamari sabse badi baat hai: asli photos."</a:t>
            </a:r>
          </a:p>
          <a:p>
            <a:pPr lvl="1">
              <a:spcAft>
                <a:spcPts val="400"/>
              </a:spcAft>
            </a:pPr>
            <a:r>
              <a:rPr sz="1350">
                <a:solidFill>
                  <a:srgbClr val="B44A2E"/>
                </a:solidFill>
                <a:latin typeface="Calibri"/>
              </a:rPr>
              <a:t>–  </a:t>
            </a:r>
            <a:r>
              <a:rPr sz="1350" b="1" i="0">
                <a:solidFill>
                  <a:srgbClr val="2A2622"/>
                </a:solidFill>
                <a:latin typeface="Calibri"/>
              </a:rPr>
              <a:t>Day 45:</a:t>
            </a:r>
            <a:r>
              <a:rPr sz="1350" b="0" i="0">
                <a:solidFill>
                  <a:srgbClr val="2A2622"/>
                </a:solidFill>
                <a:latin typeface="Calibri"/>
              </a:rPr>
              <a:t> "Kya chal raha hai? Kuch add karna ho? (SPF wave: 'sunscreen agle mahine — existing customer list pehli priority')"</a:t>
            </a:r>
          </a:p>
          <a:p>
            <a:pPr lvl="1">
              <a:spcAft>
                <a:spcPts val="400"/>
              </a:spcAft>
            </a:pPr>
            <a:r>
              <a:rPr sz="1350">
                <a:solidFill>
                  <a:srgbClr val="B44A2E"/>
                </a:solidFill>
                <a:latin typeface="Calibri"/>
              </a:rPr>
              <a:t>–  </a:t>
            </a:r>
            <a:r>
              <a:rPr sz="1350" b="1" i="0">
                <a:solidFill>
                  <a:srgbClr val="2A2622"/>
                </a:solidFill>
                <a:latin typeface="Calibri"/>
              </a:rPr>
              <a:t>Day 60 (refill window for 30-day serum):</a:t>
            </a:r>
            <a:r>
              <a:rPr sz="1350" b="0" i="0">
                <a:solidFill>
                  <a:srgbClr val="2A2622"/>
                </a:solidFill>
                <a:latin typeface="Calibri"/>
              </a:rPr>
              <a:t> "Aapki bottle ~80% ho gayi hogi. Refill/next: ₹X off, COD. 1 message me order."</a:t>
            </a:r>
          </a:p>
          <a:p>
            <a:pPr>
              <a:spcAft>
                <a:spcPts val="400"/>
              </a:spcAft>
            </a:pPr>
            <a:r>
              <a:rPr sz="1350">
                <a:solidFill>
                  <a:srgbClr val="B44A2E"/>
                </a:solidFill>
                <a:latin typeface="Calibri"/>
              </a:rPr>
              <a:t>•  </a:t>
            </a:r>
            <a:r>
              <a:rPr sz="1350" b="1" i="0">
                <a:solidFill>
                  <a:srgbClr val="2A2622"/>
                </a:solidFill>
                <a:latin typeface="Calibri"/>
              </a:rPr>
              <a:t>Metric:</a:t>
            </a:r>
            <a:r>
              <a:rPr sz="1350" b="0" i="0">
                <a:solidFill>
                  <a:srgbClr val="2A2622"/>
                </a:solidFill>
                <a:latin typeface="Calibri"/>
              </a:rPr>
              <a:t> review-request → review rate (target 25–35% by Day 14), photo-review rate (10–15%), consent rate.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316</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CONTENT → SALES SYSTEM (Section 21)</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STAGE 8 — REPEAT (The profit line)</a:t>
            </a:r>
          </a:p>
          <a:p>
            <a:pPr>
              <a:spcAft>
                <a:spcPts val="400"/>
              </a:spcAft>
            </a:pPr>
            <a:r>
              <a:rPr sz="1350">
                <a:solidFill>
                  <a:srgbClr val="B44A2E"/>
                </a:solidFill>
                <a:latin typeface="Calibri"/>
              </a:rPr>
              <a:t>•  </a:t>
            </a:r>
            <a:r>
              <a:rPr sz="1350" b="1" i="0">
                <a:solidFill>
                  <a:srgbClr val="2A2622"/>
                </a:solidFill>
                <a:latin typeface="Calibri"/>
              </a:rPr>
              <a:t>Content that belongs here:</a:t>
            </a:r>
            <a:r>
              <a:rPr sz="1350" b="0" i="0">
                <a:solidFill>
                  <a:srgbClr val="2A2622"/>
                </a:solidFill>
                <a:latin typeface="Calibri"/>
              </a:rPr>
              <a:t> the Day-45/60 broadcasts above; seasonal cross-sell (Oct: "wedding glow kit existing customers ko pehle"); refill reminders tied to actual bottle size (30-day = Day 28–35 nudge); "kit upgrade" (serum buyer → 3-step kit); loyalty: every 3rd order = free mini of next product (not discount — discount trains price-chasing).</a:t>
            </a:r>
          </a:p>
          <a:p>
            <a:pPr>
              <a:spcAft>
                <a:spcPts val="400"/>
              </a:spcAft>
            </a:pPr>
            <a:r>
              <a:rPr sz="1350">
                <a:solidFill>
                  <a:srgbClr val="B44A2E"/>
                </a:solidFill>
                <a:latin typeface="Calibri"/>
              </a:rPr>
              <a:t>•  </a:t>
            </a:r>
            <a:r>
              <a:rPr sz="1350" b="1" i="0">
                <a:solidFill>
                  <a:srgbClr val="2A2622"/>
                </a:solidFill>
                <a:latin typeface="Calibri"/>
              </a:rPr>
              <a:t>Rules:</a:t>
            </a:r>
            <a:r>
              <a:rPr sz="1350" b="0" i="0">
                <a:solidFill>
                  <a:srgbClr val="2A2622"/>
                </a:solidFill>
                <a:latin typeface="Calibri"/>
              </a:rPr>
              <a:t> first repeat must be a </a:t>
            </a:r>
            <a:r>
              <a:rPr sz="1350" b="0" i="1">
                <a:solidFill>
                  <a:srgbClr val="2A2622"/>
                </a:solidFill>
                <a:latin typeface="Calibri"/>
              </a:rPr>
              <a:t>cross-sell</a:t>
            </a:r>
            <a:r>
              <a:rPr sz="1350" b="0" i="0">
                <a:solidFill>
                  <a:srgbClr val="2A2622"/>
                </a:solidFill>
                <a:latin typeface="Calibri"/>
              </a:rPr>
              <a:t> (they already trust you — sell the routine, not the same product cheaper); never open a conversation with "sale."</a:t>
            </a:r>
          </a:p>
          <a:p>
            <a:pPr>
              <a:spcAft>
                <a:spcPts val="400"/>
              </a:spcAft>
            </a:pPr>
            <a:r>
              <a:rPr sz="1350">
                <a:solidFill>
                  <a:srgbClr val="B44A2E"/>
                </a:solidFill>
                <a:latin typeface="Calibri"/>
              </a:rPr>
              <a:t>•  </a:t>
            </a:r>
            <a:r>
              <a:rPr sz="1350" b="1" i="0">
                <a:solidFill>
                  <a:srgbClr val="2A2622"/>
                </a:solidFill>
                <a:latin typeface="Calibri"/>
              </a:rPr>
              <a:t>Metric:</a:t>
            </a:r>
            <a:r>
              <a:rPr sz="1350" b="0" i="0">
                <a:solidFill>
                  <a:srgbClr val="2A2622"/>
                </a:solidFill>
                <a:latin typeface="Calibri"/>
              </a:rPr>
              <a:t> repeat rate by Day 60 (target 10–15% of cohort), 30-day kit share, AOV trend (target: ₹600 → ₹900 by Day 60).</a:t>
            </a:r>
          </a:p>
          <a:p>
            <a:pPr>
              <a:spcBef>
                <a:spcPts val="1000"/>
              </a:spcBef>
              <a:spcAft>
                <a:spcPts val="400"/>
              </a:spcAft>
            </a:pPr>
            <a:r>
              <a:rPr sz="1600" b="1" i="0">
                <a:solidFill>
                  <a:srgbClr val="8F3A22"/>
                </a:solidFill>
                <a:latin typeface="Calibri"/>
              </a:rPr>
              <a:t>STAGE 9 — REFERRAL (The cheapest growth)</a:t>
            </a:r>
          </a:p>
          <a:p>
            <a:pPr>
              <a:spcAft>
                <a:spcPts val="400"/>
              </a:spcAft>
            </a:pPr>
            <a:r>
              <a:rPr sz="1350">
                <a:solidFill>
                  <a:srgbClr val="B44A2E"/>
                </a:solidFill>
                <a:latin typeface="Calibri"/>
              </a:rPr>
              <a:t>•  </a:t>
            </a:r>
            <a:r>
              <a:rPr sz="1350" b="1" i="0">
                <a:solidFill>
                  <a:srgbClr val="2A2622"/>
                </a:solidFill>
                <a:latin typeface="Calibri"/>
              </a:rPr>
              <a:t>The system:</a:t>
            </a:r>
            <a:r>
              <a:rPr sz="1350" b="0" i="0">
                <a:solidFill>
                  <a:srgbClr val="2A2622"/>
                </a:solidFill>
                <a:latin typeface="Calibri"/>
              </a:rPr>
              <a:t> every buyer gets a code in the box + WhatsApp (Day 2). "Do ₹100, lo ₹100" — friend gets ₹100 off first order, referrer gets ₹100 off next (both real, both tracked in WhatsApp labels/Sheets).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317</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CONTENT → SALES SYSTEM (Section 21)</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The ask moments (when people actually share):</a:t>
            </a:r>
            <a:r>
              <a:rPr sz="1350" b="0" i="0">
                <a:solidFill>
                  <a:srgbClr val="2A2622"/>
                </a:solidFill>
                <a:latin typeface="Calibri"/>
              </a:rPr>
              <a:t> (a) Day 14 after a good review ("aapko pasand aaya — 1 dost ko batao, dono ko ₹100"); (b) at unboxing (shareable moment); (c) at review-feature ("aapki review page par hai — share karo, code bhi").</a:t>
            </a:r>
          </a:p>
          <a:p>
            <a:pPr>
              <a:spcAft>
                <a:spcPts val="400"/>
              </a:spcAft>
            </a:pPr>
            <a:r>
              <a:rPr sz="1350">
                <a:solidFill>
                  <a:srgbClr val="B44A2E"/>
                </a:solidFill>
                <a:latin typeface="Calibri"/>
              </a:rPr>
              <a:t>•  </a:t>
            </a:r>
            <a:r>
              <a:rPr sz="1350" b="1" i="0">
                <a:solidFill>
                  <a:srgbClr val="2A2622"/>
                </a:solidFill>
                <a:latin typeface="Calibri"/>
              </a:rPr>
              <a:t>Measurement:</a:t>
            </a:r>
            <a:r>
              <a:rPr sz="1350" b="0" i="0">
                <a:solidFill>
                  <a:srgbClr val="2A2622"/>
                </a:solidFill>
                <a:latin typeface="Calibri"/>
              </a:rPr>
              <a:t> every referred order tagged in the sheet (code) → referral % of orders (target: 10% by Day 45, 20% by Day 90).</a:t>
            </a:r>
          </a:p>
          <a:p>
            <a:pPr>
              <a:spcAft>
                <a:spcPts val="400"/>
              </a:spcAft>
            </a:pPr>
            <a:r>
              <a:rPr sz="1350">
                <a:solidFill>
                  <a:srgbClr val="B44A2E"/>
                </a:solidFill>
                <a:latin typeface="Calibri"/>
              </a:rPr>
              <a:t>•  </a:t>
            </a:r>
            <a:r>
              <a:rPr sz="1350" b="1" i="0">
                <a:solidFill>
                  <a:srgbClr val="2A2622"/>
                </a:solidFill>
                <a:latin typeface="Calibri"/>
              </a:rPr>
              <a:t>Metric:</a:t>
            </a:r>
            <a:r>
              <a:rPr sz="1350" b="0" i="0">
                <a:solidFill>
                  <a:srgbClr val="2A2622"/>
                </a:solidFill>
                <a:latin typeface="Calibri"/>
              </a:rPr>
              <a:t> referral orders / month, CAC of referred orders (target ~₹100 vs ₹300+ ad CAC).</a:t>
            </a:r>
          </a:p>
          <a:p>
            <a:pPr>
              <a:spcBef>
                <a:spcPts val="1000"/>
              </a:spcBef>
              <a:spcAft>
                <a:spcPts val="400"/>
              </a:spcAft>
            </a:pPr>
            <a:r>
              <a:rPr sz="1600" b="1" i="0">
                <a:solidFill>
                  <a:srgbClr val="8F3A22"/>
                </a:solidFill>
                <a:latin typeface="Calibri"/>
              </a:rPr>
              <a:t>The one-page map (print this)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318</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 name="Rectangle 4"/>
          <p:cNvSpPr/>
          <p:nvPr/>
        </p:nvSpPr>
        <p:spPr>
          <a:xfrm>
            <a:off x="320040" y="1261872"/>
            <a:ext cx="11551615" cy="5212080"/>
          </a:xfrm>
          <a:prstGeom prst="rect">
            <a:avLst/>
          </a:prstGeom>
          <a:solidFill>
            <a:srgbClr val="F1EDE4"/>
          </a:solidFill>
          <a:ln w="9525">
            <a:solidFill>
              <a:srgbClr val="D8C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CONTENT → SALES SYSTEM (Section 21)</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0"/>
            <a:ext cx="11460175" cy="4937760"/>
          </a:xfrm>
          <a:prstGeom prst="rect">
            <a:avLst/>
          </a:prstGeom>
          <a:noFill/>
        </p:spPr>
        <p:txBody>
          <a:bodyPr wrap="square">
            <a:spAutoFit/>
          </a:bodyPr>
          <a:lstStyle/>
          <a:p>
            <a:pPr>
              <a:spcAft>
                <a:spcPts val="100"/>
              </a:spcAft>
            </a:pPr>
            <a:r>
              <a:rPr sz="1150">
                <a:solidFill>
                  <a:srgbClr val="2A2622"/>
                </a:solidFill>
                <a:latin typeface="Consolas"/>
              </a:rPr>
              <a:t>REEL (hook)          → attention          KPI: 3-sec hold, profile visits</a:t>
            </a:r>
          </a:p>
          <a:p>
            <a:pPr>
              <a:spcAft>
                <a:spcPts val="100"/>
              </a:spcAft>
            </a:pPr>
            <a:r>
              <a:rPr sz="1150">
                <a:solidFill>
                  <a:srgbClr val="2A2622"/>
                </a:solidFill>
                <a:latin typeface="Consolas"/>
              </a:rPr>
              <a:t>PROFILE (3-sec test) → judgment           KPI: bio→link, profile→DM</a:t>
            </a:r>
          </a:p>
          <a:p>
            <a:pPr>
              <a:spcAft>
                <a:spcPts val="100"/>
              </a:spcAft>
            </a:pPr>
            <a:r>
              <a:rPr sz="1150">
                <a:solidFill>
                  <a:srgbClr val="2A2622"/>
                </a:solidFill>
                <a:latin typeface="Consolas"/>
              </a:rPr>
              <a:t>TRUST (proof)        → conviction         KPI: trust-questions ↓ in DMs</a:t>
            </a:r>
          </a:p>
          <a:p>
            <a:pPr>
              <a:spcAft>
                <a:spcPts val="100"/>
              </a:spcAft>
            </a:pPr>
            <a:r>
              <a:rPr sz="1150">
                <a:solidFill>
                  <a:srgbClr val="2A2622"/>
                </a:solidFill>
                <a:latin typeface="Consolas"/>
              </a:rPr>
              <a:t>PRODUCT (clarity)    → desire             KPI: product-name DMs, kit share</a:t>
            </a:r>
          </a:p>
          <a:p>
            <a:pPr>
              <a:spcAft>
                <a:spcPts val="100"/>
              </a:spcAft>
            </a:pPr>
            <a:r>
              <a:rPr sz="1150">
                <a:solidFill>
                  <a:srgbClr val="2A2622"/>
                </a:solidFill>
                <a:latin typeface="Consolas"/>
              </a:rPr>
              <a:t>WHATSAPP (GLOW)      → the close          KPI: DM→order 40%+, COD 85%+</a:t>
            </a:r>
          </a:p>
          <a:p>
            <a:pPr>
              <a:spcAft>
                <a:spcPts val="100"/>
              </a:spcAft>
            </a:pPr>
            <a:r>
              <a:rPr sz="1150">
                <a:solidFill>
                  <a:srgbClr val="2A2622"/>
                </a:solidFill>
                <a:latin typeface="Consolas"/>
              </a:rPr>
              <a:t>PURCHASE (box+comms) → wow                KPI: returns &lt;5%, COD fail &lt;15%</a:t>
            </a:r>
          </a:p>
          <a:p>
            <a:pPr>
              <a:spcAft>
                <a:spcPts val="100"/>
              </a:spcAft>
            </a:pPr>
            <a:r>
              <a:rPr sz="1150">
                <a:solidFill>
                  <a:srgbClr val="2A2622"/>
                </a:solidFill>
                <a:latin typeface="Consolas"/>
              </a:rPr>
              <a:t>REVIEW (D1/7/14/28)  → flywheel           KPI: 25%+ reviews, 10%+ photos</a:t>
            </a:r>
          </a:p>
          <a:p>
            <a:pPr>
              <a:spcAft>
                <a:spcPts val="100"/>
              </a:spcAft>
            </a:pPr>
            <a:r>
              <a:rPr sz="1150">
                <a:solidFill>
                  <a:srgbClr val="2A2622"/>
                </a:solidFill>
                <a:latin typeface="Consolas"/>
              </a:rPr>
              <a:t>REPEAT (D45/60)      → profit             KPI: 10–15% repeat by D60</a:t>
            </a:r>
          </a:p>
          <a:p>
            <a:pPr>
              <a:spcAft>
                <a:spcPts val="100"/>
              </a:spcAft>
            </a:pPr>
            <a:r>
              <a:rPr sz="1150">
                <a:solidFill>
                  <a:srgbClr val="2A2622"/>
                </a:solidFill>
                <a:latin typeface="Consolas"/>
              </a:rPr>
              <a:t>REFERRAL (₹100/₹100)→ cheap growth       KPI: 10–20% orders referred</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319</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VIRAL CONTENT vs SALES CONTENT (Section 22)</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The difference (one line each)</a:t>
            </a:r>
          </a:p>
          <a:p>
            <a:pPr>
              <a:spcAft>
                <a:spcPts val="400"/>
              </a:spcAft>
            </a:pPr>
            <a:r>
              <a:rPr sz="1350">
                <a:solidFill>
                  <a:srgbClr val="B44A2E"/>
                </a:solidFill>
                <a:latin typeface="Calibri"/>
              </a:rPr>
              <a:t>•  </a:t>
            </a:r>
            <a:r>
              <a:rPr sz="1350" b="1" i="0">
                <a:solidFill>
                  <a:srgbClr val="2A2622"/>
                </a:solidFill>
                <a:latin typeface="Calibri"/>
              </a:rPr>
              <a:t>Viral/awareness content</a:t>
            </a:r>
            <a:r>
              <a:rPr sz="1350" b="0" i="0">
                <a:solidFill>
                  <a:srgbClr val="2A2622"/>
                </a:solidFill>
                <a:latin typeface="Calibri"/>
              </a:rPr>
              <a:t> = made for </a:t>
            </a:r>
            <a:r>
              <a:rPr sz="1350" b="0" i="1">
                <a:solidFill>
                  <a:srgbClr val="2A2622"/>
                </a:solidFill>
                <a:latin typeface="Calibri"/>
              </a:rPr>
              <a:t>strangers</a:t>
            </a:r>
            <a:r>
              <a:rPr sz="1350" b="0" i="0">
                <a:solidFill>
                  <a:srgbClr val="2A2622"/>
                </a:solidFill>
                <a:latin typeface="Calibri"/>
              </a:rPr>
              <a:t> to stop, feel, and share. Optimized for reach. It should feel like it's about </a:t>
            </a:r>
            <a:r>
              <a:rPr sz="1350" b="0" i="1">
                <a:solidFill>
                  <a:srgbClr val="2A2622"/>
                </a:solidFill>
                <a:latin typeface="Calibri"/>
              </a:rPr>
              <a:t>them</a:t>
            </a:r>
            <a:r>
              <a:rPr sz="1350" b="0" i="0">
                <a:solidFill>
                  <a:srgbClr val="2A2622"/>
                </a:solidFill>
                <a:latin typeface="Calibri"/>
              </a:rPr>
              <a:t>, not about you. (Mistake reels, maa skits, monsoon problem, "girl math.")</a:t>
            </a:r>
          </a:p>
          <a:p>
            <a:pPr>
              <a:spcAft>
                <a:spcPts val="400"/>
              </a:spcAft>
            </a:pPr>
            <a:r>
              <a:rPr sz="1350">
                <a:solidFill>
                  <a:srgbClr val="B44A2E"/>
                </a:solidFill>
                <a:latin typeface="Calibri"/>
              </a:rPr>
              <a:t>•  </a:t>
            </a:r>
            <a:r>
              <a:rPr sz="1350" b="1" i="0">
                <a:solidFill>
                  <a:srgbClr val="2A2622"/>
                </a:solidFill>
                <a:latin typeface="Calibri"/>
              </a:rPr>
              <a:t>Sales content</a:t>
            </a:r>
            <a:r>
              <a:rPr sz="1350" b="0" i="0">
                <a:solidFill>
                  <a:srgbClr val="2A2622"/>
                </a:solidFill>
                <a:latin typeface="Calibri"/>
              </a:rPr>
              <a:t> = made for </a:t>
            </a:r>
            <a:r>
              <a:rPr sz="1350" b="0" i="1">
                <a:solidFill>
                  <a:srgbClr val="2A2622"/>
                </a:solidFill>
                <a:latin typeface="Calibri"/>
              </a:rPr>
              <a:t>evaluators</a:t>
            </a:r>
            <a:r>
              <a:rPr sz="1350" b="0" i="0">
                <a:solidFill>
                  <a:srgbClr val="2A2622"/>
                </a:solidFill>
                <a:latin typeface="Calibri"/>
              </a:rPr>
              <a:t> to buy. Optimized for conversion. It's about the product, the proof, and the one action. (Founding 100, objection killer, offer carousel, testimonial ads.)</a:t>
            </a:r>
          </a:p>
          <a:p>
            <a:pPr>
              <a:spcAft>
                <a:spcPts val="700"/>
              </a:spcAft>
            </a:pPr>
            <a:r>
              <a:rPr sz="1350" b="1" i="0">
                <a:solidFill>
                  <a:srgbClr val="2A2622"/>
                </a:solidFill>
                <a:latin typeface="Calibri"/>
              </a:rPr>
              <a:t>The mistake that kills new brands:</a:t>
            </a:r>
            <a:r>
              <a:rPr sz="1350" b="0" i="0">
                <a:solidFill>
                  <a:srgbClr val="2A2622"/>
                </a:solidFill>
                <a:latin typeface="Calibri"/>
              </a:rPr>
              <a:t> all-viral (big views, zero orders — "par paisa kahan?") or all-sales (nobody follows, nobody trusts — "brand hai kya?"). The ratio below is the balance.</a:t>
            </a:r>
          </a:p>
          <a:p>
            <a:pPr>
              <a:spcBef>
                <a:spcPts val="1000"/>
              </a:spcBef>
              <a:spcAft>
                <a:spcPts val="400"/>
              </a:spcAft>
            </a:pPr>
            <a:r>
              <a:rPr sz="1600" b="1" i="0">
                <a:solidFill>
                  <a:srgbClr val="8F3A22"/>
                </a:solidFill>
                <a:latin typeface="Calibri"/>
              </a:rPr>
              <a:t>The weekly ratio (5–7 Reels + 2 Carousels = ~9–10 posts)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320</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VIRAL CONTENT vs SALES CONTENT (Section 22)</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3" cy="5029200"/>
        </p:xfrm>
        <a:graphic>
          <a:graphicData uri="http://schemas.openxmlformats.org/drawingml/2006/table">
            <a:tbl>
              <a:tblPr firstRow="1" bandRow="1">
                <a:tableStyleId>{5C22544A-7EE6-4342-B048-85BDC9FD1C3A}</a:tableStyleId>
              </a:tblPr>
              <a:tblGrid>
                <a:gridCol w="5059101"/>
                <a:gridCol w="421591"/>
                <a:gridCol w="1011820"/>
                <a:gridCol w="5059101"/>
              </a:tblGrid>
              <a:tr h="838200">
                <a:tc>
                  <a:txBody>
                    <a:bodyPr wrap="square"/>
                    <a:lstStyle/>
                    <a:p>
                      <a:r>
                        <a:rPr sz="1200" b="1" i="0">
                          <a:solidFill>
                            <a:srgbClr val="FFFFFF"/>
                          </a:solidFill>
                          <a:latin typeface="Calibri"/>
                        </a:rPr>
                        <a:t>Bucket</a:t>
                      </a:r>
                    </a:p>
                  </a:txBody>
                  <a:tcPr marL="45720" marR="45720" marT="18288" marB="18288" anchor="t">
                    <a:solidFill>
                      <a:srgbClr val="B44A2E"/>
                    </a:solidFill>
                  </a:tcPr>
                </a:tc>
                <a:tc>
                  <a:txBody>
                    <a:bodyPr wrap="square"/>
                    <a:lstStyle/>
                    <a:p>
                      <a:r>
                        <a:rPr sz="1200" b="1" i="0">
                          <a:solidFill>
                            <a:srgbClr val="FFFFFF"/>
                          </a:solidFill>
                          <a:latin typeface="Calibri"/>
                        </a:rPr>
                        <a:t>Share</a:t>
                      </a:r>
                    </a:p>
                  </a:txBody>
                  <a:tcPr marL="45720" marR="45720" marT="18288" marB="18288" anchor="t">
                    <a:solidFill>
                      <a:srgbClr val="B44A2E"/>
                    </a:solidFill>
                  </a:tcPr>
                </a:tc>
                <a:tc>
                  <a:txBody>
                    <a:bodyPr wrap="square"/>
                    <a:lstStyle/>
                    <a:p>
                      <a:r>
                        <a:rPr sz="1200" b="1" i="0">
                          <a:solidFill>
                            <a:srgbClr val="FFFFFF"/>
                          </a:solidFill>
                          <a:latin typeface="Calibri"/>
                        </a:rPr>
                        <a:t>Weekly count</a:t>
                      </a:r>
                    </a:p>
                  </a:txBody>
                  <a:tcPr marL="45720" marR="45720" marT="18288" marB="18288" anchor="t">
                    <a:solidFill>
                      <a:srgbClr val="B44A2E"/>
                    </a:solidFill>
                  </a:tcPr>
                </a:tc>
                <a:tc>
                  <a:txBody>
                    <a:bodyPr wrap="square"/>
                    <a:lstStyle/>
                    <a:p>
                      <a:r>
                        <a:rPr sz="1200" b="1" i="0">
                          <a:solidFill>
                            <a:srgbClr val="FFFFFF"/>
                          </a:solidFill>
                          <a:latin typeface="Calibri"/>
                        </a:rPr>
                        <a:t>What counts in it</a:t>
                      </a:r>
                    </a:p>
                  </a:txBody>
                  <a:tcPr marL="45720" marR="45720" marT="18288" marB="18288" anchor="t">
                    <a:solidFill>
                      <a:srgbClr val="B44A2E"/>
                    </a:solidFill>
                  </a:tcPr>
                </a:tc>
              </a:tr>
              <a:tr h="838200">
                <a:tc>
                  <a:txBody>
                    <a:bodyPr wrap="square"/>
                    <a:lstStyle/>
                    <a:p>
                      <a:r>
                        <a:rPr sz="1200" b="1" i="0">
                          <a:solidFill>
                            <a:srgbClr val="2A2622"/>
                          </a:solidFill>
                          <a:latin typeface="Calibri"/>
                        </a:rPr>
                        <a:t>Awareness</a:t>
                      </a:r>
                      <a:r>
                        <a:rPr sz="1200" b="0" i="0">
                          <a:solidFill>
                            <a:srgbClr val="2A2622"/>
                          </a:solidFill>
                          <a:latin typeface="Calibri"/>
                        </a:rPr>
                        <a:t> (stranger-stoppers, humor, problems)</a:t>
                      </a:r>
                    </a:p>
                  </a:txBody>
                  <a:tcPr marL="45720" marR="45720" marT="18288" marB="18288" anchor="t">
                    <a:solidFill>
                      <a:srgbClr val="FFFFFF"/>
                    </a:solidFill>
                  </a:tcPr>
                </a:tc>
                <a:tc>
                  <a:txBody>
                    <a:bodyPr wrap="square"/>
                    <a:lstStyle/>
                    <a:p>
                      <a:r>
                        <a:rPr sz="1200" b="0" i="0">
                          <a:solidFill>
                            <a:srgbClr val="2A2622"/>
                          </a:solidFill>
                          <a:latin typeface="Calibri"/>
                        </a:rPr>
                        <a:t>20%</a:t>
                      </a:r>
                    </a:p>
                  </a:txBody>
                  <a:tcPr marL="45720" marR="45720" marT="18288" marB="18288" anchor="t">
                    <a:solidFill>
                      <a:srgbClr val="FFFFFF"/>
                    </a:solidFill>
                  </a:tcPr>
                </a:tc>
                <a:tc>
                  <a:txBody>
                    <a:bodyPr wrap="square"/>
                    <a:lstStyle/>
                    <a:p>
                      <a:r>
                        <a:rPr sz="1200" b="0" i="0">
                          <a:solidFill>
                            <a:srgbClr val="2A2622"/>
                          </a:solidFill>
                          <a:latin typeface="Calibri"/>
                        </a:rPr>
                        <a:t>2</a:t>
                      </a:r>
                    </a:p>
                  </a:txBody>
                  <a:tcPr marL="45720" marR="45720" marT="18288" marB="18288" anchor="t">
                    <a:solidFill>
                      <a:srgbClr val="FFFFFF"/>
                    </a:solidFill>
                  </a:tcPr>
                </a:tc>
                <a:tc>
                  <a:txBody>
                    <a:bodyPr wrap="square"/>
                    <a:lstStyle/>
                    <a:p>
                      <a:r>
                        <a:rPr sz="1200" b="0" i="0">
                          <a:solidFill>
                            <a:srgbClr val="2A2622"/>
                          </a:solidFill>
                          <a:latin typeface="Calibri"/>
                        </a:rPr>
                        <a:t>Mistake reels, relatable/Gujarati, problem reels, maa skit, "girl math"</a:t>
                      </a:r>
                    </a:p>
                  </a:txBody>
                  <a:tcPr marL="45720" marR="45720" marT="18288" marB="18288" anchor="t">
                    <a:solidFill>
                      <a:srgbClr val="FFFFFF"/>
                    </a:solidFill>
                  </a:tcPr>
                </a:tc>
              </a:tr>
              <a:tr h="838200">
                <a:tc>
                  <a:txBody>
                    <a:bodyPr wrap="square"/>
                    <a:lstStyle/>
                    <a:p>
                      <a:r>
                        <a:rPr sz="1200" b="1" i="0">
                          <a:solidFill>
                            <a:srgbClr val="2A2622"/>
                          </a:solidFill>
                          <a:latin typeface="Calibri"/>
                        </a:rPr>
                        <a:t>Education</a:t>
                      </a:r>
                      <a:r>
                        <a:rPr sz="1200" b="0" i="0">
                          <a:solidFill>
                            <a:srgbClr val="2A2622"/>
                          </a:solidFill>
                          <a:latin typeface="Calibri"/>
                        </a:rPr>
                        <a:t> (saves, authority)</a:t>
                      </a:r>
                    </a:p>
                  </a:txBody>
                  <a:tcPr marL="45720" marR="45720" marT="18288" marB="18288" anchor="t">
                    <a:solidFill>
                      <a:srgbClr val="F6F1E7"/>
                    </a:solidFill>
                  </a:tcPr>
                </a:tc>
                <a:tc>
                  <a:txBody>
                    <a:bodyPr wrap="square"/>
                    <a:lstStyle/>
                    <a:p>
                      <a:r>
                        <a:rPr sz="1200" b="0" i="0">
                          <a:solidFill>
                            <a:srgbClr val="2A2622"/>
                          </a:solidFill>
                          <a:latin typeface="Calibri"/>
                        </a:rPr>
                        <a:t>25%</a:t>
                      </a:r>
                    </a:p>
                  </a:txBody>
                  <a:tcPr marL="45720" marR="45720" marT="18288" marB="18288" anchor="t">
                    <a:solidFill>
                      <a:srgbClr val="F6F1E7"/>
                    </a:solidFill>
                  </a:tcPr>
                </a:tc>
                <a:tc>
                  <a:txBody>
                    <a:bodyPr wrap="square"/>
                    <a:lstStyle/>
                    <a:p>
                      <a:r>
                        <a:rPr sz="1200" b="0" i="0">
                          <a:solidFill>
                            <a:srgbClr val="2A2622"/>
                          </a:solidFill>
                          <a:latin typeface="Calibri"/>
                        </a:rPr>
                        <a:t>2</a:t>
                      </a:r>
                    </a:p>
                  </a:txBody>
                  <a:tcPr marL="45720" marR="45720" marT="18288" marB="18288" anchor="t">
                    <a:solidFill>
                      <a:srgbClr val="F6F1E7"/>
                    </a:solidFill>
                  </a:tcPr>
                </a:tc>
                <a:tc>
                  <a:txBody>
                    <a:bodyPr wrap="square"/>
                    <a:lstStyle/>
                    <a:p>
                      <a:r>
                        <a:rPr sz="1200" b="0" i="0">
                          <a:solidFill>
                            <a:srgbClr val="2A2622"/>
                          </a:solidFill>
                          <a:latin typeface="Calibri"/>
                        </a:rPr>
                        <a:t>Myth vs reality, how-to, ingredient science, SPF/layering education</a:t>
                      </a:r>
                    </a:p>
                  </a:txBody>
                  <a:tcPr marL="45720" marR="45720" marT="18288" marB="18288" anchor="t">
                    <a:solidFill>
                      <a:srgbClr val="F6F1E7"/>
                    </a:solidFill>
                  </a:tcPr>
                </a:tc>
              </a:tr>
              <a:tr h="838200">
                <a:tc>
                  <a:txBody>
                    <a:bodyPr wrap="square"/>
                    <a:lstStyle/>
                    <a:p>
                      <a:r>
                        <a:rPr sz="1200" b="1" i="0">
                          <a:solidFill>
                            <a:srgbClr val="2A2622"/>
                          </a:solidFill>
                          <a:latin typeface="Calibri"/>
                        </a:rPr>
                        <a:t>Trust</a:t>
                      </a:r>
                      <a:r>
                        <a:rPr sz="1200" b="0" i="0">
                          <a:solidFill>
                            <a:srgbClr val="2A2622"/>
                          </a:solidFill>
                          <a:latin typeface="Calibri"/>
                        </a:rPr>
                        <a:t> (proof, people)</a:t>
                      </a:r>
                    </a:p>
                  </a:txBody>
                  <a:tcPr marL="45720" marR="45720" marT="18288" marB="18288" anchor="t">
                    <a:solidFill>
                      <a:srgbClr val="FFFFFF"/>
                    </a:solidFill>
                  </a:tcPr>
                </a:tc>
                <a:tc>
                  <a:txBody>
                    <a:bodyPr wrap="square"/>
                    <a:lstStyle/>
                    <a:p>
                      <a:r>
                        <a:rPr sz="1200" b="0" i="0">
                          <a:solidFill>
                            <a:srgbClr val="2A2622"/>
                          </a:solidFill>
                          <a:latin typeface="Calibri"/>
                        </a:rPr>
                        <a:t>30%</a:t>
                      </a:r>
                    </a:p>
                  </a:txBody>
                  <a:tcPr marL="45720" marR="45720" marT="18288" marB="18288" anchor="t">
                    <a:solidFill>
                      <a:srgbClr val="FFFFFF"/>
                    </a:solidFill>
                  </a:tcPr>
                </a:tc>
                <a:tc>
                  <a:txBody>
                    <a:bodyPr wrap="square"/>
                    <a:lstStyle/>
                    <a:p>
                      <a:r>
                        <a:rPr sz="1200" b="0" i="0">
                          <a:solidFill>
                            <a:srgbClr val="2A2622"/>
                          </a:solidFill>
                          <a:latin typeface="Calibri"/>
                        </a:rPr>
                        <a:t>2–3</a:t>
                      </a:r>
                    </a:p>
                  </a:txBody>
                  <a:tcPr marL="45720" marR="45720" marT="18288" marB="18288" anchor="t">
                    <a:solidFill>
                      <a:srgbClr val="FFFFFF"/>
                    </a:solidFill>
                  </a:tcPr>
                </a:tc>
                <a:tc>
                  <a:txBody>
                    <a:bodyPr wrap="square"/>
                    <a:lstStyle/>
                    <a:p>
                      <a:r>
                        <a:rPr sz="1200" b="0" i="0">
                          <a:solidFill>
                            <a:srgbClr val="2A2622"/>
                          </a:solidFill>
                          <a:latin typeface="Calibri"/>
                        </a:rPr>
                        <a:t>Disclosed B/A, tester stories, unboxings, founder story, creator collabs</a:t>
                      </a:r>
                    </a:p>
                  </a:txBody>
                  <a:tcPr marL="45720" marR="45720" marT="18288" marB="18288" anchor="t">
                    <a:solidFill>
                      <a:srgbClr val="FFFFFF"/>
                    </a:solidFill>
                  </a:tcPr>
                </a:tc>
              </a:tr>
              <a:tr h="838200">
                <a:tc>
                  <a:txBody>
                    <a:bodyPr wrap="square"/>
                    <a:lstStyle/>
                    <a:p>
                      <a:r>
                        <a:rPr sz="1200" b="1" i="0">
                          <a:solidFill>
                            <a:srgbClr val="2A2622"/>
                          </a:solidFill>
                          <a:latin typeface="Calibri"/>
                        </a:rPr>
                        <a:t>Sales</a:t>
                      </a:r>
                      <a:r>
                        <a:rPr sz="1200" b="0" i="0">
                          <a:solidFill>
                            <a:srgbClr val="2A2622"/>
                          </a:solidFill>
                          <a:latin typeface="Calibri"/>
                        </a:rPr>
                        <a:t> (direct)</a:t>
                      </a:r>
                    </a:p>
                  </a:txBody>
                  <a:tcPr marL="45720" marR="45720" marT="18288" marB="18288" anchor="t">
                    <a:solidFill>
                      <a:srgbClr val="F6F1E7"/>
                    </a:solidFill>
                  </a:tcPr>
                </a:tc>
                <a:tc>
                  <a:txBody>
                    <a:bodyPr wrap="square"/>
                    <a:lstStyle/>
                    <a:p>
                      <a:r>
                        <a:rPr sz="1200" b="0" i="0">
                          <a:solidFill>
                            <a:srgbClr val="2A2622"/>
                          </a:solidFill>
                          <a:latin typeface="Calibri"/>
                        </a:rPr>
                        <a:t>20%</a:t>
                      </a:r>
                    </a:p>
                  </a:txBody>
                  <a:tcPr marL="45720" marR="45720" marT="18288" marB="18288" anchor="t">
                    <a:solidFill>
                      <a:srgbClr val="F6F1E7"/>
                    </a:solidFill>
                  </a:tcPr>
                </a:tc>
                <a:tc>
                  <a:txBody>
                    <a:bodyPr wrap="square"/>
                    <a:lstStyle/>
                    <a:p>
                      <a:r>
                        <a:rPr sz="1200" b="0" i="0">
                          <a:solidFill>
                            <a:srgbClr val="2A2622"/>
                          </a:solidFill>
                          <a:latin typeface="Calibri"/>
                        </a:rPr>
                        <a:t>2</a:t>
                      </a:r>
                    </a:p>
                  </a:txBody>
                  <a:tcPr marL="45720" marR="45720" marT="18288" marB="18288" anchor="t">
                    <a:solidFill>
                      <a:srgbClr val="F6F1E7"/>
                    </a:solidFill>
                  </a:tcPr>
                </a:tc>
                <a:tc>
                  <a:txBody>
                    <a:bodyPr wrap="square"/>
                    <a:lstStyle/>
                    <a:p>
                      <a:r>
                        <a:rPr sz="1200" b="0" i="0">
                          <a:solidFill>
                            <a:srgbClr val="2A2622"/>
                          </a:solidFill>
                          <a:latin typeface="Calibri"/>
                        </a:rPr>
                        <a:t>Offer posts, kit/bundle, X-seats-left, referral, launch/close</a:t>
                      </a:r>
                    </a:p>
                  </a:txBody>
                  <a:tcPr marL="45720" marR="45720" marT="18288" marB="18288" anchor="t">
                    <a:solidFill>
                      <a:srgbClr val="F6F1E7"/>
                    </a:solidFill>
                  </a:tcPr>
                </a:tc>
              </a:tr>
              <a:tr h="838200">
                <a:tc>
                  <a:txBody>
                    <a:bodyPr wrap="square"/>
                    <a:lstStyle/>
                    <a:p>
                      <a:r>
                        <a:rPr sz="1200" b="0" i="0">
                          <a:solidFill>
                            <a:srgbClr val="2A2622"/>
                          </a:solidFill>
                          <a:latin typeface="Calibri"/>
                        </a:rPr>
                        <a:t>(Overlap note: a founder story with an offer CTA counts as Trust+Sales — assign ONE primary bucket)</a:t>
                      </a:r>
                    </a:p>
                  </a:txBody>
                  <a:tcPr marL="45720" marR="45720" marT="18288" marB="18288" anchor="t">
                    <a:solidFill>
                      <a:srgbClr val="FFFFFF"/>
                    </a:solidFill>
                  </a:tcPr>
                </a:tc>
                <a:tc>
                  <a:txBody>
                    <a:bodyPr wrap="square"/>
                    <a:lstStyle/>
                    <a:p/>
                  </a:txBody>
                  <a:tcPr marL="45720" marR="45720" marT="18288" marB="18288" anchor="t">
                    <a:solidFill>
                      <a:srgbClr val="FFFFFF"/>
                    </a:solidFill>
                  </a:tcPr>
                </a:tc>
                <a:tc>
                  <a:txBody>
                    <a:bodyPr wrap="square"/>
                    <a:lstStyle/>
                    <a:p/>
                  </a:txBody>
                  <a:tcPr marL="45720" marR="45720" marT="18288" marB="18288" anchor="t">
                    <a:solidFill>
                      <a:srgbClr val="FFFFFF"/>
                    </a:solidFill>
                  </a:tcPr>
                </a:tc>
                <a:tc>
                  <a:txBody>
                    <a:bodyPr wrap="square"/>
                    <a:lstStyle/>
                    <a:p/>
                  </a:txBody>
                  <a:tcPr marL="45720" marR="45720" marT="18288" marB="18288" anchor="t">
                    <a:solidFill>
                      <a:srgbClr val="FFFFFF"/>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321</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VIRAL CONTENT vs SALES CONTENT (Section 22)</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How much should directly sell?</a:t>
            </a:r>
          </a:p>
          <a:p>
            <a:pPr>
              <a:spcAft>
                <a:spcPts val="400"/>
              </a:spcAft>
            </a:pPr>
            <a:r>
              <a:rPr sz="1350">
                <a:solidFill>
                  <a:srgbClr val="B44A2E"/>
                </a:solidFill>
                <a:latin typeface="Calibri"/>
              </a:rPr>
              <a:t>•  </a:t>
            </a:r>
            <a:r>
              <a:rPr sz="1350" b="1" i="0">
                <a:solidFill>
                  <a:srgbClr val="2A2622"/>
                </a:solidFill>
                <a:latin typeface="Calibri"/>
              </a:rPr>
              <a:t>1 in 5 posts sells directly — and only after Day 15</a:t>
            </a:r>
            <a:r>
              <a:rPr sz="1350" b="0" i="0">
                <a:solidFill>
                  <a:srgbClr val="2A2622"/>
                </a:solidFill>
                <a:latin typeface="Calibri"/>
              </a:rPr>
              <a:t> (when proof exists). Weeks 1–2: 0–1 direct. Week 3: 1. Week 4+: 2.</a:t>
            </a:r>
          </a:p>
          <a:p>
            <a:pPr>
              <a:spcAft>
                <a:spcPts val="400"/>
              </a:spcAft>
            </a:pPr>
            <a:r>
              <a:rPr sz="1350">
                <a:solidFill>
                  <a:srgbClr val="B44A2E"/>
                </a:solidFill>
                <a:latin typeface="Calibri"/>
              </a:rPr>
              <a:t>•  </a:t>
            </a:r>
            <a:r>
              <a:rPr sz="1350" b="1" i="0">
                <a:solidFill>
                  <a:srgbClr val="2A2622"/>
                </a:solidFill>
                <a:latin typeface="Calibri"/>
              </a:rPr>
              <a:t>The other 4 in 5 sell indirectly:</a:t>
            </a:r>
            <a:r>
              <a:rPr sz="1350" b="0" i="0">
                <a:solidFill>
                  <a:srgbClr val="2A2622"/>
                </a:solidFill>
                <a:latin typeface="Calibri"/>
              </a:rPr>
              <a:t> every awareness reel ends with a soft CTA into the funnel (follow / save / DM GLOW), every education reel ends with a product nod, every trust post reminds of the offer in one line. So the </a:t>
            </a:r>
            <a:r>
              <a:rPr sz="1350" b="0" i="1">
                <a:solidFill>
                  <a:srgbClr val="2A2622"/>
                </a:solidFill>
                <a:latin typeface="Calibri"/>
              </a:rPr>
              <a:t>effective</a:t>
            </a:r>
            <a:r>
              <a:rPr sz="1350" b="0" i="0">
                <a:solidFill>
                  <a:srgbClr val="2A2622"/>
                </a:solidFill>
                <a:latin typeface="Calibri"/>
              </a:rPr>
              <a:t> selling pressure is ~100% — but the </a:t>
            </a:r>
            <a:r>
              <a:rPr sz="1350" b="0" i="1">
                <a:solidFill>
                  <a:srgbClr val="2A2622"/>
                </a:solidFill>
                <a:latin typeface="Calibri"/>
              </a:rPr>
              <a:t>explicit</a:t>
            </a:r>
            <a:r>
              <a:rPr sz="1350" b="0" i="0">
                <a:solidFill>
                  <a:srgbClr val="2A2622"/>
                </a:solidFill>
                <a:latin typeface="Calibri"/>
              </a:rPr>
              <a:t> sell is 1 in 5.</a:t>
            </a:r>
          </a:p>
          <a:p>
            <a:pPr>
              <a:spcAft>
                <a:spcPts val="400"/>
              </a:spcAft>
            </a:pPr>
            <a:r>
              <a:rPr sz="1350">
                <a:solidFill>
                  <a:srgbClr val="B44A2E"/>
                </a:solidFill>
                <a:latin typeface="Calibri"/>
              </a:rPr>
              <a:t>•  </a:t>
            </a:r>
            <a:r>
              <a:rPr sz="1350" b="1" i="0">
                <a:solidFill>
                  <a:srgbClr val="2A2622"/>
                </a:solidFill>
                <a:latin typeface="Calibri"/>
              </a:rPr>
              <a:t>Seasonal override:</a:t>
            </a:r>
            <a:r>
              <a:rPr sz="1350" b="0" i="0">
                <a:solidFill>
                  <a:srgbClr val="2A2622"/>
                </a:solidFill>
                <a:latin typeface="Calibri"/>
              </a:rPr>
              <a:t> launch weeks, Diwali week, and "X seat left" weeks can run 3-in-9 direct (max 33%) — never above.</a:t>
            </a:r>
          </a:p>
          <a:p>
            <a:pPr>
              <a:spcAft>
                <a:spcPts val="400"/>
              </a:spcAft>
            </a:pPr>
            <a:r>
              <a:rPr sz="1350">
                <a:solidFill>
                  <a:srgbClr val="B44A2E"/>
                </a:solidFill>
                <a:latin typeface="Calibri"/>
              </a:rPr>
              <a:t>•  </a:t>
            </a:r>
            <a:r>
              <a:rPr sz="1350" b="1" i="0">
                <a:solidFill>
                  <a:srgbClr val="2A2622"/>
                </a:solidFill>
                <a:latin typeface="Calibri"/>
              </a:rPr>
              <a:t>Ads change the math:</a:t>
            </a:r>
            <a:r>
              <a:rPr sz="1350" b="0" i="0">
                <a:solidFill>
                  <a:srgbClr val="2A2622"/>
                </a:solidFill>
                <a:latin typeface="Calibri"/>
              </a:rPr>
              <a:t> organic stays 1-in-5; paid media carries the heavier sell (that's what ads are for).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322</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C: INDIAN BUYER PSYCHOLOGY — why a stranger buys an unknown skincare brand (Section 2</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The unknown-brand gap in India is not a price problem. It's a </a:t>
            </a:r>
            <a:r>
              <a:rPr sz="1350" b="1" i="0">
                <a:solidFill>
                  <a:srgbClr val="2A2622"/>
                </a:solidFill>
                <a:latin typeface="Calibri"/>
              </a:rPr>
              <a:t>trust gap shaped by 10 forces.</a:t>
            </a:r>
            <a:r>
              <a:rPr sz="1350" b="0" i="0">
                <a:solidFill>
                  <a:srgbClr val="2A2622"/>
                </a:solidFill>
                <a:latin typeface="Calibri"/>
              </a:rPr>
              <a:t> Here's each force + the exact RANGAT play:</a:t>
            </a:r>
          </a:p>
          <a:p>
            <a:pPr>
              <a:spcAft>
                <a:spcPts val="400"/>
              </a:spcAft>
            </a:pPr>
            <a:r>
              <a:rPr sz="1350" b="1">
                <a:solidFill>
                  <a:srgbClr val="8F3A22"/>
                </a:solidFill>
                <a:latin typeface="Calibri"/>
              </a:rPr>
              <a:t>1.  </a:t>
            </a:r>
            <a:r>
              <a:rPr sz="1350" b="1" i="0">
                <a:solidFill>
                  <a:srgbClr val="2A2622"/>
                </a:solidFill>
                <a:latin typeface="Calibri"/>
              </a:rPr>
              <a:t>Fakery fear (the #1 silent blocker).</a:t>
            </a:r>
            <a:r>
              <a:rPr sz="1350" b="0" i="0">
                <a:solidFill>
                  <a:srgbClr val="2A2622"/>
                </a:solidFill>
                <a:latin typeface="Calibri"/>
              </a:rPr>
              <a:t> India's fake-product history makes "naya brand" = "shayad fake." → </a:t>
            </a:r>
            <a:r>
              <a:rPr sz="1350" b="0" i="1">
                <a:solidFill>
                  <a:srgbClr val="2A2622"/>
                </a:solidFill>
                <a:latin typeface="Calibri"/>
              </a:rPr>
              <a:t>Play:</a:t>
            </a:r>
            <a:r>
              <a:rPr sz="1350" b="0" i="0">
                <a:solidFill>
                  <a:srgbClr val="2A2622"/>
                </a:solidFill>
                <a:latin typeface="Calibri"/>
              </a:rPr>
              <a:t> batch card on every bottle + "verify on website" + the "anti-fake" content line + founder face + COD. We market </a:t>
            </a:r>
            <a:r>
              <a:rPr sz="1350" b="0" i="1">
                <a:solidFill>
                  <a:srgbClr val="2A2622"/>
                </a:solidFill>
                <a:latin typeface="Calibri"/>
              </a:rPr>
              <a:t>genuineness</a:t>
            </a:r>
            <a:r>
              <a:rPr sz="1350" b="0" i="0">
                <a:solidFill>
                  <a:srgbClr val="2A2622"/>
                </a:solidFill>
                <a:latin typeface="Calibri"/>
              </a:rPr>
              <a:t> as a feature, not an afterthought.</a:t>
            </a:r>
          </a:p>
          <a:p>
            <a:pPr>
              <a:spcAft>
                <a:spcPts val="400"/>
              </a:spcAft>
            </a:pPr>
            <a:r>
              <a:rPr sz="1350" b="1">
                <a:solidFill>
                  <a:srgbClr val="8F3A22"/>
                </a:solidFill>
                <a:latin typeface="Calibri"/>
              </a:rPr>
              <a:t>2.  </a:t>
            </a:r>
            <a:r>
              <a:rPr sz="1350" b="1" i="0">
                <a:solidFill>
                  <a:srgbClr val="2A2622"/>
                </a:solidFill>
                <a:latin typeface="Calibri"/>
              </a:rPr>
              <a:t>Trust = face + consistency.</a:t>
            </a:r>
            <a:r>
              <a:rPr sz="1350" b="0" i="0">
                <a:solidFill>
                  <a:srgbClr val="2A2622"/>
                </a:solidFill>
                <a:latin typeface="Calibri"/>
              </a:rPr>
              <a:t> An Indian buyer trusts a human face &gt; a logo, and consistency &gt; one big post. → </a:t>
            </a:r>
            <a:r>
              <a:rPr sz="1350" b="0" i="1">
                <a:solidFill>
                  <a:srgbClr val="2A2622"/>
                </a:solidFill>
                <a:latin typeface="Calibri"/>
              </a:rPr>
              <a:t>Play:</a:t>
            </a:r>
            <a:r>
              <a:rPr sz="1350" b="0" i="0">
                <a:solidFill>
                  <a:srgbClr val="2A2622"/>
                </a:solidFill>
                <a:latin typeface="Calibri"/>
              </a:rPr>
              <a:t> founder face on 40% of content for 90 days; daily Stories; 15-min DM SLA.</a:t>
            </a:r>
          </a:p>
          <a:p>
            <a:pPr>
              <a:spcAft>
                <a:spcPts val="400"/>
              </a:spcAft>
            </a:pPr>
            <a:r>
              <a:rPr sz="1350" b="1">
                <a:solidFill>
                  <a:srgbClr val="8F3A22"/>
                </a:solidFill>
                <a:latin typeface="Calibri"/>
              </a:rPr>
              <a:t>3.  </a:t>
            </a:r>
            <a:r>
              <a:rPr sz="1350" b="1" i="0">
                <a:solidFill>
                  <a:srgbClr val="2A2622"/>
                </a:solidFill>
                <a:latin typeface="Calibri"/>
              </a:rPr>
              <a:t>Price = respect, not cheapness.</a:t>
            </a:r>
            <a:r>
              <a:rPr sz="1350" b="0" i="0">
                <a:solidFill>
                  <a:srgbClr val="2A2622"/>
                </a:solidFill>
                <a:latin typeface="Calibri"/>
              </a:rPr>
              <a:t> "Sasta" triggers the fake association; "aam daam + zyada value" triggers the smart-buyer identity (very Gujarati: value psychology without the discount circus). → </a:t>
            </a:r>
            <a:r>
              <a:rPr sz="1350" b="0" i="1">
                <a:solidFill>
                  <a:srgbClr val="2A2622"/>
                </a:solidFill>
                <a:latin typeface="Calibri"/>
              </a:rPr>
              <a:t>Play:</a:t>
            </a:r>
            <a:r>
              <a:rPr sz="1350" b="0" i="0">
                <a:solidFill>
                  <a:srgbClr val="2A2622"/>
                </a:solidFill>
                <a:latin typeface="Calibri"/>
              </a:rPr>
              <a:t> honest price breakdown reel (D14); never fake %; free </a:t>
            </a:r>
            <a:r>
              <a:rPr sz="1350" b="0" i="1">
                <a:solidFill>
                  <a:srgbClr val="2A2622"/>
                </a:solidFill>
                <a:latin typeface="Calibri"/>
              </a:rPr>
              <a:t>items</a:t>
            </a:r>
            <a:r>
              <a:rPr sz="1350" b="0" i="0">
                <a:solidFill>
                  <a:srgbClr val="2A2622"/>
                </a:solidFill>
                <a:latin typeface="Calibri"/>
              </a:rPr>
              <a:t> (mini) instead of fake % (a free face-wash mini is tangible, "90% OFF" is not).</a:t>
            </a:r>
          </a:p>
          <a:p>
            <a:pPr>
              <a:spcAft>
                <a:spcPts val="400"/>
              </a:spcAft>
            </a:pPr>
            <a:r>
              <a:rPr sz="1350" b="1">
                <a:solidFill>
                  <a:srgbClr val="8F3A22"/>
                </a:solidFill>
                <a:latin typeface="Calibri"/>
              </a:rPr>
              <a:t>4.  </a:t>
            </a:r>
            <a:r>
              <a:rPr sz="1350" b="1" i="0">
                <a:solidFill>
                  <a:srgbClr val="2A2622"/>
                </a:solidFill>
                <a:latin typeface="Calibri"/>
              </a:rPr>
              <a:t>Results = visible, slow, and honest.</a:t>
            </a:r>
            <a:r>
              <a:rPr sz="1350" b="0" i="0">
                <a:solidFill>
                  <a:srgbClr val="2A2622"/>
                </a:solidFill>
                <a:latin typeface="Calibri"/>
              </a:rPr>
              <a:t> Buyers know "3-din glow" is fake. The credible brand is the one that says 4–6 weeks and shows Day-7 "kuch nahi" honestly. → </a:t>
            </a:r>
            <a:r>
              <a:rPr sz="1350" b="0" i="1">
                <a:solidFill>
                  <a:srgbClr val="2A2622"/>
                </a:solidFill>
                <a:latin typeface="Calibri"/>
              </a:rPr>
              <a:t>Play:</a:t>
            </a:r>
            <a:r>
              <a:rPr sz="1350" b="0" i="0">
                <a:solidFill>
                  <a:srgbClr val="2A2622"/>
                </a:solidFill>
                <a:latin typeface="Calibri"/>
              </a:rPr>
              <a:t> 28-day program with the honest middle; "honest timeline" as a brand line.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323</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C: INDIAN BUYER PSYCHOLOGY — why a stranger buys an unknown skincare brand (Section 2</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5.  </a:t>
            </a:r>
            <a:r>
              <a:rPr sz="1350" b="1" i="0">
                <a:solidFill>
                  <a:srgbClr val="2A2622"/>
                </a:solidFill>
                <a:latin typeface="Calibri"/>
              </a:rPr>
              <a:t>Ingredients = the new "brand."</a:t>
            </a:r>
            <a:r>
              <a:rPr sz="1350" b="0" i="0">
                <a:solidFill>
                  <a:srgbClr val="2A2622"/>
                </a:solidFill>
                <a:latin typeface="Calibri"/>
              </a:rPr>
              <a:t> 25–40 buyers now read labels; "10% Vitamin C, simple list, batch card" is a differentiator against both totka and big-brand opacity. → </a:t>
            </a:r>
            <a:r>
              <a:rPr sz="1350" b="0" i="1">
                <a:solidFill>
                  <a:srgbClr val="2A2622"/>
                </a:solidFill>
                <a:latin typeface="Calibri"/>
              </a:rPr>
              <a:t>Play:</a:t>
            </a:r>
            <a:r>
              <a:rPr sz="1350" b="0" i="0">
                <a:solidFill>
                  <a:srgbClr val="2A2622"/>
                </a:solidFill>
                <a:latin typeface="Calibri"/>
              </a:rPr>
              <a:t> label close-ups in every product reel; "label padho saath me" content (UGC #6).</a:t>
            </a:r>
          </a:p>
          <a:p>
            <a:pPr>
              <a:spcAft>
                <a:spcPts val="400"/>
              </a:spcAft>
            </a:pPr>
            <a:r>
              <a:rPr sz="1350" b="1">
                <a:solidFill>
                  <a:srgbClr val="8F3A22"/>
                </a:solidFill>
                <a:latin typeface="Calibri"/>
              </a:rPr>
              <a:t>6.  </a:t>
            </a:r>
            <a:r>
              <a:rPr sz="1350" b="1" i="0">
                <a:solidFill>
                  <a:srgbClr val="2A2622"/>
                </a:solidFill>
                <a:latin typeface="Calibri"/>
              </a:rPr>
              <a:t>Reviews = other people's courage.</a:t>
            </a:r>
            <a:r>
              <a:rPr sz="1350" b="0" i="0">
                <a:solidFill>
                  <a:srgbClr val="2A2622"/>
                </a:solidFill>
                <a:latin typeface="Calibri"/>
              </a:rPr>
              <a:t> A buyer needs proof that </a:t>
            </a:r>
            <a:r>
              <a:rPr sz="1350" b="0" i="1">
                <a:solidFill>
                  <a:srgbClr val="2A2622"/>
                </a:solidFill>
                <a:latin typeface="Calibri"/>
              </a:rPr>
              <a:t>someone like them</a:t>
            </a:r>
            <a:r>
              <a:rPr sz="1350" b="0" i="0">
                <a:solidFill>
                  <a:srgbClr val="2A2622"/>
                </a:solidFill>
                <a:latin typeface="Calibri"/>
              </a:rPr>
              <a:t> already took the risk. → </a:t>
            </a:r>
            <a:r>
              <a:rPr sz="1350" b="0" i="1">
                <a:solidFill>
                  <a:srgbClr val="2A2622"/>
                </a:solidFill>
                <a:latin typeface="Calibri"/>
              </a:rPr>
              <a:t>Play:</a:t>
            </a:r>
            <a:r>
              <a:rPr sz="1350" b="0" i="0">
                <a:solidFill>
                  <a:srgbClr val="2A2622"/>
                </a:solidFill>
                <a:latin typeface="Calibri"/>
              </a:rPr>
              <a:t> the Day-14 review sequence, testimonial stories ("4 baar delete karke"), review-on-page for Founding 100.</a:t>
            </a:r>
          </a:p>
          <a:p>
            <a:pPr>
              <a:spcAft>
                <a:spcPts val="400"/>
              </a:spcAft>
            </a:pPr>
            <a:r>
              <a:rPr sz="1350" b="1">
                <a:solidFill>
                  <a:srgbClr val="8F3A22"/>
                </a:solidFill>
                <a:latin typeface="Calibri"/>
              </a:rPr>
              <a:t>7.  </a:t>
            </a:r>
            <a:r>
              <a:rPr sz="1350" b="1" i="0">
                <a:solidFill>
                  <a:srgbClr val="2A2622"/>
                </a:solidFill>
                <a:latin typeface="Calibri"/>
              </a:rPr>
              <a:t>Fear of waste (not fear of the product).</a:t>
            </a:r>
            <a:r>
              <a:rPr sz="1350" b="0" i="0">
                <a:solidFill>
                  <a:srgbClr val="2A2622"/>
                </a:solidFill>
                <a:latin typeface="Calibri"/>
              </a:rPr>
              <a:t> The real fear: "₹600 kachra ho jayega." → </a:t>
            </a:r>
            <a:r>
              <a:rPr sz="1350" b="0" i="1">
                <a:solidFill>
                  <a:srgbClr val="2A2622"/>
                </a:solidFill>
                <a:latin typeface="Calibri"/>
              </a:rPr>
              <a:t>Play:</a:t>
            </a:r>
            <a:r>
              <a:rPr sz="1350" b="0" i="0">
                <a:solidFill>
                  <a:srgbClr val="2A2622"/>
                </a:solidFill>
                <a:latin typeface="Calibri"/>
              </a:rPr>
              <a:t> COD (risk moves to us), return policy stated in 1 line, 4–6 week expectation (so "no change in 3 days" ≠ "waste"), Day-1 usage guide (so the product works </a:t>
            </a:r>
            <a:r>
              <a:rPr sz="1350" b="0" i="1">
                <a:solidFill>
                  <a:srgbClr val="2A2622"/>
                </a:solidFill>
                <a:latin typeface="Calibri"/>
              </a:rPr>
              <a:t>properly</a:t>
            </a:r>
            <a:r>
              <a:rPr sz="1350" b="0" i="0">
                <a:solidFill>
                  <a:srgbClr val="2A2622"/>
                </a:solidFill>
                <a:latin typeface="Calibri"/>
              </a:rPr>
              <a:t> — half of "no result" is wrong usage).</a:t>
            </a:r>
          </a:p>
          <a:p>
            <a:pPr>
              <a:spcAft>
                <a:spcPts val="400"/>
              </a:spcAft>
            </a:pPr>
            <a:r>
              <a:rPr sz="1350" b="1">
                <a:solidFill>
                  <a:srgbClr val="8F3A22"/>
                </a:solidFill>
                <a:latin typeface="Calibri"/>
              </a:rPr>
              <a:t>8.  </a:t>
            </a:r>
            <a:r>
              <a:rPr sz="1350" b="1" i="0">
                <a:solidFill>
                  <a:srgbClr val="2A2622"/>
                </a:solidFill>
                <a:latin typeface="Calibri"/>
              </a:rPr>
              <a:t>Curiosity = the local edge.</a:t>
            </a:r>
            <a:r>
              <a:rPr sz="1350" b="0" i="0">
                <a:solidFill>
                  <a:srgbClr val="2A2622"/>
                </a:solidFill>
                <a:latin typeface="Calibri"/>
              </a:rPr>
              <a:t> "Gujarat se brand" is novel in a feed full of Mumbai/Delhi brands; novelty stops the scroll in Gujarat. → </a:t>
            </a:r>
            <a:r>
              <a:rPr sz="1350" b="0" i="1">
                <a:solidFill>
                  <a:srgbClr val="2A2622"/>
                </a:solidFill>
                <a:latin typeface="Calibri"/>
              </a:rPr>
              <a:t>Play:</a:t>
            </a:r>
            <a:r>
              <a:rPr sz="1350" b="0" i="0">
                <a:solidFill>
                  <a:srgbClr val="2A2622"/>
                </a:solidFill>
                <a:latin typeface="Calibri"/>
              </a:rPr>
              <a:t> founder origin story, city callouts, "Aamee skin, aamno liye."</a:t>
            </a:r>
          </a:p>
          <a:p>
            <a:pPr>
              <a:spcAft>
                <a:spcPts val="400"/>
              </a:spcAft>
            </a:pPr>
            <a:r>
              <a:rPr sz="1350" b="1">
                <a:solidFill>
                  <a:srgbClr val="8F3A22"/>
                </a:solidFill>
                <a:latin typeface="Calibri"/>
              </a:rPr>
              <a:t>9.  </a:t>
            </a:r>
            <a:r>
              <a:rPr sz="1350" b="1" i="0">
                <a:solidFill>
                  <a:srgbClr val="2A2622"/>
                </a:solidFill>
                <a:latin typeface="Calibri"/>
              </a:rPr>
              <a:t>Convenience = the COD+WhatsApp stack.</a:t>
            </a:r>
            <a:r>
              <a:rPr sz="1350" b="0" i="0">
                <a:solidFill>
                  <a:srgbClr val="2A2622"/>
                </a:solidFill>
                <a:latin typeface="Calibri"/>
              </a:rPr>
              <a:t> The Indian first order is a phone conversation, not a checkout flow. → </a:t>
            </a:r>
            <a:r>
              <a:rPr sz="1350" b="0" i="1">
                <a:solidFill>
                  <a:srgbClr val="2A2622"/>
                </a:solidFill>
                <a:latin typeface="Calibri"/>
              </a:rPr>
              <a:t>Play:</a:t>
            </a:r>
            <a:r>
              <a:rPr sz="1350" b="0" i="0">
                <a:solidFill>
                  <a:srgbClr val="2A2622"/>
                </a:solidFill>
                <a:latin typeface="Calibri"/>
              </a:rPr>
              <a:t> Click-to-WhatsApp ads, 15-min human reply, COD, "photo of your box," tracking updates. Every friction point removed in writing.</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324</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C: INDIAN BUYER PSYCHOLOGY — why a stranger buys an unknown skincare brand (Section 2</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10.  </a:t>
            </a:r>
            <a:r>
              <a:rPr sz="1350" b="1" i="0">
                <a:solidFill>
                  <a:srgbClr val="2A2622"/>
                </a:solidFill>
                <a:latin typeface="Calibri"/>
              </a:rPr>
              <a:t>Local identity + family.</a:t>
            </a:r>
            <a:r>
              <a:rPr sz="1350" b="0" i="0">
                <a:solidFill>
                  <a:srgbClr val="2A2622"/>
                </a:solidFill>
                <a:latin typeface="Calibri"/>
              </a:rPr>
              <a:t> Gujarat is family-purchase: the daughter orders, the mother approves, the sister gets a "gift." → </a:t>
            </a:r>
            <a:r>
              <a:rPr sz="1350" b="0" i="1">
                <a:solidFill>
                  <a:srgbClr val="2A2622"/>
                </a:solidFill>
                <a:latin typeface="Calibri"/>
              </a:rPr>
              <a:t>Play:</a:t>
            </a:r>
            <a:r>
              <a:rPr sz="1350" b="0" i="0">
                <a:solidFill>
                  <a:srgbClr val="2A2622"/>
                </a:solidFill>
                <a:latin typeface="Calibri"/>
              </a:rPr>
              <a:t> gifting content (Diwali box), "maa ke liye" Q&amp;A, family-pack offers; language warmth (Gujarati in relationships, Hinglish in facts).</a:t>
            </a:r>
          </a:p>
          <a:p>
            <a:pPr>
              <a:spcAft>
                <a:spcPts val="400"/>
              </a:spcAft>
            </a:pPr>
            <a:r>
              <a:rPr sz="1350" b="1">
                <a:solidFill>
                  <a:srgbClr val="8F3A22"/>
                </a:solidFill>
                <a:latin typeface="Calibri"/>
              </a:rPr>
              <a:t>11.  </a:t>
            </a:r>
            <a:r>
              <a:rPr sz="1350" b="1" i="0">
                <a:solidFill>
                  <a:srgbClr val="2A2622"/>
                </a:solidFill>
                <a:latin typeface="Calibri"/>
              </a:rPr>
              <a:t>(Bonus) Value = the math that justifies.</a:t>
            </a:r>
            <a:r>
              <a:rPr sz="1350" b="0" i="0">
                <a:solidFill>
                  <a:srgbClr val="2A2622"/>
                </a:solidFill>
                <a:latin typeface="Calibri"/>
              </a:rPr>
              <a:t> "600 = 20 chai, 4 hafte chalta hai" — give buyers the arithmetic to defend the purchase to themselves/family. → </a:t>
            </a:r>
            <a:r>
              <a:rPr sz="1350" b="0" i="1">
                <a:solidFill>
                  <a:srgbClr val="2A2622"/>
                </a:solidFill>
                <a:latin typeface="Calibri"/>
              </a:rPr>
              <a:t>Play:</a:t>
            </a:r>
            <a:r>
              <a:rPr sz="1350" b="0" i="0">
                <a:solidFill>
                  <a:srgbClr val="2A2622"/>
                </a:solidFill>
                <a:latin typeface="Calibri"/>
              </a:rPr>
              <a:t> "girl math" reel (UGC #17), per-use cost on sales posts (₹20/day).</a:t>
            </a:r>
          </a:p>
          <a:p>
            <a:pPr>
              <a:spcAft>
                <a:spcPts val="700"/>
              </a:spcAft>
            </a:pPr>
            <a:r>
              <a:rPr sz="1350" b="1" i="0">
                <a:solidFill>
                  <a:srgbClr val="2A2622"/>
                </a:solidFill>
                <a:latin typeface="Calibri"/>
              </a:rPr>
              <a:t>The psychological order of a first purchase (match your funnel to it):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325</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 name="Rectangle 4"/>
          <p:cNvSpPr/>
          <p:nvPr/>
        </p:nvSpPr>
        <p:spPr>
          <a:xfrm>
            <a:off x="320040" y="1261872"/>
            <a:ext cx="11551615" cy="5212080"/>
          </a:xfrm>
          <a:prstGeom prst="rect">
            <a:avLst/>
          </a:prstGeom>
          <a:solidFill>
            <a:srgbClr val="F1EDE4"/>
          </a:solidFill>
          <a:ln w="9525">
            <a:solidFill>
              <a:srgbClr val="D8C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C: INDIAN BUYER PSYCHOLOGY — why a stranger buys an unknown skincare brand (Section 2</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0"/>
            <a:ext cx="11460175" cy="4937760"/>
          </a:xfrm>
          <a:prstGeom prst="rect">
            <a:avLst/>
          </a:prstGeom>
          <a:noFill/>
        </p:spPr>
        <p:txBody>
          <a:bodyPr wrap="square">
            <a:spAutoFit/>
          </a:bodyPr>
          <a:lstStyle/>
          <a:p>
            <a:pPr>
              <a:spcAft>
                <a:spcPts val="100"/>
              </a:spcAft>
            </a:pPr>
            <a:r>
              <a:rPr sz="1150">
                <a:solidFill>
                  <a:srgbClr val="2A2622"/>
                </a:solidFill>
                <a:latin typeface="Consolas"/>
              </a:rPr>
              <a:t>Stop (curiosity/hook) → Relate ("yeh meri baat hai") → Believe (face + proof + anti-fake)</a:t>
            </a:r>
          </a:p>
          <a:p>
            <a:pPr>
              <a:spcAft>
                <a:spcPts val="100"/>
              </a:spcAft>
            </a:pPr>
            <a:r>
              <a:rPr sz="1150">
                <a:solidFill>
                  <a:srgbClr val="2A2622"/>
                </a:solidFill>
                <a:latin typeface="Consolas"/>
              </a:rPr>
              <a:t>→ Understand (what/who-for/price) → De-risk (COD + return + timeline) → Convenience (1 DM, 15 min)</a:t>
            </a:r>
          </a:p>
          <a:p>
            <a:pPr>
              <a:spcAft>
                <a:spcPts val="100"/>
              </a:spcAft>
            </a:pPr>
            <a:r>
              <a:rPr sz="1150">
                <a:solidFill>
                  <a:srgbClr val="2A2622"/>
                </a:solidFill>
                <a:latin typeface="Consolas"/>
              </a:rPr>
              <a:t>→ Buy → (box wow) → Review → Repeat → Refer</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326</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C: INDIAN BUYER PSYCHOLOGY — why a stranger buys an unknown skincare brand (Section 2</a:t>
            </a:r>
          </a:p>
          <a:p>
            <a:r>
              <a:rPr sz="1200" i="1">
                <a:solidFill>
                  <a:srgbClr val="57504A"/>
                </a:solidFill>
                <a:latin typeface="Calibri"/>
              </a:rPr>
              <a:t>PART 19 — Content→Sales Funnel + Viral vs Sales + Buyer Psychology</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Every stage in the funnel (§21) maps to one line of this chain. If orders stall, find </a:t>
            </a:r>
            <a:r>
              <a:rPr sz="1350" b="0" i="1">
                <a:solidFill>
                  <a:srgbClr val="2A2622"/>
                </a:solidFill>
                <a:latin typeface="Calibri"/>
              </a:rPr>
              <a:t>which</a:t>
            </a:r>
            <a:r>
              <a:rPr sz="1350" b="0" i="0">
                <a:solidFill>
                  <a:srgbClr val="2A2622"/>
                </a:solidFill>
                <a:latin typeface="Calibri"/>
              </a:rPr>
              <a:t> line is broken — that's where the next 30 days of content goes.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327</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20</a:t>
            </a:r>
          </a:p>
        </p:txBody>
      </p:sp>
      <p:sp>
        <p:nvSpPr>
          <p:cNvPr id="4" name="TextBox 3"/>
          <p:cNvSpPr txBox="1"/>
          <p:nvPr/>
        </p:nvSpPr>
        <p:spPr>
          <a:xfrm>
            <a:off x="914400" y="2377440"/>
            <a:ext cx="10362895" cy="1645920"/>
          </a:xfrm>
          <a:prstGeom prst="rect">
            <a:avLst/>
          </a:prstGeom>
          <a:noFill/>
        </p:spPr>
        <p:txBody>
          <a:bodyPr wrap="square">
            <a:spAutoFit/>
          </a:bodyPr>
          <a:lstStyle/>
          <a:p>
            <a:r>
              <a:rPr sz="2400" b="1">
                <a:solidFill>
                  <a:srgbClr val="8F3A22"/>
                </a:solidFill>
                <a:latin typeface="Calibri"/>
              </a:rPr>
              <a:t>§24 FIRST 1,000 FOLLOWERS + §25 FIRST 100 CUSTOMERS — RANGAT NATURALS</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First 1,000 Followers + First 100 Customers</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328</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FIRST FOLLOWERS (Section 24)</a:t>
            </a:r>
          </a:p>
          <a:p>
            <a:r>
              <a:rPr sz="1200" i="1">
                <a:solidFill>
                  <a:srgbClr val="57504A"/>
                </a:solidFill>
                <a:latin typeface="Calibri"/>
              </a:rPr>
              <a:t>PART 20 — First 1,000 Followers + First 100 Customers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The north star:</a:t>
            </a:r>
            <a:r>
              <a:rPr sz="1350" b="0" i="0">
                <a:solidFill>
                  <a:srgbClr val="2A2622"/>
                </a:solidFill>
                <a:latin typeface="Calibri"/>
              </a:rPr>
              <a:t> followers who will DM "GLOW" — not vanity counts. A 500-follower account with 40 DMs/week beats a 5,000-follower account with 0. So every growth tactic below is a </a:t>
            </a:r>
            <a:r>
              <a:rPr sz="1350" b="0" i="1">
                <a:solidFill>
                  <a:srgbClr val="2A2622"/>
                </a:solidFill>
                <a:latin typeface="Calibri"/>
              </a:rPr>
              <a:t>buyer-acquisition</a:t>
            </a:r>
            <a:r>
              <a:rPr sz="1350" b="0" i="0">
                <a:solidFill>
                  <a:srgbClr val="2A2622"/>
                </a:solidFill>
                <a:latin typeface="Calibri"/>
              </a:rPr>
              <a:t> tactic.</a:t>
            </a:r>
          </a:p>
          <a:p>
            <a:pPr>
              <a:spcBef>
                <a:spcPts val="1000"/>
              </a:spcBef>
              <a:spcAft>
                <a:spcPts val="400"/>
              </a:spcAft>
            </a:pPr>
            <a:r>
              <a:rPr sz="1600" b="1" i="0">
                <a:solidFill>
                  <a:srgbClr val="8F3A22"/>
                </a:solidFill>
                <a:latin typeface="Calibri"/>
              </a:rPr>
              <a:t>0 → 100 (Days 1–7): the warm foundation</a:t>
            </a:r>
          </a:p>
          <a:p>
            <a:pPr>
              <a:spcAft>
                <a:spcPts val="400"/>
              </a:spcAft>
            </a:pPr>
            <a:r>
              <a:rPr sz="1350">
                <a:solidFill>
                  <a:srgbClr val="B44A2E"/>
                </a:solidFill>
                <a:latin typeface="Calibri"/>
              </a:rPr>
              <a:t>•  </a:t>
            </a:r>
            <a:r>
              <a:rPr sz="1350" b="1" i="0">
                <a:solidFill>
                  <a:srgbClr val="2A2622"/>
                </a:solidFill>
                <a:latin typeface="Calibri"/>
              </a:rPr>
              <a:t>Founder's network (legitimate, high-converting):</a:t>
            </a:r>
            <a:r>
              <a:rPr sz="1350" b="0" i="0">
                <a:solidFill>
                  <a:srgbClr val="2A2622"/>
                </a:solidFill>
                <a:latin typeface="Calibri"/>
              </a:rPr>
              <a:t> founder posts Day-1 reel on personal IG/FB/WhatsApp with a genuine "yeh humara naya kaam hai, genuine hai, aapki family/friends ke liye bhi useful" note. Expect 50–80 of the first 100 from here. (These are buyers' mothers/sisters/college friends — the </a:t>
            </a:r>
            <a:r>
              <a:rPr sz="1350" b="0" i="1">
                <a:solidFill>
                  <a:srgbClr val="2A2622"/>
                </a:solidFill>
                <a:latin typeface="Calibri"/>
              </a:rPr>
              <a:t>best</a:t>
            </a:r>
            <a:r>
              <a:rPr sz="1350" b="0" i="0">
                <a:solidFill>
                  <a:srgbClr val="2A2622"/>
                </a:solidFill>
                <a:latin typeface="Calibri"/>
              </a:rPr>
              <a:t> first 100.)</a:t>
            </a:r>
          </a:p>
          <a:p>
            <a:pPr>
              <a:spcAft>
                <a:spcPts val="400"/>
              </a:spcAft>
            </a:pPr>
            <a:r>
              <a:rPr sz="1350">
                <a:solidFill>
                  <a:srgbClr val="B44A2E"/>
                </a:solidFill>
                <a:latin typeface="Calibri"/>
              </a:rPr>
              <a:t>•  </a:t>
            </a:r>
            <a:r>
              <a:rPr sz="1350" b="1" i="0">
                <a:solidFill>
                  <a:srgbClr val="2A2622"/>
                </a:solidFill>
                <a:latin typeface="Calibri"/>
              </a:rPr>
              <a:t>20 testers = 20 micro-ambassadors:</a:t>
            </a:r>
            <a:r>
              <a:rPr sz="1350" b="0" i="0">
                <a:solidFill>
                  <a:srgbClr val="2A2622"/>
                </a:solidFill>
                <a:latin typeface="Calibri"/>
              </a:rPr>
              <a:t> each tester posts their Day-1 photo/story tagging RANGAT (their story = their network).</a:t>
            </a:r>
          </a:p>
          <a:p>
            <a:pPr>
              <a:spcAft>
                <a:spcPts val="400"/>
              </a:spcAft>
            </a:pPr>
            <a:r>
              <a:rPr sz="1350">
                <a:solidFill>
                  <a:srgbClr val="B44A2E"/>
                </a:solidFill>
                <a:latin typeface="Calibri"/>
              </a:rPr>
              <a:t>•  </a:t>
            </a:r>
            <a:r>
              <a:rPr sz="1350" b="1" i="0">
                <a:solidFill>
                  <a:srgbClr val="2A2622"/>
                </a:solidFill>
                <a:latin typeface="Calibri"/>
              </a:rPr>
              <a:t>Every comment answered</a:t>
            </a:r>
            <a:r>
              <a:rPr sz="1350" b="0" i="0">
                <a:solidFill>
                  <a:srgbClr val="2A2622"/>
                </a:solidFill>
                <a:latin typeface="Calibri"/>
              </a:rPr>
              <a:t> (personalized, not "thank you!"): a real 2-line reply to a stranger = 30% follow-back rate.</a:t>
            </a:r>
          </a:p>
          <a:p>
            <a:pPr>
              <a:spcAft>
                <a:spcPts val="400"/>
              </a:spcAft>
            </a:pPr>
            <a:r>
              <a:rPr sz="1350">
                <a:solidFill>
                  <a:srgbClr val="B44A2E"/>
                </a:solidFill>
                <a:latin typeface="Calibri"/>
              </a:rPr>
              <a:t>•  </a:t>
            </a:r>
            <a:r>
              <a:rPr sz="1350" b="1" i="0">
                <a:solidFill>
                  <a:srgbClr val="2A2622"/>
                </a:solidFill>
                <a:latin typeface="Calibri"/>
              </a:rPr>
              <a:t>Local tag + local hashtag on every post</a:t>
            </a:r>
            <a:r>
              <a:rPr sz="1350" b="0" i="0">
                <a:solidFill>
                  <a:srgbClr val="2A2622"/>
                </a:solidFill>
                <a:latin typeface="Calibri"/>
              </a:rPr>
              <a:t> (Ahmedabad geo + #Amdavad): the local Explore feed is where a new city brand lives.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329</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FIRST FOLLOWERS (Section 24)</a:t>
            </a:r>
          </a:p>
          <a:p>
            <a:r>
              <a:rPr sz="1200" i="1">
                <a:solidFill>
                  <a:srgbClr val="57504A"/>
                </a:solidFill>
                <a:latin typeface="Calibri"/>
              </a:rPr>
              <a:t>PART 20 — First 1,000 Followers + First 100 Customers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Target: 100 by Day 7. Metric that matters: first 10 DM conversations.</a:t>
            </a:r>
          </a:p>
          <a:p>
            <a:pPr>
              <a:spcBef>
                <a:spcPts val="1000"/>
              </a:spcBef>
              <a:spcAft>
                <a:spcPts val="400"/>
              </a:spcAft>
            </a:pPr>
            <a:r>
              <a:rPr sz="1600" b="1" i="0">
                <a:solidFill>
                  <a:srgbClr val="8F3A22"/>
                </a:solidFill>
                <a:latin typeface="Calibri"/>
              </a:rPr>
              <a:t>100 → 500 (Days 8–21): proof-led growth</a:t>
            </a:r>
          </a:p>
          <a:p>
            <a:pPr>
              <a:spcAft>
                <a:spcPts val="400"/>
              </a:spcAft>
            </a:pPr>
            <a:r>
              <a:rPr sz="1350">
                <a:solidFill>
                  <a:srgbClr val="B44A2E"/>
                </a:solidFill>
                <a:latin typeface="Calibri"/>
              </a:rPr>
              <a:t>•  </a:t>
            </a:r>
            <a:r>
              <a:rPr sz="1350" b="1" i="0">
                <a:solidFill>
                  <a:srgbClr val="2A2622"/>
                </a:solidFill>
                <a:latin typeface="Calibri"/>
              </a:rPr>
              <a:t>The share machine:</a:t>
            </a:r>
            <a:r>
              <a:rPr sz="1350" b="0" i="0">
                <a:solidFill>
                  <a:srgbClr val="2A2622"/>
                </a:solidFill>
                <a:latin typeface="Calibri"/>
              </a:rPr>
              <a:t> 2 relatable/Gujarati reels per week (D5-style) — shares are how a 100-follower account reaches 10,000 people.</a:t>
            </a:r>
          </a:p>
          <a:p>
            <a:pPr>
              <a:spcAft>
                <a:spcPts val="400"/>
              </a:spcAft>
            </a:pPr>
            <a:r>
              <a:rPr sz="1350">
                <a:solidFill>
                  <a:srgbClr val="B44A2E"/>
                </a:solidFill>
                <a:latin typeface="Calibri"/>
              </a:rPr>
              <a:t>•  </a:t>
            </a:r>
            <a:r>
              <a:rPr sz="1350" b="1" i="0">
                <a:solidFill>
                  <a:srgbClr val="2A2622"/>
                </a:solidFill>
                <a:latin typeface="Calibri"/>
              </a:rPr>
              <a:t>The save machine:</a:t>
            </a:r>
            <a:r>
              <a:rPr sz="1350" b="0" i="0">
                <a:solidFill>
                  <a:srgbClr val="2A2622"/>
                </a:solidFill>
                <a:latin typeface="Calibri"/>
              </a:rPr>
              <a:t> 2 education carousels/reels per week (saves = re-delivery to the same user for weeks + ranking boost).</a:t>
            </a:r>
          </a:p>
          <a:p>
            <a:pPr>
              <a:spcAft>
                <a:spcPts val="400"/>
              </a:spcAft>
            </a:pPr>
            <a:r>
              <a:rPr sz="1350">
                <a:solidFill>
                  <a:srgbClr val="B44A2E"/>
                </a:solidFill>
                <a:latin typeface="Calibri"/>
              </a:rPr>
              <a:t>•  </a:t>
            </a:r>
            <a:r>
              <a:rPr sz="1350" b="1" i="0">
                <a:solidFill>
                  <a:srgbClr val="2A2622"/>
                </a:solidFill>
                <a:latin typeface="Calibri"/>
              </a:rPr>
              <a:t>First creator collab (Day 19):</a:t>
            </a:r>
            <a:r>
              <a:rPr sz="1350" b="0" i="0">
                <a:solidFill>
                  <a:srgbClr val="2A2622"/>
                </a:solidFill>
                <a:latin typeface="Calibri"/>
              </a:rPr>
              <a:t> 10k–30k Ahmedabad creator = instant 5k–30k </a:t>
            </a:r>
            <a:r>
              <a:rPr sz="1350" b="0" i="1">
                <a:solidFill>
                  <a:srgbClr val="2A2622"/>
                </a:solidFill>
                <a:latin typeface="Calibri"/>
              </a:rPr>
              <a:t>impressions</a:t>
            </a:r>
            <a:r>
              <a:rPr sz="1350" b="0" i="0">
                <a:solidFill>
                  <a:srgbClr val="2A2622"/>
                </a:solidFill>
                <a:latin typeface="Calibri"/>
              </a:rPr>
              <a:t> from her audience; 1–3% follow = 50–300 followers.</a:t>
            </a:r>
          </a:p>
          <a:p>
            <a:pPr>
              <a:spcAft>
                <a:spcPts val="400"/>
              </a:spcAft>
            </a:pPr>
            <a:r>
              <a:rPr sz="1350">
                <a:solidFill>
                  <a:srgbClr val="B44A2E"/>
                </a:solidFill>
                <a:latin typeface="Calibri"/>
              </a:rPr>
              <a:t>•  </a:t>
            </a:r>
            <a:r>
              <a:rPr sz="1350" b="1" i="0">
                <a:solidFill>
                  <a:srgbClr val="2A2622"/>
                </a:solidFill>
                <a:latin typeface="Calibri"/>
              </a:rPr>
              <a:t>Day-28 before/after drop (Day 17):</a:t>
            </a:r>
            <a:r>
              <a:rPr sz="1350" b="0" i="0">
                <a:solidFill>
                  <a:srgbClr val="2A2622"/>
                </a:solidFill>
                <a:latin typeface="Calibri"/>
              </a:rPr>
              <a:t> the proof post is the follow-magnet for skeptics; pin it.</a:t>
            </a:r>
          </a:p>
          <a:p>
            <a:pPr>
              <a:spcAft>
                <a:spcPts val="400"/>
              </a:spcAft>
            </a:pPr>
            <a:r>
              <a:rPr sz="1350">
                <a:solidFill>
                  <a:srgbClr val="B44A2E"/>
                </a:solidFill>
                <a:latin typeface="Calibri"/>
              </a:rPr>
              <a:t>•  </a:t>
            </a:r>
            <a:r>
              <a:rPr sz="1350" b="1" i="0">
                <a:solidFill>
                  <a:srgbClr val="2A2622"/>
                </a:solidFill>
                <a:latin typeface="Calibri"/>
              </a:rPr>
              <a:t>Local engagement loop (30 min/day):</a:t>
            </a:r>
            <a:r>
              <a:rPr sz="1350" b="0" i="0">
                <a:solidFill>
                  <a:srgbClr val="2A2622"/>
                </a:solidFill>
                <a:latin typeface="Calibri"/>
              </a:rPr>
              <a:t> comment genuinely (3–10 words, useful) on 20 posts from Ahmedabad/Gujarat food/lifestyle/wedding accounts — not begging, adding value. 5–15 profile visits/day from this.</a:t>
            </a:r>
          </a:p>
          <a:p>
            <a:pPr>
              <a:spcAft>
                <a:spcPts val="400"/>
              </a:spcAft>
            </a:pPr>
            <a:r>
              <a:rPr sz="1350">
                <a:solidFill>
                  <a:srgbClr val="B44A2E"/>
                </a:solidFill>
                <a:latin typeface="Calibri"/>
              </a:rPr>
              <a:t>•  </a:t>
            </a:r>
            <a:r>
              <a:rPr sz="1350" b="1" i="0">
                <a:solidFill>
                  <a:srgbClr val="2A2622"/>
                </a:solidFill>
                <a:latin typeface="Calibri"/>
              </a:rPr>
              <a:t>Target: 500 by Day 21. Metric: 30 DMs/week, 2 reels &gt;5k views.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330</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FIRST FOLLOWERS (Section 24)</a:t>
            </a:r>
          </a:p>
          <a:p>
            <a:r>
              <a:rPr sz="1200" i="1">
                <a:solidFill>
                  <a:srgbClr val="57504A"/>
                </a:solidFill>
                <a:latin typeface="Calibri"/>
              </a:rPr>
              <a:t>PART 20 — First 1,000 Followers + First 100 Customers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500 → 1,000 (Days 22–45): the launch wave</a:t>
            </a:r>
          </a:p>
          <a:p>
            <a:pPr>
              <a:spcAft>
                <a:spcPts val="400"/>
              </a:spcAft>
            </a:pPr>
            <a:r>
              <a:rPr sz="1350">
                <a:solidFill>
                  <a:srgbClr val="B44A2E"/>
                </a:solidFill>
                <a:latin typeface="Calibri"/>
              </a:rPr>
              <a:t>•  </a:t>
            </a:r>
            <a:r>
              <a:rPr sz="1350" b="1" i="0">
                <a:solidFill>
                  <a:srgbClr val="2A2622"/>
                </a:solidFill>
                <a:latin typeface="Calibri"/>
              </a:rPr>
              <a:t>Launch-day triple touch (reel + Stories + WA broadcast + optional ad boost)</a:t>
            </a:r>
            <a:r>
              <a:rPr sz="1350" b="0" i="0">
                <a:solidFill>
                  <a:srgbClr val="2A2622"/>
                </a:solidFill>
                <a:latin typeface="Calibri"/>
              </a:rPr>
              <a:t> = the single biggest follower spike.</a:t>
            </a:r>
          </a:p>
          <a:p>
            <a:pPr>
              <a:spcAft>
                <a:spcPts val="400"/>
              </a:spcAft>
            </a:pPr>
            <a:r>
              <a:rPr sz="1350">
                <a:solidFill>
                  <a:srgbClr val="B44A2E"/>
                </a:solidFill>
                <a:latin typeface="Calibri"/>
              </a:rPr>
              <a:t>•  </a:t>
            </a:r>
            <a:r>
              <a:rPr sz="1350" b="1" i="0">
                <a:solidFill>
                  <a:srgbClr val="2A2622"/>
                </a:solidFill>
                <a:latin typeface="Calibri"/>
              </a:rPr>
              <a:t>Founding 100 = 100 new buyers = 100 followers who *buy</a:t>
            </a:r>
            <a:r>
              <a:rPr sz="1350" b="0" i="1">
                <a:solidFill>
                  <a:srgbClr val="2A2622"/>
                </a:solidFill>
                <a:latin typeface="Calibri"/>
              </a:rPr>
              <a:t> (every order confirmation asks: "follow karo — day 7/14/28 updates yahan aayenge" — buyers follow because updates are </a:t>
            </a:r>
            <a:r>
              <a:rPr sz="1350" b="0" i="0">
                <a:solidFill>
                  <a:srgbClr val="2A2622"/>
                </a:solidFill>
                <a:latin typeface="Calibri"/>
              </a:rPr>
              <a:t>for them*).</a:t>
            </a:r>
          </a:p>
          <a:p>
            <a:pPr>
              <a:spcAft>
                <a:spcPts val="400"/>
              </a:spcAft>
            </a:pPr>
            <a:r>
              <a:rPr sz="1350">
                <a:solidFill>
                  <a:srgbClr val="B44A2E"/>
                </a:solidFill>
                <a:latin typeface="Calibri"/>
              </a:rPr>
              <a:t>•  </a:t>
            </a:r>
            <a:r>
              <a:rPr sz="1350" b="1" i="0">
                <a:solidFill>
                  <a:srgbClr val="2A2622"/>
                </a:solidFill>
                <a:latin typeface="Calibri"/>
              </a:rPr>
              <a:t>Creator #2–4 drops</a:t>
            </a:r>
            <a:r>
              <a:rPr sz="1350" b="0" i="0">
                <a:solidFill>
                  <a:srgbClr val="2A2622"/>
                </a:solidFill>
                <a:latin typeface="Calibri"/>
              </a:rPr>
              <a:t> (1/week).</a:t>
            </a:r>
          </a:p>
          <a:p>
            <a:pPr>
              <a:spcAft>
                <a:spcPts val="400"/>
              </a:spcAft>
            </a:pPr>
            <a:r>
              <a:rPr sz="1350">
                <a:solidFill>
                  <a:srgbClr val="B44A2E"/>
                </a:solidFill>
                <a:latin typeface="Calibri"/>
              </a:rPr>
              <a:t>•  </a:t>
            </a:r>
            <a:r>
              <a:rPr sz="1350" b="1" i="0">
                <a:solidFill>
                  <a:srgbClr val="2A2622"/>
                </a:solidFill>
                <a:latin typeface="Calibri"/>
              </a:rPr>
              <a:t>YouTube Shorts repurposing</a:t>
            </a:r>
            <a:r>
              <a:rPr sz="1350" b="0" i="0">
                <a:solidFill>
                  <a:srgbClr val="2A2622"/>
                </a:solidFill>
                <a:latin typeface="Calibri"/>
              </a:rPr>
              <a:t> starts compounding (3/week) — slow, but search-driven followers are high-intent.</a:t>
            </a:r>
          </a:p>
          <a:p>
            <a:pPr>
              <a:spcAft>
                <a:spcPts val="400"/>
              </a:spcAft>
            </a:pPr>
            <a:r>
              <a:rPr sz="1350">
                <a:solidFill>
                  <a:srgbClr val="B44A2E"/>
                </a:solidFill>
                <a:latin typeface="Calibri"/>
              </a:rPr>
              <a:t>•  </a:t>
            </a:r>
            <a:r>
              <a:rPr sz="1350" b="1" i="0">
                <a:solidFill>
                  <a:srgbClr val="2A2622"/>
                </a:solidFill>
                <a:latin typeface="Calibri"/>
              </a:rPr>
              <a:t>Target: 1,000 by Day 45. Metric: 60–100 orders done; DMs 50+/week.</a:t>
            </a:r>
          </a:p>
          <a:p>
            <a:pPr>
              <a:spcBef>
                <a:spcPts val="1000"/>
              </a:spcBef>
              <a:spcAft>
                <a:spcPts val="400"/>
              </a:spcAft>
            </a:pPr>
            <a:r>
              <a:rPr sz="1600" b="1" i="0">
                <a:solidFill>
                  <a:srgbClr val="8F3A22"/>
                </a:solidFill>
                <a:latin typeface="Calibri"/>
              </a:rPr>
              <a:t>1,000 → 5,000 (Days 45–120): the system phase</a:t>
            </a:r>
          </a:p>
          <a:p>
            <a:pPr>
              <a:spcAft>
                <a:spcPts val="400"/>
              </a:spcAft>
            </a:pPr>
            <a:r>
              <a:rPr sz="1350">
                <a:solidFill>
                  <a:srgbClr val="B44A2E"/>
                </a:solidFill>
                <a:latin typeface="Calibri"/>
              </a:rPr>
              <a:t>•  </a:t>
            </a:r>
            <a:r>
              <a:rPr sz="1350" b="1" i="0">
                <a:solidFill>
                  <a:srgbClr val="2A2622"/>
                </a:solidFill>
                <a:latin typeface="Calibri"/>
              </a:rPr>
              <a:t>Weekly rhythm holds:</a:t>
            </a:r>
            <a:r>
              <a:rPr sz="1350" b="0" i="0">
                <a:solidFill>
                  <a:srgbClr val="2A2622"/>
                </a:solidFill>
                <a:latin typeface="Calibri"/>
              </a:rPr>
              <a:t> 5–7 reels + 2 carousels + daily Stories; 1 creator/week; 2 UGC drops/week.</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331</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FIRST FOLLOWERS (Section 24)</a:t>
            </a:r>
          </a:p>
          <a:p>
            <a:r>
              <a:rPr sz="1200" i="1">
                <a:solidFill>
                  <a:srgbClr val="57504A"/>
                </a:solidFill>
                <a:latin typeface="Calibri"/>
              </a:rPr>
              <a:t>PART 20 — First 1,000 Followers + First 100 Customers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Ads start feeding the profile:</a:t>
            </a:r>
            <a:r>
              <a:rPr sz="1350" b="0" i="0">
                <a:solidFill>
                  <a:srgbClr val="2A2622"/>
                </a:solidFill>
                <a:latin typeface="Calibri"/>
              </a:rPr>
              <a:t> prospecting ads (C1) at ₹500–1,000/day with strong creatives = 200–500 profile visits/day; 2–4% follow = 10–60 followers/day </a:t>
            </a:r>
            <a:r>
              <a:rPr sz="1350" b="0" i="1">
                <a:solidFill>
                  <a:srgbClr val="2A2622"/>
                </a:solidFill>
                <a:latin typeface="Calibri"/>
              </a:rPr>
              <a:t>on top of</a:t>
            </a:r>
            <a:r>
              <a:rPr sz="1350" b="0" i="0">
                <a:solidFill>
                  <a:srgbClr val="2A2622"/>
                </a:solidFill>
                <a:latin typeface="Calibri"/>
              </a:rPr>
              <a:t> organic. (Ad followers are cheap here precisely because the creative carries proof.)</a:t>
            </a:r>
          </a:p>
          <a:p>
            <a:pPr>
              <a:spcAft>
                <a:spcPts val="400"/>
              </a:spcAft>
            </a:pPr>
            <a:r>
              <a:rPr sz="1350">
                <a:solidFill>
                  <a:srgbClr val="B44A2E"/>
                </a:solidFill>
                <a:latin typeface="Calibri"/>
              </a:rPr>
              <a:t>•  </a:t>
            </a:r>
            <a:r>
              <a:rPr sz="1350" b="1" i="0">
                <a:solidFill>
                  <a:srgbClr val="2A2622"/>
                </a:solidFill>
                <a:latin typeface="Calibri"/>
              </a:rPr>
              <a:t>The "show":</a:t>
            </a:r>
            <a:r>
              <a:rPr sz="1350" b="0" i="0">
                <a:solidFill>
                  <a:srgbClr val="2A2622"/>
                </a:solidFill>
                <a:latin typeface="Calibri"/>
              </a:rPr>
              <a:t> UGC #20 (30-day challenge series) + weekly "4-hafte program" episodes = serialized content people </a:t>
            </a:r>
            <a:r>
              <a:rPr sz="1350" b="0" i="1">
                <a:solidFill>
                  <a:srgbClr val="2A2622"/>
                </a:solidFill>
                <a:latin typeface="Calibri"/>
              </a:rPr>
              <a:t>follow to finish</a:t>
            </a:r>
            <a:r>
              <a:rPr sz="1350" b="0" i="0">
                <a:solidFill>
                  <a:srgbClr val="2A2622"/>
                </a:solidFill>
                <a:latin typeface="Calibri"/>
              </a:rPr>
              <a:t> (follow-for-continuation is the strongest follow motivation).</a:t>
            </a:r>
          </a:p>
          <a:p>
            <a:pPr>
              <a:spcAft>
                <a:spcPts val="400"/>
              </a:spcAft>
            </a:pPr>
            <a:r>
              <a:rPr sz="1350">
                <a:solidFill>
                  <a:srgbClr val="B44A2E"/>
                </a:solidFill>
                <a:latin typeface="Calibri"/>
              </a:rPr>
              <a:t>•  </a:t>
            </a:r>
            <a:r>
              <a:rPr sz="1350" b="1" i="0">
                <a:solidFill>
                  <a:srgbClr val="2A2622"/>
                </a:solidFill>
                <a:latin typeface="Calibri"/>
              </a:rPr>
              <a:t>Local events (2/month):</a:t>
            </a:r>
            <a:r>
              <a:rPr sz="1350" b="0" i="0">
                <a:solidFill>
                  <a:srgbClr val="2A2622"/>
                </a:solidFill>
                <a:latin typeface="Calibri"/>
              </a:rPr>
              <a:t> college sessions + micro-meetups → 100–300 followers each.</a:t>
            </a:r>
          </a:p>
          <a:p>
            <a:pPr>
              <a:spcAft>
                <a:spcPts val="400"/>
              </a:spcAft>
            </a:pPr>
            <a:r>
              <a:rPr sz="1350">
                <a:solidFill>
                  <a:srgbClr val="B44A2E"/>
                </a:solidFill>
                <a:latin typeface="Calibri"/>
              </a:rPr>
              <a:t>•  </a:t>
            </a:r>
            <a:r>
              <a:rPr sz="1350" b="1" i="0">
                <a:solidFill>
                  <a:srgbClr val="2A2622"/>
                </a:solidFill>
                <a:latin typeface="Calibri"/>
              </a:rPr>
              <a:t>Target: 5,000 by ~Day 120. Metric: 500+ orders, 15%+ of followers engaged (30d reach &gt; followers is the health signal).</a:t>
            </a:r>
          </a:p>
          <a:p>
            <a:pPr>
              <a:spcBef>
                <a:spcPts val="1000"/>
              </a:spcBef>
              <a:spcAft>
                <a:spcPts val="400"/>
              </a:spcAft>
            </a:pPr>
            <a:r>
              <a:rPr sz="1600" b="1" i="0">
                <a:solidFill>
                  <a:srgbClr val="8F3A22"/>
                </a:solidFill>
                <a:latin typeface="Calibri"/>
              </a:rPr>
              <a:t>5,000 → 10,000 (Days 120–240): scale without selling the soul</a:t>
            </a:r>
          </a:p>
          <a:p>
            <a:pPr>
              <a:spcAft>
                <a:spcPts val="400"/>
              </a:spcAft>
            </a:pPr>
            <a:r>
              <a:rPr sz="1350">
                <a:solidFill>
                  <a:srgbClr val="B44A2E"/>
                </a:solidFill>
                <a:latin typeface="Calibri"/>
              </a:rPr>
              <a:t>•  </a:t>
            </a:r>
            <a:r>
              <a:rPr sz="1350" b="1" i="0">
                <a:solidFill>
                  <a:srgbClr val="2A2622"/>
                </a:solidFill>
                <a:latin typeface="Calibri"/>
              </a:rPr>
              <a:t>National creator wave</a:t>
            </a:r>
            <a:r>
              <a:rPr sz="1350" b="0" i="0">
                <a:solidFill>
                  <a:srgbClr val="2A2622"/>
                </a:solidFill>
                <a:latin typeface="Calibri"/>
              </a:rPr>
              <a:t> (3–5/week, 20k–100k, Gujarat 40% / other cities 60%).</a:t>
            </a:r>
          </a:p>
          <a:p>
            <a:pPr>
              <a:spcAft>
                <a:spcPts val="400"/>
              </a:spcAft>
            </a:pPr>
            <a:r>
              <a:rPr sz="1350">
                <a:solidFill>
                  <a:srgbClr val="B44A2E"/>
                </a:solidFill>
                <a:latin typeface="Calibri"/>
              </a:rPr>
              <a:t>•  </a:t>
            </a:r>
            <a:r>
              <a:rPr sz="1350" b="1" i="0">
                <a:solidFill>
                  <a:srgbClr val="2A2622"/>
                </a:solidFill>
                <a:latin typeface="Calibri"/>
              </a:rPr>
              <a:t>Ads at ₹2,000–5,000/day</a:t>
            </a:r>
            <a:r>
              <a:rPr sz="1350" b="0" i="0">
                <a:solidFill>
                  <a:srgbClr val="2A2622"/>
                </a:solidFill>
                <a:latin typeface="Calibri"/>
              </a:rPr>
              <a:t> with 6–10 live creatives (C4 scale) → profile visits 500–1,500/day.</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332</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FIRST FOLLOWERS (Section 24)</a:t>
            </a:r>
          </a:p>
          <a:p>
            <a:r>
              <a:rPr sz="1200" i="1">
                <a:solidFill>
                  <a:srgbClr val="57504A"/>
                </a:solidFill>
                <a:latin typeface="Calibri"/>
              </a:rPr>
              <a:t>PART 20 — First 1,000 Followers + First 100 Customers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One "campaign" per season:</a:t>
            </a:r>
            <a:r>
              <a:rPr sz="1350" b="0" i="0">
                <a:solidFill>
                  <a:srgbClr val="2A2622"/>
                </a:solidFill>
                <a:latin typeface="Calibri"/>
              </a:rPr>
              <a:t> e.g., "Wedding Glow 6-Hafte" (Oct–Dec), "Sardi ka Dhyan" (Jan–Feb) — a named, hashtagged, creator-amplified campaign is how 5k → 10k jumps happen (campaigns create shareable moments; single posts don't).</a:t>
            </a:r>
          </a:p>
          <a:p>
            <a:pPr>
              <a:spcAft>
                <a:spcPts val="400"/>
              </a:spcAft>
            </a:pPr>
            <a:r>
              <a:rPr sz="1350">
                <a:solidFill>
                  <a:srgbClr val="B44A2E"/>
                </a:solidFill>
                <a:latin typeface="Calibri"/>
              </a:rPr>
              <a:t>•  </a:t>
            </a:r>
            <a:r>
              <a:rPr sz="1350" b="1" i="0">
                <a:solidFill>
                  <a:srgbClr val="2A2622"/>
                </a:solidFill>
                <a:latin typeface="Calibri"/>
              </a:rPr>
              <a:t>Collab posts with 2–3 established Indian skincare accounts</a:t>
            </a:r>
            <a:r>
              <a:rPr sz="1350" b="0" i="0">
                <a:solidFill>
                  <a:srgbClr val="2A2622"/>
                </a:solidFill>
                <a:latin typeface="Calibri"/>
              </a:rPr>
              <a:t> (barter → paid as budget allows): their followers, your proof.</a:t>
            </a:r>
          </a:p>
          <a:p>
            <a:pPr>
              <a:spcAft>
                <a:spcPts val="400"/>
              </a:spcAft>
            </a:pPr>
            <a:r>
              <a:rPr sz="1350">
                <a:solidFill>
                  <a:srgbClr val="B44A2E"/>
                </a:solidFill>
                <a:latin typeface="Calibri"/>
              </a:rPr>
              <a:t>•  </a:t>
            </a:r>
            <a:r>
              <a:rPr sz="1350" b="1" i="0">
                <a:solidFill>
                  <a:srgbClr val="2A2622"/>
                </a:solidFill>
                <a:latin typeface="Calibri"/>
              </a:rPr>
              <a:t>Target: 10,000 by ~Day 240. Metric: 2,000+ orders, referral 20%+, 25%+ repeat.</a:t>
            </a:r>
          </a:p>
          <a:p>
            <a:pPr>
              <a:spcAft>
                <a:spcPts val="700"/>
              </a:spcAft>
            </a:pPr>
            <a:r>
              <a:rPr sz="1350" b="1" i="0">
                <a:solidFill>
                  <a:srgbClr val="2A2622"/>
                </a:solidFill>
                <a:latin typeface="Calibri"/>
              </a:rPr>
              <a:t>Anti-vanity rules (always on):</a:t>
            </a:r>
          </a:p>
          <a:p>
            <a:pPr>
              <a:spcAft>
                <a:spcPts val="400"/>
              </a:spcAft>
            </a:pPr>
            <a:r>
              <a:rPr sz="1350">
                <a:solidFill>
                  <a:srgbClr val="B44A2E"/>
                </a:solidFill>
                <a:latin typeface="Calibri"/>
              </a:rPr>
              <a:t>•  </a:t>
            </a:r>
            <a:r>
              <a:rPr sz="1350" b="0" i="0">
                <a:solidFill>
                  <a:srgbClr val="2A2622"/>
                </a:solidFill>
                <a:latin typeface="Calibri"/>
              </a:rPr>
              <a:t>No follow-for-follow, no engagement pods, no bought followers (they poison ad delivery and the DM ratio).</a:t>
            </a:r>
          </a:p>
          <a:p>
            <a:pPr>
              <a:spcAft>
                <a:spcPts val="400"/>
              </a:spcAft>
            </a:pPr>
            <a:r>
              <a:rPr sz="1350">
                <a:solidFill>
                  <a:srgbClr val="B44A2E"/>
                </a:solidFill>
                <a:latin typeface="Calibri"/>
              </a:rPr>
              <a:t>•  </a:t>
            </a:r>
            <a:r>
              <a:rPr sz="1350" b="0" i="0">
                <a:solidFill>
                  <a:srgbClr val="2A2622"/>
                </a:solidFill>
                <a:latin typeface="Calibri"/>
              </a:rPr>
              <a:t>Never optimize a post for "views only" — every awareness post still ends with a funnel CTA.</a:t>
            </a:r>
          </a:p>
          <a:p>
            <a:pPr>
              <a:spcAft>
                <a:spcPts val="400"/>
              </a:spcAft>
            </a:pPr>
            <a:r>
              <a:rPr sz="1350">
                <a:solidFill>
                  <a:srgbClr val="B44A2E"/>
                </a:solidFill>
                <a:latin typeface="Calibri"/>
              </a:rPr>
              <a:t>•  </a:t>
            </a:r>
            <a:r>
              <a:rPr sz="1350" b="0" i="0">
                <a:solidFill>
                  <a:srgbClr val="2A2622"/>
                </a:solidFill>
                <a:latin typeface="Calibri"/>
              </a:rPr>
              <a:t>Weekly, the 1 number = </a:t>
            </a:r>
            <a:r>
              <a:rPr sz="1350" b="1" i="0">
                <a:solidFill>
                  <a:srgbClr val="2A2622"/>
                </a:solidFill>
                <a:latin typeface="Calibri"/>
              </a:rPr>
              <a:t>new buyers from social</a:t>
            </a:r>
            <a:r>
              <a:rPr sz="1350" b="0" i="0">
                <a:solidFill>
                  <a:srgbClr val="2A2622"/>
                </a:solidFill>
                <a:latin typeface="Calibri"/>
              </a:rPr>
              <a:t> (not followers). Followers are the fuel gauge; orders are the destination.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333</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FIRST 100 CUSTOMERS (Section 25)</a:t>
            </a:r>
          </a:p>
          <a:p>
            <a:r>
              <a:rPr sz="1200" i="1">
                <a:solidFill>
                  <a:srgbClr val="57504A"/>
                </a:solidFill>
                <a:latin typeface="Calibri"/>
              </a:rPr>
              <a:t>PART 20 — First 1,000 Followers + First 100 Customers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The plan in one line:</a:t>
            </a:r>
            <a:r>
              <a:rPr sz="1350" b="0" i="0">
                <a:solidFill>
                  <a:srgbClr val="2A2622"/>
                </a:solidFill>
                <a:latin typeface="Calibri"/>
              </a:rPr>
              <a:t> </a:t>
            </a:r>
            <a:r>
              <a:rPr sz="1350" b="0" i="1">
                <a:solidFill>
                  <a:srgbClr val="2A2622"/>
                </a:solidFill>
                <a:latin typeface="Calibri"/>
              </a:rPr>
              <a:t>Proof before offer, offer before scale — 100 real customers in 30–45 days via DM pipeline + Founding 100 offer + micro-creators, all fed by one WhatsApp machine.</a:t>
            </a:r>
          </a:p>
          <a:p>
            <a:pPr>
              <a:spcBef>
                <a:spcPts val="1000"/>
              </a:spcBef>
              <a:spcAft>
                <a:spcPts val="400"/>
              </a:spcAft>
            </a:pPr>
            <a:r>
              <a:rPr sz="1600" b="1" i="0">
                <a:solidFill>
                  <a:srgbClr val="8F3A22"/>
                </a:solidFill>
                <a:latin typeface="Calibri"/>
              </a:rPr>
              <a:t>1. WHAT CONTENT (the 30-day content job, mapped to buyers)</a:t>
            </a:r>
          </a:p>
          <a:p>
            <a:pPr>
              <a:spcAft>
                <a:spcPts val="400"/>
              </a:spcAft>
            </a:pPr>
            <a:r>
              <a:rPr sz="1350">
                <a:solidFill>
                  <a:srgbClr val="B44A2E"/>
                </a:solidFill>
                <a:latin typeface="Calibri"/>
              </a:rPr>
              <a:t>•  </a:t>
            </a:r>
            <a:r>
              <a:rPr sz="1350" b="0" i="0">
                <a:solidFill>
                  <a:srgbClr val="2A2622"/>
                </a:solidFill>
                <a:latin typeface="Calibri"/>
              </a:rPr>
              <a:t>Weeks 1–2: 100% proof-building (founder, problems, education, tester program start) — </a:t>
            </a:r>
            <a:r>
              <a:rPr sz="1350" b="1" i="0">
                <a:solidFill>
                  <a:srgbClr val="2A2622"/>
                </a:solidFill>
                <a:latin typeface="Calibri"/>
              </a:rPr>
              <a:t>no selling</a:t>
            </a:r>
            <a:r>
              <a:rPr sz="1350" b="0" i="0">
                <a:solidFill>
                  <a:srgbClr val="2A2622"/>
                </a:solidFill>
                <a:latin typeface="Calibri"/>
              </a:rPr>
              <a:t> (see </a:t>
            </a:r>
            <a:r>
              <a:rPr sz="1200" b="0" i="0">
                <a:solidFill>
                  <a:srgbClr val="8F3A22"/>
                </a:solidFill>
                <a:latin typeface="Consolas"/>
              </a:rPr>
              <a:t>03-launch-4-weeks.md</a:t>
            </a:r>
            <a:r>
              <a:rPr sz="1350" b="0" i="0">
                <a:solidFill>
                  <a:srgbClr val="2A2622"/>
                </a:solidFill>
                <a:latin typeface="Calibri"/>
              </a:rPr>
              <a:t>).</a:t>
            </a:r>
          </a:p>
          <a:p>
            <a:pPr>
              <a:spcAft>
                <a:spcPts val="400"/>
              </a:spcAft>
            </a:pPr>
            <a:r>
              <a:rPr sz="1350">
                <a:solidFill>
                  <a:srgbClr val="B44A2E"/>
                </a:solidFill>
                <a:latin typeface="Calibri"/>
              </a:rPr>
              <a:t>•  </a:t>
            </a:r>
            <a:r>
              <a:rPr sz="1350" b="0" i="0">
                <a:solidFill>
                  <a:srgbClr val="2A2622"/>
                </a:solidFill>
                <a:latin typeface="Calibri"/>
              </a:rPr>
              <a:t>Weeks 3–4: proof drops (D17 B/A, D19 creator) + launch (D21) + objection killer (D22) + unboxing (D24) + testimonial (D26) + close (D30).</a:t>
            </a:r>
          </a:p>
          <a:p>
            <a:pPr>
              <a:spcAft>
                <a:spcPts val="400"/>
              </a:spcAft>
            </a:pPr>
            <a:r>
              <a:rPr sz="1350">
                <a:solidFill>
                  <a:srgbClr val="B44A2E"/>
                </a:solidFill>
                <a:latin typeface="Calibri"/>
              </a:rPr>
              <a:t>•  </a:t>
            </a:r>
            <a:r>
              <a:rPr sz="1350" b="0" i="0">
                <a:solidFill>
                  <a:srgbClr val="2A2622"/>
                </a:solidFill>
                <a:latin typeface="Calibri"/>
              </a:rPr>
              <a:t>Every buyer-stage asset from §21 Stages 2–6 is live by Day 21 (profile 3-second test, GLOW script, box, sequences).</a:t>
            </a:r>
          </a:p>
          <a:p>
            <a:pPr>
              <a:spcAft>
                <a:spcPts val="400"/>
              </a:spcAft>
            </a:pPr>
            <a:r>
              <a:rPr sz="1350">
                <a:solidFill>
                  <a:srgbClr val="B44A2E"/>
                </a:solidFill>
                <a:latin typeface="Calibri"/>
              </a:rPr>
              <a:t>•  </a:t>
            </a:r>
            <a:r>
              <a:rPr sz="1350" b="1" i="0">
                <a:solidFill>
                  <a:srgbClr val="2A2622"/>
                </a:solidFill>
                <a:latin typeface="Calibri"/>
              </a:rPr>
              <a:t>The 5 "buyer" posts that will actually sell the first 100:</a:t>
            </a:r>
            <a:r>
              <a:rPr sz="1350" b="0" i="0">
                <a:solidFill>
                  <a:srgbClr val="2A2622"/>
                </a:solidFill>
                <a:latin typeface="Calibri"/>
              </a:rPr>
              <a:t> D8 (intro+waitlist), D17 (proof), D21 (launch), D22 (objection), D24 (unboxing). Everything else warms the pool.</a:t>
            </a:r>
          </a:p>
          <a:p>
            <a:pPr>
              <a:spcBef>
                <a:spcPts val="1000"/>
              </a:spcBef>
              <a:spcAft>
                <a:spcPts val="400"/>
              </a:spcAft>
            </a:pPr>
            <a:r>
              <a:rPr sz="1600" b="1" i="0">
                <a:solidFill>
                  <a:srgbClr val="8F3A22"/>
                </a:solidFill>
                <a:latin typeface="Calibri"/>
              </a:rPr>
              <a:t>2. WHAT OFFER — "FOUNDING 100"</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334</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FIRST 100 CUSTOMERS (Section 25)</a:t>
            </a:r>
          </a:p>
          <a:p>
            <a:r>
              <a:rPr sz="1200" i="1">
                <a:solidFill>
                  <a:srgbClr val="57504A"/>
                </a:solidFill>
                <a:latin typeface="Calibri"/>
              </a:rPr>
              <a:t>PART 20 — First 1,000 Followers + First 100 Customers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Offer stack:</a:t>
            </a:r>
            <a:r>
              <a:rPr sz="1350" b="0" i="0">
                <a:solidFill>
                  <a:srgbClr val="2A2622"/>
                </a:solidFill>
                <a:latin typeface="Calibri"/>
              </a:rPr>
              <a:t> launch price (e.g., ₹599 where regular will be ₹799 — real future price, stated honestly) + </a:t>
            </a:r>
            <a:r>
              <a:rPr sz="1350" b="1" i="0">
                <a:solidFill>
                  <a:srgbClr val="2A2622"/>
                </a:solidFill>
                <a:latin typeface="Calibri"/>
              </a:rPr>
              <a:t>FREE Face Wash mini</a:t>
            </a:r>
            <a:r>
              <a:rPr sz="1350" b="0" i="0">
                <a:solidFill>
                  <a:srgbClr val="2A2622"/>
                </a:solidFill>
                <a:latin typeface="Calibri"/>
              </a:rPr>
              <a:t> (tangible, not fake %) + </a:t>
            </a:r>
            <a:r>
              <a:rPr sz="1350" b="1" i="0">
                <a:solidFill>
                  <a:srgbClr val="2A2622"/>
                </a:solidFill>
                <a:latin typeface="Calibri"/>
              </a:rPr>
              <a:t>FREE shipping</a:t>
            </a:r>
            <a:r>
              <a:rPr sz="1350" b="0" i="0">
                <a:solidFill>
                  <a:srgbClr val="2A2622"/>
                </a:solidFill>
                <a:latin typeface="Calibri"/>
              </a:rPr>
              <a:t> + </a:t>
            </a:r>
            <a:r>
              <a:rPr sz="1350" b="1" i="0">
                <a:solidFill>
                  <a:srgbClr val="2A2622"/>
                </a:solidFill>
                <a:latin typeface="Calibri"/>
              </a:rPr>
              <a:t>COD + return</a:t>
            </a:r>
            <a:r>
              <a:rPr sz="1350" b="0" i="0">
                <a:solidFill>
                  <a:srgbClr val="2A2622"/>
                </a:solidFill>
                <a:latin typeface="Calibri"/>
              </a:rPr>
              <a:t> + </a:t>
            </a:r>
            <a:r>
              <a:rPr sz="1350" b="1" i="0">
                <a:solidFill>
                  <a:srgbClr val="2A2622"/>
                </a:solidFill>
                <a:latin typeface="Calibri"/>
              </a:rPr>
              <a:t>review featured on page</a:t>
            </a:r>
            <a:r>
              <a:rPr sz="1350" b="0" i="0">
                <a:solidFill>
                  <a:srgbClr val="2A2622"/>
                </a:solidFill>
                <a:latin typeface="Calibri"/>
              </a:rPr>
              <a:t> (the social-pricing: your face on our wall).</a:t>
            </a:r>
          </a:p>
          <a:p>
            <a:pPr>
              <a:spcAft>
                <a:spcPts val="400"/>
              </a:spcAft>
            </a:pPr>
            <a:r>
              <a:rPr sz="1350">
                <a:solidFill>
                  <a:srgbClr val="B44A2E"/>
                </a:solidFill>
                <a:latin typeface="Calibri"/>
              </a:rPr>
              <a:t>•  </a:t>
            </a:r>
            <a:r>
              <a:rPr sz="1350" b="1" i="0">
                <a:solidFill>
                  <a:srgbClr val="2A2622"/>
                </a:solidFill>
                <a:latin typeface="Calibri"/>
              </a:rPr>
              <a:t>Real constraint:</a:t>
            </a:r>
            <a:r>
              <a:rPr sz="1350" b="0" i="0">
                <a:solidFill>
                  <a:srgbClr val="2A2622"/>
                </a:solidFill>
                <a:latin typeface="Calibri"/>
              </a:rPr>
              <a:t> exactly 100 units of batch 1 (state the batch logic — "har order ka hum khud dhyan le sakte hain").</a:t>
            </a:r>
          </a:p>
          <a:p>
            <a:pPr>
              <a:spcAft>
                <a:spcPts val="400"/>
              </a:spcAft>
            </a:pPr>
            <a:r>
              <a:rPr sz="1350">
                <a:solidFill>
                  <a:srgbClr val="B44A2E"/>
                </a:solidFill>
                <a:latin typeface="Calibri"/>
              </a:rPr>
              <a:t>•  </a:t>
            </a:r>
            <a:r>
              <a:rPr sz="1350" b="1" i="0">
                <a:solidFill>
                  <a:srgbClr val="2A2622"/>
                </a:solidFill>
                <a:latin typeface="Calibri"/>
              </a:rPr>
              <a:t>Why this offer works:</a:t>
            </a:r>
            <a:r>
              <a:rPr sz="1350" b="0" i="0">
                <a:solidFill>
                  <a:srgbClr val="2A2622"/>
                </a:solidFill>
                <a:latin typeface="Calibri"/>
              </a:rPr>
              <a:t> every element removes a </a:t>
            </a:r>
            <a:r>
              <a:rPr sz="1350" b="0" i="1">
                <a:solidFill>
                  <a:srgbClr val="2A2622"/>
                </a:solidFill>
                <a:latin typeface="Calibri"/>
              </a:rPr>
              <a:t>different</a:t>
            </a:r>
            <a:r>
              <a:rPr sz="1350" b="0" i="0">
                <a:solidFill>
                  <a:srgbClr val="2A2622"/>
                </a:solidFill>
                <a:latin typeface="Calibri"/>
              </a:rPr>
              <a:t> psychological blocker (§23): price (launch) + trial risk (free mini + COD) + waste fear (timeline + guide) + identity (founder-100 status + review feature).</a:t>
            </a:r>
          </a:p>
          <a:p>
            <a:pPr>
              <a:spcAft>
                <a:spcPts val="400"/>
              </a:spcAft>
            </a:pPr>
            <a:r>
              <a:rPr sz="1350">
                <a:solidFill>
                  <a:srgbClr val="B44A2E"/>
                </a:solidFill>
                <a:latin typeface="Calibri"/>
              </a:rPr>
              <a:t>•  </a:t>
            </a:r>
            <a:r>
              <a:rPr sz="1350" b="1" i="0">
                <a:solidFill>
                  <a:srgbClr val="2A2622"/>
                </a:solidFill>
                <a:latin typeface="Calibri"/>
              </a:rPr>
              <a:t>Anti-patterns avoided:</a:t>
            </a:r>
            <a:r>
              <a:rPr sz="1350" b="0" i="0">
                <a:solidFill>
                  <a:srgbClr val="2A2622"/>
                </a:solidFill>
                <a:latin typeface="Calibri"/>
              </a:rPr>
              <a:t> no fake MRP strike, no "50% OFF" (nobody ever paid the struck price), no fake countdown (the batch is the countdown).</a:t>
            </a:r>
          </a:p>
          <a:p>
            <a:pPr>
              <a:spcBef>
                <a:spcPts val="1000"/>
              </a:spcBef>
              <a:spcAft>
                <a:spcPts val="400"/>
              </a:spcAft>
            </a:pPr>
            <a:r>
              <a:rPr sz="1600" b="1" i="0">
                <a:solidFill>
                  <a:srgbClr val="8F3A22"/>
                </a:solidFill>
                <a:latin typeface="Calibri"/>
              </a:rPr>
              <a:t>3. WHAT CREATOR STRATEGY (first 100)</a:t>
            </a:r>
          </a:p>
          <a:p>
            <a:pPr>
              <a:spcAft>
                <a:spcPts val="400"/>
              </a:spcAft>
            </a:pPr>
            <a:r>
              <a:rPr sz="1350">
                <a:solidFill>
                  <a:srgbClr val="B44A2E"/>
                </a:solidFill>
                <a:latin typeface="Calibri"/>
              </a:rPr>
              <a:t>•  </a:t>
            </a:r>
            <a:r>
              <a:rPr sz="1350" b="1" i="0">
                <a:solidFill>
                  <a:srgbClr val="2A2622"/>
                </a:solidFill>
                <a:latin typeface="Calibri"/>
              </a:rPr>
              <a:t>5–10 micro-creators (5k–30k, Gujarat):</a:t>
            </a:r>
            <a:r>
              <a:rPr sz="1350" b="0" i="0">
                <a:solidFill>
                  <a:srgbClr val="2A2622"/>
                </a:solidFill>
                <a:latin typeface="Calibri"/>
              </a:rPr>
              <a:t> product free + ₹500–1,500 + affiliate 20% on 20 sales + ad permission.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335</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FIRST 100 CUSTOMERS (Section 25)</a:t>
            </a:r>
          </a:p>
          <a:p>
            <a:r>
              <a:rPr sz="1200" i="1">
                <a:solidFill>
                  <a:srgbClr val="57504A"/>
                </a:solidFill>
                <a:latin typeface="Calibri"/>
              </a:rPr>
              <a:t>PART 20 — First 1,000 Followers + First 100 Customers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Sequence:</a:t>
            </a:r>
            <a:r>
              <a:rPr sz="1350" b="0" i="0">
                <a:solidFill>
                  <a:srgbClr val="2A2622"/>
                </a:solidFill>
                <a:latin typeface="Calibri"/>
              </a:rPr>
              <a:t> creator #1 collab Day 19 (before launch — her audience sees the proof) → #2–3 in launch week (their reels = ad creatives) → #4–10 in weeks 4–6 (Sunrise for wave 2).</a:t>
            </a:r>
          </a:p>
          <a:p>
            <a:pPr>
              <a:spcAft>
                <a:spcPts val="400"/>
              </a:spcAft>
            </a:pPr>
            <a:r>
              <a:rPr sz="1350">
                <a:solidFill>
                  <a:srgbClr val="B44A2E"/>
                </a:solidFill>
                <a:latin typeface="Calibri"/>
              </a:rPr>
              <a:t>•  </a:t>
            </a:r>
            <a:r>
              <a:rPr sz="1350" b="1" i="0">
                <a:solidFill>
                  <a:srgbClr val="2A2622"/>
                </a:solidFill>
                <a:latin typeface="Calibri"/>
              </a:rPr>
              <a:t>Each creator = 6 assets</a:t>
            </a:r>
            <a:r>
              <a:rPr sz="1350" b="0" i="0">
                <a:solidFill>
                  <a:srgbClr val="2A2622"/>
                </a:solidFill>
                <a:latin typeface="Calibri"/>
              </a:rPr>
              <a:t> (their reel, our repost, 2 ad cuts, 3 quote cards) — 10 creators = 60 assets = the content bank for Month 2.</a:t>
            </a:r>
          </a:p>
          <a:p>
            <a:pPr>
              <a:spcAft>
                <a:spcPts val="400"/>
              </a:spcAft>
            </a:pPr>
            <a:r>
              <a:rPr sz="1350">
                <a:solidFill>
                  <a:srgbClr val="B44A2E"/>
                </a:solidFill>
                <a:latin typeface="Calibri"/>
              </a:rPr>
              <a:t>•  </a:t>
            </a:r>
            <a:r>
              <a:rPr sz="1350" b="1" i="0">
                <a:solidFill>
                  <a:srgbClr val="2A2622"/>
                </a:solidFill>
                <a:latin typeface="Calibri"/>
              </a:rPr>
              <a:t>The 30-day challenge creator (UGC #20)</a:t>
            </a:r>
            <a:r>
              <a:rPr sz="1350" b="0" i="0">
                <a:solidFill>
                  <a:srgbClr val="2A2622"/>
                </a:solidFill>
                <a:latin typeface="Calibri"/>
              </a:rPr>
              <a:t> runs from Day 21: 30 daily stories/posts from one real person = continuous social proof the whole month.</a:t>
            </a:r>
          </a:p>
          <a:p>
            <a:pPr>
              <a:spcBef>
                <a:spcPts val="1000"/>
              </a:spcBef>
              <a:spcAft>
                <a:spcPts val="400"/>
              </a:spcAft>
            </a:pPr>
            <a:r>
              <a:rPr sz="1600" b="1" i="0">
                <a:solidFill>
                  <a:srgbClr val="8F3A22"/>
                </a:solidFill>
                <a:latin typeface="Calibri"/>
              </a:rPr>
              <a:t>4. WHAT ADS</a:t>
            </a:r>
          </a:p>
          <a:p>
            <a:pPr>
              <a:spcAft>
                <a:spcPts val="400"/>
              </a:spcAft>
            </a:pPr>
            <a:r>
              <a:rPr sz="1350">
                <a:solidFill>
                  <a:srgbClr val="B44A2E"/>
                </a:solidFill>
                <a:latin typeface="Calibri"/>
              </a:rPr>
              <a:t>•  </a:t>
            </a:r>
            <a:r>
              <a:rPr sz="1350" b="1" i="0">
                <a:solidFill>
                  <a:srgbClr val="2A2622"/>
                </a:solidFill>
                <a:latin typeface="Calibri"/>
              </a:rPr>
              <a:t>Days 1–14: none.</a:t>
            </a:r>
            <a:r>
              <a:rPr sz="1350" b="0" i="0">
                <a:solidFill>
                  <a:srgbClr val="2A2622"/>
                </a:solidFill>
                <a:latin typeface="Calibri"/>
              </a:rPr>
              <a:t> Day 15–20: optional ₹200/day on 1 validated organic reel (followers/waitlist only).</a:t>
            </a:r>
          </a:p>
          <a:p>
            <a:pPr>
              <a:spcAft>
                <a:spcPts val="400"/>
              </a:spcAft>
            </a:pPr>
            <a:r>
              <a:rPr sz="1350">
                <a:solidFill>
                  <a:srgbClr val="B44A2E"/>
                </a:solidFill>
                <a:latin typeface="Calibri"/>
              </a:rPr>
              <a:t>•  </a:t>
            </a:r>
            <a:r>
              <a:rPr sz="1350" b="1" i="0">
                <a:solidFill>
                  <a:srgbClr val="2A2622"/>
                </a:solidFill>
                <a:latin typeface="Calibri"/>
              </a:rPr>
              <a:t>Day 21+: ₹500/day</a:t>
            </a:r>
            <a:r>
              <a:rPr sz="1350" b="0" i="0">
                <a:solidFill>
                  <a:srgbClr val="2A2622"/>
                </a:solidFill>
                <a:latin typeface="Calibri"/>
              </a:rPr>
              <a:t> (C1: broad Ahmedabad + interest Gujarat, 4 creatives, WA objective primary). Day 25+: +₹200/day retargeting (C3). Day 35+: scale winners.</a:t>
            </a:r>
          </a:p>
          <a:p>
            <a:pPr>
              <a:spcAft>
                <a:spcPts val="400"/>
              </a:spcAft>
            </a:pPr>
            <a:r>
              <a:rPr sz="1350">
                <a:solidFill>
                  <a:srgbClr val="B44A2E"/>
                </a:solidFill>
                <a:latin typeface="Calibri"/>
              </a:rPr>
              <a:t>•  </a:t>
            </a:r>
            <a:r>
              <a:rPr sz="1350" b="1" i="0">
                <a:solidFill>
                  <a:srgbClr val="2A2622"/>
                </a:solidFill>
                <a:latin typeface="Calibri"/>
              </a:rPr>
              <a:t>Expected contribution:</a:t>
            </a:r>
            <a:r>
              <a:rPr sz="1350" b="0" i="0">
                <a:solidFill>
                  <a:srgbClr val="2A2622"/>
                </a:solidFill>
                <a:latin typeface="Calibri"/>
              </a:rPr>
              <a:t> at ₹500–700/day, ads = 30–50% of first-100 orders (organic+DM+creators = 50–70%). </a:t>
            </a:r>
            <a:r>
              <a:rPr sz="1350" b="1" i="0">
                <a:solidFill>
                  <a:srgbClr val="2A2622"/>
                </a:solidFill>
                <a:latin typeface="Calibri"/>
              </a:rPr>
              <a:t>Organic-first is the point — ads amplify proof, they don't replace it.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336</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FIRST 100 CUSTOMERS (Section 25)</a:t>
            </a:r>
          </a:p>
          <a:p>
            <a:r>
              <a:rPr sz="1200" i="1">
                <a:solidFill>
                  <a:srgbClr val="57504A"/>
                </a:solidFill>
                <a:latin typeface="Calibri"/>
              </a:rPr>
              <a:t>PART 20 — First 1,000 Followers + First 100 Customers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5. WHAT CTA (one keyword, everywhere)</a:t>
            </a:r>
          </a:p>
          <a:p>
            <a:pPr>
              <a:spcAft>
                <a:spcPts val="400"/>
              </a:spcAft>
            </a:pPr>
            <a:r>
              <a:rPr sz="1350">
                <a:solidFill>
                  <a:srgbClr val="B44A2E"/>
                </a:solidFill>
                <a:latin typeface="Calibri"/>
              </a:rPr>
              <a:t>•  </a:t>
            </a:r>
            <a:r>
              <a:rPr sz="1350" b="1" i="0">
                <a:solidFill>
                  <a:srgbClr val="2A2622"/>
                </a:solidFill>
                <a:latin typeface="Calibri"/>
              </a:rPr>
              <a:t>"GLOW"</a:t>
            </a:r>
            <a:r>
              <a:rPr sz="1350" b="0" i="0">
                <a:solidFill>
                  <a:srgbClr val="2A2622"/>
                </a:solidFill>
                <a:latin typeface="Calibri"/>
              </a:rPr>
              <a:t> — DM keyword, on-screen text, Stories, WhatsApp greeting, ad primary text, box card, referral card. One keyword = the whole funnel is trackable (count GLOW DMs = count top-of-funnel).</a:t>
            </a:r>
          </a:p>
          <a:p>
            <a:pPr>
              <a:spcAft>
                <a:spcPts val="400"/>
              </a:spcAft>
            </a:pPr>
            <a:r>
              <a:rPr sz="1350">
                <a:solidFill>
                  <a:srgbClr val="B44A2E"/>
                </a:solidFill>
                <a:latin typeface="Calibri"/>
              </a:rPr>
              <a:t>•  </a:t>
            </a:r>
            <a:r>
              <a:rPr sz="1350" b="0" i="0">
                <a:solidFill>
                  <a:srgbClr val="2A2622"/>
                </a:solidFill>
                <a:latin typeface="Calibri"/>
              </a:rPr>
              <a:t>Secondary CTA by stage: follow (strangers) → save (education) → GLOW (intent) → "apna code" (referral).</a:t>
            </a:r>
          </a:p>
          <a:p>
            <a:pPr>
              <a:spcBef>
                <a:spcPts val="1000"/>
              </a:spcBef>
              <a:spcAft>
                <a:spcPts val="400"/>
              </a:spcAft>
            </a:pPr>
            <a:r>
              <a:rPr sz="1600" b="1" i="0">
                <a:solidFill>
                  <a:srgbClr val="8F3A22"/>
                </a:solidFill>
                <a:latin typeface="Calibri"/>
              </a:rPr>
              <a:t>6. WHAT DM STRATEGY (the engine — 60–70% of first 100 close here)</a:t>
            </a:r>
          </a:p>
          <a:p>
            <a:pPr>
              <a:spcAft>
                <a:spcPts val="400"/>
              </a:spcAft>
            </a:pPr>
            <a:r>
              <a:rPr sz="1350">
                <a:solidFill>
                  <a:srgbClr val="B44A2E"/>
                </a:solidFill>
                <a:latin typeface="Calibri"/>
              </a:rPr>
              <a:t>•  </a:t>
            </a:r>
            <a:r>
              <a:rPr sz="1350" b="1" i="0">
                <a:solidFill>
                  <a:srgbClr val="2A2622"/>
                </a:solidFill>
                <a:latin typeface="Calibri"/>
              </a:rPr>
              <a:t>Speed:</a:t>
            </a:r>
            <a:r>
              <a:rPr sz="1350" b="0" i="0">
                <a:solidFill>
                  <a:srgbClr val="2A2622"/>
                </a:solidFill>
                <a:latin typeface="Calibri"/>
              </a:rPr>
              <a:t> 15-minute SLA, 7 AM–11 PM (2 people: founder + 1 help, or founder + family). Auto-reply outside hours with a time promise.</a:t>
            </a:r>
          </a:p>
          <a:p>
            <a:pPr>
              <a:spcAft>
                <a:spcPts val="400"/>
              </a:spcAft>
            </a:pPr>
            <a:r>
              <a:rPr sz="1350">
                <a:solidFill>
                  <a:srgbClr val="B44A2E"/>
                </a:solidFill>
                <a:latin typeface="Calibri"/>
              </a:rPr>
              <a:t>•  </a:t>
            </a:r>
            <a:r>
              <a:rPr sz="1350" b="1" i="0">
                <a:solidFill>
                  <a:srgbClr val="2A2622"/>
                </a:solidFill>
                <a:latin typeface="Calibri"/>
              </a:rPr>
              <a:t>The GLOW script</a:t>
            </a:r>
            <a:r>
              <a:rPr sz="1350" b="0" i="0">
                <a:solidFill>
                  <a:srgbClr val="2A2622"/>
                </a:solidFill>
                <a:latin typeface="Calibri"/>
              </a:rPr>
              <a:t> (5 steps, full version in §21 Stage 5): greet with the full offer → city → delivery time → objection handling (3 canned: price/doubt/timeline) → confirm name+city+product → instant confirmation + "Din 7 pe hum khud message karenge."</a:t>
            </a:r>
          </a:p>
          <a:p>
            <a:pPr>
              <a:spcAft>
                <a:spcPts val="400"/>
              </a:spcAft>
            </a:pPr>
            <a:r>
              <a:rPr sz="1350">
                <a:solidFill>
                  <a:srgbClr val="B44A2E"/>
                </a:solidFill>
                <a:latin typeface="Calibri"/>
              </a:rPr>
              <a:t>•  </a:t>
            </a:r>
            <a:r>
              <a:rPr sz="1350" b="1" i="0">
                <a:solidFill>
                  <a:srgbClr val="2A2622"/>
                </a:solidFill>
                <a:latin typeface="Calibri"/>
              </a:rPr>
              <a:t>Every comment = 2-line real reply</a:t>
            </a:r>
            <a:r>
              <a:rPr sz="1350" b="0" i="0">
                <a:solidFill>
                  <a:srgbClr val="2A2622"/>
                </a:solidFill>
                <a:latin typeface="Calibri"/>
              </a:rPr>
              <a:t> (not emoji). Every question box answer = DM follow-up ("aapne pucha — detail WhatsApp pe bhej du?").</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337</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FIRST 100 CUSTOMERS (Section 25)</a:t>
            </a:r>
          </a:p>
          <a:p>
            <a:r>
              <a:rPr sz="1200" i="1">
                <a:solidFill>
                  <a:srgbClr val="57504A"/>
                </a:solidFill>
                <a:latin typeface="Calibri"/>
              </a:rPr>
              <a:t>PART 20 — First 1,000 Followers + First 100 Customers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Weekly DM audit (20 min):</a:t>
            </a:r>
            <a:r>
              <a:rPr sz="1350" b="0" i="0">
                <a:solidFill>
                  <a:srgbClr val="2A2622"/>
                </a:solidFill>
                <a:latin typeface="Calibri"/>
              </a:rPr>
              <a:t> DM→order %; top 3 objections heard → next week's content answers them (content is made from DMs, not the other way).</a:t>
            </a:r>
          </a:p>
          <a:p>
            <a:pPr>
              <a:spcAft>
                <a:spcPts val="400"/>
              </a:spcAft>
            </a:pPr>
            <a:r>
              <a:rPr sz="1350">
                <a:solidFill>
                  <a:srgbClr val="B44A2E"/>
                </a:solidFill>
                <a:latin typeface="Calibri"/>
              </a:rPr>
              <a:t>•  </a:t>
            </a:r>
            <a:r>
              <a:rPr sz="1350" b="1" i="0">
                <a:solidFill>
                  <a:srgbClr val="2A2622"/>
                </a:solidFill>
                <a:latin typeface="Calibri"/>
              </a:rPr>
              <a:t>Target:</a:t>
            </a:r>
            <a:r>
              <a:rPr sz="1350" b="0" i="0">
                <a:solidFill>
                  <a:srgbClr val="2A2622"/>
                </a:solidFill>
                <a:latin typeface="Calibri"/>
              </a:rPr>
              <a:t> 600–1,000 GLOW DMs by Day 30 → 40% conversion = 240–400 conversations → </a:t>
            </a:r>
            <a:r>
              <a:rPr sz="1350" b="1" i="0">
                <a:solidFill>
                  <a:srgbClr val="2A2622"/>
                </a:solidFill>
                <a:latin typeface="Calibri"/>
              </a:rPr>
              <a:t>80–100 orders.</a:t>
            </a:r>
          </a:p>
          <a:p>
            <a:pPr>
              <a:spcBef>
                <a:spcPts val="1000"/>
              </a:spcBef>
              <a:spcAft>
                <a:spcPts val="400"/>
              </a:spcAft>
            </a:pPr>
            <a:r>
              <a:rPr sz="1600" b="1" i="0">
                <a:solidFill>
                  <a:srgbClr val="8F3A22"/>
                </a:solidFill>
                <a:latin typeface="Calibri"/>
              </a:rPr>
              <a:t>7. WHAT WHATSAPP STRATEGY</a:t>
            </a:r>
          </a:p>
          <a:p>
            <a:pPr>
              <a:spcAft>
                <a:spcPts val="400"/>
              </a:spcAft>
            </a:pPr>
            <a:r>
              <a:rPr sz="1350">
                <a:solidFill>
                  <a:srgbClr val="B44A2E"/>
                </a:solidFill>
                <a:latin typeface="Calibri"/>
              </a:rPr>
              <a:t>•  </a:t>
            </a:r>
            <a:r>
              <a:rPr sz="1350" b="1" i="0">
                <a:solidFill>
                  <a:srgbClr val="2A2622"/>
                </a:solidFill>
                <a:latin typeface="Calibri"/>
              </a:rPr>
              <a:t>Business setup (Day 0):</a:t>
            </a:r>
            <a:r>
              <a:rPr sz="1350" b="0" i="0">
                <a:solidFill>
                  <a:srgbClr val="2A2622"/>
                </a:solidFill>
                <a:latin typeface="Calibri"/>
              </a:rPr>
              <a:t> catalog (3 products + kit), profile (real photo, address city, hours), quick replies (price/delivery/return/timeline), labels (NEW/ORDER/D7/D14/BUYER/REFER), auto-greeting, away message.</a:t>
            </a:r>
          </a:p>
          <a:p>
            <a:pPr>
              <a:spcAft>
                <a:spcPts val="400"/>
              </a:spcAft>
            </a:pPr>
            <a:r>
              <a:rPr sz="1350">
                <a:solidFill>
                  <a:srgbClr val="B44A2E"/>
                </a:solidFill>
                <a:latin typeface="Calibri"/>
              </a:rPr>
              <a:t>•  </a:t>
            </a:r>
            <a:r>
              <a:rPr sz="1350" b="1" i="0">
                <a:solidFill>
                  <a:srgbClr val="2A2622"/>
                </a:solidFill>
                <a:latin typeface="Calibri"/>
              </a:rPr>
              <a:t>The lists:</a:t>
            </a:r>
            <a:r>
              <a:rPr sz="1350" b="0" i="0">
                <a:solidFill>
                  <a:srgbClr val="2A2622"/>
                </a:solidFill>
                <a:latin typeface="Calibri"/>
              </a:rPr>
              <a:t> WAITLIST (GLOW DMs, pre-launch broadcast Day 20: "Kal launch — reply GLOW, aapka number save") → BUYERS (all orders) → REVIEWS (photo consenters) → REFERRERS (code users).</a:t>
            </a:r>
          </a:p>
          <a:p>
            <a:pPr>
              <a:spcAft>
                <a:spcPts val="400"/>
              </a:spcAft>
            </a:pPr>
            <a:r>
              <a:rPr sz="1350">
                <a:solidFill>
                  <a:srgbClr val="B44A2E"/>
                </a:solidFill>
                <a:latin typeface="Calibri"/>
              </a:rPr>
              <a:t>•  </a:t>
            </a:r>
            <a:r>
              <a:rPr sz="1350" b="1" i="0">
                <a:solidFill>
                  <a:srgbClr val="2A2622"/>
                </a:solidFill>
                <a:latin typeface="Calibri"/>
              </a:rPr>
              <a:t>Status = Stories</a:t>
            </a:r>
            <a:r>
              <a:rPr sz="1350" b="0" i="0">
                <a:solidFill>
                  <a:srgbClr val="2A2622"/>
                </a:solidFill>
                <a:latin typeface="Calibri"/>
              </a:rPr>
              <a:t> (3 slots/day) — Gujarat WhatsApp-Status usage is huge; zero extra work.</a:t>
            </a:r>
          </a:p>
          <a:p>
            <a:pPr>
              <a:spcAft>
                <a:spcPts val="400"/>
              </a:spcAft>
            </a:pPr>
            <a:r>
              <a:rPr sz="1350">
                <a:solidFill>
                  <a:srgbClr val="B44A2E"/>
                </a:solidFill>
                <a:latin typeface="Calibri"/>
              </a:rPr>
              <a:t>•  </a:t>
            </a:r>
            <a:r>
              <a:rPr sz="1350" b="1" i="0">
                <a:solidFill>
                  <a:srgbClr val="2A2622"/>
                </a:solidFill>
                <a:latin typeface="Calibri"/>
              </a:rPr>
              <a:t>Broadcast rules:</a:t>
            </a:r>
            <a:r>
              <a:rPr sz="1350" b="0" i="0">
                <a:solidFill>
                  <a:srgbClr val="2A2622"/>
                </a:solidFill>
                <a:latin typeface="Calibri"/>
              </a:rPr>
              <a:t> max 2/week to WAITLIST (pre-launch), 2/week to BUYERS (sequences only, no spam), 1/week to all (milestone/offer). Every broadcast = one value + one CTA, signed by name.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338</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FIRST 100 CUSTOMERS (Section 25)</a:t>
            </a:r>
          </a:p>
          <a:p>
            <a:r>
              <a:rPr sz="1200" i="1">
                <a:solidFill>
                  <a:srgbClr val="57504A"/>
                </a:solidFill>
                <a:latin typeface="Calibri"/>
              </a:rPr>
              <a:t>PART 20 — First 1,000 Followers + First 100 Customers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The box comms:</a:t>
            </a:r>
            <a:r>
              <a:rPr sz="1350" b="0" i="0">
                <a:solidFill>
                  <a:srgbClr val="2A2622"/>
                </a:solidFill>
                <a:latin typeface="Calibri"/>
              </a:rPr>
              <a:t> 5 touches pre-delivery (including the </a:t>
            </a:r>
            <a:r>
              <a:rPr sz="1350" b="0" i="1">
                <a:solidFill>
                  <a:srgbClr val="2A2622"/>
                </a:solidFill>
                <a:latin typeface="Calibri"/>
              </a:rPr>
              <a:t>photo of their actual box</a:t>
            </a:r>
            <a:r>
              <a:rPr sz="1350" b="0" i="0">
                <a:solidFill>
                  <a:srgbClr val="2A2622"/>
                </a:solidFill>
                <a:latin typeface="Calibri"/>
              </a:rPr>
              <a:t>) — this single habit drives the unboxing UGC and the "look, mera parcel aaya" stories.</a:t>
            </a:r>
          </a:p>
          <a:p>
            <a:pPr>
              <a:spcBef>
                <a:spcPts val="1000"/>
              </a:spcBef>
              <a:spcAft>
                <a:spcPts val="400"/>
              </a:spcAft>
            </a:pPr>
            <a:r>
              <a:rPr sz="1600" b="1" i="0">
                <a:solidFill>
                  <a:srgbClr val="8F3A22"/>
                </a:solidFill>
                <a:latin typeface="Calibri"/>
              </a:rPr>
              <a:t>8. WHAT REFERRAL STRATEGY</a:t>
            </a:r>
          </a:p>
          <a:p>
            <a:pPr>
              <a:spcAft>
                <a:spcPts val="400"/>
              </a:spcAft>
            </a:pPr>
            <a:r>
              <a:rPr sz="1350">
                <a:solidFill>
                  <a:srgbClr val="B44A2E"/>
                </a:solidFill>
                <a:latin typeface="Calibri"/>
              </a:rPr>
              <a:t>•  </a:t>
            </a:r>
            <a:r>
              <a:rPr sz="1350" b="0" i="0">
                <a:solidFill>
                  <a:srgbClr val="2A2622"/>
                </a:solidFill>
                <a:latin typeface="Calibri"/>
              </a:rPr>
              <a:t>Launch Day 29 (after first testimonials exist): </a:t>
            </a:r>
            <a:r>
              <a:rPr sz="1350" b="1" i="0">
                <a:solidFill>
                  <a:srgbClr val="2A2622"/>
                </a:solidFill>
                <a:latin typeface="Calibri"/>
              </a:rPr>
              <a:t>"Do ₹100, Lo ₹100"</a:t>
            </a:r>
            <a:r>
              <a:rPr sz="1350" b="0" i="0">
                <a:solidFill>
                  <a:srgbClr val="2A2622"/>
                </a:solidFill>
                <a:latin typeface="Calibri"/>
              </a:rPr>
              <a:t> — friend ₹100 off first order, referrer ₹100 off next.</a:t>
            </a:r>
          </a:p>
          <a:p>
            <a:pPr>
              <a:spcAft>
                <a:spcPts val="400"/>
              </a:spcAft>
            </a:pPr>
            <a:r>
              <a:rPr sz="1350">
                <a:solidFill>
                  <a:srgbClr val="B44A2E"/>
                </a:solidFill>
                <a:latin typeface="Calibri"/>
              </a:rPr>
              <a:t>•  </a:t>
            </a:r>
            <a:r>
              <a:rPr sz="1350" b="1" i="0">
                <a:solidFill>
                  <a:srgbClr val="2A2622"/>
                </a:solidFill>
                <a:latin typeface="Calibri"/>
              </a:rPr>
              <a:t>The ask moment:</a:t>
            </a:r>
            <a:r>
              <a:rPr sz="1350" b="0" i="0">
                <a:solidFill>
                  <a:srgbClr val="2A2622"/>
                </a:solidFill>
                <a:latin typeface="Calibri"/>
              </a:rPr>
              <a:t> Day-14 review message ends with: "Agar pasand aaya — 1 dost ko bata do. Aapko dono ko ₹100 milega. Code: [code]." (Asking at Day 14, when the product is working, is 3x more effective than Day 1.)</a:t>
            </a:r>
          </a:p>
          <a:p>
            <a:pPr>
              <a:spcAft>
                <a:spcPts val="400"/>
              </a:spcAft>
            </a:pPr>
            <a:r>
              <a:rPr sz="1350">
                <a:solidFill>
                  <a:srgbClr val="B44A2E"/>
                </a:solidFill>
                <a:latin typeface="Calibri"/>
              </a:rPr>
              <a:t>•  </a:t>
            </a:r>
            <a:r>
              <a:rPr sz="1350" b="1" i="0">
                <a:solidFill>
                  <a:srgbClr val="2A2622"/>
                </a:solidFill>
                <a:latin typeface="Calibri"/>
              </a:rPr>
              <a:t>Targets:</a:t>
            </a:r>
            <a:r>
              <a:rPr sz="1350" b="0" i="0">
                <a:solidFill>
                  <a:srgbClr val="2A2622"/>
                </a:solidFill>
                <a:latin typeface="Calibri"/>
              </a:rPr>
              <a:t> 15–20% of orders referred by Day 45; referred orders tagged in the sheet (CAC ≈ ₹100 vs ₹300 ads).</a:t>
            </a:r>
          </a:p>
          <a:p>
            <a:pPr>
              <a:spcAft>
                <a:spcPts val="400"/>
              </a:spcAft>
            </a:pPr>
            <a:r>
              <a:rPr sz="1350">
                <a:solidFill>
                  <a:srgbClr val="B44A2E"/>
                </a:solidFill>
                <a:latin typeface="Calibri"/>
              </a:rPr>
              <a:t>•  </a:t>
            </a:r>
            <a:r>
              <a:rPr sz="1350" b="1" i="0">
                <a:solidFill>
                  <a:srgbClr val="2A2622"/>
                </a:solidFill>
                <a:latin typeface="Calibri"/>
              </a:rPr>
              <a:t>The wall:</a:t>
            </a:r>
            <a:r>
              <a:rPr sz="1350" b="0" i="0">
                <a:solidFill>
                  <a:srgbClr val="2A2622"/>
                </a:solidFill>
                <a:latin typeface="Calibri"/>
              </a:rPr>
              <a:t> a pinned "Founding 100 ki kahani" post/Story showing real customer faces + cities (consented) — "aapki city me bhi koi hai" is a silent referral nudge for everyone scrolling.</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339</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FIRST 100 CUSTOMERS (Section 25)</a:t>
            </a:r>
          </a:p>
          <a:p>
            <a:r>
              <a:rPr sz="1200" i="1">
                <a:solidFill>
                  <a:srgbClr val="57504A"/>
                </a:solidFill>
                <a:latin typeface="Calibri"/>
              </a:rPr>
              <a:t>PART 20 — First 1,000 Followers + First 100 Customers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9. THE 30–45 DAY RUNWAY (who buys when)</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340</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FIRST 100 CUSTOMERS (Section 25)</a:t>
            </a:r>
          </a:p>
          <a:p>
            <a:r>
              <a:rPr sz="1200" i="1">
                <a:solidFill>
                  <a:srgbClr val="57504A"/>
                </a:solidFill>
                <a:latin typeface="Calibri"/>
              </a:rPr>
              <a:t>PART 20 — First 1,000 Followers + First 100 Customers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2858131"/>
                <a:gridCol w="6311707"/>
                <a:gridCol w="2381776"/>
              </a:tblGrid>
              <a:tr h="838200">
                <a:tc>
                  <a:txBody>
                    <a:bodyPr wrap="square"/>
                    <a:lstStyle/>
                    <a:p>
                      <a:r>
                        <a:rPr sz="1200" b="1" i="0">
                          <a:solidFill>
                            <a:srgbClr val="FFFFFF"/>
                          </a:solidFill>
                          <a:latin typeface="Calibri"/>
                        </a:rPr>
                        <a:t>Window</a:t>
                      </a:r>
                    </a:p>
                  </a:txBody>
                  <a:tcPr marL="45720" marR="45720" marT="18288" marB="18288" anchor="t">
                    <a:solidFill>
                      <a:srgbClr val="B44A2E"/>
                    </a:solidFill>
                  </a:tcPr>
                </a:tc>
                <a:tc>
                  <a:txBody>
                    <a:bodyPr wrap="square"/>
                    <a:lstStyle/>
                    <a:p>
                      <a:r>
                        <a:rPr sz="1200" b="1" i="0">
                          <a:solidFill>
                            <a:srgbClr val="FFFFFF"/>
                          </a:solidFill>
                          <a:latin typeface="Calibri"/>
                        </a:rPr>
                        <a:t>Source</a:t>
                      </a:r>
                    </a:p>
                  </a:txBody>
                  <a:tcPr marL="45720" marR="45720" marT="18288" marB="18288" anchor="t">
                    <a:solidFill>
                      <a:srgbClr val="B44A2E"/>
                    </a:solidFill>
                  </a:tcPr>
                </a:tc>
                <a:tc>
                  <a:txBody>
                    <a:bodyPr wrap="square"/>
                    <a:lstStyle/>
                    <a:p>
                      <a:r>
                        <a:rPr sz="1200" b="1" i="0">
                          <a:solidFill>
                            <a:srgbClr val="FFFFFF"/>
                          </a:solidFill>
                          <a:latin typeface="Calibri"/>
                        </a:rPr>
                        <a:t>Expected orders</a:t>
                      </a:r>
                    </a:p>
                  </a:txBody>
                  <a:tcPr marL="45720" marR="45720" marT="18288" marB="18288" anchor="t">
                    <a:solidFill>
                      <a:srgbClr val="B44A2E"/>
                    </a:solidFill>
                  </a:tcPr>
                </a:tc>
              </a:tr>
              <a:tr h="838200">
                <a:tc>
                  <a:txBody>
                    <a:bodyPr wrap="square"/>
                    <a:lstStyle/>
                    <a:p>
                      <a:r>
                        <a:rPr sz="1200" b="0" i="0">
                          <a:solidFill>
                            <a:srgbClr val="2A2622"/>
                          </a:solidFill>
                          <a:latin typeface="Calibri"/>
                        </a:rPr>
                        <a:t>Day 21–24 (launch spike)</a:t>
                      </a:r>
                    </a:p>
                  </a:txBody>
                  <a:tcPr marL="45720" marR="45720" marT="18288" marB="18288" anchor="t">
                    <a:solidFill>
                      <a:srgbClr val="FFFFFF"/>
                    </a:solidFill>
                  </a:tcPr>
                </a:tc>
                <a:tc>
                  <a:txBody>
                    <a:bodyPr wrap="square"/>
                    <a:lstStyle/>
                    <a:p>
                      <a:r>
                        <a:rPr sz="1200" b="0" i="0">
                          <a:solidFill>
                            <a:srgbClr val="2A2622"/>
                          </a:solidFill>
                          <a:latin typeface="Calibri"/>
                        </a:rPr>
                        <a:t>Waitlist DMs + D21 reel + creator #1–2 + WA broadcast</a:t>
                      </a:r>
                    </a:p>
                  </a:txBody>
                  <a:tcPr marL="45720" marR="45720" marT="18288" marB="18288" anchor="t">
                    <a:solidFill>
                      <a:srgbClr val="FFFFFF"/>
                    </a:solidFill>
                  </a:tcPr>
                </a:tc>
                <a:tc>
                  <a:txBody>
                    <a:bodyPr wrap="square"/>
                    <a:lstStyle/>
                    <a:p>
                      <a:r>
                        <a:rPr sz="1200" b="0" i="0">
                          <a:solidFill>
                            <a:srgbClr val="2A2622"/>
                          </a:solidFill>
                          <a:latin typeface="Calibri"/>
                        </a:rPr>
                        <a:t>25–35</a:t>
                      </a:r>
                    </a:p>
                  </a:txBody>
                  <a:tcPr marL="45720" marR="45720" marT="18288" marB="18288" anchor="t">
                    <a:solidFill>
                      <a:srgbClr val="FFFFFF"/>
                    </a:solidFill>
                  </a:tcPr>
                </a:tc>
              </a:tr>
              <a:tr h="838200">
                <a:tc>
                  <a:txBody>
                    <a:bodyPr wrap="square"/>
                    <a:lstStyle/>
                    <a:p>
                      <a:r>
                        <a:rPr sz="1200" b="0" i="0">
                          <a:solidFill>
                            <a:srgbClr val="2A2622"/>
                          </a:solidFill>
                          <a:latin typeface="Calibri"/>
                        </a:rPr>
                        <a:t>Day 25–30</a:t>
                      </a:r>
                    </a:p>
                  </a:txBody>
                  <a:tcPr marL="45720" marR="45720" marT="18288" marB="18288" anchor="t">
                    <a:solidFill>
                      <a:srgbClr val="F6F1E7"/>
                    </a:solidFill>
                  </a:tcPr>
                </a:tc>
                <a:tc>
                  <a:txBody>
                    <a:bodyPr wrap="square"/>
                    <a:lstStyle/>
                    <a:p>
                      <a:r>
                        <a:rPr sz="1200" b="0" i="0">
                          <a:solidFill>
                            <a:srgbClr val="2A2622"/>
                          </a:solidFill>
                          <a:latin typeface="Calibri"/>
                        </a:rPr>
                        <a:t>DMs + retargeting + unboxing/testimonial posts</a:t>
                      </a:r>
                    </a:p>
                  </a:txBody>
                  <a:tcPr marL="45720" marR="45720" marT="18288" marB="18288" anchor="t">
                    <a:solidFill>
                      <a:srgbClr val="F6F1E7"/>
                    </a:solidFill>
                  </a:tcPr>
                </a:tc>
                <a:tc>
                  <a:txBody>
                    <a:bodyPr wrap="square"/>
                    <a:lstStyle/>
                    <a:p>
                      <a:r>
                        <a:rPr sz="1200" b="0" i="0">
                          <a:solidFill>
                            <a:srgbClr val="2A2622"/>
                          </a:solidFill>
                          <a:latin typeface="Calibri"/>
                        </a:rPr>
                        <a:t>15–25</a:t>
                      </a:r>
                    </a:p>
                  </a:txBody>
                  <a:tcPr marL="45720" marR="45720" marT="18288" marB="18288" anchor="t">
                    <a:solidFill>
                      <a:srgbClr val="F6F1E7"/>
                    </a:solidFill>
                  </a:tcPr>
                </a:tc>
              </a:tr>
              <a:tr h="838200">
                <a:tc>
                  <a:txBody>
                    <a:bodyPr wrap="square"/>
                    <a:lstStyle/>
                    <a:p>
                      <a:r>
                        <a:rPr sz="1200" b="0" i="0">
                          <a:solidFill>
                            <a:srgbClr val="2A2622"/>
                          </a:solidFill>
                          <a:latin typeface="Calibri"/>
                        </a:rPr>
                        <a:t>Day 31–40</a:t>
                      </a:r>
                    </a:p>
                  </a:txBody>
                  <a:tcPr marL="45720" marR="45720" marT="18288" marB="18288" anchor="t">
                    <a:solidFill>
                      <a:srgbClr val="FFFFFF"/>
                    </a:solidFill>
                  </a:tcPr>
                </a:tc>
                <a:tc>
                  <a:txBody>
                    <a:bodyPr wrap="square"/>
                    <a:lstStyle/>
                    <a:p>
                      <a:r>
                        <a:rPr sz="1200" b="0" i="0">
                          <a:solidFill>
                            <a:srgbClr val="2A2622"/>
                          </a:solidFill>
                          <a:latin typeface="Calibri"/>
                        </a:rPr>
                        <a:t>Ads (C1+C3) + creators #3–5 + challenge series</a:t>
                      </a:r>
                    </a:p>
                  </a:txBody>
                  <a:tcPr marL="45720" marR="45720" marT="18288" marB="18288" anchor="t">
                    <a:solidFill>
                      <a:srgbClr val="FFFFFF"/>
                    </a:solidFill>
                  </a:tcPr>
                </a:tc>
                <a:tc>
                  <a:txBody>
                    <a:bodyPr wrap="square"/>
                    <a:lstStyle/>
                    <a:p>
                      <a:r>
                        <a:rPr sz="1200" b="0" i="0">
                          <a:solidFill>
                            <a:srgbClr val="2A2622"/>
                          </a:solidFill>
                          <a:latin typeface="Calibri"/>
                        </a:rPr>
                        <a:t>20–30</a:t>
                      </a:r>
                    </a:p>
                  </a:txBody>
                  <a:tcPr marL="45720" marR="45720" marT="18288" marB="18288" anchor="t">
                    <a:solidFill>
                      <a:srgbClr val="FFFFFF"/>
                    </a:solidFill>
                  </a:tcPr>
                </a:tc>
              </a:tr>
              <a:tr h="838200">
                <a:tc>
                  <a:txBody>
                    <a:bodyPr wrap="square"/>
                    <a:lstStyle/>
                    <a:p>
                      <a:r>
                        <a:rPr sz="1200" b="0" i="0">
                          <a:solidFill>
                            <a:srgbClr val="2A2622"/>
                          </a:solidFill>
                          <a:latin typeface="Calibri"/>
                        </a:rPr>
                        <a:t>Day 41–45</a:t>
                      </a:r>
                    </a:p>
                  </a:txBody>
                  <a:tcPr marL="45720" marR="45720" marT="18288" marB="18288" anchor="t">
                    <a:solidFill>
                      <a:srgbClr val="F6F1E7"/>
                    </a:solidFill>
                  </a:tcPr>
                </a:tc>
                <a:tc>
                  <a:txBody>
                    <a:bodyPr wrap="square"/>
                    <a:lstStyle/>
                    <a:p>
                      <a:r>
                        <a:rPr sz="1200" b="0" i="0">
                          <a:solidFill>
                            <a:srgbClr val="2A2622"/>
                          </a:solidFill>
                          <a:latin typeface="Calibri"/>
                        </a:rPr>
                        <a:t>Referrals + repeat/kit + "batch 2 waitlist"</a:t>
                      </a:r>
                    </a:p>
                  </a:txBody>
                  <a:tcPr marL="45720" marR="45720" marT="18288" marB="18288" anchor="t">
                    <a:solidFill>
                      <a:srgbClr val="F6F1E7"/>
                    </a:solidFill>
                  </a:tcPr>
                </a:tc>
                <a:tc>
                  <a:txBody>
                    <a:bodyPr wrap="square"/>
                    <a:lstStyle/>
                    <a:p>
                      <a:r>
                        <a:rPr sz="1200" b="0" i="0">
                          <a:solidFill>
                            <a:srgbClr val="2A2622"/>
                          </a:solidFill>
                          <a:latin typeface="Calibri"/>
                        </a:rPr>
                        <a:t>10–15</a:t>
                      </a:r>
                    </a:p>
                  </a:txBody>
                  <a:tcPr marL="45720" marR="45720" marT="18288" marB="18288" anchor="t">
                    <a:solidFill>
                      <a:srgbClr val="F6F1E7"/>
                    </a:solidFill>
                  </a:tcPr>
                </a:tc>
              </a:tr>
              <a:tr h="838200">
                <a:tc>
                  <a:txBody>
                    <a:bodyPr wrap="square"/>
                    <a:lstStyle/>
                    <a:p>
                      <a:r>
                        <a:rPr sz="1200" b="1" i="0">
                          <a:solidFill>
                            <a:srgbClr val="2A2622"/>
                          </a:solidFill>
                          <a:latin typeface="Calibri"/>
                        </a:rPr>
                        <a:t>Total</a:t>
                      </a:r>
                    </a:p>
                  </a:txBody>
                  <a:tcPr marL="45720" marR="45720" marT="18288" marB="18288" anchor="t">
                    <a:solidFill>
                      <a:srgbClr val="FFFFFF"/>
                    </a:solidFill>
                  </a:tcPr>
                </a:tc>
                <a:tc>
                  <a:txBody>
                    <a:bodyPr wrap="square"/>
                    <a:lstStyle/>
                    <a:p/>
                  </a:txBody>
                  <a:tcPr marL="45720" marR="45720" marT="18288" marB="18288" anchor="t">
                    <a:solidFill>
                      <a:srgbClr val="FFFFFF"/>
                    </a:solidFill>
                  </a:tcPr>
                </a:tc>
                <a:tc>
                  <a:txBody>
                    <a:bodyPr wrap="square"/>
                    <a:lstStyle/>
                    <a:p>
                      <a:r>
                        <a:rPr sz="1200" b="1" i="0">
                          <a:solidFill>
                            <a:srgbClr val="2A2622"/>
                          </a:solidFill>
                          <a:latin typeface="Calibri"/>
                        </a:rPr>
                        <a:t>70–105 (target: 100)</a:t>
                      </a:r>
                    </a:p>
                  </a:txBody>
                  <a:tcPr marL="45720" marR="45720" marT="18288" marB="18288" anchor="t">
                    <a:solidFill>
                      <a:srgbClr val="FFFFFF"/>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341</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FIRST 100 CUSTOMERS (Section 25)</a:t>
            </a:r>
          </a:p>
          <a:p>
            <a:r>
              <a:rPr sz="1200" i="1">
                <a:solidFill>
                  <a:srgbClr val="57504A"/>
                </a:solidFill>
                <a:latin typeface="Calibri"/>
              </a:rPr>
              <a:t>PART 20 — First 1,000 Followers + First 100 Customers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If behind at Day 30 (below 60):</a:t>
            </a:r>
            <a:r>
              <a:rPr sz="1350" b="0" i="0">
                <a:solidFill>
                  <a:srgbClr val="2A2622"/>
                </a:solidFill>
                <a:latin typeface="Calibri"/>
              </a:rPr>
              <a:t> do NOT add fake urgency. Diagnose in order: (1) DM reply speed &gt; 15 min? → fix staffing. (2) GLOW DM count low? → hook problem (test 5 new hooks from </a:t>
            </a:r>
            <a:r>
              <a:rPr sz="1200" b="0" i="0">
                <a:solidFill>
                  <a:srgbClr val="8F3A22"/>
                </a:solidFill>
                <a:latin typeface="Consolas"/>
              </a:rPr>
              <a:t>07-hooks-library.md</a:t>
            </a:r>
            <a:r>
              <a:rPr sz="1350" b="0" i="0">
                <a:solidFill>
                  <a:srgbClr val="2A2622"/>
                </a:solidFill>
                <a:latin typeface="Calibri"/>
              </a:rPr>
              <a:t>). (3) DM→order &lt; 30%? → COD clarity / price / timeline objection script. (4) Extend Founding 100 as "Batch 1 bhi khatam — Batch 2: 200 units" (real, announced as batch 2, not "extended offer").</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342</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21</a:t>
            </a:r>
          </a:p>
        </p:txBody>
      </p:sp>
      <p:sp>
        <p:nvSpPr>
          <p:cNvPr id="4" name="TextBox 3"/>
          <p:cNvSpPr txBox="1"/>
          <p:nvPr/>
        </p:nvSpPr>
        <p:spPr>
          <a:xfrm>
            <a:off x="914400" y="2377440"/>
            <a:ext cx="10362895" cy="1645920"/>
          </a:xfrm>
          <a:prstGeom prst="rect">
            <a:avLst/>
          </a:prstGeom>
          <a:noFill/>
        </p:spPr>
        <p:txBody>
          <a:bodyPr wrap="square">
            <a:spAutoFit/>
          </a:bodyPr>
          <a:lstStyle/>
          <a:p>
            <a:r>
              <a:rPr sz="2400" b="1">
                <a:solidFill>
                  <a:srgbClr val="8F3A22"/>
                </a:solidFill>
                <a:latin typeface="Calibri"/>
              </a:rPr>
              <a:t>§26 THE 90-DAY SOCIAL MEDIA + SALES MASTER PLAN — RANGAT NATURALS</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90-Day Social Media + Sales Master Plan</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343</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90-Day Social Media + Sales Master Plan</a:t>
            </a:r>
          </a:p>
          <a:p>
            <a:r>
              <a:rPr sz="1200" i="1">
                <a:solidFill>
                  <a:srgbClr val="57504A"/>
                </a:solidFill>
                <a:latin typeface="Calibri"/>
              </a:rPr>
              <a:t>PART 21 — 90-Day Social Media + Sales Master Plan</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Context (why 90 days is the right frame):</a:t>
            </a:r>
            <a:r>
              <a:rPr sz="1350" b="0" i="0">
                <a:solidFill>
                  <a:srgbClr val="2A2622"/>
                </a:solidFill>
                <a:latin typeface="Calibri"/>
              </a:rPr>
              <a:t> You're launching in mid-September 2026. Days 31–90 run straight into </a:t>
            </a:r>
            <a:r>
              <a:rPr sz="1350" b="1" i="0">
                <a:solidFill>
                  <a:srgbClr val="2A2622"/>
                </a:solidFill>
                <a:latin typeface="Calibri"/>
              </a:rPr>
              <a:t>Gujarat's wedding season (Oct–Feb) and Diwali (Nov 2026)</a:t>
            </a:r>
            <a:r>
              <a:rPr sz="1350" b="0" i="0">
                <a:solidFill>
                  <a:srgbClr val="2A2622"/>
                </a:solidFill>
                <a:latin typeface="Calibri"/>
              </a:rPr>
              <a:t> — the two highest-intent skincare windows of the year in Gujarat. This plan is built to be </a:t>
            </a:r>
            <a:r>
              <a:rPr sz="1350" b="0" i="1">
                <a:solidFill>
                  <a:srgbClr val="2A2622"/>
                </a:solidFill>
                <a:latin typeface="Calibri"/>
              </a:rPr>
              <a:t>sold out of proof</a:t>
            </a:r>
            <a:r>
              <a:rPr sz="1350" b="0" i="0">
                <a:solidFill>
                  <a:srgbClr val="2A2622"/>
                </a:solidFill>
                <a:latin typeface="Calibri"/>
              </a:rPr>
              <a:t> by Day 30 and </a:t>
            </a:r>
            <a:r>
              <a:rPr sz="1350" b="0" i="1">
                <a:solidFill>
                  <a:srgbClr val="2A2622"/>
                </a:solidFill>
                <a:latin typeface="Calibri"/>
              </a:rPr>
              <a:t>sold out of season</a:t>
            </a:r>
            <a:r>
              <a:rPr sz="1350" b="0" i="0">
                <a:solidFill>
                  <a:srgbClr val="2A2622"/>
                </a:solidFill>
                <a:latin typeface="Calibri"/>
              </a:rPr>
              <a:t> by Day 90.</a:t>
            </a:r>
          </a:p>
          <a:p>
            <a:pPr>
              <a:spcAft>
                <a:spcPts val="700"/>
              </a:spcAft>
            </a:pPr>
            <a:r>
              <a:rPr sz="1350" b="1" i="0">
                <a:solidFill>
                  <a:srgbClr val="2A2622"/>
                </a:solidFill>
                <a:latin typeface="Calibri"/>
              </a:rPr>
              <a:t>The 30/60/90 logic:</a:t>
            </a:r>
          </a:p>
          <a:p>
            <a:pPr>
              <a:spcAft>
                <a:spcPts val="400"/>
              </a:spcAft>
            </a:pPr>
            <a:r>
              <a:rPr sz="1350">
                <a:solidFill>
                  <a:srgbClr val="B44A2E"/>
                </a:solidFill>
                <a:latin typeface="Calibri"/>
              </a:rPr>
              <a:t>•  </a:t>
            </a:r>
            <a:r>
              <a:rPr sz="1350" b="1" i="0">
                <a:solidFill>
                  <a:srgbClr val="2A2622"/>
                </a:solidFill>
                <a:latin typeface="Calibri"/>
              </a:rPr>
              <a:t>Days 1–30: FOUNDATION + PROOF</a:t>
            </a:r>
            <a:r>
              <a:rPr sz="1350" b="0" i="0">
                <a:solidFill>
                  <a:srgbClr val="2A2622"/>
                </a:solidFill>
                <a:latin typeface="Calibri"/>
              </a:rPr>
              <a:t> → make the brand believable, sell the first 100.</a:t>
            </a:r>
          </a:p>
          <a:p>
            <a:pPr>
              <a:spcAft>
                <a:spcPts val="400"/>
              </a:spcAft>
            </a:pPr>
            <a:r>
              <a:rPr sz="1350">
                <a:solidFill>
                  <a:srgbClr val="B44A2E"/>
                </a:solidFill>
                <a:latin typeface="Calibri"/>
              </a:rPr>
              <a:t>•  </a:t>
            </a:r>
            <a:r>
              <a:rPr sz="1350" b="1" i="0">
                <a:solidFill>
                  <a:srgbClr val="2A2622"/>
                </a:solidFill>
                <a:latin typeface="Calibri"/>
              </a:rPr>
              <a:t>Days 31–60: TRUST → CONVERSION</a:t>
            </a:r>
            <a:r>
              <a:rPr sz="1350" b="0" i="0">
                <a:solidFill>
                  <a:srgbClr val="2A2622"/>
                </a:solidFill>
                <a:latin typeface="Calibri"/>
              </a:rPr>
              <a:t> → scale what works, add Sunscreen, wedding-season content.</a:t>
            </a:r>
          </a:p>
          <a:p>
            <a:pPr>
              <a:spcAft>
                <a:spcPts val="400"/>
              </a:spcAft>
            </a:pPr>
            <a:r>
              <a:rPr sz="1350">
                <a:solidFill>
                  <a:srgbClr val="B44A2E"/>
                </a:solidFill>
                <a:latin typeface="Calibri"/>
              </a:rPr>
              <a:t>•  </a:t>
            </a:r>
            <a:r>
              <a:rPr sz="1350" b="1" i="0">
                <a:solidFill>
                  <a:srgbClr val="2A2622"/>
                </a:solidFill>
                <a:latin typeface="Calibri"/>
              </a:rPr>
              <a:t>Days 61–90: SYSTEM + SCALE</a:t>
            </a:r>
            <a:r>
              <a:rPr sz="1350" b="0" i="0">
                <a:solidFill>
                  <a:srgbClr val="2A2622"/>
                </a:solidFill>
                <a:latin typeface="Calibri"/>
              </a:rPr>
              <a:t> → engine running, Diwali wave, Night Cream, repeat machine.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344</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PHASE 1 — DAYS 1–30: FOUNDATION + PROOF ("The 100")</a:t>
            </a:r>
          </a:p>
          <a:p>
            <a:r>
              <a:rPr sz="1200" i="1">
                <a:solidFill>
                  <a:srgbClr val="57504A"/>
                </a:solidFill>
                <a:latin typeface="Calibri"/>
              </a:rPr>
              <a:t>PART 21 — 90-Day Social Media + Sales Master Plan</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3850538"/>
                <a:gridCol w="7701076"/>
              </a:tblGrid>
              <a:tr h="558800">
                <a:tc>
                  <a:txBody>
                    <a:bodyPr wrap="square"/>
                    <a:lstStyle/>
                    <a:p>
                      <a:r>
                        <a:rPr sz="1200" b="1" i="0">
                          <a:solidFill>
                            <a:srgbClr val="FFFFFF"/>
                          </a:solidFill>
                          <a:latin typeface="Calibri"/>
                        </a:rPr>
                        <a:t>Block</a:t>
                      </a:r>
                    </a:p>
                  </a:txBody>
                  <a:tcPr marL="45720" marR="45720" marT="18288" marB="18288" anchor="t">
                    <a:solidFill>
                      <a:srgbClr val="B44A2E"/>
                    </a:solidFill>
                  </a:tcPr>
                </a:tc>
                <a:tc>
                  <a:txBody>
                    <a:bodyPr wrap="square"/>
                    <a:lstStyle/>
                    <a:p>
                      <a:r>
                        <a:rPr sz="1200" b="1" i="0">
                          <a:solidFill>
                            <a:srgbClr val="FFFFFF"/>
                          </a:solidFill>
                          <a:latin typeface="Calibri"/>
                        </a:rPr>
                        <a:t>Plan</a:t>
                      </a:r>
                    </a:p>
                  </a:txBody>
                  <a:tcPr marL="45720" marR="45720" marT="18288" marB="18288" anchor="t">
                    <a:solidFill>
                      <a:srgbClr val="B44A2E"/>
                    </a:solidFill>
                  </a:tcPr>
                </a:tc>
              </a:tr>
              <a:tr h="558800">
                <a:tc>
                  <a:txBody>
                    <a:bodyPr wrap="square"/>
                    <a:lstStyle/>
                    <a:p>
                      <a:r>
                        <a:rPr sz="1200" b="1" i="0">
                          <a:solidFill>
                            <a:srgbClr val="2A2622"/>
                          </a:solidFill>
                          <a:latin typeface="Calibri"/>
                        </a:rPr>
                        <a:t>Main objective</a:t>
                      </a:r>
                    </a:p>
                  </a:txBody>
                  <a:tcPr marL="45720" marR="45720" marT="18288" marB="18288" anchor="t">
                    <a:solidFill>
                      <a:srgbClr val="FFFFFF"/>
                    </a:solidFill>
                  </a:tcPr>
                </a:tc>
                <a:tc>
                  <a:txBody>
                    <a:bodyPr wrap="square"/>
                    <a:lstStyle/>
                    <a:p>
                      <a:r>
                        <a:rPr sz="1200" b="0" i="0">
                          <a:solidFill>
                            <a:srgbClr val="2A2622"/>
                          </a:solidFill>
                          <a:latin typeface="Calibri"/>
                        </a:rPr>
                        <a:t>Believable brand + </a:t>
                      </a:r>
                      <a:r>
                        <a:rPr sz="1200" b="1" i="0">
                          <a:solidFill>
                            <a:srgbClr val="2A2622"/>
                          </a:solidFill>
                          <a:latin typeface="Calibri"/>
                        </a:rPr>
                        <a:t>first 100 customers</a:t>
                      </a:r>
                      <a:r>
                        <a:rPr sz="1200" b="0" i="0">
                          <a:solidFill>
                            <a:srgbClr val="2A2622"/>
                          </a:solidFill>
                          <a:latin typeface="Calibri"/>
                        </a:rPr>
                        <a:t> + 15+ real UGC assets + ad engine proven at ₹500/day</a:t>
                      </a:r>
                    </a:p>
                  </a:txBody>
                  <a:tcPr marL="45720" marR="45720" marT="18288" marB="18288" anchor="t">
                    <a:solidFill>
                      <a:srgbClr val="FFFFFF"/>
                    </a:solidFill>
                  </a:tcPr>
                </a:tc>
              </a:tr>
              <a:tr h="558800">
                <a:tc>
                  <a:txBody>
                    <a:bodyPr wrap="square"/>
                    <a:lstStyle/>
                    <a:p>
                      <a:r>
                        <a:rPr sz="1200" b="1" i="0">
                          <a:solidFill>
                            <a:srgbClr val="2A2622"/>
                          </a:solidFill>
                          <a:latin typeface="Calibri"/>
                        </a:rPr>
                        <a:t>Content strategy</a:t>
                      </a:r>
                    </a:p>
                  </a:txBody>
                  <a:tcPr marL="45720" marR="45720" marT="18288" marB="18288" anchor="t">
                    <a:solidFill>
                      <a:srgbClr val="F6F1E7"/>
                    </a:solidFill>
                  </a:tcPr>
                </a:tc>
                <a:tc>
                  <a:txBody>
                    <a:bodyPr wrap="square"/>
                    <a:lstStyle/>
                    <a:p>
                      <a:r>
                        <a:rPr sz="1200" b="0" i="0">
                          <a:solidFill>
                            <a:srgbClr val="2A2622"/>
                          </a:solidFill>
                          <a:latin typeface="Calibri"/>
                        </a:rPr>
                        <a:t>Full 30-day calendar (</a:t>
                      </a:r>
                      <a:r>
                        <a:rPr sz="1050" b="0" i="0">
                          <a:solidFill>
                            <a:srgbClr val="8F3A22"/>
                          </a:solidFill>
                          <a:latin typeface="Consolas"/>
                        </a:rPr>
                        <a:t>04</a:t>
                      </a:r>
                      <a:r>
                        <a:rPr sz="1200" b="0" i="0">
                          <a:solidFill>
                            <a:srgbClr val="2A2622"/>
                          </a:solidFill>
                          <a:latin typeface="Calibri"/>
                        </a:rPr>
                        <a:t>–</a:t>
                      </a:r>
                      <a:r>
                        <a:rPr sz="1050" b="0" i="0">
                          <a:solidFill>
                            <a:srgbClr val="8F3A22"/>
                          </a:solidFill>
                          <a:latin typeface="Consolas"/>
                        </a:rPr>
                        <a:t>06</a:t>
                      </a:r>
                      <a:r>
                        <a:rPr sz="1200" b="0" i="0">
                          <a:solidFill>
                            <a:srgbClr val="2A2622"/>
                          </a:solidFill>
                          <a:latin typeface="Calibri"/>
                        </a:rPr>
                        <a:t>). Pillar mix: founder/problem 40%, education 25%, product 15%, trust 10%, sales 10% (ramps up week 4). Language 70% Gujarat. 1 creator collab (D19). 20-tester program (D1 start, D28 drop).</a:t>
                      </a:r>
                    </a:p>
                  </a:txBody>
                  <a:tcPr marL="45720" marR="45720" marT="18288" marB="18288" anchor="t">
                    <a:solidFill>
                      <a:srgbClr val="F6F1E7"/>
                    </a:solidFill>
                  </a:tcPr>
                </a:tc>
              </a:tr>
              <a:tr h="558800">
                <a:tc>
                  <a:txBody>
                    <a:bodyPr wrap="square"/>
                    <a:lstStyle/>
                    <a:p>
                      <a:r>
                        <a:rPr sz="1200" b="1" i="0">
                          <a:solidFill>
                            <a:srgbClr val="2A2622"/>
                          </a:solidFill>
                          <a:latin typeface="Calibri"/>
                        </a:rPr>
                        <a:t>Posting frequency</a:t>
                      </a:r>
                    </a:p>
                  </a:txBody>
                  <a:tcPr marL="45720" marR="45720" marT="18288" marB="18288" anchor="t">
                    <a:solidFill>
                      <a:srgbClr val="FFFFFF"/>
                    </a:solidFill>
                  </a:tcPr>
                </a:tc>
                <a:tc>
                  <a:txBody>
                    <a:bodyPr wrap="square"/>
                    <a:lstStyle/>
                    <a:p>
                      <a:r>
                        <a:rPr sz="1200" b="0" i="0">
                          <a:solidFill>
                            <a:srgbClr val="2A2622"/>
                          </a:solidFill>
                          <a:latin typeface="Calibri"/>
                        </a:rPr>
                        <a:t>6 Reels/week (5–7), 2 Carousels/week, 3–5 Stories/day, 3 YT Shorts/week (from top Reels)</a:t>
                      </a:r>
                    </a:p>
                  </a:txBody>
                  <a:tcPr marL="45720" marR="45720" marT="18288" marB="18288" anchor="t">
                    <a:solidFill>
                      <a:srgbClr val="FFFFFF"/>
                    </a:solidFill>
                  </a:tcPr>
                </a:tc>
              </a:tr>
              <a:tr h="558800">
                <a:tc>
                  <a:txBody>
                    <a:bodyPr wrap="square"/>
                    <a:lstStyle/>
                    <a:p>
                      <a:r>
                        <a:rPr sz="1200" b="1" i="0">
                          <a:solidFill>
                            <a:srgbClr val="2A2622"/>
                          </a:solidFill>
                          <a:latin typeface="Calibri"/>
                        </a:rPr>
                        <a:t>Ad strategy</a:t>
                      </a:r>
                    </a:p>
                  </a:txBody>
                  <a:tcPr marL="45720" marR="45720" marT="18288" marB="18288" anchor="t">
                    <a:solidFill>
                      <a:srgbClr val="F6F1E7"/>
                    </a:solidFill>
                  </a:tcPr>
                </a:tc>
                <a:tc>
                  <a:txBody>
                    <a:bodyPr wrap="square"/>
                    <a:lstStyle/>
                    <a:p>
                      <a:r>
                        <a:rPr sz="1200" b="0" i="0">
                          <a:solidFill>
                            <a:srgbClr val="2A2622"/>
                          </a:solidFill>
                          <a:latin typeface="Calibri"/>
                        </a:rPr>
                        <a:t>D1–14: none. D15–20: optional ₹200/day boost (1 validated reel, Ahmedabad, followers). D21: C1 LIVE ₹500/day (broad + interest, WA objective). D25: C3 LIVE ₹200/day. Kill/scale per </a:t>
                      </a:r>
                      <a:r>
                        <a:rPr sz="1050" b="0" i="0">
                          <a:solidFill>
                            <a:srgbClr val="8F3A22"/>
                          </a:solidFill>
                          <a:latin typeface="Consolas"/>
                        </a:rPr>
                        <a:t>16-creative-testing</a:t>
                      </a:r>
                      <a:r>
                        <a:rPr sz="1200" b="0" i="0">
                          <a:solidFill>
                            <a:srgbClr val="2A2622"/>
                          </a:solidFill>
                          <a:latin typeface="Calibri"/>
                        </a:rPr>
                        <a:t>.</a:t>
                      </a:r>
                    </a:p>
                  </a:txBody>
                  <a:tcPr marL="45720" marR="45720" marT="18288" marB="18288" anchor="t">
                    <a:solidFill>
                      <a:srgbClr val="F6F1E7"/>
                    </a:solidFill>
                  </a:tcPr>
                </a:tc>
              </a:tr>
              <a:tr h="558800">
                <a:tc>
                  <a:txBody>
                    <a:bodyPr wrap="square"/>
                    <a:lstStyle/>
                    <a:p>
                      <a:r>
                        <a:rPr sz="1200" b="1" i="0">
                          <a:solidFill>
                            <a:srgbClr val="2A2622"/>
                          </a:solidFill>
                          <a:latin typeface="Calibri"/>
                        </a:rPr>
                        <a:t>Creator strategy</a:t>
                      </a:r>
                    </a:p>
                  </a:txBody>
                  <a:tcPr marL="45720" marR="45720" marT="18288" marB="18288" anchor="t">
                    <a:solidFill>
                      <a:srgbClr val="FFFFFF"/>
                    </a:solidFill>
                  </a:tcPr>
                </a:tc>
                <a:tc>
                  <a:txBody>
                    <a:bodyPr wrap="square"/>
                    <a:lstStyle/>
                    <a:p>
                      <a:r>
                        <a:rPr sz="1200" b="0" i="0">
                          <a:solidFill>
                            <a:srgbClr val="2A2622"/>
                          </a:solidFill>
                          <a:latin typeface="Calibri"/>
                        </a:rPr>
                        <a:t>10 shortlisted by Day 7 · 1 collab D19 · 2 more in launch week · consent+ad-permission in writing for all</a:t>
                      </a:r>
                    </a:p>
                  </a:txBody>
                  <a:tcPr marL="45720" marR="45720" marT="18288" marB="18288" anchor="t">
                    <a:solidFill>
                      <a:srgbClr val="FFFFFF"/>
                    </a:solidFill>
                  </a:tcPr>
                </a:tc>
              </a:tr>
              <a:tr h="558800">
                <a:tc>
                  <a:txBody>
                    <a:bodyPr wrap="square"/>
                    <a:lstStyle/>
                    <a:p>
                      <a:r>
                        <a:rPr sz="1200" b="1" i="0">
                          <a:solidFill>
                            <a:srgbClr val="2A2622"/>
                          </a:solidFill>
                          <a:latin typeface="Calibri"/>
                        </a:rPr>
                        <a:t>WhatsApp system</a:t>
                      </a:r>
                    </a:p>
                  </a:txBody>
                  <a:tcPr marL="45720" marR="45720" marT="18288" marB="18288" anchor="t">
                    <a:solidFill>
                      <a:srgbClr val="F6F1E7"/>
                    </a:solidFill>
                  </a:tcPr>
                </a:tc>
                <a:tc>
                  <a:txBody>
                    <a:bodyPr wrap="square"/>
                    <a:lstStyle/>
                    <a:p>
                      <a:r>
                        <a:rPr sz="1200" b="0" i="0">
                          <a:solidFill>
                            <a:srgbClr val="2A2622"/>
                          </a:solidFill>
                          <a:latin typeface="Calibri"/>
                        </a:rPr>
                        <a:t>GLOW script live D1 · waitlist broadcast D20 · 5-touch box comms from order #1 · Day-1/7/14 sequences running</a:t>
                      </a:r>
                    </a:p>
                  </a:txBody>
                  <a:tcPr marL="45720" marR="45720" marT="18288" marB="18288" anchor="t">
                    <a:solidFill>
                      <a:srgbClr val="F6F1E7"/>
                    </a:solidFill>
                  </a:tcPr>
                </a:tc>
              </a:tr>
              <a:tr h="558800">
                <a:tc>
                  <a:txBody>
                    <a:bodyPr wrap="square"/>
                    <a:lstStyle/>
                    <a:p>
                      <a:r>
                        <a:rPr sz="1200" b="1" i="0">
                          <a:solidFill>
                            <a:srgbClr val="2A2622"/>
                          </a:solidFill>
                          <a:latin typeface="Calibri"/>
                        </a:rPr>
                        <a:t>Sales target</a:t>
                      </a:r>
                    </a:p>
                  </a:txBody>
                  <a:tcPr marL="45720" marR="45720" marT="18288" marB="18288" anchor="t">
                    <a:solidFill>
                      <a:srgbClr val="FFFFFF"/>
                    </a:solidFill>
                  </a:tcPr>
                </a:tc>
                <a:tc>
                  <a:txBody>
                    <a:bodyPr wrap="square"/>
                    <a:lstStyle/>
                    <a:p>
                      <a:r>
                        <a:rPr sz="1200" b="1" i="0">
                          <a:solidFill>
                            <a:srgbClr val="2A2622"/>
                          </a:solidFill>
                          <a:latin typeface="Calibri"/>
                        </a:rPr>
                        <a:t>100 orders (Founding 100 sold out)</a:t>
                      </a:r>
                      <a:r>
                        <a:rPr sz="1200" b="0" i="0">
                          <a:solidFill>
                            <a:srgbClr val="2A2622"/>
                          </a:solidFill>
                          <a:latin typeface="Calibri"/>
                        </a:rPr>
                        <a:t> · AOV ₹550–650 (mix of single + early kits) · COD success ≥ 85%</a:t>
                      </a:r>
                    </a:p>
                  </a:txBody>
                  <a:tcPr marL="45720" marR="45720" marT="18288" marB="18288" anchor="t">
                    <a:solidFill>
                      <a:srgbClr val="FFFFFF"/>
                    </a:solidFill>
                  </a:tcPr>
                </a:tc>
              </a:tr>
              <a:tr h="558800">
                <a:tc>
                  <a:txBody>
                    <a:bodyPr wrap="square"/>
                    <a:lstStyle/>
                    <a:p>
                      <a:r>
                        <a:rPr sz="1200" b="1" i="0">
                          <a:solidFill>
                            <a:srgbClr val="2A2622"/>
                          </a:solidFill>
                          <a:latin typeface="Calibri"/>
                        </a:rPr>
                        <a:t>KPIs (review Sunday of week 4)</a:t>
                      </a:r>
                    </a:p>
                  </a:txBody>
                  <a:tcPr marL="45720" marR="45720" marT="18288" marB="18288" anchor="t">
                    <a:solidFill>
                      <a:srgbClr val="F6F1E7"/>
                    </a:solidFill>
                  </a:tcPr>
                </a:tc>
                <a:tc>
                  <a:txBody>
                    <a:bodyPr wrap="square"/>
                    <a:lstStyle/>
                    <a:p>
                      <a:r>
                        <a:rPr sz="1200" b="0" i="0">
                          <a:solidFill>
                            <a:srgbClr val="2A2622"/>
                          </a:solidFill>
                          <a:latin typeface="Calibri"/>
                        </a:rPr>
                        <a:t>Followers 1,000–1,500 · GLOW DMs 600–1,000 · DM→order ≥ 35% · 3 reels &gt;10k views · 15 UGC assets · CPA ≤ ₹400 (ads) · 20+ real reviews/updates · referral program live (D29)</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345</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PHASE 1 — DAYS 1–30: FOUNDATION + PROOF ("The 100")</a:t>
            </a:r>
          </a:p>
          <a:p>
            <a:r>
              <a:rPr sz="1200" i="1">
                <a:solidFill>
                  <a:srgbClr val="57504A"/>
                </a:solidFill>
                <a:latin typeface="Calibri"/>
              </a:rPr>
              <a:t>PART 21 — 90-Day Social Media + Sales Master Plan</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Phase gate (must pass to scale spend in Phase 2):</a:t>
            </a:r>
            <a:r>
              <a:rPr sz="1350" b="0" i="0">
                <a:solidFill>
                  <a:srgbClr val="2A2622"/>
                </a:solidFill>
                <a:latin typeface="Calibri"/>
              </a:rPr>
              <a:t> ≥ 80 orders · ≥ 10 usable UGC assets · ≥ 3 reels &gt;10k views · DM pipeline &lt; 15 min SLA. (If failed: fix the weakest stage of the funnel per §21 before touching ad budget.)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346</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PHASE 2 — DAYS 31–60: TRUST → CONVERSION ("The 500")</a:t>
            </a:r>
          </a:p>
          <a:p>
            <a:r>
              <a:rPr sz="1200" i="1">
                <a:solidFill>
                  <a:srgbClr val="57504A"/>
                </a:solidFill>
                <a:latin typeface="Calibri"/>
              </a:rPr>
              <a:t>PART 21 — 90-Day Social Media + Sales Master Plan</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2550356"/>
                <a:gridCol w="9001258"/>
              </a:tblGrid>
              <a:tr h="558800">
                <a:tc>
                  <a:txBody>
                    <a:bodyPr wrap="square"/>
                    <a:lstStyle/>
                    <a:p>
                      <a:r>
                        <a:rPr sz="1200" b="1" i="0">
                          <a:solidFill>
                            <a:srgbClr val="FFFFFF"/>
                          </a:solidFill>
                          <a:latin typeface="Calibri"/>
                        </a:rPr>
                        <a:t>Block</a:t>
                      </a:r>
                    </a:p>
                  </a:txBody>
                  <a:tcPr marL="45720" marR="45720" marT="18288" marB="18288" anchor="t">
                    <a:solidFill>
                      <a:srgbClr val="B44A2E"/>
                    </a:solidFill>
                  </a:tcPr>
                </a:tc>
                <a:tc>
                  <a:txBody>
                    <a:bodyPr wrap="square"/>
                    <a:lstStyle/>
                    <a:p>
                      <a:r>
                        <a:rPr sz="1200" b="1" i="0">
                          <a:solidFill>
                            <a:srgbClr val="FFFFFF"/>
                          </a:solidFill>
                          <a:latin typeface="Calibri"/>
                        </a:rPr>
                        <a:t>Plan</a:t>
                      </a:r>
                    </a:p>
                  </a:txBody>
                  <a:tcPr marL="45720" marR="45720" marT="18288" marB="18288" anchor="t">
                    <a:solidFill>
                      <a:srgbClr val="B44A2E"/>
                    </a:solidFill>
                  </a:tcPr>
                </a:tc>
              </a:tr>
              <a:tr h="558800">
                <a:tc>
                  <a:txBody>
                    <a:bodyPr wrap="square"/>
                    <a:lstStyle/>
                    <a:p>
                      <a:r>
                        <a:rPr sz="1200" b="1" i="0">
                          <a:solidFill>
                            <a:srgbClr val="2A2622"/>
                          </a:solidFill>
                          <a:latin typeface="Calibri"/>
                        </a:rPr>
                        <a:t>Main objective</a:t>
                      </a:r>
                    </a:p>
                  </a:txBody>
                  <a:tcPr marL="45720" marR="45720" marT="18288" marB="18288" anchor="t">
                    <a:solidFill>
                      <a:srgbClr val="FFFFFF"/>
                    </a:solidFill>
                  </a:tcPr>
                </a:tc>
                <a:tc>
                  <a:txBody>
                    <a:bodyPr wrap="square"/>
                    <a:lstStyle/>
                    <a:p>
                      <a:r>
                        <a:rPr sz="1200" b="0" i="0">
                          <a:solidFill>
                            <a:srgbClr val="2A2622"/>
                          </a:solidFill>
                          <a:latin typeface="Calibri"/>
                        </a:rPr>
                        <a:t>Convert trust into volume: </a:t>
                      </a:r>
                      <a:r>
                        <a:rPr sz="1200" b="1" i="0">
                          <a:solidFill>
                            <a:srgbClr val="2A2622"/>
                          </a:solidFill>
                          <a:latin typeface="Calibri"/>
                        </a:rPr>
                        <a:t>~400–500 cumulative orders</a:t>
                      </a:r>
                      <a:r>
                        <a:rPr sz="1200" b="0" i="0">
                          <a:solidFill>
                            <a:srgbClr val="2A2622"/>
                          </a:solidFill>
                          <a:latin typeface="Calibri"/>
                        </a:rPr>
                        <a:t>, launch </a:t>
                      </a:r>
                      <a:r>
                        <a:rPr sz="1200" b="1" i="0">
                          <a:solidFill>
                            <a:srgbClr val="2A2622"/>
                          </a:solidFill>
                          <a:latin typeface="Calibri"/>
                        </a:rPr>
                        <a:t>Sunscreen (hero wave 2)</a:t>
                      </a:r>
                      <a:r>
                        <a:rPr sz="1200" b="0" i="0">
                          <a:solidFill>
                            <a:srgbClr val="2A2622"/>
                          </a:solidFill>
                          <a:latin typeface="Calibri"/>
                        </a:rPr>
                        <a:t>, wedding-glow content engine, ads at ₹1,000–1,500/day with proven ROAS</a:t>
                      </a:r>
                    </a:p>
                  </a:txBody>
                  <a:tcPr marL="45720" marR="45720" marT="18288" marB="18288" anchor="t">
                    <a:solidFill>
                      <a:srgbClr val="FFFFFF"/>
                    </a:solidFill>
                  </a:tcPr>
                </a:tc>
              </a:tr>
              <a:tr h="558800">
                <a:tc>
                  <a:txBody>
                    <a:bodyPr wrap="square"/>
                    <a:lstStyle/>
                    <a:p>
                      <a:r>
                        <a:rPr sz="1200" b="1" i="0">
                          <a:solidFill>
                            <a:srgbClr val="2A2622"/>
                          </a:solidFill>
                          <a:latin typeface="Calibri"/>
                        </a:rPr>
                        <a:t>Content strategy</a:t>
                      </a:r>
                    </a:p>
                  </a:txBody>
                  <a:tcPr marL="45720" marR="45720" marT="18288" marB="18288" anchor="t">
                    <a:solidFill>
                      <a:srgbClr val="F6F1E7"/>
                    </a:solidFill>
                  </a:tcPr>
                </a:tc>
                <a:tc>
                  <a:txBody>
                    <a:bodyPr wrap="square"/>
                    <a:lstStyle/>
                    <a:p>
                      <a:r>
                        <a:rPr sz="1200" b="0" i="0">
                          <a:solidFill>
                            <a:srgbClr val="2A2622"/>
                          </a:solidFill>
                          <a:latin typeface="Calibri"/>
                        </a:rPr>
                        <a:t>Same weekly rhythm; hero rotates: Serum 40% → </a:t>
                      </a:r>
                      <a:r>
                        <a:rPr sz="1200" b="1" i="0">
                          <a:solidFill>
                            <a:srgbClr val="2A2622"/>
                          </a:solidFill>
                          <a:latin typeface="Calibri"/>
                        </a:rPr>
                        <a:t>Sunscreen 40%</a:t>
                      </a:r>
                      <a:r>
                        <a:rPr sz="1200" b="0" i="0">
                          <a:solidFill>
                            <a:srgbClr val="2A2622"/>
                          </a:solidFill>
                          <a:latin typeface="Calibri"/>
                        </a:rPr>
                        <a:t> (D45–60) → Serum 20%. "Wedding Glow 6-Hafte" mini-campaign starts D45 (Oct = Gujarat shaadi season ON): glow-calendar carousels, bridal-prep testimonials, "6 hafte pehle shuru" hooks. Night Cream seeded (D28 continues → waitlist). Moizerizer kit push (D31+) for AOV. Language 60% Gujarat / 40% all-India.</a:t>
                      </a:r>
                    </a:p>
                  </a:txBody>
                  <a:tcPr marL="45720" marR="45720" marT="18288" marB="18288" anchor="t">
                    <a:solidFill>
                      <a:srgbClr val="F6F1E7"/>
                    </a:solidFill>
                  </a:tcPr>
                </a:tc>
              </a:tr>
              <a:tr h="558800">
                <a:tc>
                  <a:txBody>
                    <a:bodyPr wrap="square"/>
                    <a:lstStyle/>
                    <a:p>
                      <a:r>
                        <a:rPr sz="1200" b="1" i="0">
                          <a:solidFill>
                            <a:srgbClr val="2A2622"/>
                          </a:solidFill>
                          <a:latin typeface="Calibri"/>
                        </a:rPr>
                        <a:t>Posting frequency</a:t>
                      </a:r>
                    </a:p>
                  </a:txBody>
                  <a:tcPr marL="45720" marR="45720" marT="18288" marB="18288" anchor="t">
                    <a:solidFill>
                      <a:srgbClr val="FFFFFF"/>
                    </a:solidFill>
                  </a:tcPr>
                </a:tc>
                <a:tc>
                  <a:txBody>
                    <a:bodyPr wrap="square"/>
                    <a:lstStyle/>
                    <a:p>
                      <a:r>
                        <a:rPr sz="1200" b="0" i="0">
                          <a:solidFill>
                            <a:srgbClr val="2A2622"/>
                          </a:solidFill>
                          <a:latin typeface="Calibri"/>
                        </a:rPr>
                        <a:t>6–7 Reels/week, 2 Carousels/week, 3–5 Stories/day, 3 YT Shorts/week. </a:t>
                      </a:r>
                      <a:r>
                        <a:rPr sz="1200" b="1" i="0">
                          <a:solidFill>
                            <a:srgbClr val="2A2622"/>
                          </a:solidFill>
                          <a:latin typeface="Calibri"/>
                        </a:rPr>
                        <a:t>1 new creator drop/week</a:t>
                      </a:r>
                      <a:r>
                        <a:rPr sz="1200" b="0" i="0">
                          <a:solidFill>
                            <a:srgbClr val="2A2622"/>
                          </a:solidFill>
                          <a:latin typeface="Calibri"/>
                        </a:rPr>
                        <a:t> (5 total in phase). UGC #20 (30-day challenge) running daily on Stories.</a:t>
                      </a:r>
                    </a:p>
                  </a:txBody>
                  <a:tcPr marL="45720" marR="45720" marT="18288" marB="18288" anchor="t">
                    <a:solidFill>
                      <a:srgbClr val="FFFFFF"/>
                    </a:solidFill>
                  </a:tcPr>
                </a:tc>
              </a:tr>
              <a:tr h="558800">
                <a:tc>
                  <a:txBody>
                    <a:bodyPr wrap="square"/>
                    <a:lstStyle/>
                    <a:p>
                      <a:r>
                        <a:rPr sz="1200" b="1" i="0">
                          <a:solidFill>
                            <a:srgbClr val="2A2622"/>
                          </a:solidFill>
                          <a:latin typeface="Calibri"/>
                        </a:rPr>
                        <a:t>Ad strategy</a:t>
                      </a:r>
                    </a:p>
                  </a:txBody>
                  <a:tcPr marL="45720" marR="45720" marT="18288" marB="18288" anchor="t">
                    <a:solidFill>
                      <a:srgbClr val="F6F1E7"/>
                    </a:solidFill>
                  </a:tcPr>
                </a:tc>
                <a:tc>
                  <a:txBody>
                    <a:bodyPr wrap="square"/>
                    <a:lstStyle/>
                    <a:p>
                      <a:r>
                        <a:rPr sz="1200" b="0" i="0">
                          <a:solidFill>
                            <a:srgbClr val="2A2622"/>
                          </a:solidFill>
                          <a:latin typeface="Calibri"/>
                        </a:rPr>
                        <a:t>C1 continues, scale winners (+30%/48h while CPA ≤ target). D35: </a:t>
                      </a:r>
                      <a:r>
                        <a:rPr sz="1200" b="1" i="0">
                          <a:solidFill>
                            <a:srgbClr val="2A2622"/>
                          </a:solidFill>
                          <a:latin typeface="Calibri"/>
                        </a:rPr>
                        <a:t>C2 LIVE</a:t>
                      </a:r>
                      <a:r>
                        <a:rPr sz="1200" b="0" i="0">
                          <a:solidFill>
                            <a:srgbClr val="2A2622"/>
                          </a:solidFill>
                          <a:latin typeface="Calibri"/>
                        </a:rPr>
                        <a:t> (LAL + interest, ₹500/day). C3 at ₹300/day with retargeting creative rotation (2 creatives/10 days). Geo: +Surat, +Vadodara (week 4 of phase). </a:t>
                      </a:r>
                      <a:r>
                        <a:rPr sz="1200" b="1" i="0">
                          <a:solidFill>
                            <a:srgbClr val="2A2622"/>
                          </a:solidFill>
                          <a:latin typeface="Calibri"/>
                        </a:rPr>
                        <a:t>Sunscreen creative takes 40% of C1/C2 budget from D50</a:t>
                      </a:r>
                      <a:r>
                        <a:rPr sz="1200" b="0" i="0">
                          <a:solidFill>
                            <a:srgbClr val="2A2622"/>
                          </a:solidFill>
                          <a:latin typeface="Calibri"/>
                        </a:rPr>
                        <a:t> (same audiences, new product; existing buyers cross-sold via C3 site-visitors). Diwali CPM spike pre-booking: start gifting creative test D55.</a:t>
                      </a:r>
                    </a:p>
                  </a:txBody>
                  <a:tcPr marL="45720" marR="45720" marT="18288" marB="18288" anchor="t">
                    <a:solidFill>
                      <a:srgbClr val="F6F1E7"/>
                    </a:solidFill>
                  </a:tcPr>
                </a:tc>
              </a:tr>
              <a:tr h="558800">
                <a:tc>
                  <a:txBody>
                    <a:bodyPr wrap="square"/>
                    <a:lstStyle/>
                    <a:p>
                      <a:r>
                        <a:rPr sz="1200" b="1" i="0">
                          <a:solidFill>
                            <a:srgbClr val="2A2622"/>
                          </a:solidFill>
                          <a:latin typeface="Calibri"/>
                        </a:rPr>
                        <a:t>Creator strategy</a:t>
                      </a:r>
                    </a:p>
                  </a:txBody>
                  <a:tcPr marL="45720" marR="45720" marT="18288" marB="18288" anchor="t">
                    <a:solidFill>
                      <a:srgbClr val="FFFFFF"/>
                    </a:solidFill>
                  </a:tcPr>
                </a:tc>
                <a:tc>
                  <a:txBody>
                    <a:bodyPr wrap="square"/>
                    <a:lstStyle/>
                    <a:p>
                      <a:r>
                        <a:rPr sz="1200" b="0" i="0">
                          <a:solidFill>
                            <a:srgbClr val="2A2622"/>
                          </a:solidFill>
                          <a:latin typeface="Calibri"/>
                        </a:rPr>
                        <a:t>5 new (mix: 3 Gujarat, 2 non-Gujarat — Delhi/MP for Hinglish content) · challenge-series creator continues · 1 local beauty-page collab (₹1–3k)</a:t>
                      </a:r>
                    </a:p>
                  </a:txBody>
                  <a:tcPr marL="45720" marR="45720" marT="18288" marB="18288" anchor="t">
                    <a:solidFill>
                      <a:srgbClr val="FFFFFF"/>
                    </a:solidFill>
                  </a:tcPr>
                </a:tc>
              </a:tr>
              <a:tr h="558800">
                <a:tc>
                  <a:txBody>
                    <a:bodyPr wrap="square"/>
                    <a:lstStyle/>
                    <a:p>
                      <a:r>
                        <a:rPr sz="1200" b="1" i="0">
                          <a:solidFill>
                            <a:srgbClr val="2A2622"/>
                          </a:solidFill>
                          <a:latin typeface="Calibri"/>
                        </a:rPr>
                        <a:t>WhatsApp system</a:t>
                      </a:r>
                    </a:p>
                  </a:txBody>
                  <a:tcPr marL="45720" marR="45720" marT="18288" marB="18288" anchor="t">
                    <a:solidFill>
                      <a:srgbClr val="F6F1E7"/>
                    </a:solidFill>
                  </a:tcPr>
                </a:tc>
                <a:tc>
                  <a:txBody>
                    <a:bodyPr wrap="square"/>
                    <a:lstStyle/>
                    <a:p>
                      <a:r>
                        <a:rPr sz="1200" b="0" i="0">
                          <a:solidFill>
                            <a:srgbClr val="2A2622"/>
                          </a:solidFill>
                          <a:latin typeface="Calibri"/>
                        </a:rPr>
                        <a:t>Day-28/45/60 sequences producing photo reviews (target 40+ by D60) · </a:t>
                      </a:r>
                      <a:r>
                        <a:rPr sz="1200" b="1" i="0">
                          <a:solidFill>
                            <a:srgbClr val="2A2622"/>
                          </a:solidFill>
                          <a:latin typeface="Calibri"/>
                        </a:rPr>
                        <a:t>Sunshine early-access broadcast</a:t>
                      </a:r>
                      <a:r>
                        <a:rPr sz="1200" b="0" i="0">
                          <a:solidFill>
                            <a:srgbClr val="2A2622"/>
                          </a:solidFill>
                          <a:latin typeface="Calibri"/>
                        </a:rPr>
                        <a:t> to BUYERS D45 (existing list = first 50 sunscreen orders target) · referral engine at 10%+ of orders</a:t>
                      </a:r>
                    </a:p>
                  </a:txBody>
                  <a:tcPr marL="45720" marR="45720" marT="18288" marB="18288" anchor="t">
                    <a:solidFill>
                      <a:srgbClr val="F6F1E7"/>
                    </a:solidFill>
                  </a:tcPr>
                </a:tc>
              </a:tr>
              <a:tr h="558800">
                <a:tc>
                  <a:txBody>
                    <a:bodyPr wrap="square"/>
                    <a:lstStyle/>
                    <a:p>
                      <a:r>
                        <a:rPr sz="1200" b="1" i="0">
                          <a:solidFill>
                            <a:srgbClr val="2A2622"/>
                          </a:solidFill>
                          <a:latin typeface="Calibri"/>
                        </a:rPr>
                        <a:t>Sales target</a:t>
                      </a:r>
                    </a:p>
                  </a:txBody>
                  <a:tcPr marL="45720" marR="45720" marT="18288" marB="18288" anchor="t">
                    <a:solidFill>
                      <a:srgbClr val="FFFFFF"/>
                    </a:solidFill>
                  </a:tcPr>
                </a:tc>
                <a:tc>
                  <a:txBody>
                    <a:bodyPr wrap="square"/>
                    <a:lstStyle/>
                    <a:p>
                      <a:r>
                        <a:rPr sz="1200" b="1" i="0">
                          <a:solidFill>
                            <a:srgbClr val="2A2622"/>
                          </a:solidFill>
                          <a:latin typeface="Calibri"/>
                        </a:rPr>
                        <a:t>Cumulative 400–500 orders</a:t>
                      </a:r>
                      <a:r>
                        <a:rPr sz="1200" b="0" i="0">
                          <a:solidFill>
                            <a:srgbClr val="2A2622"/>
                          </a:solidFill>
                          <a:latin typeface="Calibri"/>
                        </a:rPr>
                        <a:t> · Serum repeat/refill starts (Day-60 cohort) · Kit share → 35% of orders (AOV ₹800+) · Sunscreen: 80–120 orders by D60</a:t>
                      </a:r>
                    </a:p>
                  </a:txBody>
                  <a:tcPr marL="45720" marR="45720" marT="18288" marB="18288" anchor="t">
                    <a:solidFill>
                      <a:srgbClr val="FFFFFF"/>
                    </a:solidFill>
                  </a:tcPr>
                </a:tc>
              </a:tr>
              <a:tr h="558800">
                <a:tc>
                  <a:txBody>
                    <a:bodyPr wrap="square"/>
                    <a:lstStyle/>
                    <a:p>
                      <a:r>
                        <a:rPr sz="1200" b="1" i="0">
                          <a:solidFill>
                            <a:srgbClr val="2A2622"/>
                          </a:solidFill>
                          <a:latin typeface="Calibri"/>
                        </a:rPr>
                        <a:t>KPIs</a:t>
                      </a:r>
                    </a:p>
                  </a:txBody>
                  <a:tcPr marL="45720" marR="45720" marT="18288" marB="18288" anchor="t">
                    <a:solidFill>
                      <a:srgbClr val="F6F1E7"/>
                    </a:solidFill>
                  </a:tcPr>
                </a:tc>
                <a:tc>
                  <a:txBody>
                    <a:bodyPr wrap="square"/>
                    <a:lstStyle/>
                    <a:p>
                      <a:r>
                        <a:rPr sz="1200" b="0" i="0">
                          <a:solidFill>
                            <a:srgbClr val="2A2622"/>
                          </a:solidFill>
                          <a:latin typeface="Calibri"/>
                        </a:rPr>
                        <a:t>Followers 2,500–4,000 · CPA ≤ ₹300 blended · ROAS ≥ 2.5x (blended, 30d) · repeat rate (cohort 1) 10%+ · 40+ photo reviews · 2 creators &gt;20k reach · referral 10%+ of orders · WhatsApp buyer list 400+</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347</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PHASE 2 — DAYS 31–60: TRUST → CONVERSION ("The 500")</a:t>
            </a:r>
          </a:p>
          <a:p>
            <a:r>
              <a:rPr sz="1200" i="1">
                <a:solidFill>
                  <a:srgbClr val="57504A"/>
                </a:solidFill>
                <a:latin typeface="Calibri"/>
              </a:rPr>
              <a:t>PART 21 — 90-Day Social Media + Sales Master Plan</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Phase gate (to Phase 3):</a:t>
            </a:r>
            <a:r>
              <a:rPr sz="1350" b="0" i="0">
                <a:solidFill>
                  <a:srgbClr val="2A2622"/>
                </a:solidFill>
                <a:latin typeface="Calibri"/>
              </a:rPr>
              <a:t> blended CPA ≤ ₹300 for 2 consecutive weeks · ROAS ≥ 2.5x · repeat orders visible · 3+ creatives with &gt;21-day life · 2,000+ warm retargeting audience.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348</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PHASE 3 — DAYS 61–90: SYSTEM + SCALE ("The 1,000+ and the Machine")</a:t>
            </a:r>
          </a:p>
          <a:p>
            <a:r>
              <a:rPr sz="1200" i="1">
                <a:solidFill>
                  <a:srgbClr val="57504A"/>
                </a:solidFill>
                <a:latin typeface="Calibri"/>
              </a:rPr>
              <a:t>PART 21 — 90-Day Social Media + Sales Master Plan</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2887903"/>
                <a:gridCol w="8663711"/>
              </a:tblGrid>
              <a:tr h="558800">
                <a:tc>
                  <a:txBody>
                    <a:bodyPr wrap="square"/>
                    <a:lstStyle/>
                    <a:p>
                      <a:r>
                        <a:rPr sz="1200" b="1" i="0">
                          <a:solidFill>
                            <a:srgbClr val="FFFFFF"/>
                          </a:solidFill>
                          <a:latin typeface="Calibri"/>
                        </a:rPr>
                        <a:t>Block</a:t>
                      </a:r>
                    </a:p>
                  </a:txBody>
                  <a:tcPr marL="45720" marR="45720" marT="18288" marB="18288" anchor="t">
                    <a:solidFill>
                      <a:srgbClr val="B44A2E"/>
                    </a:solidFill>
                  </a:tcPr>
                </a:tc>
                <a:tc>
                  <a:txBody>
                    <a:bodyPr wrap="square"/>
                    <a:lstStyle/>
                    <a:p>
                      <a:r>
                        <a:rPr sz="1200" b="1" i="0">
                          <a:solidFill>
                            <a:srgbClr val="FFFFFF"/>
                          </a:solidFill>
                          <a:latin typeface="Calibri"/>
                        </a:rPr>
                        <a:t>Plan</a:t>
                      </a:r>
                    </a:p>
                  </a:txBody>
                  <a:tcPr marL="45720" marR="45720" marT="18288" marB="18288" anchor="t">
                    <a:solidFill>
                      <a:srgbClr val="B44A2E"/>
                    </a:solidFill>
                  </a:tcPr>
                </a:tc>
              </a:tr>
              <a:tr h="558800">
                <a:tc>
                  <a:txBody>
                    <a:bodyPr wrap="square"/>
                    <a:lstStyle/>
                    <a:p>
                      <a:r>
                        <a:rPr sz="1200" b="1" i="0">
                          <a:solidFill>
                            <a:srgbClr val="2A2622"/>
                          </a:solidFill>
                          <a:latin typeface="Calibri"/>
                        </a:rPr>
                        <a:t>Main objective</a:t>
                      </a:r>
                    </a:p>
                  </a:txBody>
                  <a:tcPr marL="45720" marR="45720" marT="18288" marB="18288" anchor="t">
                    <a:solidFill>
                      <a:srgbClr val="FFFFFF"/>
                    </a:solidFill>
                  </a:tcPr>
                </a:tc>
                <a:tc>
                  <a:txBody>
                    <a:bodyPr wrap="square"/>
                    <a:lstStyle/>
                    <a:p>
                      <a:r>
                        <a:rPr sz="1200" b="0" i="0">
                          <a:solidFill>
                            <a:srgbClr val="2A2622"/>
                          </a:solidFill>
                          <a:latin typeface="Calibri"/>
                        </a:rPr>
                        <a:t>Engine, not heroics: </a:t>
                      </a:r>
                      <a:r>
                        <a:rPr sz="1200" b="1" i="0">
                          <a:solidFill>
                            <a:srgbClr val="2A2622"/>
                          </a:solidFill>
                          <a:latin typeface="Calibri"/>
                        </a:rPr>
                        <a:t>cumulative 900–1,200 orders</a:t>
                      </a:r>
                      <a:r>
                        <a:rPr sz="1200" b="0" i="0">
                          <a:solidFill>
                            <a:srgbClr val="2A2622"/>
                          </a:solidFill>
                          <a:latin typeface="Calibri"/>
                        </a:rPr>
                        <a:t>, Diwali gifting wave, Night Cream launch (wave 3), ads at ₹2,000–3,000/day across 4 campaigns, national test (2–3 cities), repeat + referral at 15%+</a:t>
                      </a:r>
                    </a:p>
                  </a:txBody>
                  <a:tcPr marL="45720" marR="45720" marT="18288" marB="18288" anchor="t">
                    <a:solidFill>
                      <a:srgbClr val="FFFFFF"/>
                    </a:solidFill>
                  </a:tcPr>
                </a:tc>
              </a:tr>
              <a:tr h="558800">
                <a:tc>
                  <a:txBody>
                    <a:bodyPr wrap="square"/>
                    <a:lstStyle/>
                    <a:p>
                      <a:r>
                        <a:rPr sz="1200" b="1" i="0">
                          <a:solidFill>
                            <a:srgbClr val="2A2622"/>
                          </a:solidFill>
                          <a:latin typeface="Calibri"/>
                        </a:rPr>
                        <a:t>Content strategy</a:t>
                      </a:r>
                    </a:p>
                  </a:txBody>
                  <a:tcPr marL="45720" marR="45720" marT="18288" marB="18288" anchor="t">
                    <a:solidFill>
                      <a:srgbClr val="F6F1E7"/>
                    </a:solidFill>
                  </a:tcPr>
                </a:tc>
                <a:tc>
                  <a:txBody>
                    <a:bodyPr wrap="square"/>
                    <a:lstStyle/>
                    <a:p>
                      <a:r>
                        <a:rPr sz="1200" b="0" i="0">
                          <a:solidFill>
                            <a:srgbClr val="2A2622"/>
                          </a:solidFill>
                          <a:latin typeface="Calibri"/>
                        </a:rPr>
                        <a:t>Hero rotates: Sunscreen 40% → </a:t>
                      </a:r>
                      <a:r>
                        <a:rPr sz="1200" b="1" i="0">
                          <a:solidFill>
                            <a:srgbClr val="2A2622"/>
                          </a:solidFill>
                          <a:latin typeface="Calibri"/>
                        </a:rPr>
                        <a:t>Night Cream 30%</a:t>
                      </a:r>
                      <a:r>
                        <a:rPr sz="1200" b="0" i="0">
                          <a:solidFill>
                            <a:srgbClr val="2A2622"/>
                          </a:solidFill>
                          <a:latin typeface="Calibri"/>
                        </a:rPr>
                        <a:t> (D75–90) → Serum 20% + Face Wash 10% (male content doubles for gifting). </a:t>
                      </a:r>
                      <a:r>
                        <a:rPr sz="1200" b="1" i="0">
                          <a:solidFill>
                            <a:srgbClr val="2A2622"/>
                          </a:solidFill>
                          <a:latin typeface="Calibri"/>
                        </a:rPr>
                        <a:t>Diwali campaign (D70–90):</a:t>
                      </a:r>
                      <a:r>
                        <a:rPr sz="1200" b="0" i="0">
                          <a:solidFill>
                            <a:srgbClr val="2A2622"/>
                          </a:solidFill>
                          <a:latin typeface="Calibri"/>
                        </a:rPr>
                        <a:t> "Diwali pe dhyan ka gift" — 3 gift-box tiers, family/maa gifting content (very Gujarati), referral push at peak. Language 50/50 Gujarat/all-India. National creators debut (2).</a:t>
                      </a:r>
                    </a:p>
                  </a:txBody>
                  <a:tcPr marL="45720" marR="45720" marT="18288" marB="18288" anchor="t">
                    <a:solidFill>
                      <a:srgbClr val="F6F1E7"/>
                    </a:solidFill>
                  </a:tcPr>
                </a:tc>
              </a:tr>
              <a:tr h="558800">
                <a:tc>
                  <a:txBody>
                    <a:bodyPr wrap="square"/>
                    <a:lstStyle/>
                    <a:p>
                      <a:r>
                        <a:rPr sz="1200" b="1" i="0">
                          <a:solidFill>
                            <a:srgbClr val="2A2622"/>
                          </a:solidFill>
                          <a:latin typeface="Calibri"/>
                        </a:rPr>
                        <a:t>Posting frequency</a:t>
                      </a:r>
                    </a:p>
                  </a:txBody>
                  <a:tcPr marL="45720" marR="45720" marT="18288" marB="18288" anchor="t">
                    <a:solidFill>
                      <a:srgbClr val="FFFFFF"/>
                    </a:solidFill>
                  </a:tcPr>
                </a:tc>
                <a:tc>
                  <a:txBody>
                    <a:bodyPr wrap="square"/>
                    <a:lstStyle/>
                    <a:p>
                      <a:r>
                        <a:rPr sz="1200" b="0" i="0">
                          <a:solidFill>
                            <a:srgbClr val="2A2622"/>
                          </a:solidFill>
                          <a:latin typeface="Calibri"/>
                        </a:rPr>
                        <a:t>7 Reels/week, 2–3 Carousels/week (gift boxes, glow calendar), 3–5 Stories/day, 3–4 YT Shorts/week. Creator drops: 2/week (1 Gujarat + 1 national).</a:t>
                      </a:r>
                    </a:p>
                  </a:txBody>
                  <a:tcPr marL="45720" marR="45720" marT="18288" marB="18288" anchor="t">
                    <a:solidFill>
                      <a:srgbClr val="FFFFFF"/>
                    </a:solidFill>
                  </a:tcPr>
                </a:tc>
              </a:tr>
              <a:tr h="558800">
                <a:tc>
                  <a:txBody>
                    <a:bodyPr wrap="square"/>
                    <a:lstStyle/>
                    <a:p>
                      <a:r>
                        <a:rPr sz="1200" b="1" i="0">
                          <a:solidFill>
                            <a:srgbClr val="2A2622"/>
                          </a:solidFill>
                          <a:latin typeface="Calibri"/>
                        </a:rPr>
                        <a:t>Ad strategy</a:t>
                      </a:r>
                    </a:p>
                  </a:txBody>
                  <a:tcPr marL="45720" marR="45720" marT="18288" marB="18288" anchor="t">
                    <a:solidFill>
                      <a:srgbClr val="F6F1E7"/>
                    </a:solidFill>
                  </a:tcPr>
                </a:tc>
                <a:tc>
                  <a:txBody>
                    <a:bodyPr wrap="square"/>
                    <a:lstStyle/>
                    <a:p>
                      <a:r>
                        <a:rPr sz="1200" b="1" i="0">
                          <a:solidFill>
                            <a:srgbClr val="2A2622"/>
                          </a:solidFill>
                          <a:latin typeface="Calibri"/>
                        </a:rPr>
                        <a:t>D60: C4 LIVE</a:t>
                      </a:r>
                      <a:r>
                        <a:rPr sz="1200" b="0" i="0">
                          <a:solidFill>
                            <a:srgbClr val="2A2622"/>
                          </a:solidFill>
                          <a:latin typeface="Calibri"/>
                        </a:rPr>
                        <a:t> (Advantage+/scale, ₹1,000/day start) → scale to ₹2,000–3,000/day total by D80 if Phase-2 gate passed. C1 ₹800–1,200 · C2 ₹500 · C3 ₹400–500 · C4 ₹1,000+. Geo: +Rajkot (with gifting content) + national test (Delhi NCR, Mumbai) — kill any city at &gt;1.3x Gujarat CPA after 10 days. Diwali week: retargeting budget +50% (warm audiences convert at peak), gifting creative across C1/C4.</a:t>
                      </a:r>
                    </a:p>
                  </a:txBody>
                  <a:tcPr marL="45720" marR="45720" marT="18288" marB="18288" anchor="t">
                    <a:solidFill>
                      <a:srgbClr val="F6F1E7"/>
                    </a:solidFill>
                  </a:tcPr>
                </a:tc>
              </a:tr>
              <a:tr h="558800">
                <a:tc>
                  <a:txBody>
                    <a:bodyPr wrap="square"/>
                    <a:lstStyle/>
                    <a:p>
                      <a:r>
                        <a:rPr sz="1200" b="1" i="0">
                          <a:solidFill>
                            <a:srgbClr val="2A2622"/>
                          </a:solidFill>
                          <a:latin typeface="Calibri"/>
                        </a:rPr>
                        <a:t>Creator strategy</a:t>
                      </a:r>
                    </a:p>
                  </a:txBody>
                  <a:tcPr marL="45720" marR="45720" marT="18288" marB="18288" anchor="t">
                    <a:solidFill>
                      <a:srgbClr val="FFFFFF"/>
                    </a:solidFill>
                  </a:tcPr>
                </a:tc>
                <a:tc>
                  <a:txBody>
                    <a:bodyPr wrap="square"/>
                    <a:lstStyle/>
                    <a:p>
                      <a:r>
                        <a:rPr sz="1200" b="0" i="0">
                          <a:solidFill>
                            <a:srgbClr val="2A2622"/>
                          </a:solidFill>
                          <a:latin typeface="Calibri"/>
                        </a:rPr>
                        <a:t>10–15 total by D90 · 1 collab post with an established Indian skincare account (barter→paid) · creator affiliate program formalized (20%, tracked codes)</a:t>
                      </a:r>
                    </a:p>
                  </a:txBody>
                  <a:tcPr marL="45720" marR="45720" marT="18288" marB="18288" anchor="t">
                    <a:solidFill>
                      <a:srgbClr val="FFFFFF"/>
                    </a:solidFill>
                  </a:tcPr>
                </a:tc>
              </a:tr>
              <a:tr h="558800">
                <a:tc>
                  <a:txBody>
                    <a:bodyPr wrap="square"/>
                    <a:lstStyle/>
                    <a:p>
                      <a:r>
                        <a:rPr sz="1200" b="1" i="0">
                          <a:solidFill>
                            <a:srgbClr val="2A2622"/>
                          </a:solidFill>
                          <a:latin typeface="Calibri"/>
                        </a:rPr>
                        <a:t>WhatsApp system</a:t>
                      </a:r>
                    </a:p>
                  </a:txBody>
                  <a:tcPr marL="45720" marR="45720" marT="18288" marB="18288" anchor="t">
                    <a:solidFill>
                      <a:srgbClr val="F6F1E7"/>
                    </a:solidFill>
                  </a:tcPr>
                </a:tc>
                <a:tc>
                  <a:txBody>
                    <a:bodyPr wrap="square"/>
                    <a:lstStyle/>
                    <a:p>
                      <a:r>
                        <a:rPr sz="1200" b="0" i="0">
                          <a:solidFill>
                            <a:srgbClr val="2A2622"/>
                          </a:solidFill>
                          <a:latin typeface="Calibri"/>
                        </a:rPr>
                        <a:t>Full sequence bank running (D1/7/14/28/45/60 + seasonal) · </a:t>
                      </a:r>
                      <a:r>
                        <a:rPr sz="1200" b="1" i="0">
                          <a:solidFill>
                            <a:srgbClr val="2A2622"/>
                          </a:solidFill>
                          <a:latin typeface="Calibri"/>
                        </a:rPr>
                        <a:t>Diwali gift broadcast D75</a:t>
                      </a:r>
                      <a:r>
                        <a:rPr sz="1200" b="0" i="0">
                          <a:solidFill>
                            <a:srgbClr val="2A2622"/>
                          </a:solidFill>
                          <a:latin typeface="Calibri"/>
                        </a:rPr>
                        <a:t> to all buyers · refill engine (Day-28–35 nudge on 30-day bottles) at 15%+ repeat · referral at 15–20% of orders</a:t>
                      </a:r>
                    </a:p>
                  </a:txBody>
                  <a:tcPr marL="45720" marR="45720" marT="18288" marB="18288" anchor="t">
                    <a:solidFill>
                      <a:srgbClr val="F6F1E7"/>
                    </a:solidFill>
                  </a:tcPr>
                </a:tc>
              </a:tr>
              <a:tr h="558800">
                <a:tc>
                  <a:txBody>
                    <a:bodyPr wrap="square"/>
                    <a:lstStyle/>
                    <a:p>
                      <a:r>
                        <a:rPr sz="1200" b="1" i="0">
                          <a:solidFill>
                            <a:srgbClr val="2A2622"/>
                          </a:solidFill>
                          <a:latin typeface="Calibri"/>
                        </a:rPr>
                        <a:t>Sales target</a:t>
                      </a:r>
                    </a:p>
                  </a:txBody>
                  <a:tcPr marL="45720" marR="45720" marT="18288" marB="18288" anchor="t">
                    <a:solidFill>
                      <a:srgbClr val="FFFFFF"/>
                    </a:solidFill>
                  </a:tcPr>
                </a:tc>
                <a:tc>
                  <a:txBody>
                    <a:bodyPr wrap="square"/>
                    <a:lstStyle/>
                    <a:p>
                      <a:r>
                        <a:rPr sz="1200" b="1" i="0">
                          <a:solidFill>
                            <a:srgbClr val="2A2622"/>
                          </a:solidFill>
                          <a:latin typeface="Calibri"/>
                        </a:rPr>
                        <a:t>Cumulative 900–1,200 orders</a:t>
                      </a:r>
                      <a:r>
                        <a:rPr sz="1200" b="0" i="0">
                          <a:solidFill>
                            <a:srgbClr val="2A2622"/>
                          </a:solidFill>
                          <a:latin typeface="Calibri"/>
                        </a:rPr>
                        <a:t> · AOV ₹850–950 (kits + gifting) · Night Cream 60–100 orders · Diwali boxes 100+ (D75–90) · </a:t>
                      </a:r>
                      <a:r>
                        <a:rPr sz="1200" b="1" i="0">
                          <a:solidFill>
                            <a:srgbClr val="2A2622"/>
                          </a:solidFill>
                          <a:latin typeface="Calibri"/>
                        </a:rPr>
                        <a:t>repeat rate (all cohorts) 12–15%</a:t>
                      </a:r>
                      <a:r>
                        <a:rPr sz="1200" b="0" i="0">
                          <a:solidFill>
                            <a:srgbClr val="2A2622"/>
                          </a:solidFill>
                          <a:latin typeface="Calibri"/>
                        </a:rPr>
                        <a:t> · </a:t>
                      </a:r>
                      <a:r>
                        <a:rPr sz="1200" b="1" i="0">
                          <a:solidFill>
                            <a:srgbClr val="2A2622"/>
                          </a:solidFill>
                          <a:latin typeface="Calibri"/>
                        </a:rPr>
                        <a:t>LTV:CAC ≥ 2.5 by D90</a:t>
                      </a:r>
                    </a:p>
                  </a:txBody>
                  <a:tcPr marL="45720" marR="45720" marT="18288" marB="18288" anchor="t">
                    <a:solidFill>
                      <a:srgbClr val="FFFFFF"/>
                    </a:solidFill>
                  </a:tcPr>
                </a:tc>
              </a:tr>
              <a:tr h="558800">
                <a:tc>
                  <a:txBody>
                    <a:bodyPr wrap="square"/>
                    <a:lstStyle/>
                    <a:p>
                      <a:r>
                        <a:rPr sz="1200" b="1" i="0">
                          <a:solidFill>
                            <a:srgbClr val="2A2622"/>
                          </a:solidFill>
                          <a:latin typeface="Calibri"/>
                        </a:rPr>
                        <a:t>KPIs (the D90 board)</a:t>
                      </a:r>
                    </a:p>
                  </a:txBody>
                  <a:tcPr marL="45720" marR="45720" marT="18288" marB="18288" anchor="t">
                    <a:solidFill>
                      <a:srgbClr val="F6F1E7"/>
                    </a:solidFill>
                  </a:tcPr>
                </a:tc>
                <a:tc>
                  <a:txBody>
                    <a:bodyPr wrap="square"/>
                    <a:lstStyle/>
                    <a:p>
                      <a:r>
                        <a:rPr sz="1200" b="0" i="0">
                          <a:solidFill>
                            <a:srgbClr val="2A2622"/>
                          </a:solidFill>
                          <a:latin typeface="Calibri"/>
                        </a:rPr>
                        <a:t>Followers 5,000–8,000 · blended ROAS ≥ 3x · CPA ≤ ₹250 · 3 campaigns profitable standalone · 60+ photo reviews · 15 creators · referral 15%+ · WhatsApp list 700+ · 2 national cities with CPA ≤ 1.3x Gujarat · </a:t>
                      </a:r>
                      <a:r>
                        <a:rPr sz="1200" b="1" i="0">
                          <a:solidFill>
                            <a:srgbClr val="2A2622"/>
                          </a:solidFill>
                          <a:latin typeface="Calibri"/>
                        </a:rPr>
                        <a:t>profit on ad spend (contribution margin positive)</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349</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90-DAY KPI BOARD (one page, review every Sunday, 45 min)</a:t>
            </a:r>
          </a:p>
          <a:p>
            <a:r>
              <a:rPr sz="1200" i="1">
                <a:solidFill>
                  <a:srgbClr val="57504A"/>
                </a:solidFill>
                <a:latin typeface="Calibri"/>
              </a:rPr>
              <a:t>PART 21 — 90-Day Social Media + Sales Master Plan</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0" cy="5029200"/>
        </p:xfrm>
        <a:graphic>
          <a:graphicData uri="http://schemas.openxmlformats.org/drawingml/2006/table">
            <a:tbl>
              <a:tblPr firstRow="1" bandRow="1">
                <a:tableStyleId>{5C22544A-7EE6-4342-B048-85BDC9FD1C3A}</a:tableStyleId>
              </a:tblPr>
              <a:tblGrid>
                <a:gridCol w="525073"/>
                <a:gridCol w="1575220"/>
                <a:gridCol w="1785249"/>
                <a:gridCol w="1155161"/>
                <a:gridCol w="1680234"/>
                <a:gridCol w="1785249"/>
                <a:gridCol w="840117"/>
                <a:gridCol w="1365190"/>
                <a:gridCol w="840117"/>
              </a:tblGrid>
              <a:tr h="718457">
                <a:tc>
                  <a:txBody>
                    <a:bodyPr wrap="square"/>
                    <a:lstStyle/>
                    <a:p>
                      <a:r>
                        <a:rPr sz="1200" b="1" i="0">
                          <a:solidFill>
                            <a:srgbClr val="FFFFFF"/>
                          </a:solidFill>
                          <a:latin typeface="Calibri"/>
                        </a:rPr>
                        <a:t>Week</a:t>
                      </a:r>
                    </a:p>
                  </a:txBody>
                  <a:tcPr marL="45720" marR="45720" marT="18288" marB="18288" anchor="t">
                    <a:solidFill>
                      <a:srgbClr val="B44A2E"/>
                    </a:solidFill>
                  </a:tcPr>
                </a:tc>
                <a:tc>
                  <a:txBody>
                    <a:bodyPr wrap="square"/>
                    <a:lstStyle/>
                    <a:p>
                      <a:r>
                        <a:rPr sz="1200" b="1" i="0">
                          <a:solidFill>
                            <a:srgbClr val="FFFFFF"/>
                          </a:solidFill>
                          <a:latin typeface="Calibri"/>
                        </a:rPr>
                        <a:t>Follower target</a:t>
                      </a:r>
                    </a:p>
                  </a:txBody>
                  <a:tcPr marL="45720" marR="45720" marT="18288" marB="18288" anchor="t">
                    <a:solidFill>
                      <a:srgbClr val="B44A2E"/>
                    </a:solidFill>
                  </a:tcPr>
                </a:tc>
                <a:tc>
                  <a:txBody>
                    <a:bodyPr wrap="square"/>
                    <a:lstStyle/>
                    <a:p>
                      <a:r>
                        <a:rPr sz="1200" b="1" i="0">
                          <a:solidFill>
                            <a:srgbClr val="FFFFFF"/>
                          </a:solidFill>
                          <a:latin typeface="Calibri"/>
                        </a:rPr>
                        <a:t>Cumulative orders</a:t>
                      </a:r>
                    </a:p>
                  </a:txBody>
                  <a:tcPr marL="45720" marR="45720" marT="18288" marB="18288" anchor="t">
                    <a:solidFill>
                      <a:srgbClr val="B44A2E"/>
                    </a:solidFill>
                  </a:tcPr>
                </a:tc>
                <a:tc>
                  <a:txBody>
                    <a:bodyPr wrap="square"/>
                    <a:lstStyle/>
                    <a:p>
                      <a:r>
                        <a:rPr sz="1200" b="1" i="0">
                          <a:solidFill>
                            <a:srgbClr val="FFFFFF"/>
                          </a:solidFill>
                          <a:latin typeface="Calibri"/>
                        </a:rPr>
                        <a:t>Blended CPA</a:t>
                      </a:r>
                    </a:p>
                  </a:txBody>
                  <a:tcPr marL="45720" marR="45720" marT="18288" marB="18288" anchor="t">
                    <a:solidFill>
                      <a:srgbClr val="B44A2E"/>
                    </a:solidFill>
                  </a:tcPr>
                </a:tc>
                <a:tc>
                  <a:txBody>
                    <a:bodyPr wrap="square"/>
                    <a:lstStyle/>
                    <a:p>
                      <a:r>
                        <a:rPr sz="1200" b="1" i="0">
                          <a:solidFill>
                            <a:srgbClr val="FFFFFF"/>
                          </a:solidFill>
                          <a:latin typeface="Calibri"/>
                        </a:rPr>
                        <a:t>ROAS (30d)</a:t>
                      </a:r>
                    </a:p>
                  </a:txBody>
                  <a:tcPr marL="45720" marR="45720" marT="18288" marB="18288" anchor="t">
                    <a:solidFill>
                      <a:srgbClr val="B44A2E"/>
                    </a:solidFill>
                  </a:tcPr>
                </a:tc>
                <a:tc>
                  <a:txBody>
                    <a:bodyPr wrap="square"/>
                    <a:lstStyle/>
                    <a:p>
                      <a:r>
                        <a:rPr sz="1200" b="1" i="0">
                          <a:solidFill>
                            <a:srgbClr val="FFFFFF"/>
                          </a:solidFill>
                          <a:latin typeface="Calibri"/>
                        </a:rPr>
                        <a:t>GLOW DMs (weekly)</a:t>
                      </a:r>
                    </a:p>
                  </a:txBody>
                  <a:tcPr marL="45720" marR="45720" marT="18288" marB="18288" anchor="t">
                    <a:solidFill>
                      <a:srgbClr val="B44A2E"/>
                    </a:solidFill>
                  </a:tcPr>
                </a:tc>
                <a:tc>
                  <a:txBody>
                    <a:bodyPr wrap="square"/>
                    <a:lstStyle/>
                    <a:p>
                      <a:r>
                        <a:rPr sz="1200" b="1" i="0">
                          <a:solidFill>
                            <a:srgbClr val="FFFFFF"/>
                          </a:solidFill>
                          <a:latin typeface="Calibri"/>
                        </a:rPr>
                        <a:t>DM→order</a:t>
                      </a:r>
                    </a:p>
                  </a:txBody>
                  <a:tcPr marL="45720" marR="45720" marT="18288" marB="18288" anchor="t">
                    <a:solidFill>
                      <a:srgbClr val="B44A2E"/>
                    </a:solidFill>
                  </a:tcPr>
                </a:tc>
                <a:tc>
                  <a:txBody>
                    <a:bodyPr wrap="square"/>
                    <a:lstStyle/>
                    <a:p>
                      <a:r>
                        <a:rPr sz="1200" b="1" i="0">
                          <a:solidFill>
                            <a:srgbClr val="FFFFFF"/>
                          </a:solidFill>
                          <a:latin typeface="Calibri"/>
                        </a:rPr>
                        <a:t>Repeat %</a:t>
                      </a:r>
                    </a:p>
                  </a:txBody>
                  <a:tcPr marL="45720" marR="45720" marT="18288" marB="18288" anchor="t">
                    <a:solidFill>
                      <a:srgbClr val="B44A2E"/>
                    </a:solidFill>
                  </a:tcPr>
                </a:tc>
                <a:tc>
                  <a:txBody>
                    <a:bodyPr wrap="square"/>
                    <a:lstStyle/>
                    <a:p>
                      <a:r>
                        <a:rPr sz="1200" b="1" i="0">
                          <a:solidFill>
                            <a:srgbClr val="FFFFFF"/>
                          </a:solidFill>
                          <a:latin typeface="Calibri"/>
                        </a:rPr>
                        <a:t>UGC bank</a:t>
                      </a:r>
                    </a:p>
                  </a:txBody>
                  <a:tcPr marL="45720" marR="45720" marT="18288" marB="18288" anchor="t">
                    <a:solidFill>
                      <a:srgbClr val="B44A2E"/>
                    </a:solidFill>
                  </a:tcPr>
                </a:tc>
              </a:tr>
              <a:tr h="718457">
                <a:tc>
                  <a:txBody>
                    <a:bodyPr wrap="square"/>
                    <a:lstStyle/>
                    <a:p>
                      <a:r>
                        <a:rPr sz="1200" b="0" i="0">
                          <a:solidFill>
                            <a:srgbClr val="2A2622"/>
                          </a:solidFill>
                          <a:latin typeface="Calibri"/>
                        </a:rPr>
                        <a:t>2</a:t>
                      </a:r>
                    </a:p>
                  </a:txBody>
                  <a:tcPr marL="45720" marR="45720" marT="18288" marB="18288" anchor="t">
                    <a:solidFill>
                      <a:srgbClr val="FFFFFF"/>
                    </a:solidFill>
                  </a:tcPr>
                </a:tc>
                <a:tc>
                  <a:txBody>
                    <a:bodyPr wrap="square"/>
                    <a:lstStyle/>
                    <a:p>
                      <a:r>
                        <a:rPr sz="1200" b="0" i="0">
                          <a:solidFill>
                            <a:srgbClr val="2A2622"/>
                          </a:solidFill>
                          <a:latin typeface="Calibri"/>
                        </a:rPr>
                        <a:t>400</a:t>
                      </a:r>
                    </a:p>
                  </a:txBody>
                  <a:tcPr marL="45720" marR="45720" marT="18288" marB="18288" anchor="t">
                    <a:solidFill>
                      <a:srgbClr val="FFFFFF"/>
                    </a:solidFill>
                  </a:tcPr>
                </a:tc>
                <a:tc>
                  <a:txBody>
                    <a:bodyPr wrap="square"/>
                    <a:lstStyle/>
                    <a:p>
                      <a:r>
                        <a:rPr sz="1200" b="0" i="0">
                          <a:solidFill>
                            <a:srgbClr val="2A2622"/>
                          </a:solidFill>
                          <a:latin typeface="Calibri"/>
                        </a:rPr>
                        <a:t>—</a:t>
                      </a:r>
                    </a:p>
                  </a:txBody>
                  <a:tcPr marL="45720" marR="45720" marT="18288" marB="18288" anchor="t">
                    <a:solidFill>
                      <a:srgbClr val="FFFFFF"/>
                    </a:solidFill>
                  </a:tcPr>
                </a:tc>
                <a:tc>
                  <a:txBody>
                    <a:bodyPr wrap="square"/>
                    <a:lstStyle/>
                    <a:p>
                      <a:r>
                        <a:rPr sz="1200" b="0" i="0">
                          <a:solidFill>
                            <a:srgbClr val="2A2622"/>
                          </a:solidFill>
                          <a:latin typeface="Calibri"/>
                        </a:rPr>
                        <a:t>—</a:t>
                      </a:r>
                    </a:p>
                  </a:txBody>
                  <a:tcPr marL="45720" marR="45720" marT="18288" marB="18288" anchor="t">
                    <a:solidFill>
                      <a:srgbClr val="FFFFFF"/>
                    </a:solidFill>
                  </a:tcPr>
                </a:tc>
                <a:tc>
                  <a:txBody>
                    <a:bodyPr wrap="square"/>
                    <a:lstStyle/>
                    <a:p>
                      <a:r>
                        <a:rPr sz="1200" b="0" i="0">
                          <a:solidFill>
                            <a:srgbClr val="2A2622"/>
                          </a:solidFill>
                          <a:latin typeface="Calibri"/>
                        </a:rPr>
                        <a:t>—</a:t>
                      </a:r>
                    </a:p>
                  </a:txBody>
                  <a:tcPr marL="45720" marR="45720" marT="18288" marB="18288" anchor="t">
                    <a:solidFill>
                      <a:srgbClr val="FFFFFF"/>
                    </a:solidFill>
                  </a:tcPr>
                </a:tc>
                <a:tc>
                  <a:txBody>
                    <a:bodyPr wrap="square"/>
                    <a:lstStyle/>
                    <a:p>
                      <a:r>
                        <a:rPr sz="1200" b="0" i="0">
                          <a:solidFill>
                            <a:srgbClr val="2A2622"/>
                          </a:solidFill>
                          <a:latin typeface="Calibri"/>
                        </a:rPr>
                        <a:t>30+</a:t>
                      </a:r>
                    </a:p>
                  </a:txBody>
                  <a:tcPr marL="45720" marR="45720" marT="18288" marB="18288" anchor="t">
                    <a:solidFill>
                      <a:srgbClr val="FFFFFF"/>
                    </a:solidFill>
                  </a:tcPr>
                </a:tc>
                <a:tc>
                  <a:txBody>
                    <a:bodyPr wrap="square"/>
                    <a:lstStyle/>
                    <a:p>
                      <a:r>
                        <a:rPr sz="1200" b="0" i="0">
                          <a:solidFill>
                            <a:srgbClr val="2A2622"/>
                          </a:solidFill>
                          <a:latin typeface="Calibri"/>
                        </a:rPr>
                        <a:t>—</a:t>
                      </a:r>
                    </a:p>
                  </a:txBody>
                  <a:tcPr marL="45720" marR="45720" marT="18288" marB="18288" anchor="t">
                    <a:solidFill>
                      <a:srgbClr val="FFFFFF"/>
                    </a:solidFill>
                  </a:tcPr>
                </a:tc>
                <a:tc>
                  <a:txBody>
                    <a:bodyPr wrap="square"/>
                    <a:lstStyle/>
                    <a:p>
                      <a:r>
                        <a:rPr sz="1200" b="0" i="0">
                          <a:solidFill>
                            <a:srgbClr val="2A2622"/>
                          </a:solidFill>
                          <a:latin typeface="Calibri"/>
                        </a:rPr>
                        <a:t>—</a:t>
                      </a:r>
                    </a:p>
                  </a:txBody>
                  <a:tcPr marL="45720" marR="45720" marT="18288" marB="18288" anchor="t">
                    <a:solidFill>
                      <a:srgbClr val="FFFFFF"/>
                    </a:solidFill>
                  </a:tcPr>
                </a:tc>
                <a:tc>
                  <a:txBody>
                    <a:bodyPr wrap="square"/>
                    <a:lstStyle/>
                    <a:p>
                      <a:r>
                        <a:rPr sz="1200" b="0" i="0">
                          <a:solidFill>
                            <a:srgbClr val="2A2622"/>
                          </a:solidFill>
                          <a:latin typeface="Calibri"/>
                        </a:rPr>
                        <a:t>5</a:t>
                      </a:r>
                    </a:p>
                  </a:txBody>
                  <a:tcPr marL="45720" marR="45720" marT="18288" marB="18288" anchor="t">
                    <a:solidFill>
                      <a:srgbClr val="FFFFFF"/>
                    </a:solidFill>
                  </a:tcPr>
                </a:tc>
              </a:tr>
              <a:tr h="718457">
                <a:tc>
                  <a:txBody>
                    <a:bodyPr wrap="square"/>
                    <a:lstStyle/>
                    <a:p>
                      <a:r>
                        <a:rPr sz="1200" b="0" i="0">
                          <a:solidFill>
                            <a:srgbClr val="2A2622"/>
                          </a:solidFill>
                          <a:latin typeface="Calibri"/>
                        </a:rPr>
                        <a:t>4</a:t>
                      </a:r>
                    </a:p>
                  </a:txBody>
                  <a:tcPr marL="45720" marR="45720" marT="18288" marB="18288" anchor="t">
                    <a:solidFill>
                      <a:srgbClr val="F6F1E7"/>
                    </a:solidFill>
                  </a:tcPr>
                </a:tc>
                <a:tc>
                  <a:txBody>
                    <a:bodyPr wrap="square"/>
                    <a:lstStyle/>
                    <a:p>
                      <a:r>
                        <a:rPr sz="1200" b="0" i="0">
                          <a:solidFill>
                            <a:srgbClr val="2A2622"/>
                          </a:solidFill>
                          <a:latin typeface="Calibri"/>
                        </a:rPr>
                        <a:t>1,000–1,500</a:t>
                      </a:r>
                    </a:p>
                  </a:txBody>
                  <a:tcPr marL="45720" marR="45720" marT="18288" marB="18288" anchor="t">
                    <a:solidFill>
                      <a:srgbClr val="F6F1E7"/>
                    </a:solidFill>
                  </a:tcPr>
                </a:tc>
                <a:tc>
                  <a:txBody>
                    <a:bodyPr wrap="square"/>
                    <a:lstStyle/>
                    <a:p>
                      <a:r>
                        <a:rPr sz="1200" b="0" i="0">
                          <a:solidFill>
                            <a:srgbClr val="2A2622"/>
                          </a:solidFill>
                          <a:latin typeface="Calibri"/>
                        </a:rPr>
                        <a:t>100</a:t>
                      </a:r>
                    </a:p>
                  </a:txBody>
                  <a:tcPr marL="45720" marR="45720" marT="18288" marB="18288" anchor="t">
                    <a:solidFill>
                      <a:srgbClr val="F6F1E7"/>
                    </a:solidFill>
                  </a:tcPr>
                </a:tc>
                <a:tc>
                  <a:txBody>
                    <a:bodyPr wrap="square"/>
                    <a:lstStyle/>
                    <a:p>
                      <a:r>
                        <a:rPr sz="1200" b="0" i="0">
                          <a:solidFill>
                            <a:srgbClr val="2A2622"/>
                          </a:solidFill>
                          <a:latin typeface="Calibri"/>
                        </a:rPr>
                        <a:t>≤ ₹400</a:t>
                      </a:r>
                    </a:p>
                  </a:txBody>
                  <a:tcPr marL="45720" marR="45720" marT="18288" marB="18288" anchor="t">
                    <a:solidFill>
                      <a:srgbClr val="F6F1E7"/>
                    </a:solidFill>
                  </a:tcPr>
                </a:tc>
                <a:tc>
                  <a:txBody>
                    <a:bodyPr wrap="square"/>
                    <a:lstStyle/>
                    <a:p>
                      <a:r>
                        <a:rPr sz="1200" b="0" i="0">
                          <a:solidFill>
                            <a:srgbClr val="2A2622"/>
                          </a:solidFill>
                          <a:latin typeface="Calibri"/>
                        </a:rPr>
                        <a:t>1.5x+ (learning)</a:t>
                      </a:r>
                    </a:p>
                  </a:txBody>
                  <a:tcPr marL="45720" marR="45720" marT="18288" marB="18288" anchor="t">
                    <a:solidFill>
                      <a:srgbClr val="F6F1E7"/>
                    </a:solidFill>
                  </a:tcPr>
                </a:tc>
                <a:tc>
                  <a:txBody>
                    <a:bodyPr wrap="square"/>
                    <a:lstStyle/>
                    <a:p>
                      <a:r>
                        <a:rPr sz="1200" b="0" i="0">
                          <a:solidFill>
                            <a:srgbClr val="2A2622"/>
                          </a:solidFill>
                          <a:latin typeface="Calibri"/>
                        </a:rPr>
                        <a:t>60+</a:t>
                      </a:r>
                    </a:p>
                  </a:txBody>
                  <a:tcPr marL="45720" marR="45720" marT="18288" marB="18288" anchor="t">
                    <a:solidFill>
                      <a:srgbClr val="F6F1E7"/>
                    </a:solidFill>
                  </a:tcPr>
                </a:tc>
                <a:tc>
                  <a:txBody>
                    <a:bodyPr wrap="square"/>
                    <a:lstStyle/>
                    <a:p>
                      <a:r>
                        <a:rPr sz="1200" b="0" i="0">
                          <a:solidFill>
                            <a:srgbClr val="2A2622"/>
                          </a:solidFill>
                          <a:latin typeface="Calibri"/>
                        </a:rPr>
                        <a:t>≥ 35%</a:t>
                      </a:r>
                    </a:p>
                  </a:txBody>
                  <a:tcPr marL="45720" marR="45720" marT="18288" marB="18288" anchor="t">
                    <a:solidFill>
                      <a:srgbClr val="F6F1E7"/>
                    </a:solidFill>
                  </a:tcPr>
                </a:tc>
                <a:tc>
                  <a:txBody>
                    <a:bodyPr wrap="square"/>
                    <a:lstStyle/>
                    <a:p>
                      <a:r>
                        <a:rPr sz="1200" b="0" i="0">
                          <a:solidFill>
                            <a:srgbClr val="2A2622"/>
                          </a:solidFill>
                          <a:latin typeface="Calibri"/>
                        </a:rPr>
                        <a:t>—</a:t>
                      </a:r>
                    </a:p>
                  </a:txBody>
                  <a:tcPr marL="45720" marR="45720" marT="18288" marB="18288" anchor="t">
                    <a:solidFill>
                      <a:srgbClr val="F6F1E7"/>
                    </a:solidFill>
                  </a:tcPr>
                </a:tc>
                <a:tc>
                  <a:txBody>
                    <a:bodyPr wrap="square"/>
                    <a:lstStyle/>
                    <a:p>
                      <a:r>
                        <a:rPr sz="1200" b="0" i="0">
                          <a:solidFill>
                            <a:srgbClr val="2A2622"/>
                          </a:solidFill>
                          <a:latin typeface="Calibri"/>
                        </a:rPr>
                        <a:t>15</a:t>
                      </a:r>
                    </a:p>
                  </a:txBody>
                  <a:tcPr marL="45720" marR="45720" marT="18288" marB="18288" anchor="t">
                    <a:solidFill>
                      <a:srgbClr val="F6F1E7"/>
                    </a:solidFill>
                  </a:tcPr>
                </a:tc>
              </a:tr>
              <a:tr h="718457">
                <a:tc>
                  <a:txBody>
                    <a:bodyPr wrap="square"/>
                    <a:lstStyle/>
                    <a:p>
                      <a:r>
                        <a:rPr sz="1200" b="0" i="0">
                          <a:solidFill>
                            <a:srgbClr val="2A2622"/>
                          </a:solidFill>
                          <a:latin typeface="Calibri"/>
                        </a:rPr>
                        <a:t>6</a:t>
                      </a:r>
                    </a:p>
                  </a:txBody>
                  <a:tcPr marL="45720" marR="45720" marT="18288" marB="18288" anchor="t">
                    <a:solidFill>
                      <a:srgbClr val="FFFFFF"/>
                    </a:solidFill>
                  </a:tcPr>
                </a:tc>
                <a:tc>
                  <a:txBody>
                    <a:bodyPr wrap="square"/>
                    <a:lstStyle/>
                    <a:p>
                      <a:r>
                        <a:rPr sz="1200" b="0" i="0">
                          <a:solidFill>
                            <a:srgbClr val="2A2622"/>
                          </a:solidFill>
                          <a:latin typeface="Calibri"/>
                        </a:rPr>
                        <a:t>2,000</a:t>
                      </a:r>
                    </a:p>
                  </a:txBody>
                  <a:tcPr marL="45720" marR="45720" marT="18288" marB="18288" anchor="t">
                    <a:solidFill>
                      <a:srgbClr val="FFFFFF"/>
                    </a:solidFill>
                  </a:tcPr>
                </a:tc>
                <a:tc>
                  <a:txBody>
                    <a:bodyPr wrap="square"/>
                    <a:lstStyle/>
                    <a:p>
                      <a:r>
                        <a:rPr sz="1200" b="0" i="0">
                          <a:solidFill>
                            <a:srgbClr val="2A2622"/>
                          </a:solidFill>
                          <a:latin typeface="Calibri"/>
                        </a:rPr>
                        <a:t>250</a:t>
                      </a:r>
                    </a:p>
                  </a:txBody>
                  <a:tcPr marL="45720" marR="45720" marT="18288" marB="18288" anchor="t">
                    <a:solidFill>
                      <a:srgbClr val="FFFFFF"/>
                    </a:solidFill>
                  </a:tcPr>
                </a:tc>
                <a:tc>
                  <a:txBody>
                    <a:bodyPr wrap="square"/>
                    <a:lstStyle/>
                    <a:p>
                      <a:r>
                        <a:rPr sz="1200" b="0" i="0">
                          <a:solidFill>
                            <a:srgbClr val="2A2622"/>
                          </a:solidFill>
                          <a:latin typeface="Calibri"/>
                        </a:rPr>
                        <a:t>≤ ₹350</a:t>
                      </a:r>
                    </a:p>
                  </a:txBody>
                  <a:tcPr marL="45720" marR="45720" marT="18288" marB="18288" anchor="t">
                    <a:solidFill>
                      <a:srgbClr val="FFFFFF"/>
                    </a:solidFill>
                  </a:tcPr>
                </a:tc>
                <a:tc>
                  <a:txBody>
                    <a:bodyPr wrap="square"/>
                    <a:lstStyle/>
                    <a:p>
                      <a:r>
                        <a:rPr sz="1200" b="0" i="0">
                          <a:solidFill>
                            <a:srgbClr val="2A2622"/>
                          </a:solidFill>
                          <a:latin typeface="Calibri"/>
                        </a:rPr>
                        <a:t>2x+</a:t>
                      </a:r>
                    </a:p>
                  </a:txBody>
                  <a:tcPr marL="45720" marR="45720" marT="18288" marB="18288" anchor="t">
                    <a:solidFill>
                      <a:srgbClr val="FFFFFF"/>
                    </a:solidFill>
                  </a:tcPr>
                </a:tc>
                <a:tc>
                  <a:txBody>
                    <a:bodyPr wrap="square"/>
                    <a:lstStyle/>
                    <a:p>
                      <a:r>
                        <a:rPr sz="1200" b="0" i="0">
                          <a:solidFill>
                            <a:srgbClr val="2A2622"/>
                          </a:solidFill>
                          <a:latin typeface="Calibri"/>
                        </a:rPr>
                        <a:t>80+</a:t>
                      </a:r>
                    </a:p>
                  </a:txBody>
                  <a:tcPr marL="45720" marR="45720" marT="18288" marB="18288" anchor="t">
                    <a:solidFill>
                      <a:srgbClr val="FFFFFF"/>
                    </a:solidFill>
                  </a:tcPr>
                </a:tc>
                <a:tc>
                  <a:txBody>
                    <a:bodyPr wrap="square"/>
                    <a:lstStyle/>
                    <a:p>
                      <a:r>
                        <a:rPr sz="1200" b="0" i="0">
                          <a:solidFill>
                            <a:srgbClr val="2A2622"/>
                          </a:solidFill>
                          <a:latin typeface="Calibri"/>
                        </a:rPr>
                        <a:t>≥ 35%</a:t>
                      </a:r>
                    </a:p>
                  </a:txBody>
                  <a:tcPr marL="45720" marR="45720" marT="18288" marB="18288" anchor="t">
                    <a:solidFill>
                      <a:srgbClr val="FFFFFF"/>
                    </a:solidFill>
                  </a:tcPr>
                </a:tc>
                <a:tc>
                  <a:txBody>
                    <a:bodyPr wrap="square"/>
                    <a:lstStyle/>
                    <a:p>
                      <a:r>
                        <a:rPr sz="1200" b="0" i="0">
                          <a:solidFill>
                            <a:srgbClr val="2A2622"/>
                          </a:solidFill>
                          <a:latin typeface="Calibri"/>
                        </a:rPr>
                        <a:t>first refills</a:t>
                      </a:r>
                    </a:p>
                  </a:txBody>
                  <a:tcPr marL="45720" marR="45720" marT="18288" marB="18288" anchor="t">
                    <a:solidFill>
                      <a:srgbClr val="FFFFFF"/>
                    </a:solidFill>
                  </a:tcPr>
                </a:tc>
                <a:tc>
                  <a:txBody>
                    <a:bodyPr wrap="square"/>
                    <a:lstStyle/>
                    <a:p>
                      <a:r>
                        <a:rPr sz="1200" b="0" i="0">
                          <a:solidFill>
                            <a:srgbClr val="2A2622"/>
                          </a:solidFill>
                          <a:latin typeface="Calibri"/>
                        </a:rPr>
                        <a:t>25</a:t>
                      </a:r>
                    </a:p>
                  </a:txBody>
                  <a:tcPr marL="45720" marR="45720" marT="18288" marB="18288" anchor="t">
                    <a:solidFill>
                      <a:srgbClr val="FFFFFF"/>
                    </a:solidFill>
                  </a:tcPr>
                </a:tc>
              </a:tr>
              <a:tr h="718457">
                <a:tc>
                  <a:txBody>
                    <a:bodyPr wrap="square"/>
                    <a:lstStyle/>
                    <a:p>
                      <a:r>
                        <a:rPr sz="1200" b="0" i="0">
                          <a:solidFill>
                            <a:srgbClr val="2A2622"/>
                          </a:solidFill>
                          <a:latin typeface="Calibri"/>
                        </a:rPr>
                        <a:t>8</a:t>
                      </a:r>
                    </a:p>
                  </a:txBody>
                  <a:tcPr marL="45720" marR="45720" marT="18288" marB="18288" anchor="t">
                    <a:solidFill>
                      <a:srgbClr val="F6F1E7"/>
                    </a:solidFill>
                  </a:tcPr>
                </a:tc>
                <a:tc>
                  <a:txBody>
                    <a:bodyPr wrap="square"/>
                    <a:lstStyle/>
                    <a:p>
                      <a:r>
                        <a:rPr sz="1200" b="0" i="0">
                          <a:solidFill>
                            <a:srgbClr val="2A2622"/>
                          </a:solidFill>
                          <a:latin typeface="Calibri"/>
                        </a:rPr>
                        <a:t>3,000–4,000</a:t>
                      </a:r>
                    </a:p>
                  </a:txBody>
                  <a:tcPr marL="45720" marR="45720" marT="18288" marB="18288" anchor="t">
                    <a:solidFill>
                      <a:srgbClr val="F6F1E7"/>
                    </a:solidFill>
                  </a:tcPr>
                </a:tc>
                <a:tc>
                  <a:txBody>
                    <a:bodyPr wrap="square"/>
                    <a:lstStyle/>
                    <a:p>
                      <a:r>
                        <a:rPr sz="1200" b="0" i="0">
                          <a:solidFill>
                            <a:srgbClr val="2A2622"/>
                          </a:solidFill>
                          <a:latin typeface="Calibri"/>
                        </a:rPr>
                        <a:t>400–500</a:t>
                      </a:r>
                    </a:p>
                  </a:txBody>
                  <a:tcPr marL="45720" marR="45720" marT="18288" marB="18288" anchor="t">
                    <a:solidFill>
                      <a:srgbClr val="F6F1E7"/>
                    </a:solidFill>
                  </a:tcPr>
                </a:tc>
                <a:tc>
                  <a:txBody>
                    <a:bodyPr wrap="square"/>
                    <a:lstStyle/>
                    <a:p>
                      <a:r>
                        <a:rPr sz="1200" b="0" i="0">
                          <a:solidFill>
                            <a:srgbClr val="2A2622"/>
                          </a:solidFill>
                          <a:latin typeface="Calibri"/>
                        </a:rPr>
                        <a:t>≤ ₹300</a:t>
                      </a:r>
                    </a:p>
                  </a:txBody>
                  <a:tcPr marL="45720" marR="45720" marT="18288" marB="18288" anchor="t">
                    <a:solidFill>
                      <a:srgbClr val="F6F1E7"/>
                    </a:solidFill>
                  </a:tcPr>
                </a:tc>
                <a:tc>
                  <a:txBody>
                    <a:bodyPr wrap="square"/>
                    <a:lstStyle/>
                    <a:p>
                      <a:r>
                        <a:rPr sz="1200" b="0" i="0">
                          <a:solidFill>
                            <a:srgbClr val="2A2622"/>
                          </a:solidFill>
                          <a:latin typeface="Calibri"/>
                        </a:rPr>
                        <a:t>2.5x+</a:t>
                      </a:r>
                    </a:p>
                  </a:txBody>
                  <a:tcPr marL="45720" marR="45720" marT="18288" marB="18288" anchor="t">
                    <a:solidFill>
                      <a:srgbClr val="F6F1E7"/>
                    </a:solidFill>
                  </a:tcPr>
                </a:tc>
                <a:tc>
                  <a:txBody>
                    <a:bodyPr wrap="square"/>
                    <a:lstStyle/>
                    <a:p>
                      <a:r>
                        <a:rPr sz="1200" b="0" i="0">
                          <a:solidFill>
                            <a:srgbClr val="2A2622"/>
                          </a:solidFill>
                          <a:latin typeface="Calibri"/>
                        </a:rPr>
                        <a:t>100+</a:t>
                      </a:r>
                    </a:p>
                  </a:txBody>
                  <a:tcPr marL="45720" marR="45720" marT="18288" marB="18288" anchor="t">
                    <a:solidFill>
                      <a:srgbClr val="F6F1E7"/>
                    </a:solidFill>
                  </a:tcPr>
                </a:tc>
                <a:tc>
                  <a:txBody>
                    <a:bodyPr wrap="square"/>
                    <a:lstStyle/>
                    <a:p>
                      <a:r>
                        <a:rPr sz="1200" b="0" i="0">
                          <a:solidFill>
                            <a:srgbClr val="2A2622"/>
                          </a:solidFill>
                          <a:latin typeface="Calibri"/>
                        </a:rPr>
                        <a:t>≥ 40%</a:t>
                      </a:r>
                    </a:p>
                  </a:txBody>
                  <a:tcPr marL="45720" marR="45720" marT="18288" marB="18288" anchor="t">
                    <a:solidFill>
                      <a:srgbClr val="F6F1E7"/>
                    </a:solidFill>
                  </a:tcPr>
                </a:tc>
                <a:tc>
                  <a:txBody>
                    <a:bodyPr wrap="square"/>
                    <a:lstStyle/>
                    <a:p>
                      <a:r>
                        <a:rPr sz="1200" b="0" i="0">
                          <a:solidFill>
                            <a:srgbClr val="2A2622"/>
                          </a:solidFill>
                          <a:latin typeface="Calibri"/>
                        </a:rPr>
                        <a:t>10%</a:t>
                      </a:r>
                    </a:p>
                  </a:txBody>
                  <a:tcPr marL="45720" marR="45720" marT="18288" marB="18288" anchor="t">
                    <a:solidFill>
                      <a:srgbClr val="F6F1E7"/>
                    </a:solidFill>
                  </a:tcPr>
                </a:tc>
                <a:tc>
                  <a:txBody>
                    <a:bodyPr wrap="square"/>
                    <a:lstStyle/>
                    <a:p>
                      <a:r>
                        <a:rPr sz="1200" b="0" i="0">
                          <a:solidFill>
                            <a:srgbClr val="2A2622"/>
                          </a:solidFill>
                          <a:latin typeface="Calibri"/>
                        </a:rPr>
                        <a:t>40</a:t>
                      </a:r>
                    </a:p>
                  </a:txBody>
                  <a:tcPr marL="45720" marR="45720" marT="18288" marB="18288" anchor="t">
                    <a:solidFill>
                      <a:srgbClr val="F6F1E7"/>
                    </a:solidFill>
                  </a:tcPr>
                </a:tc>
              </a:tr>
              <a:tr h="718457">
                <a:tc>
                  <a:txBody>
                    <a:bodyPr wrap="square"/>
                    <a:lstStyle/>
                    <a:p>
                      <a:r>
                        <a:rPr sz="1200" b="0" i="0">
                          <a:solidFill>
                            <a:srgbClr val="2A2622"/>
                          </a:solidFill>
                          <a:latin typeface="Calibri"/>
                        </a:rPr>
                        <a:t>10</a:t>
                      </a:r>
                    </a:p>
                  </a:txBody>
                  <a:tcPr marL="45720" marR="45720" marT="18288" marB="18288" anchor="t">
                    <a:solidFill>
                      <a:srgbClr val="FFFFFF"/>
                    </a:solidFill>
                  </a:tcPr>
                </a:tc>
                <a:tc>
                  <a:txBody>
                    <a:bodyPr wrap="square"/>
                    <a:lstStyle/>
                    <a:p>
                      <a:r>
                        <a:rPr sz="1200" b="0" i="0">
                          <a:solidFill>
                            <a:srgbClr val="2A2622"/>
                          </a:solidFill>
                          <a:latin typeface="Calibri"/>
                        </a:rPr>
                        <a:t>4,500</a:t>
                      </a:r>
                    </a:p>
                  </a:txBody>
                  <a:tcPr marL="45720" marR="45720" marT="18288" marB="18288" anchor="t">
                    <a:solidFill>
                      <a:srgbClr val="FFFFFF"/>
                    </a:solidFill>
                  </a:tcPr>
                </a:tc>
                <a:tc>
                  <a:txBody>
                    <a:bodyPr wrap="square"/>
                    <a:lstStyle/>
                    <a:p>
                      <a:r>
                        <a:rPr sz="1200" b="0" i="0">
                          <a:solidFill>
                            <a:srgbClr val="2A2622"/>
                          </a:solidFill>
                          <a:latin typeface="Calibri"/>
                        </a:rPr>
                        <a:t>700</a:t>
                      </a:r>
                    </a:p>
                  </a:txBody>
                  <a:tcPr marL="45720" marR="45720" marT="18288" marB="18288" anchor="t">
                    <a:solidFill>
                      <a:srgbClr val="FFFFFF"/>
                    </a:solidFill>
                  </a:tcPr>
                </a:tc>
                <a:tc>
                  <a:txBody>
                    <a:bodyPr wrap="square"/>
                    <a:lstStyle/>
                    <a:p>
                      <a:r>
                        <a:rPr sz="1200" b="0" i="0">
                          <a:solidFill>
                            <a:srgbClr val="2A2622"/>
                          </a:solidFill>
                          <a:latin typeface="Calibri"/>
                        </a:rPr>
                        <a:t>≤ ₹280</a:t>
                      </a:r>
                    </a:p>
                  </a:txBody>
                  <a:tcPr marL="45720" marR="45720" marT="18288" marB="18288" anchor="t">
                    <a:solidFill>
                      <a:srgbClr val="FFFFFF"/>
                    </a:solidFill>
                  </a:tcPr>
                </a:tc>
                <a:tc>
                  <a:txBody>
                    <a:bodyPr wrap="square"/>
                    <a:lstStyle/>
                    <a:p>
                      <a:r>
                        <a:rPr sz="1200" b="0" i="0">
                          <a:solidFill>
                            <a:srgbClr val="2A2622"/>
                          </a:solidFill>
                          <a:latin typeface="Calibri"/>
                        </a:rPr>
                        <a:t>3x</a:t>
                      </a:r>
                    </a:p>
                  </a:txBody>
                  <a:tcPr marL="45720" marR="45720" marT="18288" marB="18288" anchor="t">
                    <a:solidFill>
                      <a:srgbClr val="FFFFFF"/>
                    </a:solidFill>
                  </a:tcPr>
                </a:tc>
                <a:tc>
                  <a:txBody>
                    <a:bodyPr wrap="square"/>
                    <a:lstStyle/>
                    <a:p>
                      <a:r>
                        <a:rPr sz="1200" b="0" i="0">
                          <a:solidFill>
                            <a:srgbClr val="2A2622"/>
                          </a:solidFill>
                          <a:latin typeface="Calibri"/>
                        </a:rPr>
                        <a:t>120+</a:t>
                      </a:r>
                    </a:p>
                  </a:txBody>
                  <a:tcPr marL="45720" marR="45720" marT="18288" marB="18288" anchor="t">
                    <a:solidFill>
                      <a:srgbClr val="FFFFFF"/>
                    </a:solidFill>
                  </a:tcPr>
                </a:tc>
                <a:tc>
                  <a:txBody>
                    <a:bodyPr wrap="square"/>
                    <a:lstStyle/>
                    <a:p>
                      <a:r>
                        <a:rPr sz="1200" b="0" i="0">
                          <a:solidFill>
                            <a:srgbClr val="2A2622"/>
                          </a:solidFill>
                          <a:latin typeface="Calibri"/>
                        </a:rPr>
                        <a:t>≥ 40%</a:t>
                      </a:r>
                    </a:p>
                  </a:txBody>
                  <a:tcPr marL="45720" marR="45720" marT="18288" marB="18288" anchor="t">
                    <a:solidFill>
                      <a:srgbClr val="FFFFFF"/>
                    </a:solidFill>
                  </a:tcPr>
                </a:tc>
                <a:tc>
                  <a:txBody>
                    <a:bodyPr wrap="square"/>
                    <a:lstStyle/>
                    <a:p>
                      <a:r>
                        <a:rPr sz="1200" b="0" i="0">
                          <a:solidFill>
                            <a:srgbClr val="2A2622"/>
                          </a:solidFill>
                          <a:latin typeface="Calibri"/>
                        </a:rPr>
                        <a:t>12%</a:t>
                      </a:r>
                    </a:p>
                  </a:txBody>
                  <a:tcPr marL="45720" marR="45720" marT="18288" marB="18288" anchor="t">
                    <a:solidFill>
                      <a:srgbClr val="FFFFFF"/>
                    </a:solidFill>
                  </a:tcPr>
                </a:tc>
                <a:tc>
                  <a:txBody>
                    <a:bodyPr wrap="square"/>
                    <a:lstStyle/>
                    <a:p>
                      <a:r>
                        <a:rPr sz="1200" b="0" i="0">
                          <a:solidFill>
                            <a:srgbClr val="2A2622"/>
                          </a:solidFill>
                          <a:latin typeface="Calibri"/>
                        </a:rPr>
                        <a:t>50</a:t>
                      </a:r>
                    </a:p>
                  </a:txBody>
                  <a:tcPr marL="45720" marR="45720" marT="18288" marB="18288" anchor="t">
                    <a:solidFill>
                      <a:srgbClr val="FFFFFF"/>
                    </a:solidFill>
                  </a:tcPr>
                </a:tc>
              </a:tr>
              <a:tr h="718458">
                <a:tc>
                  <a:txBody>
                    <a:bodyPr wrap="square"/>
                    <a:lstStyle/>
                    <a:p>
                      <a:r>
                        <a:rPr sz="1200" b="0" i="0">
                          <a:solidFill>
                            <a:srgbClr val="2A2622"/>
                          </a:solidFill>
                          <a:latin typeface="Calibri"/>
                        </a:rPr>
                        <a:t>12/13</a:t>
                      </a:r>
                    </a:p>
                  </a:txBody>
                  <a:tcPr marL="45720" marR="45720" marT="18288" marB="18288" anchor="t">
                    <a:solidFill>
                      <a:srgbClr val="F6F1E7"/>
                    </a:solidFill>
                  </a:tcPr>
                </a:tc>
                <a:tc>
                  <a:txBody>
                    <a:bodyPr wrap="square"/>
                    <a:lstStyle/>
                    <a:p>
                      <a:r>
                        <a:rPr sz="1200" b="0" i="0">
                          <a:solidFill>
                            <a:srgbClr val="2A2622"/>
                          </a:solidFill>
                          <a:latin typeface="Calibri"/>
                        </a:rPr>
                        <a:t>5,000–8,000</a:t>
                      </a:r>
                    </a:p>
                  </a:txBody>
                  <a:tcPr marL="45720" marR="45720" marT="18288" marB="18288" anchor="t">
                    <a:solidFill>
                      <a:srgbClr val="F6F1E7"/>
                    </a:solidFill>
                  </a:tcPr>
                </a:tc>
                <a:tc>
                  <a:txBody>
                    <a:bodyPr wrap="square"/>
                    <a:lstStyle/>
                    <a:p>
                      <a:r>
                        <a:rPr sz="1200" b="0" i="0">
                          <a:solidFill>
                            <a:srgbClr val="2A2622"/>
                          </a:solidFill>
                          <a:latin typeface="Calibri"/>
                        </a:rPr>
                        <a:t>900–1,200</a:t>
                      </a:r>
                    </a:p>
                  </a:txBody>
                  <a:tcPr marL="45720" marR="45720" marT="18288" marB="18288" anchor="t">
                    <a:solidFill>
                      <a:srgbClr val="F6F1E7"/>
                    </a:solidFill>
                  </a:tcPr>
                </a:tc>
                <a:tc>
                  <a:txBody>
                    <a:bodyPr wrap="square"/>
                    <a:lstStyle/>
                    <a:p>
                      <a:r>
                        <a:rPr sz="1200" b="0" i="0">
                          <a:solidFill>
                            <a:srgbClr val="2A2622"/>
                          </a:solidFill>
                          <a:latin typeface="Calibri"/>
                        </a:rPr>
                        <a:t>≤ ₹250</a:t>
                      </a:r>
                    </a:p>
                  </a:txBody>
                  <a:tcPr marL="45720" marR="45720" marT="18288" marB="18288" anchor="t">
                    <a:solidFill>
                      <a:srgbClr val="F6F1E7"/>
                    </a:solidFill>
                  </a:tcPr>
                </a:tc>
                <a:tc>
                  <a:txBody>
                    <a:bodyPr wrap="square"/>
                    <a:lstStyle/>
                    <a:p>
                      <a:r>
                        <a:rPr sz="1200" b="0" i="0">
                          <a:solidFill>
                            <a:srgbClr val="2A2622"/>
                          </a:solidFill>
                          <a:latin typeface="Calibri"/>
                        </a:rPr>
                        <a:t>3x+</a:t>
                      </a:r>
                    </a:p>
                  </a:txBody>
                  <a:tcPr marL="45720" marR="45720" marT="18288" marB="18288" anchor="t">
                    <a:solidFill>
                      <a:srgbClr val="F6F1E7"/>
                    </a:solidFill>
                  </a:tcPr>
                </a:tc>
                <a:tc>
                  <a:txBody>
                    <a:bodyPr wrap="square"/>
                    <a:lstStyle/>
                    <a:p>
                      <a:r>
                        <a:rPr sz="1200" b="0" i="0">
                          <a:solidFill>
                            <a:srgbClr val="2A2622"/>
                          </a:solidFill>
                          <a:latin typeface="Calibri"/>
                        </a:rPr>
                        <a:t>150+</a:t>
                      </a:r>
                    </a:p>
                  </a:txBody>
                  <a:tcPr marL="45720" marR="45720" marT="18288" marB="18288" anchor="t">
                    <a:solidFill>
                      <a:srgbClr val="F6F1E7"/>
                    </a:solidFill>
                  </a:tcPr>
                </a:tc>
                <a:tc>
                  <a:txBody>
                    <a:bodyPr wrap="square"/>
                    <a:lstStyle/>
                    <a:p>
                      <a:r>
                        <a:rPr sz="1200" b="0" i="0">
                          <a:solidFill>
                            <a:srgbClr val="2A2622"/>
                          </a:solidFill>
                          <a:latin typeface="Calibri"/>
                        </a:rPr>
                        <a:t>≥ 40%</a:t>
                      </a:r>
                    </a:p>
                  </a:txBody>
                  <a:tcPr marL="45720" marR="45720" marT="18288" marB="18288" anchor="t">
                    <a:solidFill>
                      <a:srgbClr val="F6F1E7"/>
                    </a:solidFill>
                  </a:tcPr>
                </a:tc>
                <a:tc>
                  <a:txBody>
                    <a:bodyPr wrap="square"/>
                    <a:lstStyle/>
                    <a:p>
                      <a:r>
                        <a:rPr sz="1200" b="0" i="0">
                          <a:solidFill>
                            <a:srgbClr val="2A2622"/>
                          </a:solidFill>
                          <a:latin typeface="Calibri"/>
                        </a:rPr>
                        <a:t>15%</a:t>
                      </a:r>
                    </a:p>
                  </a:txBody>
                  <a:tcPr marL="45720" marR="45720" marT="18288" marB="18288" anchor="t">
                    <a:solidFill>
                      <a:srgbClr val="F6F1E7"/>
                    </a:solidFill>
                  </a:tcPr>
                </a:tc>
                <a:tc>
                  <a:txBody>
                    <a:bodyPr wrap="square"/>
                    <a:lstStyle/>
                    <a:p>
                      <a:r>
                        <a:rPr sz="1200" b="0" i="0">
                          <a:solidFill>
                            <a:srgbClr val="2A2622"/>
                          </a:solidFill>
                          <a:latin typeface="Calibri"/>
                        </a:rPr>
                        <a:t>60+</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350</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90-DAY KPI BOARD (one page, review every Sunday, 45 min)</a:t>
            </a:r>
          </a:p>
          <a:p>
            <a:r>
              <a:rPr sz="1200" i="1">
                <a:solidFill>
                  <a:srgbClr val="57504A"/>
                </a:solidFill>
                <a:latin typeface="Calibri"/>
              </a:rPr>
              <a:t>PART 21 — 90-Day Social Media + Sales Master Plan</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The only metrics that override everything:</a:t>
            </a:r>
            <a:r>
              <a:rPr sz="1350" b="0" i="0">
                <a:solidFill>
                  <a:srgbClr val="2A2622"/>
                </a:solidFill>
                <a:latin typeface="Calibri"/>
              </a:rPr>
              <a:t> (1) contribution margin per order (price − COGS − shipping − ad-CPA − COD failure cost) must be positive or improving; (2) repeat rate; (3) COD success ≥ 88%. Followers, views, likes = context, never decisions.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351</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WEEKLY OPERATING CADENCE (the CEO's 5-hour week)</a:t>
            </a:r>
          </a:p>
          <a:p>
            <a:r>
              <a:rPr sz="1200" i="1">
                <a:solidFill>
                  <a:srgbClr val="57504A"/>
                </a:solidFill>
                <a:latin typeface="Calibri"/>
              </a:rPr>
              <a:t>PART 21 — 90-Day Social Media + Sales Master Plan</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3" cy="5029200"/>
        </p:xfrm>
        <a:graphic>
          <a:graphicData uri="http://schemas.openxmlformats.org/drawingml/2006/table">
            <a:tbl>
              <a:tblPr firstRow="1" bandRow="1">
                <a:tableStyleId>{5C22544A-7EE6-4342-B048-85BDC9FD1C3A}</a:tableStyleId>
              </a:tblPr>
              <a:tblGrid>
                <a:gridCol w="450062"/>
                <a:gridCol w="9001258"/>
                <a:gridCol w="2100293"/>
              </a:tblGrid>
              <a:tr h="628650">
                <a:tc>
                  <a:txBody>
                    <a:bodyPr wrap="square"/>
                    <a:lstStyle/>
                    <a:p>
                      <a:r>
                        <a:rPr sz="1200" b="1" i="0">
                          <a:solidFill>
                            <a:srgbClr val="FFFFFF"/>
                          </a:solidFill>
                          <a:latin typeface="Calibri"/>
                        </a:rPr>
                        <a:t>Day</a:t>
                      </a:r>
                    </a:p>
                  </a:txBody>
                  <a:tcPr marL="45720" marR="45720" marT="18288" marB="18288" anchor="t">
                    <a:solidFill>
                      <a:srgbClr val="B44A2E"/>
                    </a:solidFill>
                  </a:tcPr>
                </a:tc>
                <a:tc>
                  <a:txBody>
                    <a:bodyPr wrap="square"/>
                    <a:lstStyle/>
                    <a:p>
                      <a:r>
                        <a:rPr sz="1200" b="1" i="0">
                          <a:solidFill>
                            <a:srgbClr val="FFFFFF"/>
                          </a:solidFill>
                          <a:latin typeface="Calibri"/>
                        </a:rPr>
                        <a:t>Block</a:t>
                      </a:r>
                    </a:p>
                  </a:txBody>
                  <a:tcPr marL="45720" marR="45720" marT="18288" marB="18288" anchor="t">
                    <a:solidFill>
                      <a:srgbClr val="B44A2E"/>
                    </a:solidFill>
                  </a:tcPr>
                </a:tc>
                <a:tc>
                  <a:txBody>
                    <a:bodyPr wrap="square"/>
                    <a:lstStyle/>
                    <a:p>
                      <a:r>
                        <a:rPr sz="1200" b="1" i="0">
                          <a:solidFill>
                            <a:srgbClr val="FFFFFF"/>
                          </a:solidFill>
                          <a:latin typeface="Calibri"/>
                        </a:rPr>
                        <a:t>Time</a:t>
                      </a:r>
                    </a:p>
                  </a:txBody>
                  <a:tcPr marL="45720" marR="45720" marT="18288" marB="18288" anchor="t">
                    <a:solidFill>
                      <a:srgbClr val="B44A2E"/>
                    </a:solidFill>
                  </a:tcPr>
                </a:tc>
              </a:tr>
              <a:tr h="628650">
                <a:tc>
                  <a:txBody>
                    <a:bodyPr wrap="square"/>
                    <a:lstStyle/>
                    <a:p>
                      <a:r>
                        <a:rPr sz="1200" b="0" i="0">
                          <a:solidFill>
                            <a:srgbClr val="2A2622"/>
                          </a:solidFill>
                          <a:latin typeface="Calibri"/>
                        </a:rPr>
                        <a:t>Mon</a:t>
                      </a:r>
                    </a:p>
                  </a:txBody>
                  <a:tcPr marL="45720" marR="45720" marT="18288" marB="18288" anchor="t">
                    <a:solidFill>
                      <a:srgbClr val="FFFFFF"/>
                    </a:solidFill>
                  </a:tcPr>
                </a:tc>
                <a:tc>
                  <a:txBody>
                    <a:bodyPr wrap="square"/>
                    <a:lstStyle/>
                    <a:p>
                      <a:r>
                        <a:rPr sz="1200" b="0" i="0">
                          <a:solidFill>
                            <a:srgbClr val="2A2622"/>
                          </a:solidFill>
                          <a:latin typeface="Calibri"/>
                        </a:rPr>
                        <a:t>Content batch planning (this week's 7 hooks from DM data + KPI gaps)</a:t>
                      </a:r>
                    </a:p>
                  </a:txBody>
                  <a:tcPr marL="45720" marR="45720" marT="18288" marB="18288" anchor="t">
                    <a:solidFill>
                      <a:srgbClr val="FFFFFF"/>
                    </a:solidFill>
                  </a:tcPr>
                </a:tc>
                <a:tc>
                  <a:txBody>
                    <a:bodyPr wrap="square"/>
                    <a:lstStyle/>
                    <a:p>
                      <a:r>
                        <a:rPr sz="1200" b="0" i="0">
                          <a:solidFill>
                            <a:srgbClr val="2A2622"/>
                          </a:solidFill>
                          <a:latin typeface="Calibri"/>
                        </a:rPr>
                        <a:t>1 hr</a:t>
                      </a:r>
                    </a:p>
                  </a:txBody>
                  <a:tcPr marL="45720" marR="45720" marT="18288" marB="18288" anchor="t">
                    <a:solidFill>
                      <a:srgbClr val="FFFFFF"/>
                    </a:solidFill>
                  </a:tcPr>
                </a:tc>
              </a:tr>
              <a:tr h="628650">
                <a:tc>
                  <a:txBody>
                    <a:bodyPr wrap="square"/>
                    <a:lstStyle/>
                    <a:p>
                      <a:r>
                        <a:rPr sz="1200" b="0" i="0">
                          <a:solidFill>
                            <a:srgbClr val="2A2622"/>
                          </a:solidFill>
                          <a:latin typeface="Calibri"/>
                        </a:rPr>
                        <a:t>Tue</a:t>
                      </a:r>
                    </a:p>
                  </a:txBody>
                  <a:tcPr marL="45720" marR="45720" marT="18288" marB="18288" anchor="t">
                    <a:solidFill>
                      <a:srgbClr val="F6F1E7"/>
                    </a:solidFill>
                  </a:tcPr>
                </a:tc>
                <a:tc>
                  <a:txBody>
                    <a:bodyPr wrap="square"/>
                    <a:lstStyle/>
                    <a:p>
                      <a:r>
                        <a:rPr sz="1200" b="1" i="0">
                          <a:solidFill>
                            <a:srgbClr val="2A2622"/>
                          </a:solidFill>
                          <a:latin typeface="Calibri"/>
                        </a:rPr>
                        <a:t>Shoot day #1</a:t>
                      </a:r>
                      <a:r>
                        <a:rPr sz="1200" b="0" i="0">
                          <a:solidFill>
                            <a:srgbClr val="2A2622"/>
                          </a:solidFill>
                          <a:latin typeface="Calibri"/>
                        </a:rPr>
                        <a:t> (4–5 hrs, 8–10 reels + 4 ad cuts) — see </a:t>
                      </a:r>
                      <a:r>
                        <a:rPr sz="1050" b="0" i="0">
                          <a:solidFill>
                            <a:srgbClr val="8F3A22"/>
                          </a:solidFill>
                          <a:latin typeface="Consolas"/>
                        </a:rPr>
                        <a:t>21-production-system.md</a:t>
                      </a:r>
                    </a:p>
                  </a:txBody>
                  <a:tcPr marL="45720" marR="45720" marT="18288" marB="18288" anchor="t">
                    <a:solidFill>
                      <a:srgbClr val="F6F1E7"/>
                    </a:solidFill>
                  </a:tcPr>
                </a:tc>
                <a:tc>
                  <a:txBody>
                    <a:bodyPr wrap="square"/>
                    <a:lstStyle/>
                    <a:p>
                      <a:r>
                        <a:rPr sz="1200" b="0" i="0">
                          <a:solidFill>
                            <a:srgbClr val="2A2622"/>
                          </a:solidFill>
                          <a:latin typeface="Calibri"/>
                        </a:rPr>
                        <a:t>4.5 hr (shoot)</a:t>
                      </a:r>
                    </a:p>
                  </a:txBody>
                  <a:tcPr marL="45720" marR="45720" marT="18288" marB="18288" anchor="t">
                    <a:solidFill>
                      <a:srgbClr val="F6F1E7"/>
                    </a:solidFill>
                  </a:tcPr>
                </a:tc>
              </a:tr>
              <a:tr h="628650">
                <a:tc>
                  <a:txBody>
                    <a:bodyPr wrap="square"/>
                    <a:lstStyle/>
                    <a:p>
                      <a:r>
                        <a:rPr sz="1200" b="0" i="0">
                          <a:solidFill>
                            <a:srgbClr val="2A2622"/>
                          </a:solidFill>
                          <a:latin typeface="Calibri"/>
                        </a:rPr>
                        <a:t>Wed</a:t>
                      </a:r>
                    </a:p>
                  </a:txBody>
                  <a:tcPr marL="45720" marR="45720" marT="18288" marB="18288" anchor="t">
                    <a:solidFill>
                      <a:srgbClr val="FFFFFF"/>
                    </a:solidFill>
                  </a:tcPr>
                </a:tc>
                <a:tc>
                  <a:txBody>
                    <a:bodyPr wrap="square"/>
                    <a:lstStyle/>
                    <a:p>
                      <a:r>
                        <a:rPr sz="1200" b="0" i="0">
                          <a:solidFill>
                            <a:srgbClr val="2A2622"/>
                          </a:solidFill>
                          <a:latin typeface="Calibri"/>
                        </a:rPr>
                        <a:t>Ad review (Sunday's data → kill/scale/queue) + creator outreach (2–3)</a:t>
                      </a:r>
                    </a:p>
                  </a:txBody>
                  <a:tcPr marL="45720" marR="45720" marT="18288" marB="18288" anchor="t">
                    <a:solidFill>
                      <a:srgbClr val="FFFFFF"/>
                    </a:solidFill>
                  </a:tcPr>
                </a:tc>
                <a:tc>
                  <a:txBody>
                    <a:bodyPr wrap="square"/>
                    <a:lstStyle/>
                    <a:p>
                      <a:r>
                        <a:rPr sz="1200" b="0" i="0">
                          <a:solidFill>
                            <a:srgbClr val="2A2622"/>
                          </a:solidFill>
                          <a:latin typeface="Calibri"/>
                        </a:rPr>
                        <a:t>1 hr</a:t>
                      </a:r>
                    </a:p>
                  </a:txBody>
                  <a:tcPr marL="45720" marR="45720" marT="18288" marB="18288" anchor="t">
                    <a:solidFill>
                      <a:srgbClr val="FFFFFF"/>
                    </a:solidFill>
                  </a:tcPr>
                </a:tc>
              </a:tr>
              <a:tr h="628650">
                <a:tc>
                  <a:txBody>
                    <a:bodyPr wrap="square"/>
                    <a:lstStyle/>
                    <a:p>
                      <a:r>
                        <a:rPr sz="1200" b="0" i="0">
                          <a:solidFill>
                            <a:srgbClr val="2A2622"/>
                          </a:solidFill>
                          <a:latin typeface="Calibri"/>
                        </a:rPr>
                        <a:t>Thu</a:t>
                      </a:r>
                    </a:p>
                  </a:txBody>
                  <a:tcPr marL="45720" marR="45720" marT="18288" marB="18288" anchor="t">
                    <a:solidFill>
                      <a:srgbClr val="F6F1E7"/>
                    </a:solidFill>
                  </a:tcPr>
                </a:tc>
                <a:tc>
                  <a:txBody>
                    <a:bodyPr wrap="square"/>
                    <a:lstStyle/>
                    <a:p>
                      <a:r>
                        <a:rPr sz="1200" b="1" i="0">
                          <a:solidFill>
                            <a:srgbClr val="2A2622"/>
                          </a:solidFill>
                          <a:latin typeface="Calibri"/>
                        </a:rPr>
                        <a:t>Shoot day #2</a:t>
                      </a:r>
                      <a:r>
                        <a:rPr sz="1200" b="0" i="0">
                          <a:solidFill>
                            <a:srgbClr val="2A2622"/>
                          </a:solidFill>
                          <a:latin typeface="Calibri"/>
                        </a:rPr>
                        <a:t> (lighter: Stories batch, carousel photos, product shots)</a:t>
                      </a:r>
                    </a:p>
                  </a:txBody>
                  <a:tcPr marL="45720" marR="45720" marT="18288" marB="18288" anchor="t">
                    <a:solidFill>
                      <a:srgbClr val="F6F1E7"/>
                    </a:solidFill>
                  </a:tcPr>
                </a:tc>
                <a:tc>
                  <a:txBody>
                    <a:bodyPr wrap="square"/>
                    <a:lstStyle/>
                    <a:p>
                      <a:r>
                        <a:rPr sz="1200" b="0" i="0">
                          <a:solidFill>
                            <a:srgbClr val="2A2622"/>
                          </a:solidFill>
                          <a:latin typeface="Calibri"/>
                        </a:rPr>
                        <a:t>3 hr</a:t>
                      </a:r>
                    </a:p>
                  </a:txBody>
                  <a:tcPr marL="45720" marR="45720" marT="18288" marB="18288" anchor="t">
                    <a:solidFill>
                      <a:srgbClr val="F6F1E7"/>
                    </a:solidFill>
                  </a:tcPr>
                </a:tc>
              </a:tr>
              <a:tr h="628650">
                <a:tc>
                  <a:txBody>
                    <a:bodyPr wrap="square"/>
                    <a:lstStyle/>
                    <a:p>
                      <a:r>
                        <a:rPr sz="1200" b="0" i="0">
                          <a:solidFill>
                            <a:srgbClr val="2A2622"/>
                          </a:solidFill>
                          <a:latin typeface="Calibri"/>
                        </a:rPr>
                        <a:t>Fri</a:t>
                      </a:r>
                    </a:p>
                  </a:txBody>
                  <a:tcPr marL="45720" marR="45720" marT="18288" marB="18288" anchor="t">
                    <a:solidFill>
                      <a:srgbClr val="FFFFFF"/>
                    </a:solidFill>
                  </a:tcPr>
                </a:tc>
                <a:tc>
                  <a:txBody>
                    <a:bodyPr wrap="square"/>
                    <a:lstStyle/>
                    <a:p>
                      <a:r>
                        <a:rPr sz="1200" b="0" i="0">
                          <a:solidFill>
                            <a:srgbClr val="2A2622"/>
                          </a:solidFill>
                          <a:latin typeface="Calibri"/>
                        </a:rPr>
                        <a:t>YT Shorts upload (top 3) + SEO titles · hashtag rotation · next-week calendar lock</a:t>
                      </a:r>
                    </a:p>
                  </a:txBody>
                  <a:tcPr marL="45720" marR="45720" marT="18288" marB="18288" anchor="t">
                    <a:solidFill>
                      <a:srgbClr val="FFFFFF"/>
                    </a:solidFill>
                  </a:tcPr>
                </a:tc>
                <a:tc>
                  <a:txBody>
                    <a:bodyPr wrap="square"/>
                    <a:lstStyle/>
                    <a:p>
                      <a:r>
                        <a:rPr sz="1200" b="0" i="0">
                          <a:solidFill>
                            <a:srgbClr val="2A2622"/>
                          </a:solidFill>
                          <a:latin typeface="Calibri"/>
                        </a:rPr>
                        <a:t>1 hr</a:t>
                      </a:r>
                    </a:p>
                  </a:txBody>
                  <a:tcPr marL="45720" marR="45720" marT="18288" marB="18288" anchor="t">
                    <a:solidFill>
                      <a:srgbClr val="FFFFFF"/>
                    </a:solidFill>
                  </a:tcPr>
                </a:tc>
              </a:tr>
              <a:tr h="628650">
                <a:tc>
                  <a:txBody>
                    <a:bodyPr wrap="square"/>
                    <a:lstStyle/>
                    <a:p>
                      <a:r>
                        <a:rPr sz="1200" b="0" i="0">
                          <a:solidFill>
                            <a:srgbClr val="2A2622"/>
                          </a:solidFill>
                          <a:latin typeface="Calibri"/>
                        </a:rPr>
                        <a:t>Sat</a:t>
                      </a:r>
                    </a:p>
                  </a:txBody>
                  <a:tcPr marL="45720" marR="45720" marT="18288" marB="18288" anchor="t">
                    <a:solidFill>
                      <a:srgbClr val="F6F1E7"/>
                    </a:solidFill>
                  </a:tcPr>
                </a:tc>
                <a:tc>
                  <a:txBody>
                    <a:bodyPr wrap="square"/>
                    <a:lstStyle/>
                    <a:p>
                      <a:r>
                        <a:rPr sz="1200" b="0" i="0">
                          <a:solidFill>
                            <a:srgbClr val="2A2622"/>
                          </a:solidFill>
                          <a:latin typeface="Calibri"/>
                        </a:rPr>
                        <a:t>Weekly KPI review (the board above) · DM audit (top objections) · next-week scripts</a:t>
                      </a:r>
                    </a:p>
                  </a:txBody>
                  <a:tcPr marL="45720" marR="45720" marT="18288" marB="18288" anchor="t">
                    <a:solidFill>
                      <a:srgbClr val="F6F1E7"/>
                    </a:solidFill>
                  </a:tcPr>
                </a:tc>
                <a:tc>
                  <a:txBody>
                    <a:bodyPr wrap="square"/>
                    <a:lstStyle/>
                    <a:p>
                      <a:r>
                        <a:rPr sz="1200" b="0" i="0">
                          <a:solidFill>
                            <a:srgbClr val="2A2622"/>
                          </a:solidFill>
                          <a:latin typeface="Calibri"/>
                        </a:rPr>
                        <a:t>1.5 hr</a:t>
                      </a:r>
                    </a:p>
                  </a:txBody>
                  <a:tcPr marL="45720" marR="45720" marT="18288" marB="18288" anchor="t">
                    <a:solidFill>
                      <a:srgbClr val="F6F1E7"/>
                    </a:solidFill>
                  </a:tcPr>
                </a:tc>
              </a:tr>
              <a:tr h="628650">
                <a:tc>
                  <a:txBody>
                    <a:bodyPr wrap="square"/>
                    <a:lstStyle/>
                    <a:p>
                      <a:r>
                        <a:rPr sz="1200" b="0" i="0">
                          <a:solidFill>
                            <a:srgbClr val="2A2622"/>
                          </a:solidFill>
                          <a:latin typeface="Calibri"/>
                        </a:rPr>
                        <a:t>Sun</a:t>
                      </a:r>
                    </a:p>
                  </a:txBody>
                  <a:tcPr marL="45720" marR="45720" marT="18288" marB="18288" anchor="t">
                    <a:solidFill>
                      <a:srgbClr val="FFFFFF"/>
                    </a:solidFill>
                  </a:tcPr>
                </a:tc>
                <a:tc>
                  <a:txBody>
                    <a:bodyPr wrap="square"/>
                    <a:lstStyle/>
                    <a:p>
                      <a:r>
                        <a:rPr sz="1200" b="1" i="0">
                          <a:solidFill>
                            <a:srgbClr val="2A2622"/>
                          </a:solidFill>
                          <a:latin typeface="Calibri"/>
                        </a:rPr>
                        <a:t>KPI review (formal)</a:t>
                      </a:r>
                      <a:r>
                        <a:rPr sz="1200" b="0" i="0">
                          <a:solidFill>
                            <a:srgbClr val="2A2622"/>
                          </a:solidFill>
                          <a:latin typeface="Calibri"/>
                        </a:rPr>
                        <a:t> + ad budget adjustments for the week + 30-min "what will strangers think?" profile audit</a:t>
                      </a:r>
                    </a:p>
                  </a:txBody>
                  <a:tcPr marL="45720" marR="45720" marT="18288" marB="18288" anchor="t">
                    <a:solidFill>
                      <a:srgbClr val="FFFFFF"/>
                    </a:solidFill>
                  </a:tcPr>
                </a:tc>
                <a:tc>
                  <a:txBody>
                    <a:bodyPr wrap="square"/>
                    <a:lstStyle/>
                    <a:p>
                      <a:r>
                        <a:rPr sz="1200" b="0" i="0">
                          <a:solidFill>
                            <a:srgbClr val="2A2622"/>
                          </a:solidFill>
                          <a:latin typeface="Calibri"/>
                        </a:rPr>
                        <a:t>1 hr</a:t>
                      </a:r>
                    </a:p>
                  </a:txBody>
                  <a:tcPr marL="45720" marR="45720" marT="18288" marB="18288" anchor="t">
                    <a:solidFill>
                      <a:srgbClr val="FFFFFF"/>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352</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WEEKLY OPERATING CADENCE (the CEO's 5-hour week)</a:t>
            </a:r>
          </a:p>
          <a:p>
            <a:r>
              <a:rPr sz="1200" i="1">
                <a:solidFill>
                  <a:srgbClr val="57504A"/>
                </a:solidFill>
                <a:latin typeface="Calibri"/>
              </a:rPr>
              <a:t>PART 21 — 90-Day Social Media + Sales Master Plan</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Total content/ops time: ~12–15 hrs/week</a:t>
            </a:r>
            <a:r>
              <a:rPr sz="1350" b="0" i="0">
                <a:solidFill>
                  <a:srgbClr val="2A2622"/>
                </a:solidFill>
                <a:latin typeface="Calibri"/>
              </a:rPr>
              <a:t> (1 founder + 1 part-time help for DMs/shoot). If a week's plan takes more, the batch system in </a:t>
            </a:r>
            <a:r>
              <a:rPr sz="1200" b="0" i="0">
                <a:solidFill>
                  <a:srgbClr val="8F3A22"/>
                </a:solidFill>
                <a:latin typeface="Consolas"/>
              </a:rPr>
              <a:t>21</a:t>
            </a:r>
            <a:r>
              <a:rPr sz="1350" b="0" i="0">
                <a:solidFill>
                  <a:srgbClr val="2A2622"/>
                </a:solidFill>
                <a:latin typeface="Calibri"/>
              </a:rPr>
              <a:t> is broken — fix the system, don't add hours.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353</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22</a:t>
            </a:r>
          </a:p>
        </p:txBody>
      </p:sp>
      <p:sp>
        <p:nvSpPr>
          <p:cNvPr id="4" name="TextBox 3"/>
          <p:cNvSpPr txBox="1"/>
          <p:nvPr/>
        </p:nvSpPr>
        <p:spPr>
          <a:xfrm>
            <a:off x="914400" y="2377440"/>
            <a:ext cx="10362895" cy="1645920"/>
          </a:xfrm>
          <a:prstGeom prst="rect">
            <a:avLst/>
          </a:prstGeom>
          <a:noFill/>
        </p:spPr>
        <p:txBody>
          <a:bodyPr wrap="square">
            <a:spAutoFit/>
          </a:bodyPr>
          <a:lstStyle/>
          <a:p>
            <a:r>
              <a:rPr sz="2400" b="1">
                <a:solidFill>
                  <a:srgbClr val="8F3A22"/>
                </a:solidFill>
                <a:latin typeface="Calibri"/>
              </a:rPr>
              <a:t>§27 CONTENT PRODUCTION SYSTEM — RANGAT NATURALS (batch, fast, repeatable)</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Content Production System (Batch Workflow)</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354</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design rules</a:t>
            </a:r>
          </a:p>
          <a:p>
            <a:r>
              <a:rPr sz="1200" i="1">
                <a:solidFill>
                  <a:srgbClr val="57504A"/>
                </a:solidFill>
                <a:latin typeface="Calibri"/>
              </a:rPr>
              <a:t>PART 22 — Content Production System (Batch Workflow)</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  </a:t>
            </a:r>
            <a:r>
              <a:rPr sz="1350" b="1" i="0">
                <a:solidFill>
                  <a:srgbClr val="2A2622"/>
                </a:solidFill>
                <a:latin typeface="Calibri"/>
              </a:rPr>
              <a:t>2 shoot days/week, not 5 tiny days.</a:t>
            </a:r>
            <a:r>
              <a:rPr sz="1350" b="0" i="0">
                <a:solidFill>
                  <a:srgbClr val="2A2622"/>
                </a:solidFill>
                <a:latin typeface="Calibri"/>
              </a:rPr>
              <a:t> Batching cuts setup time ~60% (lighting, phone rig, props, outfits all set once) and forces a script pipeline (no "what should I post today").</a:t>
            </a:r>
          </a:p>
          <a:p>
            <a:pPr>
              <a:spcAft>
                <a:spcPts val="400"/>
              </a:spcAft>
            </a:pPr>
            <a:r>
              <a:rPr sz="1350" b="1">
                <a:solidFill>
                  <a:srgbClr val="8F3A22"/>
                </a:solidFill>
                <a:latin typeface="Calibri"/>
              </a:rPr>
              <a:t>2.  </a:t>
            </a:r>
            <a:r>
              <a:rPr sz="1350" b="1" i="0">
                <a:solidFill>
                  <a:srgbClr val="2A2622"/>
                </a:solidFill>
                <a:latin typeface="Calibri"/>
              </a:rPr>
              <a:t>Scripts written, never improvised</a:t>
            </a:r>
            <a:r>
              <a:rPr sz="1350" b="0" i="0">
                <a:solidFill>
                  <a:srgbClr val="2A2622"/>
                </a:solidFill>
                <a:latin typeface="Calibri"/>
              </a:rPr>
              <a:t> (founder lines can be natural, but beats are written: hook → 3 beats → CTA).</a:t>
            </a:r>
          </a:p>
          <a:p>
            <a:pPr>
              <a:spcAft>
                <a:spcPts val="400"/>
              </a:spcAft>
            </a:pPr>
            <a:r>
              <a:rPr sz="1350" b="1">
                <a:solidFill>
                  <a:srgbClr val="8F3A22"/>
                </a:solidFill>
                <a:latin typeface="Calibri"/>
              </a:rPr>
              <a:t>3.  </a:t>
            </a:r>
            <a:r>
              <a:rPr sz="1350" b="1" i="0">
                <a:solidFill>
                  <a:srgbClr val="2A2622"/>
                </a:solidFill>
                <a:latin typeface="Calibri"/>
              </a:rPr>
              <a:t>Every shoot day produces: 8–10 reels + 4 ad cuts + 10–12 Story frames + carousel images.</a:t>
            </a:r>
            <a:r>
              <a:rPr sz="1350" b="0" i="0">
                <a:solidFill>
                  <a:srgbClr val="2A2622"/>
                </a:solidFill>
                <a:latin typeface="Calibri"/>
              </a:rPr>
              <a:t> One day feeds ~1.5 weeks of posting.</a:t>
            </a:r>
          </a:p>
          <a:p>
            <a:pPr>
              <a:spcAft>
                <a:spcPts val="400"/>
              </a:spcAft>
            </a:pPr>
            <a:r>
              <a:rPr sz="1350" b="1">
                <a:solidFill>
                  <a:srgbClr val="8F3A22"/>
                </a:solidFill>
                <a:latin typeface="Calibri"/>
              </a:rPr>
              <a:t>4.  </a:t>
            </a:r>
            <a:r>
              <a:rPr sz="1350" b="1" i="0">
                <a:solidFill>
                  <a:srgbClr val="2A2622"/>
                </a:solidFill>
                <a:latin typeface="Calibri"/>
              </a:rPr>
              <a:t>AI UGC runs on its own 2 half-days/month</a:t>
            </a:r>
            <a:r>
              <a:rPr sz="1350" b="0" i="0">
                <a:solidFill>
                  <a:srgbClr val="2A2622"/>
                </a:solidFill>
                <a:latin typeface="Calibri"/>
              </a:rPr>
              <a:t> (creative testing only — see </a:t>
            </a:r>
            <a:r>
              <a:rPr sz="1200" b="0" i="0">
                <a:solidFill>
                  <a:srgbClr val="8F3A22"/>
                </a:solidFill>
                <a:latin typeface="Consolas"/>
              </a:rPr>
              <a:t>09-ai-video-prompts.md</a:t>
            </a:r>
            <a:r>
              <a:rPr sz="1350" b="0" i="0">
                <a:solidFill>
                  <a:srgbClr val="2A2622"/>
                </a:solidFill>
                <a:latin typeface="Calibri"/>
              </a:rPr>
              <a:t>).</a:t>
            </a:r>
          </a:p>
          <a:p>
            <a:pPr>
              <a:spcAft>
                <a:spcPts val="400"/>
              </a:spcAft>
            </a:pPr>
            <a:r>
              <a:rPr sz="1350" b="1">
                <a:solidFill>
                  <a:srgbClr val="8F3A22"/>
                </a:solidFill>
                <a:latin typeface="Calibri"/>
              </a:rPr>
              <a:t>5.  </a:t>
            </a:r>
            <a:r>
              <a:rPr sz="1350" b="1" i="0">
                <a:solidFill>
                  <a:srgbClr val="2A2622"/>
                </a:solidFill>
                <a:latin typeface="Calibri"/>
              </a:rPr>
              <a:t>A 3-week content buffer</a:t>
            </a:r>
            <a:r>
              <a:rPr sz="1350" b="0" i="0">
                <a:solidFill>
                  <a:srgbClr val="2A2622"/>
                </a:solidFill>
                <a:latin typeface="Calibri"/>
              </a:rPr>
              <a:t> at all times (if the buffer drops below 10 posts, shoot days become 3/week for a fortnight — no exceptions).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355</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VOLUMES (per week, at steady state)</a:t>
            </a:r>
          </a:p>
          <a:p>
            <a:r>
              <a:rPr sz="1200" i="1">
                <a:solidFill>
                  <a:srgbClr val="57504A"/>
                </a:solidFill>
                <a:latin typeface="Calibri"/>
              </a:rPr>
              <a:t>PART 22 — Content Production System (Batch Workflow)</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3" cy="5029200"/>
        </p:xfrm>
        <a:graphic>
          <a:graphicData uri="http://schemas.openxmlformats.org/drawingml/2006/table">
            <a:tbl>
              <a:tblPr firstRow="1" bandRow="1">
                <a:tableStyleId>{5C22544A-7EE6-4342-B048-85BDC9FD1C3A}</a:tableStyleId>
              </a:tblPr>
              <a:tblGrid>
                <a:gridCol w="2059590"/>
                <a:gridCol w="4208727"/>
                <a:gridCol w="5283296"/>
              </a:tblGrid>
              <a:tr h="502920">
                <a:tc>
                  <a:txBody>
                    <a:bodyPr wrap="square"/>
                    <a:lstStyle/>
                    <a:p>
                      <a:r>
                        <a:rPr sz="1200" b="1" i="0">
                          <a:solidFill>
                            <a:srgbClr val="FFFFFF"/>
                          </a:solidFill>
                          <a:latin typeface="Calibri"/>
                        </a:rPr>
                        <a:t>Asset</a:t>
                      </a:r>
                    </a:p>
                  </a:txBody>
                  <a:tcPr marL="45720" marR="45720" marT="18288" marB="18288" anchor="t">
                    <a:solidFill>
                      <a:srgbClr val="B44A2E"/>
                    </a:solidFill>
                  </a:tcPr>
                </a:tc>
                <a:tc>
                  <a:txBody>
                    <a:bodyPr wrap="square"/>
                    <a:lstStyle/>
                    <a:p>
                      <a:r>
                        <a:rPr sz="1200" b="1" i="0">
                          <a:solidFill>
                            <a:srgbClr val="FFFFFF"/>
                          </a:solidFill>
                          <a:latin typeface="Calibri"/>
                        </a:rPr>
                        <a:t>Volume</a:t>
                      </a:r>
                    </a:p>
                  </a:txBody>
                  <a:tcPr marL="45720" marR="45720" marT="18288" marB="18288" anchor="t">
                    <a:solidFill>
                      <a:srgbClr val="B44A2E"/>
                    </a:solidFill>
                  </a:tcPr>
                </a:tc>
                <a:tc>
                  <a:txBody>
                    <a:bodyPr wrap="square"/>
                    <a:lstStyle/>
                    <a:p>
                      <a:r>
                        <a:rPr sz="1200" b="1" i="0">
                          <a:solidFill>
                            <a:srgbClr val="FFFFFF"/>
                          </a:solidFill>
                          <a:latin typeface="Calibri"/>
                        </a:rPr>
                        <a:t>Where it's made</a:t>
                      </a:r>
                    </a:p>
                  </a:txBody>
                  <a:tcPr marL="45720" marR="45720" marT="18288" marB="18288" anchor="t">
                    <a:solidFill>
                      <a:srgbClr val="B44A2E"/>
                    </a:solidFill>
                  </a:tcPr>
                </a:tc>
              </a:tr>
              <a:tr h="502920">
                <a:tc>
                  <a:txBody>
                    <a:bodyPr wrap="square"/>
                    <a:lstStyle/>
                    <a:p>
                      <a:r>
                        <a:rPr sz="1200" b="0" i="0">
                          <a:solidFill>
                            <a:srgbClr val="2A2622"/>
                          </a:solidFill>
                          <a:latin typeface="Calibri"/>
                        </a:rPr>
                        <a:t>Reels (founder/product)</a:t>
                      </a:r>
                    </a:p>
                  </a:txBody>
                  <a:tcPr marL="45720" marR="45720" marT="18288" marB="18288" anchor="t">
                    <a:solidFill>
                      <a:srgbClr val="FFFFFF"/>
                    </a:solidFill>
                  </a:tcPr>
                </a:tc>
                <a:tc>
                  <a:txBody>
                    <a:bodyPr wrap="square"/>
                    <a:lstStyle/>
                    <a:p>
                      <a:r>
                        <a:rPr sz="1200" b="0" i="0">
                          <a:solidFill>
                            <a:srgbClr val="2A2622"/>
                          </a:solidFill>
                          <a:latin typeface="Calibri"/>
                        </a:rPr>
                        <a:t>6–7</a:t>
                      </a:r>
                    </a:p>
                  </a:txBody>
                  <a:tcPr marL="45720" marR="45720" marT="18288" marB="18288" anchor="t">
                    <a:solidFill>
                      <a:srgbClr val="FFFFFF"/>
                    </a:solidFill>
                  </a:tcPr>
                </a:tc>
                <a:tc>
                  <a:txBody>
                    <a:bodyPr wrap="square"/>
                    <a:lstStyle/>
                    <a:p>
                      <a:r>
                        <a:rPr sz="1200" b="0" i="0">
                          <a:solidFill>
                            <a:srgbClr val="2A2622"/>
                          </a:solidFill>
                          <a:latin typeface="Calibri"/>
                        </a:rPr>
                        <a:t>Shoot days (8–10 shot, edit to 6–7 best)</a:t>
                      </a:r>
                    </a:p>
                  </a:txBody>
                  <a:tcPr marL="45720" marR="45720" marT="18288" marB="18288" anchor="t">
                    <a:solidFill>
                      <a:srgbClr val="FFFFFF"/>
                    </a:solidFill>
                  </a:tcPr>
                </a:tc>
              </a:tr>
              <a:tr h="502920">
                <a:tc>
                  <a:txBody>
                    <a:bodyPr wrap="square"/>
                    <a:lstStyle/>
                    <a:p>
                      <a:r>
                        <a:rPr sz="1200" b="0" i="0">
                          <a:solidFill>
                            <a:srgbClr val="2A2622"/>
                          </a:solidFill>
                          <a:latin typeface="Calibri"/>
                        </a:rPr>
                        <a:t>Reels (UGC/creator/AI)</a:t>
                      </a:r>
                    </a:p>
                  </a:txBody>
                  <a:tcPr marL="45720" marR="45720" marT="18288" marB="18288" anchor="t">
                    <a:solidFill>
                      <a:srgbClr val="F6F1E7"/>
                    </a:solidFill>
                  </a:tcPr>
                </a:tc>
                <a:tc>
                  <a:txBody>
                    <a:bodyPr wrap="square"/>
                    <a:lstStyle/>
                    <a:p>
                      <a:r>
                        <a:rPr sz="1200" b="0" i="0">
                          <a:solidFill>
                            <a:srgbClr val="2A2622"/>
                          </a:solidFill>
                          <a:latin typeface="Calibri"/>
                        </a:rPr>
                        <a:t>2–4</a:t>
                      </a:r>
                    </a:p>
                  </a:txBody>
                  <a:tcPr marL="45720" marR="45720" marT="18288" marB="18288" anchor="t">
                    <a:solidFill>
                      <a:srgbClr val="F6F1E7"/>
                    </a:solidFill>
                  </a:tcPr>
                </a:tc>
                <a:tc>
                  <a:txBody>
                    <a:bodyPr wrap="square"/>
                    <a:lstStyle/>
                    <a:p>
                      <a:r>
                        <a:rPr sz="1200" b="0" i="0">
                          <a:solidFill>
                            <a:srgbClr val="2A2622"/>
                          </a:solidFill>
                          <a:latin typeface="Calibri"/>
                        </a:rPr>
                        <a:t>Creators (their days) + AI batches</a:t>
                      </a:r>
                    </a:p>
                  </a:txBody>
                  <a:tcPr marL="45720" marR="45720" marT="18288" marB="18288" anchor="t">
                    <a:solidFill>
                      <a:srgbClr val="F6F1E7"/>
                    </a:solidFill>
                  </a:tcPr>
                </a:tc>
              </a:tr>
              <a:tr h="502920">
                <a:tc>
                  <a:txBody>
                    <a:bodyPr wrap="square"/>
                    <a:lstStyle/>
                    <a:p>
                      <a:r>
                        <a:rPr sz="1200" b="0" i="0">
                          <a:solidFill>
                            <a:srgbClr val="2A2622"/>
                          </a:solidFill>
                          <a:latin typeface="Calibri"/>
                        </a:rPr>
                        <a:t>Carousels</a:t>
                      </a:r>
                    </a:p>
                  </a:txBody>
                  <a:tcPr marL="45720" marR="45720" marT="18288" marB="18288" anchor="t">
                    <a:solidFill>
                      <a:srgbClr val="FFFFFF"/>
                    </a:solidFill>
                  </a:tcPr>
                </a:tc>
                <a:tc>
                  <a:txBody>
                    <a:bodyPr wrap="square"/>
                    <a:lstStyle/>
                    <a:p>
                      <a:r>
                        <a:rPr sz="1200" b="0" i="0">
                          <a:solidFill>
                            <a:srgbClr val="2A2622"/>
                          </a:solidFill>
                          <a:latin typeface="Calibri"/>
                        </a:rPr>
                        <a:t>2</a:t>
                      </a:r>
                    </a:p>
                  </a:txBody>
                  <a:tcPr marL="45720" marR="45720" marT="18288" marB="18288" anchor="t">
                    <a:solidFill>
                      <a:srgbClr val="FFFFFF"/>
                    </a:solidFill>
                  </a:tcPr>
                </a:tc>
                <a:tc>
                  <a:txBody>
                    <a:bodyPr wrap="square"/>
                    <a:lstStyle/>
                    <a:p>
                      <a:r>
                        <a:rPr sz="1200" b="0" i="0">
                          <a:solidFill>
                            <a:srgbClr val="2A2622"/>
                          </a:solidFill>
                          <a:latin typeface="Calibri"/>
                        </a:rPr>
                        <a:t>Shoot day 2 (photos) + design block (90 min)</a:t>
                      </a:r>
                    </a:p>
                  </a:txBody>
                  <a:tcPr marL="45720" marR="45720" marT="18288" marB="18288" anchor="t">
                    <a:solidFill>
                      <a:srgbClr val="FFFFFF"/>
                    </a:solidFill>
                  </a:tcPr>
                </a:tc>
              </a:tr>
              <a:tr h="502920">
                <a:tc>
                  <a:txBody>
                    <a:bodyPr wrap="square"/>
                    <a:lstStyle/>
                    <a:p>
                      <a:r>
                        <a:rPr sz="1200" b="0" i="0">
                          <a:solidFill>
                            <a:srgbClr val="2A2622"/>
                          </a:solidFill>
                          <a:latin typeface="Calibri"/>
                        </a:rPr>
                        <a:t>Stories</a:t>
                      </a:r>
                    </a:p>
                  </a:txBody>
                  <a:tcPr marL="45720" marR="45720" marT="18288" marB="18288" anchor="t">
                    <a:solidFill>
                      <a:srgbClr val="F6F1E7"/>
                    </a:solidFill>
                  </a:tcPr>
                </a:tc>
                <a:tc>
                  <a:txBody>
                    <a:bodyPr wrap="square"/>
                    <a:lstStyle/>
                    <a:p>
                      <a:r>
                        <a:rPr sz="1200" b="0" i="0">
                          <a:solidFill>
                            <a:srgbClr val="2A2622"/>
                          </a:solidFill>
                          <a:latin typeface="Calibri"/>
                        </a:rPr>
                        <a:t>21–35 (3–5/day)</a:t>
                      </a:r>
                    </a:p>
                  </a:txBody>
                  <a:tcPr marL="45720" marR="45720" marT="18288" marB="18288" anchor="t">
                    <a:solidFill>
                      <a:srgbClr val="F6F1E7"/>
                    </a:solidFill>
                  </a:tcPr>
                </a:tc>
                <a:tc>
                  <a:txBody>
                    <a:bodyPr wrap="square"/>
                    <a:lstStyle/>
                    <a:p>
                      <a:r>
                        <a:rPr sz="1200" b="0" i="0">
                          <a:solidFill>
                            <a:srgbClr val="2A2622"/>
                          </a:solidFill>
                          <a:latin typeface="Calibri"/>
                        </a:rPr>
                        <a:t>60% batched on shoot days (10–12 frames) + 15 min/day fresh</a:t>
                      </a:r>
                    </a:p>
                  </a:txBody>
                  <a:tcPr marL="45720" marR="45720" marT="18288" marB="18288" anchor="t">
                    <a:solidFill>
                      <a:srgbClr val="F6F1E7"/>
                    </a:solidFill>
                  </a:tcPr>
                </a:tc>
              </a:tr>
              <a:tr h="502920">
                <a:tc>
                  <a:txBody>
                    <a:bodyPr wrap="square"/>
                    <a:lstStyle/>
                    <a:p>
                      <a:r>
                        <a:rPr sz="1200" b="0" i="0">
                          <a:solidFill>
                            <a:srgbClr val="2A2622"/>
                          </a:solidFill>
                          <a:latin typeface="Calibri"/>
                        </a:rPr>
                        <a:t>Product photos</a:t>
                      </a:r>
                    </a:p>
                  </a:txBody>
                  <a:tcPr marL="45720" marR="45720" marT="18288" marB="18288" anchor="t">
                    <a:solidFill>
                      <a:srgbClr val="FFFFFF"/>
                    </a:solidFill>
                  </a:tcPr>
                </a:tc>
                <a:tc>
                  <a:txBody>
                    <a:bodyPr wrap="square"/>
                    <a:lstStyle/>
                    <a:p>
                      <a:r>
                        <a:rPr sz="1200" b="0" i="0">
                          <a:solidFill>
                            <a:srgbClr val="2A2622"/>
                          </a:solidFill>
                          <a:latin typeface="Calibri"/>
                        </a:rPr>
                        <a:t>40–60 (1 session/month + 10/week on shoot days)</a:t>
                      </a:r>
                    </a:p>
                  </a:txBody>
                  <a:tcPr marL="45720" marR="45720" marT="18288" marB="18288" anchor="t">
                    <a:solidFill>
                      <a:srgbClr val="FFFFFF"/>
                    </a:solidFill>
                  </a:tcPr>
                </a:tc>
                <a:tc>
                  <a:txBody>
                    <a:bodyPr wrap="square"/>
                    <a:lstStyle/>
                    <a:p>
                      <a:r>
                        <a:rPr sz="1200" b="0" i="0">
                          <a:solidFill>
                            <a:srgbClr val="2A2622"/>
                          </a:solidFill>
                          <a:latin typeface="Calibri"/>
                        </a:rPr>
                        <a:t>Shoot day 2 + monthly session</a:t>
                      </a:r>
                    </a:p>
                  </a:txBody>
                  <a:tcPr marL="45720" marR="45720" marT="18288" marB="18288" anchor="t">
                    <a:solidFill>
                      <a:srgbClr val="FFFFFF"/>
                    </a:solidFill>
                  </a:tcPr>
                </a:tc>
              </a:tr>
              <a:tr h="502920">
                <a:tc>
                  <a:txBody>
                    <a:bodyPr wrap="square"/>
                    <a:lstStyle/>
                    <a:p>
                      <a:r>
                        <a:rPr sz="1200" b="0" i="0">
                          <a:solidFill>
                            <a:srgbClr val="2A2622"/>
                          </a:solidFill>
                          <a:latin typeface="Calibri"/>
                        </a:rPr>
                        <a:t>AI UGC videos</a:t>
                      </a:r>
                    </a:p>
                  </a:txBody>
                  <a:tcPr marL="45720" marR="45720" marT="18288" marB="18288" anchor="t">
                    <a:solidFill>
                      <a:srgbClr val="F6F1E7"/>
                    </a:solidFill>
                  </a:tcPr>
                </a:tc>
                <a:tc>
                  <a:txBody>
                    <a:bodyPr wrap="square"/>
                    <a:lstStyle/>
                    <a:p>
                      <a:r>
                        <a:rPr sz="1200" b="0" i="0">
                          <a:solidFill>
                            <a:srgbClr val="2A2622"/>
                          </a:solidFill>
                          <a:latin typeface="Calibri"/>
                        </a:rPr>
                        <a:t>6–10/month (2 batch days)</a:t>
                      </a:r>
                    </a:p>
                  </a:txBody>
                  <a:tcPr marL="45720" marR="45720" marT="18288" marB="18288" anchor="t">
                    <a:solidFill>
                      <a:srgbClr val="F6F1E7"/>
                    </a:solidFill>
                  </a:tcPr>
                </a:tc>
                <a:tc>
                  <a:txBody>
                    <a:bodyPr wrap="square"/>
                    <a:lstStyle/>
                    <a:p>
                      <a:r>
                        <a:rPr sz="1200" b="0" i="0">
                          <a:solidFill>
                            <a:srgbClr val="2A2622"/>
                          </a:solidFill>
                          <a:latin typeface="Calibri"/>
                        </a:rPr>
                        <a:t>AI batch days</a:t>
                      </a:r>
                    </a:p>
                  </a:txBody>
                  <a:tcPr marL="45720" marR="45720" marT="18288" marB="18288" anchor="t">
                    <a:solidFill>
                      <a:srgbClr val="F6F1E7"/>
                    </a:solidFill>
                  </a:tcPr>
                </a:tc>
              </a:tr>
              <a:tr h="502920">
                <a:tc>
                  <a:txBody>
                    <a:bodyPr wrap="square"/>
                    <a:lstStyle/>
                    <a:p>
                      <a:r>
                        <a:rPr sz="1200" b="0" i="0">
                          <a:solidFill>
                            <a:srgbClr val="2A2622"/>
                          </a:solidFill>
                          <a:latin typeface="Calibri"/>
                        </a:rPr>
                        <a:t>AI images</a:t>
                      </a:r>
                    </a:p>
                  </a:txBody>
                  <a:tcPr marL="45720" marR="45720" marT="18288" marB="18288" anchor="t">
                    <a:solidFill>
                      <a:srgbClr val="FFFFFF"/>
                    </a:solidFill>
                  </a:tcPr>
                </a:tc>
                <a:tc>
                  <a:txBody>
                    <a:bodyPr wrap="square"/>
                    <a:lstStyle/>
                    <a:p>
                      <a:r>
                        <a:rPr sz="1200" b="0" i="0">
                          <a:solidFill>
                            <a:srgbClr val="2A2622"/>
                          </a:solidFill>
                          <a:latin typeface="Calibri"/>
                        </a:rPr>
                        <a:t>8–12/month</a:t>
                      </a:r>
                    </a:p>
                  </a:txBody>
                  <a:tcPr marL="45720" marR="45720" marT="18288" marB="18288" anchor="t">
                    <a:solidFill>
                      <a:srgbClr val="FFFFFF"/>
                    </a:solidFill>
                  </a:tcPr>
                </a:tc>
                <a:tc>
                  <a:txBody>
                    <a:bodyPr wrap="square"/>
                    <a:lstStyle/>
                    <a:p>
                      <a:r>
                        <a:rPr sz="1200" b="0" i="0">
                          <a:solidFill>
                            <a:srgbClr val="2A2622"/>
                          </a:solidFill>
                          <a:latin typeface="Calibri"/>
                        </a:rPr>
                        <a:t>AI batch days</a:t>
                      </a:r>
                    </a:p>
                  </a:txBody>
                  <a:tcPr marL="45720" marR="45720" marT="18288" marB="18288" anchor="t">
                    <a:solidFill>
                      <a:srgbClr val="FFFFFF"/>
                    </a:solidFill>
                  </a:tcPr>
                </a:tc>
              </a:tr>
              <a:tr h="502920">
                <a:tc>
                  <a:txBody>
                    <a:bodyPr wrap="square"/>
                    <a:lstStyle/>
                    <a:p>
                      <a:r>
                        <a:rPr sz="1200" b="0" i="0">
                          <a:solidFill>
                            <a:srgbClr val="2A2622"/>
                          </a:solidFill>
                          <a:latin typeface="Calibri"/>
                        </a:rPr>
                        <a:t>Scripts written</a:t>
                      </a:r>
                    </a:p>
                  </a:txBody>
                  <a:tcPr marL="45720" marR="45720" marT="18288" marB="18288" anchor="t">
                    <a:solidFill>
                      <a:srgbClr val="F6F1E7"/>
                    </a:solidFill>
                  </a:tcPr>
                </a:tc>
                <a:tc>
                  <a:txBody>
                    <a:bodyPr wrap="square"/>
                    <a:lstStyle/>
                    <a:p>
                      <a:r>
                        <a:rPr sz="1200" b="0" i="0">
                          <a:solidFill>
                            <a:srgbClr val="2A2622"/>
                          </a:solidFill>
                          <a:latin typeface="Calibri"/>
                        </a:rPr>
                        <a:t>14–18 (for 2 weeks ahead)</a:t>
                      </a:r>
                    </a:p>
                  </a:txBody>
                  <a:tcPr marL="45720" marR="45720" marT="18288" marB="18288" anchor="t">
                    <a:solidFill>
                      <a:srgbClr val="F6F1E7"/>
                    </a:solidFill>
                  </a:tcPr>
                </a:tc>
                <a:tc>
                  <a:txBody>
                    <a:bodyPr wrap="square"/>
                    <a:lstStyle/>
                    <a:p>
                      <a:r>
                        <a:rPr sz="1200" b="0" i="0">
                          <a:solidFill>
                            <a:srgbClr val="2A2622"/>
                          </a:solidFill>
                          <a:latin typeface="Calibri"/>
                        </a:rPr>
                        <a:t>Sunday planning block</a:t>
                      </a:r>
                    </a:p>
                  </a:txBody>
                  <a:tcPr marL="45720" marR="45720" marT="18288" marB="18288" anchor="t">
                    <a:solidFill>
                      <a:srgbClr val="F6F1E7"/>
                    </a:solidFill>
                  </a:tcPr>
                </a:tc>
              </a:tr>
              <a:tr h="502920">
                <a:tc>
                  <a:txBody>
                    <a:bodyPr wrap="square"/>
                    <a:lstStyle/>
                    <a:p>
                      <a:r>
                        <a:rPr sz="1200" b="0" i="0">
                          <a:solidFill>
                            <a:srgbClr val="2A2622"/>
                          </a:solidFill>
                          <a:latin typeface="Calibri"/>
                        </a:rPr>
                        <a:t>YT Shorts uploads</a:t>
                      </a:r>
                    </a:p>
                  </a:txBody>
                  <a:tcPr marL="45720" marR="45720" marT="18288" marB="18288" anchor="t">
                    <a:solidFill>
                      <a:srgbClr val="FFFFFF"/>
                    </a:solidFill>
                  </a:tcPr>
                </a:tc>
                <a:tc>
                  <a:txBody>
                    <a:bodyPr wrap="square"/>
                    <a:lstStyle/>
                    <a:p>
                      <a:r>
                        <a:rPr sz="1200" b="0" i="0">
                          <a:solidFill>
                            <a:srgbClr val="2A2622"/>
                          </a:solidFill>
                          <a:latin typeface="Calibri"/>
                        </a:rPr>
                        <a:t>3</a:t>
                      </a:r>
                    </a:p>
                  </a:txBody>
                  <a:tcPr marL="45720" marR="45720" marT="18288" marB="18288" anchor="t">
                    <a:solidFill>
                      <a:srgbClr val="FFFFFF"/>
                    </a:solidFill>
                  </a:tcPr>
                </a:tc>
                <a:tc>
                  <a:txBody>
                    <a:bodyPr wrap="square"/>
                    <a:lstStyle/>
                    <a:p>
                      <a:r>
                        <a:rPr sz="1200" b="0" i="0">
                          <a:solidFill>
                            <a:srgbClr val="2A2622"/>
                          </a:solidFill>
                          <a:latin typeface="Calibri"/>
                        </a:rPr>
                        <a:t>Friday (from top Reels, 10 min each)</a:t>
                      </a:r>
                    </a:p>
                  </a:txBody>
                  <a:tcPr marL="45720" marR="45720" marT="18288" marB="18288" anchor="t">
                    <a:solidFill>
                      <a:srgbClr val="FFFFFF"/>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356</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SHOOT DAY RUN SHEET (4–5 hours, same every time)</a:t>
            </a:r>
          </a:p>
          <a:p>
            <a:r>
              <a:rPr sz="1200" i="1">
                <a:solidFill>
                  <a:srgbClr val="57504A"/>
                </a:solidFill>
                <a:latin typeface="Calibri"/>
              </a:rPr>
              <a:t>PART 22 — Content Production System (Batch Workflow)</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Setup (45 min, non-negotiable):</a:t>
            </a:r>
            <a:r>
              <a:rPr sz="1350" b="0" i="0">
                <a:solidFill>
                  <a:srgbClr val="2A2622"/>
                </a:solidFill>
                <a:latin typeface="Calibri"/>
              </a:rPr>
              <a:t> window-light wall (or 1 key light + 1 fill), phone tripod at chest height + 1 hand-held for B-roll, lapel mic (₹1,500 — worth it), prop table (products, jar of water, towel, chai glass, wooden board), 3 outfit options (same 3, rotate — visual consistency), whiteboard for "numbers" shots.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357</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SHOOT DAY RUN SHEET (4–5 hours, same every time)</a:t>
            </a:r>
          </a:p>
          <a:p>
            <a:r>
              <a:rPr sz="1200" i="1">
                <a:solidFill>
                  <a:srgbClr val="57504A"/>
                </a:solidFill>
                <a:latin typeface="Calibri"/>
              </a:rPr>
              <a:t>PART 22 — Content Production System (Batch Workflow)</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7072417"/>
                <a:gridCol w="825115"/>
                <a:gridCol w="3654082"/>
              </a:tblGrid>
              <a:tr h="628650">
                <a:tc>
                  <a:txBody>
                    <a:bodyPr wrap="square"/>
                    <a:lstStyle/>
                    <a:p>
                      <a:r>
                        <a:rPr sz="1200" b="1" i="0">
                          <a:solidFill>
                            <a:srgbClr val="FFFFFF"/>
                          </a:solidFill>
                          <a:latin typeface="Calibri"/>
                        </a:rPr>
                        <a:t>Block</a:t>
                      </a:r>
                    </a:p>
                  </a:txBody>
                  <a:tcPr marL="45720" marR="45720" marT="18288" marB="18288" anchor="t">
                    <a:solidFill>
                      <a:srgbClr val="B44A2E"/>
                    </a:solidFill>
                  </a:tcPr>
                </a:tc>
                <a:tc>
                  <a:txBody>
                    <a:bodyPr wrap="square"/>
                    <a:lstStyle/>
                    <a:p>
                      <a:r>
                        <a:rPr sz="1200" b="1" i="0">
                          <a:solidFill>
                            <a:srgbClr val="FFFFFF"/>
                          </a:solidFill>
                          <a:latin typeface="Calibri"/>
                        </a:rPr>
                        <a:t>Time</a:t>
                      </a:r>
                    </a:p>
                  </a:txBody>
                  <a:tcPr marL="45720" marR="45720" marT="18288" marB="18288" anchor="t">
                    <a:solidFill>
                      <a:srgbClr val="B44A2E"/>
                    </a:solidFill>
                  </a:tcPr>
                </a:tc>
                <a:tc>
                  <a:txBody>
                    <a:bodyPr wrap="square"/>
                    <a:lstStyle/>
                    <a:p>
                      <a:r>
                        <a:rPr sz="1200" b="1" i="0">
                          <a:solidFill>
                            <a:srgbClr val="FFFFFF"/>
                          </a:solidFill>
                          <a:latin typeface="Calibri"/>
                        </a:rPr>
                        <a:t>Output</a:t>
                      </a:r>
                    </a:p>
                  </a:txBody>
                  <a:tcPr marL="45720" marR="45720" marT="18288" marB="18288" anchor="t">
                    <a:solidFill>
                      <a:srgbClr val="B44A2E"/>
                    </a:solidFill>
                  </a:tcPr>
                </a:tc>
              </a:tr>
              <a:tr h="628650">
                <a:tc>
                  <a:txBody>
                    <a:bodyPr wrap="square"/>
                    <a:lstStyle/>
                    <a:p>
                      <a:r>
                        <a:rPr sz="1200" b="0" i="0">
                          <a:solidFill>
                            <a:srgbClr val="2A2622"/>
                          </a:solidFill>
                          <a:latin typeface="Calibri"/>
                        </a:rPr>
                        <a:t>1. Founder-to-camera reels (hook → beat → CTA), 2–3 takes each, straight</a:t>
                      </a:r>
                    </a:p>
                  </a:txBody>
                  <a:tcPr marL="45720" marR="45720" marT="18288" marB="18288" anchor="t">
                    <a:solidFill>
                      <a:srgbClr val="FFFFFF"/>
                    </a:solidFill>
                  </a:tcPr>
                </a:tc>
                <a:tc>
                  <a:txBody>
                    <a:bodyPr wrap="square"/>
                    <a:lstStyle/>
                    <a:p>
                      <a:r>
                        <a:rPr sz="1200" b="0" i="0">
                          <a:solidFill>
                            <a:srgbClr val="2A2622"/>
                          </a:solidFill>
                          <a:latin typeface="Calibri"/>
                        </a:rPr>
                        <a:t>100 min</a:t>
                      </a:r>
                    </a:p>
                  </a:txBody>
                  <a:tcPr marL="45720" marR="45720" marT="18288" marB="18288" anchor="t">
                    <a:solidFill>
                      <a:srgbClr val="FFFFFF"/>
                    </a:solidFill>
                  </a:tcPr>
                </a:tc>
                <a:tc>
                  <a:txBody>
                    <a:bodyPr wrap="square"/>
                    <a:lstStyle/>
                    <a:p>
                      <a:r>
                        <a:rPr sz="1200" b="0" i="0">
                          <a:solidFill>
                            <a:srgbClr val="2A2622"/>
                          </a:solidFill>
                          <a:latin typeface="Calibri"/>
                        </a:rPr>
                        <a:t>5–6 reels</a:t>
                      </a:r>
                    </a:p>
                  </a:txBody>
                  <a:tcPr marL="45720" marR="45720" marT="18288" marB="18288" anchor="t">
                    <a:solidFill>
                      <a:srgbClr val="FFFFFF"/>
                    </a:solidFill>
                  </a:tcPr>
                </a:tc>
              </a:tr>
              <a:tr h="628650">
                <a:tc>
                  <a:txBody>
                    <a:bodyPr wrap="square"/>
                    <a:lstStyle/>
                    <a:p>
                      <a:r>
                        <a:rPr sz="1200" b="0" i="0">
                          <a:solidFill>
                            <a:srgbClr val="2A2622"/>
                          </a:solidFill>
                          <a:latin typeface="Calibri"/>
                        </a:rPr>
                        <a:t>2. Product demos (texture, ASMR, how-to hands) — macro close-ups</a:t>
                      </a:r>
                    </a:p>
                  </a:txBody>
                  <a:tcPr marL="45720" marR="45720" marT="18288" marB="18288" anchor="t">
                    <a:solidFill>
                      <a:srgbClr val="F6F1E7"/>
                    </a:solidFill>
                  </a:tcPr>
                </a:tc>
                <a:tc>
                  <a:txBody>
                    <a:bodyPr wrap="square"/>
                    <a:lstStyle/>
                    <a:p>
                      <a:r>
                        <a:rPr sz="1200" b="0" i="0">
                          <a:solidFill>
                            <a:srgbClr val="2A2622"/>
                          </a:solidFill>
                          <a:latin typeface="Calibri"/>
                        </a:rPr>
                        <a:t>60 min</a:t>
                      </a:r>
                    </a:p>
                  </a:txBody>
                  <a:tcPr marL="45720" marR="45720" marT="18288" marB="18288" anchor="t">
                    <a:solidFill>
                      <a:srgbClr val="F6F1E7"/>
                    </a:solidFill>
                  </a:tcPr>
                </a:tc>
                <a:tc>
                  <a:txBody>
                    <a:bodyPr wrap="square"/>
                    <a:lstStyle/>
                    <a:p>
                      <a:r>
                        <a:rPr sz="1200" b="0" i="0">
                          <a:solidFill>
                            <a:srgbClr val="2A2622"/>
                          </a:solidFill>
                          <a:latin typeface="Calibri"/>
                        </a:rPr>
                        <a:t>3–4 reels + 4 ad cuts (15s/30s)</a:t>
                      </a:r>
                    </a:p>
                  </a:txBody>
                  <a:tcPr marL="45720" marR="45720" marT="18288" marB="18288" anchor="t">
                    <a:solidFill>
                      <a:srgbClr val="F6F1E7"/>
                    </a:solidFill>
                  </a:tcPr>
                </a:tc>
              </a:tr>
              <a:tr h="628650">
                <a:tc>
                  <a:txBody>
                    <a:bodyPr wrap="square"/>
                    <a:lstStyle/>
                    <a:p>
                      <a:r>
                        <a:rPr sz="1200" b="0" i="0">
                          <a:solidFill>
                            <a:srgbClr val="2A2622"/>
                          </a:solidFill>
                          <a:latin typeface="Calibri"/>
                        </a:rPr>
                        <a:t>3. B-roll bank: 10 cuts (pouring, drops, hands, face, counter, packaging)</a:t>
                      </a:r>
                    </a:p>
                  </a:txBody>
                  <a:tcPr marL="45720" marR="45720" marT="18288" marB="18288" anchor="t">
                    <a:solidFill>
                      <a:srgbClr val="FFFFFF"/>
                    </a:solidFill>
                  </a:tcPr>
                </a:tc>
                <a:tc>
                  <a:txBody>
                    <a:bodyPr wrap="square"/>
                    <a:lstStyle/>
                    <a:p>
                      <a:r>
                        <a:rPr sz="1200" b="0" i="0">
                          <a:solidFill>
                            <a:srgbClr val="2A2622"/>
                          </a:solidFill>
                          <a:latin typeface="Calibri"/>
                        </a:rPr>
                        <a:t>20 min</a:t>
                      </a:r>
                    </a:p>
                  </a:txBody>
                  <a:tcPr marL="45720" marR="45720" marT="18288" marB="18288" anchor="t">
                    <a:solidFill>
                      <a:srgbClr val="FFFFFF"/>
                    </a:solidFill>
                  </a:tcPr>
                </a:tc>
                <a:tc>
                  <a:txBody>
                    <a:bodyPr wrap="square"/>
                    <a:lstStyle/>
                    <a:p>
                      <a:r>
                        <a:rPr sz="1200" b="0" i="0">
                          <a:solidFill>
                            <a:srgbClr val="2A2622"/>
                          </a:solidFill>
                          <a:latin typeface="Calibri"/>
                        </a:rPr>
                        <a:t>editing fuel for 2 weeks</a:t>
                      </a:r>
                    </a:p>
                  </a:txBody>
                  <a:tcPr marL="45720" marR="45720" marT="18288" marB="18288" anchor="t">
                    <a:solidFill>
                      <a:srgbClr val="FFFFFF"/>
                    </a:solidFill>
                  </a:tcPr>
                </a:tc>
              </a:tr>
              <a:tr h="628650">
                <a:tc>
                  <a:txBody>
                    <a:bodyPr wrap="square"/>
                    <a:lstStyle/>
                    <a:p>
                      <a:r>
                        <a:rPr sz="1200" b="0" i="0">
                          <a:solidFill>
                            <a:srgbClr val="2A2622"/>
                          </a:solidFill>
                          <a:latin typeface="Calibri"/>
                        </a:rPr>
                        <a:t>4. Carousel photo set: 12–16 product/flat-lay/context shots</a:t>
                      </a:r>
                    </a:p>
                  </a:txBody>
                  <a:tcPr marL="45720" marR="45720" marT="18288" marB="18288" anchor="t">
                    <a:solidFill>
                      <a:srgbClr val="F6F1E7"/>
                    </a:solidFill>
                  </a:tcPr>
                </a:tc>
                <a:tc>
                  <a:txBody>
                    <a:bodyPr wrap="square"/>
                    <a:lstStyle/>
                    <a:p>
                      <a:r>
                        <a:rPr sz="1200" b="0" i="0">
                          <a:solidFill>
                            <a:srgbClr val="2A2622"/>
                          </a:solidFill>
                          <a:latin typeface="Calibri"/>
                        </a:rPr>
                        <a:t>30 min</a:t>
                      </a:r>
                    </a:p>
                  </a:txBody>
                  <a:tcPr marL="45720" marR="45720" marT="18288" marB="18288" anchor="t">
                    <a:solidFill>
                      <a:srgbClr val="F6F1E7"/>
                    </a:solidFill>
                  </a:tcPr>
                </a:tc>
                <a:tc>
                  <a:txBody>
                    <a:bodyPr wrap="square"/>
                    <a:lstStyle/>
                    <a:p>
                      <a:r>
                        <a:rPr sz="1200" b="0" i="0">
                          <a:solidFill>
                            <a:srgbClr val="2A2622"/>
                          </a:solidFill>
                          <a:latin typeface="Calibri"/>
                        </a:rPr>
                        <a:t>2 carousels' worth</a:t>
                      </a:r>
                    </a:p>
                  </a:txBody>
                  <a:tcPr marL="45720" marR="45720" marT="18288" marB="18288" anchor="t">
                    <a:solidFill>
                      <a:srgbClr val="F6F1E7"/>
                    </a:solidFill>
                  </a:tcPr>
                </a:tc>
              </a:tr>
              <a:tr h="628650">
                <a:tc>
                  <a:txBody>
                    <a:bodyPr wrap="square"/>
                    <a:lstStyle/>
                    <a:p>
                      <a:r>
                        <a:rPr sz="1200" b="0" i="0">
                          <a:solidFill>
                            <a:srgbClr val="2A2622"/>
                          </a:solidFill>
                          <a:latin typeface="Calibri"/>
                        </a:rPr>
                        <a:t>5. Story batch: 10–12 frames (BTS, behind-the-scene, polls as text cards, quiz cards)</a:t>
                      </a:r>
                    </a:p>
                  </a:txBody>
                  <a:tcPr marL="45720" marR="45720" marT="18288" marB="18288" anchor="t">
                    <a:solidFill>
                      <a:srgbClr val="FFFFFF"/>
                    </a:solidFill>
                  </a:tcPr>
                </a:tc>
                <a:tc>
                  <a:txBody>
                    <a:bodyPr wrap="square"/>
                    <a:lstStyle/>
                    <a:p>
                      <a:r>
                        <a:rPr sz="1200" b="0" i="0">
                          <a:solidFill>
                            <a:srgbClr val="2A2622"/>
                          </a:solidFill>
                          <a:latin typeface="Calibri"/>
                        </a:rPr>
                        <a:t>25 min</a:t>
                      </a:r>
                    </a:p>
                  </a:txBody>
                  <a:tcPr marL="45720" marR="45720" marT="18288" marB="18288" anchor="t">
                    <a:solidFill>
                      <a:srgbClr val="FFFFFF"/>
                    </a:solidFill>
                  </a:tcPr>
                </a:tc>
                <a:tc>
                  <a:txBody>
                    <a:bodyPr wrap="square"/>
                    <a:lstStyle/>
                    <a:p>
                      <a:r>
                        <a:rPr sz="1200" b="0" i="0">
                          <a:solidFill>
                            <a:srgbClr val="2A2622"/>
                          </a:solidFill>
                          <a:latin typeface="Calibri"/>
                        </a:rPr>
                        <a:t>~1.5 weeks of Stories</a:t>
                      </a:r>
                    </a:p>
                  </a:txBody>
                  <a:tcPr marL="45720" marR="45720" marT="18288" marB="18288" anchor="t">
                    <a:solidFill>
                      <a:srgbClr val="FFFFFF"/>
                    </a:solidFill>
                  </a:tcPr>
                </a:tc>
              </a:tr>
              <a:tr h="628650">
                <a:tc>
                  <a:txBody>
                    <a:bodyPr wrap="square"/>
                    <a:lstStyle/>
                    <a:p>
                      <a:r>
                        <a:rPr sz="1200" b="0" i="0">
                          <a:solidFill>
                            <a:srgbClr val="2A2622"/>
                          </a:solidFill>
                          <a:latin typeface="Calibri"/>
                        </a:rPr>
                        <a:t>6. Founder "talking head" spare: 5 unscripted 30-sec answers (next week's Q&amp;A)</a:t>
                      </a:r>
                    </a:p>
                  </a:txBody>
                  <a:tcPr marL="45720" marR="45720" marT="18288" marB="18288" anchor="t">
                    <a:solidFill>
                      <a:srgbClr val="F6F1E7"/>
                    </a:solidFill>
                  </a:tcPr>
                </a:tc>
                <a:tc>
                  <a:txBody>
                    <a:bodyPr wrap="square"/>
                    <a:lstStyle/>
                    <a:p>
                      <a:r>
                        <a:rPr sz="1200" b="0" i="0">
                          <a:solidFill>
                            <a:srgbClr val="2A2622"/>
                          </a:solidFill>
                          <a:latin typeface="Calibri"/>
                        </a:rPr>
                        <a:t>15 min</a:t>
                      </a:r>
                    </a:p>
                  </a:txBody>
                  <a:tcPr marL="45720" marR="45720" marT="18288" marB="18288" anchor="t">
                    <a:solidFill>
                      <a:srgbClr val="F6F1E7"/>
                    </a:solidFill>
                  </a:tcPr>
                </a:tc>
                <a:tc>
                  <a:txBody>
                    <a:bodyPr wrap="square"/>
                    <a:lstStyle/>
                    <a:p>
                      <a:r>
                        <a:rPr sz="1200" b="0" i="0">
                          <a:solidFill>
                            <a:srgbClr val="2A2622"/>
                          </a:solidFill>
                          <a:latin typeface="Calibri"/>
                        </a:rPr>
                        <a:t>Q&amp;A feed</a:t>
                      </a:r>
                    </a:p>
                  </a:txBody>
                  <a:tcPr marL="45720" marR="45720" marT="18288" marB="18288" anchor="t">
                    <a:solidFill>
                      <a:srgbClr val="F6F1E7"/>
                    </a:solidFill>
                  </a:tcPr>
                </a:tc>
              </a:tr>
              <a:tr h="628650">
                <a:tc>
                  <a:txBody>
                    <a:bodyPr wrap="square"/>
                    <a:lstStyle/>
                    <a:p>
                      <a:r>
                        <a:rPr sz="1200" b="0" i="0">
                          <a:solidFill>
                            <a:srgbClr val="2A2622"/>
                          </a:solidFill>
                          <a:latin typeface="Calibri"/>
                        </a:rPr>
                        <a:t>Buffer / re-shoot weak hooks</a:t>
                      </a:r>
                    </a:p>
                  </a:txBody>
                  <a:tcPr marL="45720" marR="45720" marT="18288" marB="18288" anchor="t">
                    <a:solidFill>
                      <a:srgbClr val="FFFFFF"/>
                    </a:solidFill>
                  </a:tcPr>
                </a:tc>
                <a:tc>
                  <a:txBody>
                    <a:bodyPr wrap="square"/>
                    <a:lstStyle/>
                    <a:p>
                      <a:r>
                        <a:rPr sz="1200" b="0" i="0">
                          <a:solidFill>
                            <a:srgbClr val="2A2622"/>
                          </a:solidFill>
                          <a:latin typeface="Calibri"/>
                        </a:rPr>
                        <a:t>20 min</a:t>
                      </a:r>
                    </a:p>
                  </a:txBody>
                  <a:tcPr marL="45720" marR="45720" marT="18288" marB="18288" anchor="t">
                    <a:solidFill>
                      <a:srgbClr val="FFFFFF"/>
                    </a:solidFill>
                  </a:tcPr>
                </a:tc>
                <a:tc>
                  <a:txBody>
                    <a:bodyPr wrap="square"/>
                    <a:lstStyle/>
                    <a:p>
                      <a:r>
                        <a:rPr sz="1200" b="0" i="0">
                          <a:solidFill>
                            <a:srgbClr val="2A2622"/>
                          </a:solidFill>
                          <a:latin typeface="Calibri"/>
                        </a:rPr>
                        <a:t>—</a:t>
                      </a:r>
                    </a:p>
                  </a:txBody>
                  <a:tcPr marL="45720" marR="45720" marT="18288" marB="18288" anchor="t">
                    <a:solidFill>
                      <a:srgbClr val="FFFFFF"/>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358</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SHOOT DAY RUN SHEET (4–5 hours, same every time)</a:t>
            </a:r>
          </a:p>
          <a:p>
            <a:r>
              <a:rPr sz="1200" i="1">
                <a:solidFill>
                  <a:srgbClr val="57504A"/>
                </a:solidFill>
                <a:latin typeface="Calibri"/>
              </a:rPr>
              <a:t>PART 22 — Content Production System (Batch Workflow)</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The hook re-shoot rule:</a:t>
            </a:r>
            <a:r>
              <a:rPr sz="1350" b="0" i="0">
                <a:solidFill>
                  <a:srgbClr val="2A2622"/>
                </a:solidFill>
                <a:latin typeface="Calibri"/>
              </a:rPr>
              <a:t> after editing (next day), if a reel's first 2 seconds feel slow → re-shoot the hook from the B-roll bank + new talking-head line. </a:t>
            </a:r>
            <a:r>
              <a:rPr sz="1350" b="1" i="0">
                <a:solidFill>
                  <a:srgbClr val="2A2622"/>
                </a:solidFill>
                <a:latin typeface="Calibri"/>
              </a:rPr>
              <a:t>The hook is never "good enough, we'll live with it"</a:t>
            </a:r>
            <a:r>
              <a:rPr sz="1350" b="0" i="0">
                <a:solidFill>
                  <a:srgbClr val="2A2622"/>
                </a:solidFill>
                <a:latin typeface="Calibri"/>
              </a:rPr>
              <a:t> — it's 90% of the reel's life.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359</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EDIT BLOCK (60–90 min/day, same day or next)</a:t>
            </a:r>
          </a:p>
          <a:p>
            <a:r>
              <a:rPr sz="1200" i="1">
                <a:solidFill>
                  <a:srgbClr val="57504A"/>
                </a:solidFill>
                <a:latin typeface="Calibri"/>
              </a:rPr>
              <a:t>PART 22 — Content Production System (Batch Workflow)</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  </a:t>
            </a:r>
            <a:r>
              <a:rPr sz="1350" b="0" i="0">
                <a:solidFill>
                  <a:srgbClr val="2A2622"/>
                </a:solidFill>
                <a:latin typeface="Calibri"/>
              </a:rPr>
              <a:t>Cut to length (30–45s cap) · 2. Hook text on frame 1 (8 words max) · 3. Captions throughout (95% watch muted) · 4. On-screen beats · 5. CTA card 3s · 6. Product label insert (real) · 7. RANGAT bottom-corner logo (small) · 8. Audio: VO clean + trending track at 15% · 9. Export 1080×1920.</a:t>
            </a:r>
          </a:p>
          <a:p>
            <a:pPr>
              <a:spcAft>
                <a:spcPts val="400"/>
              </a:spcAft>
            </a:pPr>
            <a:r>
              <a:rPr sz="1350" b="1">
                <a:solidFill>
                  <a:srgbClr val="8F3A22"/>
                </a:solidFill>
                <a:latin typeface="Calibri"/>
              </a:rPr>
              <a:t>10.  </a:t>
            </a:r>
            <a:r>
              <a:rPr sz="1350" b="1" i="0">
                <a:solidFill>
                  <a:srgbClr val="2A2622"/>
                </a:solidFill>
                <a:latin typeface="Calibri"/>
              </a:rPr>
              <a:t>Ad cuts (4/week):</a:t>
            </a:r>
            <a:r>
              <a:rPr sz="1350" b="0" i="0">
                <a:solidFill>
                  <a:srgbClr val="2A2622"/>
                </a:solidFill>
                <a:latin typeface="Calibri"/>
              </a:rPr>
              <a:t> from the week's best 2 reels → 15s + 30s versions (hook-first, CTA-end) → named </a:t>
            </a:r>
            <a:r>
              <a:rPr sz="1200" b="0" i="0">
                <a:solidFill>
                  <a:srgbClr val="8F3A22"/>
                </a:solidFill>
                <a:latin typeface="Consolas"/>
              </a:rPr>
              <a:t>RANGAT_AD_[hook]_[len]</a:t>
            </a:r>
            <a:r>
              <a:rPr sz="1350" b="0" i="0">
                <a:solidFill>
                  <a:srgbClr val="2A2622"/>
                </a:solidFill>
                <a:latin typeface="Calibri"/>
              </a:rPr>
              <a:t> → into the ad queue.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360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SUNDAY PLANNING BLOCK (2 hrs, the brain of the system)</a:t>
            </a:r>
          </a:p>
          <a:p>
            <a:r>
              <a:rPr sz="1200" i="1">
                <a:solidFill>
                  <a:srgbClr val="57504A"/>
                </a:solidFill>
                <a:latin typeface="Calibri"/>
              </a:rPr>
              <a:t>PART 22 — Content Production System (Batch Workflow)</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  </a:t>
            </a:r>
            <a:r>
              <a:rPr sz="1350" b="1" i="0">
                <a:solidFill>
                  <a:srgbClr val="2A2622"/>
                </a:solidFill>
                <a:latin typeface="Calibri"/>
              </a:rPr>
              <a:t>Data in (30 min):</a:t>
            </a:r>
            <a:r>
              <a:rPr sz="1350" b="0" i="0">
                <a:solidFill>
                  <a:srgbClr val="2A2622"/>
                </a:solidFill>
                <a:latin typeface="Calibri"/>
              </a:rPr>
              <a:t> last week's board (from </a:t>
            </a:r>
            <a:r>
              <a:rPr sz="1200" b="0" i="0">
                <a:solidFill>
                  <a:srgbClr val="8F3A22"/>
                </a:solidFill>
                <a:latin typeface="Consolas"/>
              </a:rPr>
              <a:t>20-90-day</a:t>
            </a:r>
            <a:r>
              <a:rPr sz="1350" b="0" i="0">
                <a:solidFill>
                  <a:srgbClr val="2A2622"/>
                </a:solidFill>
                <a:latin typeface="Calibri"/>
              </a:rPr>
              <a:t>): best 3 reels (why?), worst 3 (why?), top 5 DM objections, ad CPA by creative.</a:t>
            </a:r>
          </a:p>
          <a:p>
            <a:pPr>
              <a:spcAft>
                <a:spcPts val="400"/>
              </a:spcAft>
            </a:pPr>
            <a:r>
              <a:rPr sz="1350" b="1">
                <a:solidFill>
                  <a:srgbClr val="8F3A22"/>
                </a:solidFill>
                <a:latin typeface="Calibri"/>
              </a:rPr>
              <a:t>2.  </a:t>
            </a:r>
            <a:r>
              <a:rPr sz="1350" b="1" i="0">
                <a:solidFill>
                  <a:srgbClr val="2A2622"/>
                </a:solidFill>
                <a:latin typeface="Calibri"/>
              </a:rPr>
              <a:t>Next 14 days scripted (60 min):</a:t>
            </a:r>
            <a:r>
              <a:rPr sz="1350" b="0" i="0">
                <a:solidFill>
                  <a:srgbClr val="2A2622"/>
                </a:solidFill>
                <a:latin typeface="Calibri"/>
              </a:rPr>
              <a:t> 14 posts: type, pillar, hook (from library, marked with style — no 2 same styles back-to-back), script beats, CTA, hashtags set (12 ready sets), story plan. </a:t>
            </a:r>
            <a:r>
              <a:rPr sz="1350" b="1" i="0">
                <a:solidFill>
                  <a:srgbClr val="2A2622"/>
                </a:solidFill>
                <a:latin typeface="Calibri"/>
              </a:rPr>
              <a:t>Rule: 30% of next week's topics come from DM objections + comment questions</a:t>
            </a:r>
            <a:r>
              <a:rPr sz="1350" b="0" i="0">
                <a:solidFill>
                  <a:srgbClr val="2A2622"/>
                </a:solidFill>
                <a:latin typeface="Calibri"/>
              </a:rPr>
              <a:t> (content follows the market, not the mood).</a:t>
            </a:r>
          </a:p>
          <a:p>
            <a:pPr>
              <a:spcAft>
                <a:spcPts val="400"/>
              </a:spcAft>
            </a:pPr>
            <a:r>
              <a:rPr sz="1350" b="1">
                <a:solidFill>
                  <a:srgbClr val="8F3A22"/>
                </a:solidFill>
                <a:latin typeface="Calibri"/>
              </a:rPr>
              <a:t>3.  </a:t>
            </a:r>
            <a:r>
              <a:rPr sz="1350" b="1" i="0">
                <a:solidFill>
                  <a:srgbClr val="2A2622"/>
                </a:solidFill>
                <a:latin typeface="Calibri"/>
              </a:rPr>
              <a:t>Queue loaded (30 min):</a:t>
            </a:r>
            <a:r>
              <a:rPr sz="1350" b="0" i="0">
                <a:solidFill>
                  <a:srgbClr val="2A2622"/>
                </a:solidFill>
                <a:latin typeface="Calibri"/>
              </a:rPr>
              <a:t> 7 posts scheduled (Meta Business Suite), 7 staged (assets ready, publish Mon–Sun), buffer updated.</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361</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AI UGC BATCH DAY (2 half-days/month, 3 hrs each — see 09 for prompts)</a:t>
            </a:r>
          </a:p>
          <a:p>
            <a:r>
              <a:rPr sz="1200" i="1">
                <a:solidFill>
                  <a:srgbClr val="57504A"/>
                </a:solidFill>
                <a:latin typeface="Calibri"/>
              </a:rPr>
              <a:t>PART 22 — Content Production System (Batch Workflow)</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1.  </a:t>
            </a:r>
            <a:r>
              <a:rPr sz="1350" b="0" i="0">
                <a:solidFill>
                  <a:srgbClr val="2A2622"/>
                </a:solidFill>
                <a:latin typeface="Calibri"/>
              </a:rPr>
              <a:t>Pick 4–5 hook concepts from the week's top organic hooks (test AI variants of proven angles).</a:t>
            </a:r>
          </a:p>
          <a:p>
            <a:pPr>
              <a:spcAft>
                <a:spcPts val="400"/>
              </a:spcAft>
            </a:pPr>
            <a:r>
              <a:rPr sz="1350" b="1">
                <a:solidFill>
                  <a:srgbClr val="8F3A22"/>
                </a:solidFill>
                <a:latin typeface="Calibri"/>
              </a:rPr>
              <a:t>2.  </a:t>
            </a:r>
            <a:r>
              <a:rPr sz="1350" b="0" i="0">
                <a:solidFill>
                  <a:srgbClr val="2A2622"/>
                </a:solidFill>
                <a:latin typeface="Calibri"/>
              </a:rPr>
              <a:t>Generate: 8–10 videos (2 per concept, best kept) + 8–12 images (carousel/ads).</a:t>
            </a:r>
          </a:p>
          <a:p>
            <a:pPr>
              <a:spcAft>
                <a:spcPts val="400"/>
              </a:spcAft>
            </a:pPr>
            <a:r>
              <a:rPr sz="1350" b="1">
                <a:solidFill>
                  <a:srgbClr val="8F3A22"/>
                </a:solidFill>
                <a:latin typeface="Calibri"/>
              </a:rPr>
              <a:t>3.  </a:t>
            </a:r>
            <a:r>
              <a:rPr sz="1350" b="0" i="0">
                <a:solidFill>
                  <a:srgbClr val="2A2622"/>
                </a:solidFill>
                <a:latin typeface="Calibri"/>
              </a:rPr>
              <a:t>CapCut pass (2 hrs): text, captions, product insert, VO (real voice), CTA.</a:t>
            </a:r>
          </a:p>
          <a:p>
            <a:pPr>
              <a:spcAft>
                <a:spcPts val="400"/>
              </a:spcAft>
            </a:pPr>
            <a:r>
              <a:rPr sz="1350" b="1">
                <a:solidFill>
                  <a:srgbClr val="8F3A22"/>
                </a:solidFill>
                <a:latin typeface="Calibri"/>
              </a:rPr>
              <a:t>4.  </a:t>
            </a:r>
            <a:r>
              <a:rPr sz="1350" b="1" i="0">
                <a:solidFill>
                  <a:srgbClr val="2A2622"/>
                </a:solidFill>
                <a:latin typeface="Calibri"/>
              </a:rPr>
              <a:t>Use:</a:t>
            </a:r>
            <a:r>
              <a:rPr sz="1350" b="0" i="0">
                <a:solidFill>
                  <a:srgbClr val="2A2622"/>
                </a:solidFill>
                <a:latin typeface="Calibri"/>
              </a:rPr>
              <a:t> ad A/B testing (C1/C4), teaser/concept posts, carousel visuals. </a:t>
            </a:r>
            <a:r>
              <a:rPr sz="1350" b="1" i="0">
                <a:solidFill>
                  <a:srgbClr val="2A2622"/>
                </a:solidFill>
                <a:latin typeface="Calibri"/>
              </a:rPr>
              <a:t>Never</a:t>
            </a:r>
            <a:r>
              <a:rPr sz="1350" b="0" i="0">
                <a:solidFill>
                  <a:srgbClr val="2A2622"/>
                </a:solidFill>
                <a:latin typeface="Calibri"/>
              </a:rPr>
              <a:t> as "customer testimonial" (that slot = humans only).</a:t>
            </a:r>
          </a:p>
          <a:p>
            <a:pPr>
              <a:spcAft>
                <a:spcPts val="400"/>
              </a:spcAft>
            </a:pPr>
            <a:r>
              <a:rPr sz="1350" b="1">
                <a:solidFill>
                  <a:srgbClr val="8F3A22"/>
                </a:solidFill>
                <a:latin typeface="Calibri"/>
              </a:rPr>
              <a:t>5.  </a:t>
            </a:r>
            <a:r>
              <a:rPr sz="1350" b="0" i="0">
                <a:solidFill>
                  <a:srgbClr val="2A2622"/>
                </a:solidFill>
                <a:latin typeface="Calibri"/>
              </a:rPr>
              <a:t>Log in creative sheet like human assets — AI vs human CTR is a real learning (expect humans to win on face-trust; AI wins on volume/iteration speed).</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362</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MONTHLY PRODUCT PHOTO SESSION (half-day, 3–4 hrs, first week of month)</a:t>
            </a:r>
          </a:p>
          <a:p>
            <a:r>
              <a:rPr sz="1200" i="1">
                <a:solidFill>
                  <a:srgbClr val="57504A"/>
                </a:solidFill>
                <a:latin typeface="Calibri"/>
              </a:rPr>
              <a:t>PART 22 — Content Production System (Batch Workflow)</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60–80 photos: hero product (5 angles) · texture macro (palm, hand, drop) · in-context (bathroom, table, hand-held) · flat-lays (cream palette, terracotta accents) · box + card · "with the routine" (3 products in row).</a:t>
            </a:r>
          </a:p>
          <a:p>
            <a:pPr>
              <a:spcAft>
                <a:spcPts val="400"/>
              </a:spcAft>
            </a:pPr>
            <a:r>
              <a:rPr sz="1350">
                <a:solidFill>
                  <a:srgbClr val="B44A2E"/>
                </a:solidFill>
                <a:latin typeface="Calibri"/>
              </a:rPr>
              <a:t>•  </a:t>
            </a:r>
            <a:r>
              <a:rPr sz="1350" b="0" i="0">
                <a:solidFill>
                  <a:srgbClr val="2A2622"/>
                </a:solidFill>
                <a:latin typeface="Calibri"/>
              </a:rPr>
              <a:t>Output feeds: next month's carousels, ad statics, website, WhatsApp catalog, gift-box content.</a:t>
            </a:r>
          </a:p>
          <a:p>
            <a:pPr>
              <a:spcAft>
                <a:spcPts val="400"/>
              </a:spcAft>
            </a:pPr>
            <a:r>
              <a:rPr sz="1350">
                <a:solidFill>
                  <a:srgbClr val="B44A2E"/>
                </a:solidFill>
                <a:latin typeface="Calibri"/>
              </a:rPr>
              <a:t>•  </a:t>
            </a:r>
            <a:r>
              <a:rPr sz="1350" b="0" i="0">
                <a:solidFill>
                  <a:srgbClr val="2A2622"/>
                </a:solidFill>
                <a:latin typeface="Calibri"/>
              </a:rPr>
              <a:t>Lighting: window + 1 softbox (or single softbox), cream/terracotta props constant (visual brand consistency).</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363</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WEEKLY CALENDAR (steady state)</a:t>
            </a:r>
          </a:p>
          <a:p>
            <a:r>
              <a:rPr sz="1200" i="1">
                <a:solidFill>
                  <a:srgbClr val="57504A"/>
                </a:solidFill>
                <a:latin typeface="Calibri"/>
              </a:rPr>
              <a:t>PART 22 — Content Production System (Batch Workflow)</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544887"/>
                <a:gridCol w="6538650"/>
                <a:gridCol w="4468077"/>
              </a:tblGrid>
              <a:tr h="558800">
                <a:tc>
                  <a:txBody>
                    <a:bodyPr wrap="square"/>
                    <a:lstStyle/>
                    <a:p>
                      <a:r>
                        <a:rPr sz="1200" b="1" i="0">
                          <a:solidFill>
                            <a:srgbClr val="FFFFFF"/>
                          </a:solidFill>
                          <a:latin typeface="Calibri"/>
                        </a:rPr>
                        <a:t>Day</a:t>
                      </a:r>
                    </a:p>
                  </a:txBody>
                  <a:tcPr marL="45720" marR="45720" marT="18288" marB="18288" anchor="t">
                    <a:solidFill>
                      <a:srgbClr val="B44A2E"/>
                    </a:solidFill>
                  </a:tcPr>
                </a:tc>
                <a:tc>
                  <a:txBody>
                    <a:bodyPr wrap="square"/>
                    <a:lstStyle/>
                    <a:p>
                      <a:r>
                        <a:rPr sz="1200" b="1" i="0">
                          <a:solidFill>
                            <a:srgbClr val="FFFFFF"/>
                          </a:solidFill>
                          <a:latin typeface="Calibri"/>
                        </a:rPr>
                        <a:t>Content ops</a:t>
                      </a:r>
                    </a:p>
                  </a:txBody>
                  <a:tcPr marL="45720" marR="45720" marT="18288" marB="18288" anchor="t">
                    <a:solidFill>
                      <a:srgbClr val="B44A2E"/>
                    </a:solidFill>
                  </a:tcPr>
                </a:tc>
                <a:tc>
                  <a:txBody>
                    <a:bodyPr wrap="square"/>
                    <a:lstStyle/>
                    <a:p>
                      <a:r>
                        <a:rPr sz="1200" b="1" i="0">
                          <a:solidFill>
                            <a:srgbClr val="FFFFFF"/>
                          </a:solidFill>
                          <a:latin typeface="Calibri"/>
                        </a:rPr>
                        <a:t>Notes</a:t>
                      </a:r>
                    </a:p>
                  </a:txBody>
                  <a:tcPr marL="45720" marR="45720" marT="18288" marB="18288" anchor="t">
                    <a:solidFill>
                      <a:srgbClr val="B44A2E"/>
                    </a:solidFill>
                  </a:tcPr>
                </a:tc>
              </a:tr>
              <a:tr h="558800">
                <a:tc>
                  <a:txBody>
                    <a:bodyPr wrap="square"/>
                    <a:lstStyle/>
                    <a:p>
                      <a:r>
                        <a:rPr sz="1200" b="0" i="0">
                          <a:solidFill>
                            <a:srgbClr val="2A2622"/>
                          </a:solidFill>
                          <a:latin typeface="Calibri"/>
                        </a:rPr>
                        <a:t>Mon</a:t>
                      </a:r>
                    </a:p>
                  </a:txBody>
                  <a:tcPr marL="45720" marR="45720" marT="18288" marB="18288" anchor="t">
                    <a:solidFill>
                      <a:srgbClr val="FFFFFF"/>
                    </a:solidFill>
                  </a:tcPr>
                </a:tc>
                <a:tc>
                  <a:txBody>
                    <a:bodyPr wrap="square"/>
                    <a:lstStyle/>
                    <a:p>
                      <a:r>
                        <a:rPr sz="1200" b="0" i="0">
                          <a:solidFill>
                            <a:srgbClr val="2A2622"/>
                          </a:solidFill>
                          <a:latin typeface="Calibri"/>
                        </a:rPr>
                        <a:t>Planning check (30 min) · publish 2 (reel + carousel)</a:t>
                      </a:r>
                    </a:p>
                  </a:txBody>
                  <a:tcPr marL="45720" marR="45720" marT="18288" marB="18288" anchor="t">
                    <a:solidFill>
                      <a:srgbClr val="FFFFFF"/>
                    </a:solidFill>
                  </a:tcPr>
                </a:tc>
                <a:tc>
                  <a:txBody>
                    <a:bodyPr wrap="square"/>
                    <a:lstStyle/>
                    <a:p/>
                  </a:txBody>
                  <a:tcPr marL="45720" marR="45720" marT="18288" marB="18288" anchor="t">
                    <a:solidFill>
                      <a:srgbClr val="FFFFFF"/>
                    </a:solidFill>
                  </a:tcPr>
                </a:tc>
              </a:tr>
              <a:tr h="558800">
                <a:tc>
                  <a:txBody>
                    <a:bodyPr wrap="square"/>
                    <a:lstStyle/>
                    <a:p>
                      <a:r>
                        <a:rPr sz="1200" b="0" i="0">
                          <a:solidFill>
                            <a:srgbClr val="2A2622"/>
                          </a:solidFill>
                          <a:latin typeface="Calibri"/>
                        </a:rPr>
                        <a:t>Tue</a:t>
                      </a:r>
                    </a:p>
                  </a:txBody>
                  <a:tcPr marL="45720" marR="45720" marT="18288" marB="18288" anchor="t">
                    <a:solidFill>
                      <a:srgbClr val="F6F1E7"/>
                    </a:solidFill>
                  </a:tcPr>
                </a:tc>
                <a:tc>
                  <a:txBody>
                    <a:bodyPr wrap="square"/>
                    <a:lstStyle/>
                    <a:p>
                      <a:r>
                        <a:rPr sz="1200" b="1" i="0">
                          <a:solidFill>
                            <a:srgbClr val="2A2622"/>
                          </a:solidFill>
                          <a:latin typeface="Calibri"/>
                        </a:rPr>
                        <a:t>SHOOT DAY #1</a:t>
                      </a:r>
                      <a:r>
                        <a:rPr sz="1200" b="0" i="0">
                          <a:solidFill>
                            <a:srgbClr val="2A2622"/>
                          </a:solidFill>
                          <a:latin typeface="Calibri"/>
                        </a:rPr>
                        <a:t> (4.5 hr)</a:t>
                      </a:r>
                    </a:p>
                  </a:txBody>
                  <a:tcPr marL="45720" marR="45720" marT="18288" marB="18288" anchor="t">
                    <a:solidFill>
                      <a:srgbClr val="F6F1E7"/>
                    </a:solidFill>
                  </a:tcPr>
                </a:tc>
                <a:tc>
                  <a:txBody>
                    <a:bodyPr wrap="square"/>
                    <a:lstStyle/>
                    <a:p>
                      <a:r>
                        <a:rPr sz="1200" b="0" i="0">
                          <a:solidFill>
                            <a:srgbClr val="2A2622"/>
                          </a:solidFill>
                          <a:latin typeface="Calibri"/>
                        </a:rPr>
                        <a:t>8–10 reels, 4 ad cuts</a:t>
                      </a:r>
                    </a:p>
                  </a:txBody>
                  <a:tcPr marL="45720" marR="45720" marT="18288" marB="18288" anchor="t">
                    <a:solidFill>
                      <a:srgbClr val="F6F1E7"/>
                    </a:solidFill>
                  </a:tcPr>
                </a:tc>
              </a:tr>
              <a:tr h="558800">
                <a:tc>
                  <a:txBody>
                    <a:bodyPr wrap="square"/>
                    <a:lstStyle/>
                    <a:p>
                      <a:r>
                        <a:rPr sz="1200" b="0" i="0">
                          <a:solidFill>
                            <a:srgbClr val="2A2622"/>
                          </a:solidFill>
                          <a:latin typeface="Calibri"/>
                        </a:rPr>
                        <a:t>Wed</a:t>
                      </a:r>
                    </a:p>
                  </a:txBody>
                  <a:tcPr marL="45720" marR="45720" marT="18288" marB="18288" anchor="t">
                    <a:solidFill>
                      <a:srgbClr val="FFFFFF"/>
                    </a:solidFill>
                  </a:tcPr>
                </a:tc>
                <a:tc>
                  <a:txBody>
                    <a:bodyPr wrap="square"/>
                    <a:lstStyle/>
                    <a:p>
                      <a:r>
                        <a:rPr sz="1200" b="0" i="0">
                          <a:solidFill>
                            <a:srgbClr val="2A2622"/>
                          </a:solidFill>
                          <a:latin typeface="Calibri"/>
                        </a:rPr>
                        <a:t>Edit block (75 min) · publish 2</a:t>
                      </a:r>
                    </a:p>
                  </a:txBody>
                  <a:tcPr marL="45720" marR="45720" marT="18288" marB="18288" anchor="t">
                    <a:solidFill>
                      <a:srgbClr val="FFFFFF"/>
                    </a:solidFill>
                  </a:tcPr>
                </a:tc>
                <a:tc>
                  <a:txBody>
                    <a:bodyPr wrap="square"/>
                    <a:lstStyle/>
                    <a:p>
                      <a:r>
                        <a:rPr sz="1200" b="0" i="0">
                          <a:solidFill>
                            <a:srgbClr val="2A2622"/>
                          </a:solidFill>
                          <a:latin typeface="Calibri"/>
                        </a:rPr>
                        <a:t>Ad review 60 min (last Sun's data)</a:t>
                      </a:r>
                    </a:p>
                  </a:txBody>
                  <a:tcPr marL="45720" marR="45720" marT="18288" marB="18288" anchor="t">
                    <a:solidFill>
                      <a:srgbClr val="FFFFFF"/>
                    </a:solidFill>
                  </a:tcPr>
                </a:tc>
              </a:tr>
              <a:tr h="558800">
                <a:tc>
                  <a:txBody>
                    <a:bodyPr wrap="square"/>
                    <a:lstStyle/>
                    <a:p>
                      <a:r>
                        <a:rPr sz="1200" b="0" i="0">
                          <a:solidFill>
                            <a:srgbClr val="2A2622"/>
                          </a:solidFill>
                          <a:latin typeface="Calibri"/>
                        </a:rPr>
                        <a:t>Thu</a:t>
                      </a:r>
                    </a:p>
                  </a:txBody>
                  <a:tcPr marL="45720" marR="45720" marT="18288" marB="18288" anchor="t">
                    <a:solidFill>
                      <a:srgbClr val="F6F1E7"/>
                    </a:solidFill>
                  </a:tcPr>
                </a:tc>
                <a:tc>
                  <a:txBody>
                    <a:bodyPr wrap="square"/>
                    <a:lstStyle/>
                    <a:p>
                      <a:r>
                        <a:rPr sz="1200" b="1" i="0">
                          <a:solidFill>
                            <a:srgbClr val="2A2622"/>
                          </a:solidFill>
                          <a:latin typeface="Calibri"/>
                        </a:rPr>
                        <a:t>SHOOT DAY #2</a:t>
                      </a:r>
                      <a:r>
                        <a:rPr sz="1200" b="0" i="0">
                          <a:solidFill>
                            <a:srgbClr val="2A2622"/>
                          </a:solidFill>
                          <a:latin typeface="Calibri"/>
                        </a:rPr>
                        <a:t> (3 hr: lighter)</a:t>
                      </a:r>
                    </a:p>
                  </a:txBody>
                  <a:tcPr marL="45720" marR="45720" marT="18288" marB="18288" anchor="t">
                    <a:solidFill>
                      <a:srgbClr val="F6F1E7"/>
                    </a:solidFill>
                  </a:tcPr>
                </a:tc>
                <a:tc>
                  <a:txBody>
                    <a:bodyPr wrap="square"/>
                    <a:lstStyle/>
                    <a:p>
                      <a:r>
                        <a:rPr sz="1200" b="0" i="0">
                          <a:solidFill>
                            <a:srgbClr val="2A2622"/>
                          </a:solidFill>
                          <a:latin typeface="Calibri"/>
                        </a:rPr>
                        <a:t>Photos, Story batch</a:t>
                      </a:r>
                    </a:p>
                  </a:txBody>
                  <a:tcPr marL="45720" marR="45720" marT="18288" marB="18288" anchor="t">
                    <a:solidFill>
                      <a:srgbClr val="F6F1E7"/>
                    </a:solidFill>
                  </a:tcPr>
                </a:tc>
              </a:tr>
              <a:tr h="558800">
                <a:tc>
                  <a:txBody>
                    <a:bodyPr wrap="square"/>
                    <a:lstStyle/>
                    <a:p>
                      <a:r>
                        <a:rPr sz="1200" b="0" i="0">
                          <a:solidFill>
                            <a:srgbClr val="2A2622"/>
                          </a:solidFill>
                          <a:latin typeface="Calibri"/>
                        </a:rPr>
                        <a:t>Fri</a:t>
                      </a:r>
                    </a:p>
                  </a:txBody>
                  <a:tcPr marL="45720" marR="45720" marT="18288" marB="18288" anchor="t">
                    <a:solidFill>
                      <a:srgbClr val="FFFFFF"/>
                    </a:solidFill>
                  </a:tcPr>
                </a:tc>
                <a:tc>
                  <a:txBody>
                    <a:bodyPr wrap="square"/>
                    <a:lstStyle/>
                    <a:p>
                      <a:r>
                        <a:rPr sz="1200" b="0" i="0">
                          <a:solidFill>
                            <a:srgbClr val="2A2622"/>
                          </a:solidFill>
                          <a:latin typeface="Calibri"/>
                        </a:rPr>
                        <a:t>Edit + </a:t>
                      </a:r>
                      <a:r>
                        <a:rPr sz="1200" b="1" i="0">
                          <a:solidFill>
                            <a:srgbClr val="2A2622"/>
                          </a:solidFill>
                          <a:latin typeface="Calibri"/>
                        </a:rPr>
                        <a:t>YT Shorts ×3</a:t>
                      </a:r>
                      <a:r>
                        <a:rPr sz="1200" b="0" i="0">
                          <a:solidFill>
                            <a:srgbClr val="2A2622"/>
                          </a:solidFill>
                          <a:latin typeface="Calibri"/>
                        </a:rPr>
                        <a:t> (30 min) · publish 2</a:t>
                      </a:r>
                    </a:p>
                  </a:txBody>
                  <a:tcPr marL="45720" marR="45720" marT="18288" marB="18288" anchor="t">
                    <a:solidFill>
                      <a:srgbClr val="FFFFFF"/>
                    </a:solidFill>
                  </a:tcPr>
                </a:tc>
                <a:tc>
                  <a:txBody>
                    <a:bodyPr wrap="square"/>
                    <a:lstStyle/>
                    <a:p>
                      <a:r>
                        <a:rPr sz="1200" b="0" i="0">
                          <a:solidFill>
                            <a:srgbClr val="2A2622"/>
                          </a:solidFill>
                          <a:latin typeface="Calibri"/>
                        </a:rPr>
                        <a:t>Hashtag rotation applied</a:t>
                      </a:r>
                    </a:p>
                  </a:txBody>
                  <a:tcPr marL="45720" marR="45720" marT="18288" marB="18288" anchor="t">
                    <a:solidFill>
                      <a:srgbClr val="FFFFFF"/>
                    </a:solidFill>
                  </a:tcPr>
                </a:tc>
              </a:tr>
              <a:tr h="558800">
                <a:tc>
                  <a:txBody>
                    <a:bodyPr wrap="square"/>
                    <a:lstStyle/>
                    <a:p>
                      <a:r>
                        <a:rPr sz="1200" b="0" i="0">
                          <a:solidFill>
                            <a:srgbClr val="2A2622"/>
                          </a:solidFill>
                          <a:latin typeface="Calibri"/>
                        </a:rPr>
                        <a:t>Sat</a:t>
                      </a:r>
                    </a:p>
                  </a:txBody>
                  <a:tcPr marL="45720" marR="45720" marT="18288" marB="18288" anchor="t">
                    <a:solidFill>
                      <a:srgbClr val="F6F1E7"/>
                    </a:solidFill>
                  </a:tcPr>
                </a:tc>
                <a:tc>
                  <a:txBody>
                    <a:bodyPr wrap="square"/>
                    <a:lstStyle/>
                    <a:p>
                      <a:r>
                        <a:rPr sz="1200" b="0" i="0">
                          <a:solidFill>
                            <a:srgbClr val="2A2622"/>
                          </a:solidFill>
                          <a:latin typeface="Calibri"/>
                        </a:rPr>
                        <a:t>UGC/creator post (1) · publish 1–2</a:t>
                      </a:r>
                    </a:p>
                  </a:txBody>
                  <a:tcPr marL="45720" marR="45720" marT="18288" marB="18288" anchor="t">
                    <a:solidFill>
                      <a:srgbClr val="F6F1E7"/>
                    </a:solidFill>
                  </a:tcPr>
                </a:tc>
                <a:tc>
                  <a:txBody>
                    <a:bodyPr wrap="square"/>
                    <a:lstStyle/>
                    <a:p>
                      <a:r>
                        <a:rPr sz="1200" b="0" i="0">
                          <a:solidFill>
                            <a:srgbClr val="2A2622"/>
                          </a:solidFill>
                          <a:latin typeface="Calibri"/>
                        </a:rPr>
                        <a:t>Creator deliveries due</a:t>
                      </a:r>
                    </a:p>
                  </a:txBody>
                  <a:tcPr marL="45720" marR="45720" marT="18288" marB="18288" anchor="t">
                    <a:solidFill>
                      <a:srgbClr val="F6F1E7"/>
                    </a:solidFill>
                  </a:tcPr>
                </a:tc>
              </a:tr>
              <a:tr h="558800">
                <a:tc>
                  <a:txBody>
                    <a:bodyPr wrap="square"/>
                    <a:lstStyle/>
                    <a:p>
                      <a:r>
                        <a:rPr sz="1200" b="0" i="0">
                          <a:solidFill>
                            <a:srgbClr val="2A2622"/>
                          </a:solidFill>
                          <a:latin typeface="Calibri"/>
                        </a:rPr>
                        <a:t>Sun</a:t>
                      </a:r>
                    </a:p>
                  </a:txBody>
                  <a:tcPr marL="45720" marR="45720" marT="18288" marB="18288" anchor="t">
                    <a:solidFill>
                      <a:srgbClr val="FFFFFF"/>
                    </a:solidFill>
                  </a:tcPr>
                </a:tc>
                <a:tc>
                  <a:txBody>
                    <a:bodyPr wrap="square"/>
                    <a:lstStyle/>
                    <a:p>
                      <a:r>
                        <a:rPr sz="1200" b="1" i="0">
                          <a:solidFill>
                            <a:srgbClr val="2A2622"/>
                          </a:solidFill>
                          <a:latin typeface="Calibri"/>
                        </a:rPr>
                        <a:t>Planning block (2 hr)</a:t>
                      </a:r>
                      <a:r>
                        <a:rPr sz="1200" b="0" i="0">
                          <a:solidFill>
                            <a:srgbClr val="2A2622"/>
                          </a:solidFill>
                          <a:latin typeface="Calibri"/>
                        </a:rPr>
                        <a:t> + KPI review (45 min) · publish 1–2 (Q&amp;A/community)</a:t>
                      </a:r>
                    </a:p>
                  </a:txBody>
                  <a:tcPr marL="45720" marR="45720" marT="18288" marB="18288" anchor="t">
                    <a:solidFill>
                      <a:srgbClr val="FFFFFF"/>
                    </a:solidFill>
                  </a:tcPr>
                </a:tc>
                <a:tc>
                  <a:txBody>
                    <a:bodyPr wrap="square"/>
                    <a:lstStyle/>
                    <a:p>
                      <a:r>
                        <a:rPr sz="1200" b="0" i="0">
                          <a:solidFill>
                            <a:srgbClr val="2A2622"/>
                          </a:solidFill>
                          <a:latin typeface="Calibri"/>
                        </a:rPr>
                        <a:t>Next 14 days scripted</a:t>
                      </a:r>
                    </a:p>
                  </a:txBody>
                  <a:tcPr marL="45720" marR="45720" marT="18288" marB="18288" anchor="t">
                    <a:solidFill>
                      <a:srgbClr val="FFFFFF"/>
                    </a:solidFill>
                  </a:tcPr>
                </a:tc>
              </a:tr>
              <a:tr h="558800">
                <a:tc>
                  <a:txBody>
                    <a:bodyPr wrap="square"/>
                    <a:lstStyle/>
                    <a:p>
                      <a:r>
                        <a:rPr sz="1200" b="0" i="0">
                          <a:solidFill>
                            <a:srgbClr val="2A2622"/>
                          </a:solidFill>
                          <a:latin typeface="Calibri"/>
                        </a:rPr>
                        <a:t>Daily</a:t>
                      </a:r>
                    </a:p>
                  </a:txBody>
                  <a:tcPr marL="45720" marR="45720" marT="18288" marB="18288" anchor="t">
                    <a:solidFill>
                      <a:srgbClr val="F6F1E7"/>
                    </a:solidFill>
                  </a:tcPr>
                </a:tc>
                <a:tc>
                  <a:txBody>
                    <a:bodyPr wrap="square"/>
                    <a:lstStyle/>
                    <a:p>
                      <a:r>
                        <a:rPr sz="1200" b="0" i="0">
                          <a:solidFill>
                            <a:srgbClr val="2A2622"/>
                          </a:solidFill>
                          <a:latin typeface="Calibri"/>
                        </a:rPr>
                        <a:t>3–5 Stories (15 min: 11 AM + 1 PM + 8 PM slots) · DM SLA (ongoing, 15-min) · reply all comments (within 2 hr)</a:t>
                      </a:r>
                    </a:p>
                  </a:txBody>
                  <a:tcPr marL="45720" marR="45720" marT="18288" marB="18288" anchor="t">
                    <a:solidFill>
                      <a:srgbClr val="F6F1E7"/>
                    </a:solidFill>
                  </a:tcPr>
                </a:tc>
                <a:tc>
                  <a:txBody>
                    <a:bodyPr wrap="square"/>
                    <a:lstStyle/>
                    <a:p>
                      <a:r>
                        <a:rPr sz="1200" b="0" i="0">
                          <a:solidFill>
                            <a:srgbClr val="2A2622"/>
                          </a:solidFill>
                          <a:latin typeface="Calibri"/>
                        </a:rPr>
                        <a:t>The human layer — never batch the replies</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364</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WEEKLY CALENDAR (steady state)</a:t>
            </a:r>
          </a:p>
          <a:p>
            <a:r>
              <a:rPr sz="1200" i="1">
                <a:solidFill>
                  <a:srgbClr val="57504A"/>
                </a:solidFill>
                <a:latin typeface="Calibri"/>
              </a:rPr>
              <a:t>PART 22 — Content Production System (Batch Workflow)</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Buffer rule:</a:t>
            </a:r>
            <a:r>
              <a:rPr sz="1350" b="0" i="0">
                <a:solidFill>
                  <a:srgbClr val="2A2622"/>
                </a:solidFill>
                <a:latin typeface="Calibri"/>
              </a:rPr>
              <a:t> at all times, queue holds ≥ 7 posts + buffer holds ≥ 10. Miss a day → pull from buffer, log the reason, protect the week's rhythm. The system's real output is </a:t>
            </a:r>
            <a:r>
              <a:rPr sz="1350" b="1" i="0">
                <a:solidFill>
                  <a:srgbClr val="2A2622"/>
                </a:solidFill>
                <a:latin typeface="Calibri"/>
              </a:rPr>
              <a:t>consistency under chaos</a:t>
            </a:r>
            <a:r>
              <a:rPr sz="1350" b="0" i="0">
                <a:solidFill>
                  <a:srgbClr val="2A2622"/>
                </a:solidFill>
                <a:latin typeface="Calibri"/>
              </a:rPr>
              <a:t> — a launch week with 80 orders and 200 DMs must not stop the reels.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365</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MINIMUM TEAM / TOOLING (the cheap-but-right stack)</a:t>
            </a:r>
          </a:p>
          <a:p>
            <a:r>
              <a:rPr sz="1200" i="1">
                <a:solidFill>
                  <a:srgbClr val="57504A"/>
                </a:solidFill>
                <a:latin typeface="Calibri"/>
              </a:rPr>
              <a:t>PART 22 — Content Production System (Batch Workflow)</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1" i="0">
                <a:solidFill>
                  <a:srgbClr val="2A2622"/>
                </a:solidFill>
                <a:latin typeface="Calibri"/>
              </a:rPr>
              <a:t>People:</a:t>
            </a:r>
            <a:r>
              <a:rPr sz="1350" b="0" i="0">
                <a:solidFill>
                  <a:srgbClr val="2A2622"/>
                </a:solidFill>
                <a:latin typeface="Calibri"/>
              </a:rPr>
              <a:t> founder (content face + strategy) + 1 part-time help (DMs 4–6 hr/day, shoot help, WhatsApp sequences) + 1 editor (₹8k–15k/month, 2 days/week — or self-edit via the run sheet for month 1).</a:t>
            </a:r>
          </a:p>
          <a:p>
            <a:pPr>
              <a:spcAft>
                <a:spcPts val="400"/>
              </a:spcAft>
            </a:pPr>
            <a:r>
              <a:rPr sz="1350">
                <a:solidFill>
                  <a:srgbClr val="B44A2E"/>
                </a:solidFill>
                <a:latin typeface="Calibri"/>
              </a:rPr>
              <a:t>•  </a:t>
            </a:r>
            <a:r>
              <a:rPr sz="1350" b="1" i="0">
                <a:solidFill>
                  <a:srgbClr val="2A2622"/>
                </a:solidFill>
                <a:latin typeface="Calibri"/>
              </a:rPr>
              <a:t>Gear:</a:t>
            </a:r>
            <a:r>
              <a:rPr sz="1350" b="0" i="0">
                <a:solidFill>
                  <a:srgbClr val="2A2622"/>
                </a:solidFill>
                <a:latin typeface="Calibri"/>
              </a:rPr>
              <a:t> phone (any modern), tripod ₹2k, lapel mic ₹1.5k, 1 softbox ₹2–3k, ring light optional. Total &lt; ₹10k.</a:t>
            </a:r>
          </a:p>
          <a:p>
            <a:pPr>
              <a:spcAft>
                <a:spcPts val="400"/>
              </a:spcAft>
            </a:pPr>
            <a:r>
              <a:rPr sz="1350">
                <a:solidFill>
                  <a:srgbClr val="B44A2E"/>
                </a:solidFill>
                <a:latin typeface="Calibri"/>
              </a:rPr>
              <a:t>•  </a:t>
            </a:r>
            <a:r>
              <a:rPr sz="1350" b="1" i="0">
                <a:solidFill>
                  <a:srgbClr val="2A2622"/>
                </a:solidFill>
                <a:latin typeface="Calibri"/>
              </a:rPr>
              <a:t>Tools:</a:t>
            </a:r>
            <a:r>
              <a:rPr sz="1350" b="0" i="0">
                <a:solidFill>
                  <a:srgbClr val="2A2622"/>
                </a:solidFill>
                <a:latin typeface="Calibri"/>
              </a:rPr>
              <a:t> CapCut (free) · Meta Business Suite (scheduling) · Canva (carousels/cards, brand kit: cream + terracotta, 2 fonts) · Google Sheet (the single source of truth: hooks log, DM log, orders, creatives, UGC consents) · WhatsApp Business.</a:t>
            </a:r>
          </a:p>
          <a:p>
            <a:pPr>
              <a:spcAft>
                <a:spcPts val="400"/>
              </a:spcAft>
            </a:pPr>
            <a:r>
              <a:rPr sz="1350">
                <a:solidFill>
                  <a:srgbClr val="B44A2E"/>
                </a:solidFill>
                <a:latin typeface="Calibri"/>
              </a:rPr>
              <a:t>•  </a:t>
            </a:r>
            <a:r>
              <a:rPr sz="1350" b="1" i="0">
                <a:solidFill>
                  <a:srgbClr val="2A2622"/>
                </a:solidFill>
                <a:latin typeface="Calibri"/>
              </a:rPr>
              <a:t>The one sheet to run the company</a:t>
            </a:r>
            <a:r>
              <a:rPr sz="1350" b="0" i="0">
                <a:solidFill>
                  <a:srgbClr val="2A2622"/>
                </a:solidFill>
                <a:latin typeface="Calibri"/>
              </a:rPr>
              <a:t> (tabs): HOOKS (hook/style/post/CTR/DMs) · CALENDAR (14-day) · ORDERS (order# / city / source: organic-DM / ad / creator / referral / COD status) · CREATIVE (asset / type / live dates / CPA / status) · UGC (creator / consent file / assets / ad permission) · DM-OBJECTIONS (date / question / answer / "became content?").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366</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23</a:t>
            </a:r>
          </a:p>
        </p:txBody>
      </p:sp>
      <p:sp>
        <p:nvSpPr>
          <p:cNvPr id="4" name="TextBox 3"/>
          <p:cNvSpPr txBox="1"/>
          <p:nvPr/>
        </p:nvSpPr>
        <p:spPr>
          <a:xfrm>
            <a:off x="914400" y="2377440"/>
            <a:ext cx="10362895" cy="1645920"/>
          </a:xfrm>
          <a:prstGeom prst="rect">
            <a:avLst/>
          </a:prstGeom>
          <a:noFill/>
        </p:spPr>
        <p:txBody>
          <a:bodyPr wrap="square">
            <a:spAutoFit/>
          </a:bodyPr>
          <a:lstStyle/>
          <a:p>
            <a:r>
              <a:rPr sz="2400" b="1">
                <a:solidFill>
                  <a:srgbClr val="8F3A22"/>
                </a:solidFill>
                <a:latin typeface="Calibri"/>
              </a:rPr>
              <a:t>§29 COMPLIANCE RULES + §30 CEO FINAL VERDICT — RANGAT NATURALS</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Compliance Rules + CEO Final Verdict</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367</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COMPLIANCE RULES (Section 29) — pin this to the wall</a:t>
            </a:r>
          </a:p>
          <a:p>
            <a:r>
              <a:rPr sz="1200" i="1">
                <a:solidFill>
                  <a:srgbClr val="57504A"/>
                </a:solidFill>
                <a:latin typeface="Calibri"/>
              </a:rPr>
              <a:t>PART 23 — Compliance Rules + CEO Final Verdict</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The 8 non-negotiables</a:t>
            </a:r>
          </a:p>
          <a:p>
            <a:pPr>
              <a:spcAft>
                <a:spcPts val="400"/>
              </a:spcAft>
            </a:pPr>
            <a:r>
              <a:rPr sz="1350" b="1">
                <a:solidFill>
                  <a:srgbClr val="8F3A22"/>
                </a:solidFill>
                <a:latin typeface="Calibri"/>
              </a:rPr>
              <a:t>1.  </a:t>
            </a:r>
            <a:r>
              <a:rPr sz="1350" b="1" i="0">
                <a:solidFill>
                  <a:srgbClr val="2A2622"/>
                </a:solidFill>
                <a:latin typeface="Calibri"/>
              </a:rPr>
              <a:t>No fake before/after.</a:t>
            </a:r>
            <a:r>
              <a:rPr sz="1350" b="0" i="0">
                <a:solidFill>
                  <a:srgbClr val="2A2622"/>
                </a:solidFill>
                <a:latin typeface="Calibri"/>
              </a:rPr>
              <a:t> Only real, documented, disclosed transformations. "Before" never artificially worsened; "after" never filtered.</a:t>
            </a:r>
          </a:p>
          <a:p>
            <a:pPr>
              <a:spcAft>
                <a:spcPts val="400"/>
              </a:spcAft>
            </a:pPr>
            <a:r>
              <a:rPr sz="1350" b="1">
                <a:solidFill>
                  <a:srgbClr val="8F3A22"/>
                </a:solidFill>
                <a:latin typeface="Calibri"/>
              </a:rPr>
              <a:t>2.  </a:t>
            </a:r>
            <a:r>
              <a:rPr sz="1350" b="1" i="0">
                <a:solidFill>
                  <a:srgbClr val="2A2622"/>
                </a:solidFill>
                <a:latin typeface="Calibri"/>
              </a:rPr>
              <a:t>No fake testimonials/reviews.</a:t>
            </a:r>
            <a:r>
              <a:rPr sz="1350" b="0" i="0">
                <a:solidFill>
                  <a:srgbClr val="2A2622"/>
                </a:solidFill>
                <a:latin typeface="Calibri"/>
              </a:rPr>
              <a:t> No purchased reviews, no "friend's cousin" quotes, no AI-generated customer quotes presented as real. Only people who actually used the product, with written consent.</a:t>
            </a:r>
          </a:p>
          <a:p>
            <a:pPr>
              <a:spcAft>
                <a:spcPts val="400"/>
              </a:spcAft>
            </a:pPr>
            <a:r>
              <a:rPr sz="1350" b="1">
                <a:solidFill>
                  <a:srgbClr val="8F3A22"/>
                </a:solidFill>
                <a:latin typeface="Calibri"/>
              </a:rPr>
              <a:t>3.  </a:t>
            </a:r>
            <a:r>
              <a:rPr sz="1350" b="1" i="0">
                <a:solidFill>
                  <a:srgbClr val="2A2622"/>
                </a:solidFill>
                <a:latin typeface="Calibri"/>
              </a:rPr>
              <a:t>No guaranteed results.</a:t>
            </a:r>
            <a:r>
              <a:rPr sz="1350" b="0" i="0">
                <a:solidFill>
                  <a:srgbClr val="2A2622"/>
                </a:solidFill>
                <a:latin typeface="Calibri"/>
              </a:rPr>
              <a:t> Never "guaranteed glow," "100% effective," "results in 3 days." Always "4–6 hafte daily use me, results har kisi me alag hote hain."</a:t>
            </a:r>
          </a:p>
          <a:p>
            <a:pPr>
              <a:spcAft>
                <a:spcPts val="400"/>
              </a:spcAft>
            </a:pPr>
            <a:r>
              <a:rPr sz="1350" b="1">
                <a:solidFill>
                  <a:srgbClr val="8F3A22"/>
                </a:solidFill>
                <a:latin typeface="Calibri"/>
              </a:rPr>
              <a:t>4.  </a:t>
            </a:r>
            <a:r>
              <a:rPr sz="1350" b="1" i="0">
                <a:solidFill>
                  <a:srgbClr val="2A2622"/>
                </a:solidFill>
                <a:latin typeface="Calibri"/>
              </a:rPr>
              <a:t>No medical/cure claims.</a:t>
            </a:r>
            <a:r>
              <a:rPr sz="1350" b="0" i="0">
                <a:solidFill>
                  <a:srgbClr val="2A2622"/>
                </a:solidFill>
                <a:latin typeface="Calibri"/>
              </a:rPr>
              <a:t> Never: "cures acne/pigmentation/tan," "removes tan permanently," "erases dark spots," "reverses aging," "treats skin disease." These cross into drug-claim territory (Drugs &amp; Cosmetics Act) + ASCI violation.</a:t>
            </a:r>
          </a:p>
          <a:p>
            <a:pPr>
              <a:spcAft>
                <a:spcPts val="400"/>
              </a:spcAft>
            </a:pPr>
            <a:r>
              <a:rPr sz="1350" b="1">
                <a:solidFill>
                  <a:srgbClr val="8F3A22"/>
                </a:solidFill>
                <a:latin typeface="Calibri"/>
              </a:rPr>
              <a:t>5.  </a:t>
            </a:r>
            <a:r>
              <a:rPr sz="1350" b="1" i="0">
                <a:solidFill>
                  <a:srgbClr val="2A2622"/>
                </a:solidFill>
                <a:latin typeface="Calibri"/>
              </a:rPr>
              <a:t>No "100% natural / chemical-free" claims</a:t>
            </a:r>
            <a:r>
              <a:rPr sz="1350" b="0" i="0">
                <a:solidFill>
                  <a:srgbClr val="2A2622"/>
                </a:solidFill>
                <a:latin typeface="Calibri"/>
              </a:rPr>
              <a:t> (and no unverified "dermatologically tested" — only say it if a test exists and is documentable).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368</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COMPLIANCE RULES (Section 29) — pin this to the wall</a:t>
            </a:r>
          </a:p>
          <a:p>
            <a:r>
              <a:rPr sz="1200" i="1">
                <a:solidFill>
                  <a:srgbClr val="57504A"/>
                </a:solidFill>
                <a:latin typeface="Calibri"/>
              </a:rPr>
              <a:t>PART 23 — Compliance Rules + CEO Final Verdict</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6.  </a:t>
            </a:r>
            <a:r>
              <a:rPr sz="1350" b="1" i="0">
                <a:solidFill>
                  <a:srgbClr val="2A2622"/>
                </a:solidFill>
                <a:latin typeface="Calibri"/>
              </a:rPr>
              <a:t>Before/after always carries:</a:t>
            </a:r>
            <a:r>
              <a:rPr sz="1350" b="0" i="0">
                <a:solidFill>
                  <a:srgbClr val="2A2622"/>
                </a:solidFill>
                <a:latin typeface="Calibri"/>
              </a:rPr>
              <a:t> "Day X → Day Y · daily use · </a:t>
            </a:r>
            <a:r>
              <a:rPr sz="1350" b="1" i="0">
                <a:solidFill>
                  <a:srgbClr val="2A2622"/>
                </a:solidFill>
                <a:latin typeface="Calibri"/>
              </a:rPr>
              <a:t>Results may vary</a:t>
            </a:r>
            <a:r>
              <a:rPr sz="1350" b="0" i="0">
                <a:solidFill>
                  <a:srgbClr val="2A2622"/>
                </a:solidFill>
                <a:latin typeface="Calibri"/>
              </a:rPr>
              <a:t> · real customer, consent ke saath" — every frame, every platform.</a:t>
            </a:r>
          </a:p>
          <a:p>
            <a:pPr>
              <a:spcAft>
                <a:spcPts val="400"/>
              </a:spcAft>
            </a:pPr>
            <a:r>
              <a:rPr sz="1350" b="1">
                <a:solidFill>
                  <a:srgbClr val="8F3A22"/>
                </a:solidFill>
                <a:latin typeface="Calibri"/>
              </a:rPr>
              <a:t>7.  </a:t>
            </a:r>
            <a:r>
              <a:rPr sz="1350" b="1" i="0">
                <a:solidFill>
                  <a:srgbClr val="2A2622"/>
                </a:solidFill>
                <a:latin typeface="Calibri"/>
              </a:rPr>
              <a:t>We are a brand, not a manufacturer.</a:t>
            </a:r>
            <a:r>
              <a:rPr sz="1350" b="0" i="0">
                <a:solidFill>
                  <a:srgbClr val="2A2622"/>
                </a:solidFill>
                <a:latin typeface="Calibri"/>
              </a:rPr>
              <a:t> "We formulate, test, and have it manufactured by a certified Indian facility (GMP)." Never "we manufacture in our own factory" (if untrue).</a:t>
            </a:r>
          </a:p>
          <a:p>
            <a:pPr>
              <a:spcAft>
                <a:spcPts val="400"/>
              </a:spcAft>
            </a:pPr>
            <a:r>
              <a:rPr sz="1350" b="1">
                <a:solidFill>
                  <a:srgbClr val="8F3A22"/>
                </a:solidFill>
                <a:latin typeface="Calibri"/>
              </a:rPr>
              <a:t>8.  </a:t>
            </a:r>
            <a:r>
              <a:rPr sz="1350" b="1" i="0">
                <a:solidFill>
                  <a:srgbClr val="2A2622"/>
                </a:solidFill>
                <a:latin typeface="Calibri"/>
              </a:rPr>
              <a:t>Every ad creative has a written record:</a:t>
            </a:r>
            <a:r>
              <a:rPr sz="1350" b="0" i="0">
                <a:solidFill>
                  <a:srgbClr val="2A2622"/>
                </a:solidFill>
                <a:latin typeface="Calibri"/>
              </a:rPr>
              <a:t> who is in it (consent file), what claims it makes (safe-language check), where it runs. If it can't be defended in a sentence, it doesn't run.</a:t>
            </a:r>
          </a:p>
          <a:p>
            <a:pPr>
              <a:spcBef>
                <a:spcPts val="1000"/>
              </a:spcBef>
              <a:spcAft>
                <a:spcPts val="400"/>
              </a:spcAft>
            </a:pPr>
            <a:r>
              <a:rPr sz="1600" b="1" i="0">
                <a:solidFill>
                  <a:srgbClr val="8F3A22"/>
                </a:solidFill>
                <a:latin typeface="Calibri"/>
              </a:rPr>
              <a:t>SAFE vs UNSAFE — the claims table (use this on every caption/ad)</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369</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COMPLIANCE RULES (Section 29) — pin this to the wall</a:t>
            </a:r>
          </a:p>
          <a:p>
            <a:r>
              <a:rPr sz="1200" i="1">
                <a:solidFill>
                  <a:srgbClr val="57504A"/>
                </a:solidFill>
                <a:latin typeface="Calibri"/>
              </a:rPr>
              <a:t>PART 23 — Compliance Rules + CEO Final Verdict</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4" cy="5029200"/>
        </p:xfrm>
        <a:graphic>
          <a:graphicData uri="http://schemas.openxmlformats.org/drawingml/2006/table">
            <a:tbl>
              <a:tblPr firstRow="1" bandRow="1">
                <a:tableStyleId>{5C22544A-7EE6-4342-B048-85BDC9FD1C3A}</a:tableStyleId>
              </a:tblPr>
              <a:tblGrid>
                <a:gridCol w="5363249"/>
                <a:gridCol w="6188365"/>
              </a:tblGrid>
              <a:tr h="457200">
                <a:tc>
                  <a:txBody>
                    <a:bodyPr wrap="square"/>
                    <a:lstStyle/>
                    <a:p>
                      <a:r>
                        <a:rPr sz="1200" b="1" i="0">
                          <a:solidFill>
                            <a:srgbClr val="FFFFFF"/>
                          </a:solidFill>
                          <a:latin typeface="Calibri"/>
                        </a:rPr>
                        <a:t>UNSAFE (never)</a:t>
                      </a:r>
                    </a:p>
                  </a:txBody>
                  <a:tcPr marL="45720" marR="45720" marT="18288" marB="18288" anchor="t">
                    <a:solidFill>
                      <a:srgbClr val="B44A2E"/>
                    </a:solidFill>
                  </a:tcPr>
                </a:tc>
                <a:tc>
                  <a:txBody>
                    <a:bodyPr wrap="square"/>
                    <a:lstStyle/>
                    <a:p>
                      <a:r>
                        <a:rPr sz="1200" b="1" i="0">
                          <a:solidFill>
                            <a:srgbClr val="FFFFFF"/>
                          </a:solidFill>
                          <a:latin typeface="Calibri"/>
                        </a:rPr>
                        <a:t>SAFE (use)</a:t>
                      </a:r>
                    </a:p>
                  </a:txBody>
                  <a:tcPr marL="45720" marR="45720" marT="18288" marB="18288" anchor="t">
                    <a:solidFill>
                      <a:srgbClr val="B44A2E"/>
                    </a:solidFill>
                  </a:tcPr>
                </a:tc>
              </a:tr>
              <a:tr h="457200">
                <a:tc>
                  <a:txBody>
                    <a:bodyPr wrap="square"/>
                    <a:lstStyle/>
                    <a:p>
                      <a:r>
                        <a:rPr sz="1200" b="0" i="0">
                          <a:solidFill>
                            <a:srgbClr val="2A2622"/>
                          </a:solidFill>
                          <a:latin typeface="Calibri"/>
                        </a:rPr>
                        <a:t>"Tan remove karega / tan hamesha ke liye khatam"</a:t>
                      </a:r>
                    </a:p>
                  </a:txBody>
                  <a:tcPr marL="45720" marR="45720" marT="18288" marB="18288" anchor="t">
                    <a:solidFill>
                      <a:srgbClr val="FFFFFF"/>
                    </a:solidFill>
                  </a:tcPr>
                </a:tc>
                <a:tc>
                  <a:txBody>
                    <a:bodyPr wrap="square"/>
                    <a:lstStyle/>
                    <a:p>
                      <a:r>
                        <a:rPr sz="1200" b="0" i="0">
                          <a:solidFill>
                            <a:srgbClr val="2A2622"/>
                          </a:solidFill>
                          <a:latin typeface="Calibri"/>
                        </a:rPr>
                        <a:t>"Tan-look ko fresh dikhane me help karta hai" / "regular use me skin fresh dikhti hai"</a:t>
                      </a:r>
                    </a:p>
                  </a:txBody>
                  <a:tcPr marL="45720" marR="45720" marT="18288" marB="18288" anchor="t">
                    <a:solidFill>
                      <a:srgbClr val="FFFFFF"/>
                    </a:solidFill>
                  </a:tcPr>
                </a:tc>
              </a:tr>
              <a:tr h="457200">
                <a:tc>
                  <a:txBody>
                    <a:bodyPr wrap="square"/>
                    <a:lstStyle/>
                    <a:p>
                      <a:r>
                        <a:rPr sz="1200" b="0" i="0">
                          <a:solidFill>
                            <a:srgbClr val="2A2622"/>
                          </a:solidFill>
                          <a:latin typeface="Calibri"/>
                        </a:rPr>
                        <a:t>"Dark spots erase/cure"</a:t>
                      </a:r>
                    </a:p>
                  </a:txBody>
                  <a:tcPr marL="45720" marR="45720" marT="18288" marB="18288" anchor="t">
                    <a:solidFill>
                      <a:srgbClr val="F6F1E7"/>
                    </a:solidFill>
                  </a:tcPr>
                </a:tc>
                <a:tc>
                  <a:txBody>
                    <a:bodyPr wrap="square"/>
                    <a:lstStyle/>
                    <a:p>
                      <a:r>
                        <a:rPr sz="1200" b="0" i="0">
                          <a:solidFill>
                            <a:srgbClr val="2A2622"/>
                          </a:solidFill>
                          <a:latin typeface="Calibri"/>
                        </a:rPr>
                        <a:t>"Dark spots ka </a:t>
                      </a:r>
                      <a:r>
                        <a:rPr sz="1200" b="0" i="1">
                          <a:solidFill>
                            <a:srgbClr val="2A2622"/>
                          </a:solidFill>
                          <a:latin typeface="Calibri"/>
                        </a:rPr>
                        <a:t>dikhna</a:t>
                      </a:r>
                      <a:r>
                        <a:rPr sz="1200" b="0" i="0">
                          <a:solidFill>
                            <a:srgbClr val="2A2622"/>
                          </a:solidFill>
                          <a:latin typeface="Calibri"/>
                        </a:rPr>
                        <a:t> regular use me kam ho sakta hai — results vary"</a:t>
                      </a:r>
                    </a:p>
                  </a:txBody>
                  <a:tcPr marL="45720" marR="45720" marT="18288" marB="18288" anchor="t">
                    <a:solidFill>
                      <a:srgbClr val="F6F1E7"/>
                    </a:solidFill>
                  </a:tcPr>
                </a:tc>
              </a:tr>
              <a:tr h="457200">
                <a:tc>
                  <a:txBody>
                    <a:bodyPr wrap="square"/>
                    <a:lstStyle/>
                    <a:p>
                      <a:r>
                        <a:rPr sz="1200" b="0" i="0">
                          <a:solidFill>
                            <a:srgbClr val="2A2622"/>
                          </a:solidFill>
                          <a:latin typeface="Calibri"/>
                        </a:rPr>
                        <a:t>"Acne cures"</a:t>
                      </a:r>
                    </a:p>
                  </a:txBody>
                  <a:tcPr marL="45720" marR="45720" marT="18288" marB="18288" anchor="t">
                    <a:solidFill>
                      <a:srgbClr val="FFFFFF"/>
                    </a:solidFill>
                  </a:tcPr>
                </a:tc>
                <a:tc>
                  <a:txBody>
                    <a:bodyPr wrap="square"/>
                    <a:lstStyle/>
                    <a:p>
                      <a:r>
                        <a:rPr sz="1200" b="0" i="0">
                          <a:solidFill>
                            <a:srgbClr val="2A2622"/>
                          </a:solidFill>
                          <a:latin typeface="Calibri"/>
                        </a:rPr>
                        <a:t>"Gentle, formulated for acne-prone/sensitive skin; patch test recommended"</a:t>
                      </a:r>
                    </a:p>
                  </a:txBody>
                  <a:tcPr marL="45720" marR="45720" marT="18288" marB="18288" anchor="t">
                    <a:solidFill>
                      <a:srgbClr val="FFFFFF"/>
                    </a:solidFill>
                  </a:tcPr>
                </a:tc>
              </a:tr>
              <a:tr h="457200">
                <a:tc>
                  <a:txBody>
                    <a:bodyPr wrap="square"/>
                    <a:lstStyle/>
                    <a:p>
                      <a:r>
                        <a:rPr sz="1200" b="0" i="0">
                          <a:solidFill>
                            <a:srgbClr val="2A2622"/>
                          </a:solidFill>
                          <a:latin typeface="Calibri"/>
                        </a:rPr>
                        <a:t>"100% natural, chemical-free"</a:t>
                      </a:r>
                    </a:p>
                  </a:txBody>
                  <a:tcPr marL="45720" marR="45720" marT="18288" marB="18288" anchor="t">
                    <a:solidFill>
                      <a:srgbClr val="F6F1E7"/>
                    </a:solidFill>
                  </a:tcPr>
                </a:tc>
                <a:tc>
                  <a:txBody>
                    <a:bodyPr wrap="square"/>
                    <a:lstStyle/>
                    <a:p>
                      <a:r>
                        <a:rPr sz="1200" b="0" i="0">
                          <a:solidFill>
                            <a:srgbClr val="2A2622"/>
                          </a:solidFill>
                          <a:latin typeface="Calibri"/>
                        </a:rPr>
                        <a:t>"Simple ingredient list — label par sab likha hai"</a:t>
                      </a:r>
                    </a:p>
                  </a:txBody>
                  <a:tcPr marL="45720" marR="45720" marT="18288" marB="18288" anchor="t">
                    <a:solidFill>
                      <a:srgbClr val="F6F1E7"/>
                    </a:solidFill>
                  </a:tcPr>
                </a:tc>
              </a:tr>
              <a:tr h="457200">
                <a:tc>
                  <a:txBody>
                    <a:bodyPr wrap="square"/>
                    <a:lstStyle/>
                    <a:p>
                      <a:r>
                        <a:rPr sz="1200" b="0" i="0">
                          <a:solidFill>
                            <a:srgbClr val="2A2622"/>
                          </a:solidFill>
                          <a:latin typeface="Calibri"/>
                        </a:rPr>
                        <a:t>"3 din me full glow"</a:t>
                      </a:r>
                    </a:p>
                  </a:txBody>
                  <a:tcPr marL="45720" marR="45720" marT="18288" marB="18288" anchor="t">
                    <a:solidFill>
                      <a:srgbClr val="FFFFFF"/>
                    </a:solidFill>
                  </a:tcPr>
                </a:tc>
                <a:tc>
                  <a:txBody>
                    <a:bodyPr wrap="square"/>
                    <a:lstStyle/>
                    <a:p>
                      <a:r>
                        <a:rPr sz="1200" b="0" i="0">
                          <a:solidFill>
                            <a:srgbClr val="2A2622"/>
                          </a:solidFill>
                          <a:latin typeface="Calibri"/>
                        </a:rPr>
                        <a:t>"4–6 hafte ka honest timeline"</a:t>
                      </a:r>
                    </a:p>
                  </a:txBody>
                  <a:tcPr marL="45720" marR="45720" marT="18288" marB="18288" anchor="t">
                    <a:solidFill>
                      <a:srgbClr val="FFFFFF"/>
                    </a:solidFill>
                  </a:tcPr>
                </a:tc>
              </a:tr>
              <a:tr h="457200">
                <a:tc>
                  <a:txBody>
                    <a:bodyPr wrap="square"/>
                    <a:lstStyle/>
                    <a:p>
                      <a:r>
                        <a:rPr sz="1200" b="0" i="0">
                          <a:solidFill>
                            <a:srgbClr val="2A2622"/>
                          </a:solidFill>
                          <a:latin typeface="Calibri"/>
                        </a:rPr>
                        <a:t>"Reverses aging"</a:t>
                      </a:r>
                    </a:p>
                  </a:txBody>
                  <a:tcPr marL="45720" marR="45720" marT="18288" marB="18288" anchor="t">
                    <a:solidFill>
                      <a:srgbClr val="F6F1E7"/>
                    </a:solidFill>
                  </a:tcPr>
                </a:tc>
                <a:tc>
                  <a:txBody>
                    <a:bodyPr wrap="square"/>
                    <a:lstStyle/>
                    <a:p>
                      <a:r>
                        <a:rPr sz="1200" b="0" i="0">
                          <a:solidFill>
                            <a:srgbClr val="2A2622"/>
                          </a:solidFill>
                          <a:latin typeface="Calibri"/>
                        </a:rPr>
                        <a:t>"Age-look se related care — hydration + protection"</a:t>
                      </a:r>
                    </a:p>
                  </a:txBody>
                  <a:tcPr marL="45720" marR="45720" marT="18288" marB="18288" anchor="t">
                    <a:solidFill>
                      <a:srgbClr val="F6F1E7"/>
                    </a:solidFill>
                  </a:tcPr>
                </a:tc>
              </a:tr>
              <a:tr h="457200">
                <a:tc>
                  <a:txBody>
                    <a:bodyPr wrap="square"/>
                    <a:lstStyle/>
                    <a:p>
                      <a:r>
                        <a:rPr sz="1200" b="0" i="0">
                          <a:solidFill>
                            <a:srgbClr val="2A2622"/>
                          </a:solidFill>
                          <a:latin typeface="Calibri"/>
                        </a:rPr>
                        <a:t>"Dermatologist recommended" (unless true+documented)</a:t>
                      </a:r>
                    </a:p>
                  </a:txBody>
                  <a:tcPr marL="45720" marR="45720" marT="18288" marB="18288" anchor="t">
                    <a:solidFill>
                      <a:srgbClr val="FFFFFF"/>
                    </a:solidFill>
                  </a:tcPr>
                </a:tc>
                <a:tc>
                  <a:txBody>
                    <a:bodyPr wrap="square"/>
                    <a:lstStyle/>
                    <a:p>
                      <a:r>
                        <a:rPr sz="1200" b="0" i="0">
                          <a:solidFill>
                            <a:srgbClr val="2A2622"/>
                          </a:solidFill>
                          <a:latin typeface="Calibri"/>
                        </a:rPr>
                        <a:t>"Formulated for Indian skin" / "Certified facility me banaya" (if true)</a:t>
                      </a:r>
                    </a:p>
                  </a:txBody>
                  <a:tcPr marL="45720" marR="45720" marT="18288" marB="18288" anchor="t">
                    <a:solidFill>
                      <a:srgbClr val="FFFFFF"/>
                    </a:solidFill>
                  </a:tcPr>
                </a:tc>
              </a:tr>
              <a:tr h="457200">
                <a:tc>
                  <a:txBody>
                    <a:bodyPr wrap="square"/>
                    <a:lstStyle/>
                    <a:p>
                      <a:r>
                        <a:rPr sz="1200" b="0" i="0">
                          <a:solidFill>
                            <a:srgbClr val="2A2622"/>
                          </a:solidFill>
                          <a:latin typeface="Calibri"/>
                        </a:rPr>
                        <a:t>"90% OFF" from a never-sold MRP</a:t>
                      </a:r>
                    </a:p>
                  </a:txBody>
                  <a:tcPr marL="45720" marR="45720" marT="18288" marB="18288" anchor="t">
                    <a:solidFill>
                      <a:srgbClr val="F6F1E7"/>
                    </a:solidFill>
                  </a:tcPr>
                </a:tc>
                <a:tc>
                  <a:txBody>
                    <a:bodyPr wrap="square"/>
                    <a:lstStyle/>
                    <a:p>
                      <a:r>
                        <a:rPr sz="1200" b="0" i="0">
                          <a:solidFill>
                            <a:srgbClr val="2A2622"/>
                          </a:solidFill>
                          <a:latin typeface="Calibri"/>
                        </a:rPr>
                        <a:t>Launch price + free item (real value)</a:t>
                      </a:r>
                    </a:p>
                  </a:txBody>
                  <a:tcPr marL="45720" marR="45720" marT="18288" marB="18288" anchor="t">
                    <a:solidFill>
                      <a:srgbClr val="F6F1E7"/>
                    </a:solidFill>
                  </a:tcPr>
                </a:tc>
              </a:tr>
              <a:tr h="457200">
                <a:tc>
                  <a:txBody>
                    <a:bodyPr wrap="square"/>
                    <a:lstStyle/>
                    <a:p>
                      <a:r>
                        <a:rPr sz="1200" b="0" i="0">
                          <a:solidFill>
                            <a:srgbClr val="2A2622"/>
                          </a:solidFill>
                          <a:latin typeface="Calibri"/>
                        </a:rPr>
                        <a:t>"SOLD OUT!!!" when stock exists</a:t>
                      </a:r>
                    </a:p>
                  </a:txBody>
                  <a:tcPr marL="45720" marR="45720" marT="18288" marB="18288" anchor="t">
                    <a:solidFill>
                      <a:srgbClr val="FFFFFF"/>
                    </a:solidFill>
                  </a:tcPr>
                </a:tc>
                <a:tc>
                  <a:txBody>
                    <a:bodyPr wrap="square"/>
                    <a:lstStyle/>
                    <a:p>
                      <a:r>
                        <a:rPr sz="1200" b="0" i="0">
                          <a:solidFill>
                            <a:srgbClr val="2A2622"/>
                          </a:solidFill>
                          <a:latin typeface="Calibri"/>
                        </a:rPr>
                        <a:t>Real batch count: "X/100 seat bachi"</a:t>
                      </a:r>
                    </a:p>
                  </a:txBody>
                  <a:tcPr marL="45720" marR="45720" marT="18288" marB="18288" anchor="t">
                    <a:solidFill>
                      <a:srgbClr val="FFFFFF"/>
                    </a:solidFill>
                  </a:tcPr>
                </a:tc>
              </a:tr>
              <a:tr h="457200">
                <a:tc>
                  <a:txBody>
                    <a:bodyPr wrap="square"/>
                    <a:lstStyle/>
                    <a:p>
                      <a:r>
                        <a:rPr sz="1200" b="0" i="0">
                          <a:solidFill>
                            <a:srgbClr val="2A2622"/>
                          </a:solidFill>
                          <a:latin typeface="Calibri"/>
                        </a:rPr>
                        <a:t>"Everyone's glowing" (implied universal)</a:t>
                      </a:r>
                    </a:p>
                  </a:txBody>
                  <a:tcPr marL="45720" marR="45720" marT="18288" marB="18288" anchor="t">
                    <a:solidFill>
                      <a:srgbClr val="F6F1E7"/>
                    </a:solidFill>
                  </a:tcPr>
                </a:tc>
                <a:tc>
                  <a:txBody>
                    <a:bodyPr wrap="square"/>
                    <a:lstStyle/>
                    <a:p>
                      <a:r>
                        <a:rPr sz="1200" b="0" i="0">
                          <a:solidFill>
                            <a:srgbClr val="2A2622"/>
                          </a:solidFill>
                          <a:latin typeface="Calibri"/>
                        </a:rPr>
                        <a:t>"20 testers me se X ne kaha… — aapka experience alag ho sakta hai"</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370</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A: THE COMPLIANCE RULES (Section 29) — pin this to the wall</a:t>
            </a:r>
          </a:p>
          <a:p>
            <a:r>
              <a:rPr sz="1200" i="1">
                <a:solidFill>
                  <a:srgbClr val="57504A"/>
                </a:solidFill>
                <a:latin typeface="Calibri"/>
              </a:rPr>
              <a:t>PART 23 — Compliance Rules + CEO Final Verdict</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The one-litmus test for any line:</a:t>
            </a:r>
            <a:r>
              <a:rPr sz="1350" b="0" i="0">
                <a:solidFill>
                  <a:srgbClr val="2A2622"/>
                </a:solidFill>
                <a:latin typeface="Calibri"/>
              </a:rPr>
              <a:t> </a:t>
            </a:r>
            <a:r>
              <a:rPr sz="1350" b="0" i="1">
                <a:solidFill>
                  <a:srgbClr val="2A2622"/>
                </a:solidFill>
                <a:latin typeface="Calibri"/>
              </a:rPr>
              <a:t>"If this exact sentence appears on the packaging, can I show it to the manufacturer and a consumer-protection officer without flinching?"</a:t>
            </a:r>
            <a:r>
              <a:rPr sz="1350" b="0" i="0">
                <a:solidFill>
                  <a:srgbClr val="2A2622"/>
                </a:solidFill>
                <a:latin typeface="Calibri"/>
              </a:rPr>
              <a:t> If no → reword.</a:t>
            </a:r>
          </a:p>
          <a:p>
            <a:pPr>
              <a:spcAft>
                <a:spcPts val="700"/>
              </a:spcAft>
            </a:pPr>
            <a:r>
              <a:rPr sz="1350" b="1" i="0">
                <a:solidFill>
                  <a:srgbClr val="2A2622"/>
                </a:solidFill>
                <a:latin typeface="Calibri"/>
              </a:rPr>
              <a:t>Final note:</a:t>
            </a:r>
            <a:r>
              <a:rPr sz="1350" b="0" i="0">
                <a:solidFill>
                  <a:srgbClr val="2A2622"/>
                </a:solidFill>
                <a:latin typeface="Calibri"/>
              </a:rPr>
              <a:t> this plan is business strategy, not legal advice. Before scaling ad spend (₹2k+/day) and before Diwali, have a lawyer review the final ad copy + website claims against the Drugs &amp; Cosmetics Rules and ASCI Code. (Budget: ₹5–15k. It is the cheapest insurance in this entire document.)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371</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CEO FINAL VERDICT (Section 30)</a:t>
            </a:r>
          </a:p>
          <a:p>
            <a:r>
              <a:rPr sz="1200" i="1">
                <a:solidFill>
                  <a:srgbClr val="57504A"/>
                </a:solidFill>
                <a:latin typeface="Calibri"/>
              </a:rPr>
              <a:t>PART 23 — Compliance Rules + CEO Final Verdict</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1">
                <a:solidFill>
                  <a:srgbClr val="2A2622"/>
                </a:solidFill>
                <a:latin typeface="Calibri"/>
              </a:rPr>
              <a:t>If I owned RANGAT NATURALS — my money, my name on the door — here is exactly what I would do.</a:t>
            </a:r>
          </a:p>
          <a:p>
            <a:pPr>
              <a:spcBef>
                <a:spcPts val="1000"/>
              </a:spcBef>
              <a:spcAft>
                <a:spcPts val="400"/>
              </a:spcAft>
            </a:pPr>
            <a:r>
              <a:rPr sz="1600" b="1" i="0">
                <a:solidFill>
                  <a:srgbClr val="8F3A22"/>
                </a:solidFill>
                <a:latin typeface="Calibri"/>
              </a:rPr>
              <a:t>1. First product to promote</a:t>
            </a:r>
          </a:p>
          <a:p>
            <a:pPr>
              <a:spcAft>
                <a:spcPts val="700"/>
              </a:spcAft>
            </a:pPr>
            <a:r>
              <a:rPr sz="1350" b="1" i="0">
                <a:solidFill>
                  <a:srgbClr val="2A2622"/>
                </a:solidFill>
                <a:latin typeface="Calibri"/>
              </a:rPr>
              <a:t>Vitamin C Serum 10% — the hero.</a:t>
            </a:r>
            <a:r>
              <a:rPr sz="1350" b="0" i="0">
                <a:solidFill>
                  <a:srgbClr val="2A2622"/>
                </a:solidFill>
                <a:latin typeface="Calibri"/>
              </a:rPr>
              <a:t> It has the strongest visual story (glow-look), the best UGC/before-after compatibility, the cleanest "4–6 weeks" honest timeline, the biggest search demand in the category, and the right price point (₹599–799). </a:t>
            </a:r>
            <a:r>
              <a:rPr sz="1350" b="1" i="0">
                <a:solidFill>
                  <a:srgbClr val="2A2622"/>
                </a:solidFill>
                <a:latin typeface="Calibri"/>
              </a:rPr>
              <a:t>Face Wash launches alongside as the ₹249 entry ticket</a:t>
            </a:r>
            <a:r>
              <a:rPr sz="1350" b="0" i="0">
                <a:solidFill>
                  <a:srgbClr val="2A2622"/>
                </a:solidFill>
                <a:latin typeface="Calibri"/>
              </a:rPr>
              <a:t> (and the free mini in the launch box), </a:t>
            </a:r>
            <a:r>
              <a:rPr sz="1350" b="1" i="0">
                <a:solidFill>
                  <a:srgbClr val="2A2622"/>
                </a:solidFill>
                <a:latin typeface="Calibri"/>
              </a:rPr>
              <a:t>Moisturizer joins at Day 31 as the kit-completer.</a:t>
            </a:r>
            <a:r>
              <a:rPr sz="1350" b="0" i="0">
                <a:solidFill>
                  <a:srgbClr val="2A2622"/>
                </a:solidFill>
                <a:latin typeface="Calibri"/>
              </a:rPr>
              <a:t> Nothing else until Day 45 (Sunscreen). Every rupee of attention in Month 1 goes to one serum.</a:t>
            </a:r>
          </a:p>
          <a:p>
            <a:pPr>
              <a:spcBef>
                <a:spcPts val="1000"/>
              </a:spcBef>
              <a:spcAft>
                <a:spcPts val="400"/>
              </a:spcAft>
            </a:pPr>
            <a:r>
              <a:rPr sz="1600" b="1" i="0">
                <a:solidFill>
                  <a:srgbClr val="8F3A22"/>
                </a:solidFill>
                <a:latin typeface="Calibri"/>
              </a:rPr>
              <a:t>2. First customer segment</a:t>
            </a:r>
          </a:p>
          <a:p>
            <a:pPr>
              <a:spcAft>
                <a:spcPts val="700"/>
              </a:spcAft>
            </a:pPr>
            <a:r>
              <a:rPr sz="1350" b="1" i="0">
                <a:solidFill>
                  <a:srgbClr val="2A2622"/>
                </a:solidFill>
                <a:latin typeface="Calibri"/>
              </a:rPr>
              <a:t>Women 20–35, Ahmedabad + Gujarat metros</a:t>
            </a:r>
            <a:r>
              <a:rPr sz="1350" b="0" i="0">
                <a:solidFill>
                  <a:srgbClr val="2A2622"/>
                </a:solidFill>
                <a:latin typeface="Calibri"/>
              </a:rPr>
              <a:t> (Surat, Vadodara, Rajkot), urban/semi-urban, skin concerns = dullness, tan-look, oily/monsoon skin, will pay ₹399–₹999 for honest products, buy on Instagram/WhatsApp, COD-first, family-influenced decisions. Men (face wash/sunscreen) = Month 3+ side stream, never the lead.</a:t>
            </a:r>
          </a:p>
          <a:p>
            <a:pPr>
              <a:spcBef>
                <a:spcPts val="1000"/>
              </a:spcBef>
              <a:spcAft>
                <a:spcPts val="400"/>
              </a:spcAft>
            </a:pPr>
            <a:r>
              <a:rPr sz="1600" b="1" i="0">
                <a:solidFill>
                  <a:srgbClr val="8F3A22"/>
                </a:solidFill>
                <a:latin typeface="Calibri"/>
              </a:rPr>
              <a:t>3. First platform</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372</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CEO FINAL VERDICT (Section 30)</a:t>
            </a:r>
          </a:p>
          <a:p>
            <a:r>
              <a:rPr sz="1200" i="1">
                <a:solidFill>
                  <a:srgbClr val="57504A"/>
                </a:solidFill>
                <a:latin typeface="Calibri"/>
              </a:rPr>
              <a:t>PART 23 — Compliance Rules + CEO Final Verdict</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Instagram (Reels) for attention + WhatsApp Business for the close.</a:t>
            </a:r>
            <a:r>
              <a:rPr sz="1350" b="0" i="0">
                <a:solidFill>
                  <a:srgbClr val="2A2622"/>
                </a:solidFill>
                <a:latin typeface="Calibri"/>
              </a:rPr>
              <a:t> Not equal weight — IG is the stage, WhatsApp is the till. Facebook = free crosspost + ads reach. YouTube Shorts = 10 min/week search compounding. Pinterest = zero until 10k followers.</a:t>
            </a:r>
          </a:p>
          <a:p>
            <a:pPr>
              <a:spcBef>
                <a:spcPts val="1000"/>
              </a:spcBef>
              <a:spcAft>
                <a:spcPts val="400"/>
              </a:spcAft>
            </a:pPr>
            <a:r>
              <a:rPr sz="1600" b="1" i="0">
                <a:solidFill>
                  <a:srgbClr val="8F3A22"/>
                </a:solidFill>
                <a:latin typeface="Calibri"/>
              </a:rPr>
              <a:t>4. Posting frequency</a:t>
            </a:r>
          </a:p>
          <a:p>
            <a:pPr>
              <a:spcAft>
                <a:spcPts val="700"/>
              </a:spcAft>
            </a:pPr>
            <a:r>
              <a:rPr sz="1350" b="1" i="0">
                <a:solidFill>
                  <a:srgbClr val="2A2622"/>
                </a:solidFill>
                <a:latin typeface="Calibri"/>
              </a:rPr>
              <a:t>6 Reels/week + 2 Carousels/week + 3–5 Stories daily + 3 Shorts/week.</a:t>
            </a:r>
            <a:r>
              <a:rPr sz="1350" b="0" i="0">
                <a:solidFill>
                  <a:srgbClr val="2A2622"/>
                </a:solidFill>
                <a:latin typeface="Calibri"/>
              </a:rPr>
              <a:t> Batch-shot on 2 days (Tue/Thu), scripted every Sunday. That's ~12–15 hrs/week of content ops total. More is waste; less is death.</a:t>
            </a:r>
          </a:p>
          <a:p>
            <a:pPr>
              <a:spcBef>
                <a:spcPts val="1000"/>
              </a:spcBef>
              <a:spcAft>
                <a:spcPts val="400"/>
              </a:spcAft>
            </a:pPr>
            <a:r>
              <a:rPr sz="1600" b="1" i="0">
                <a:solidFill>
                  <a:srgbClr val="8F3A22"/>
                </a:solidFill>
                <a:latin typeface="Calibri"/>
              </a:rPr>
              <a:t>5. First 10 Reel ideas (in order, Day 1–21)</a:t>
            </a:r>
          </a:p>
          <a:p>
            <a:pPr>
              <a:spcAft>
                <a:spcPts val="400"/>
              </a:spcAft>
            </a:pPr>
            <a:r>
              <a:rPr sz="1350" b="1">
                <a:solidFill>
                  <a:srgbClr val="8F3A22"/>
                </a:solidFill>
                <a:latin typeface="Calibri"/>
              </a:rPr>
              <a:t>1.  </a:t>
            </a:r>
            <a:r>
              <a:rPr sz="1350" b="1" i="0">
                <a:solidFill>
                  <a:srgbClr val="2A2622"/>
                </a:solidFill>
                <a:latin typeface="Calibri"/>
              </a:rPr>
              <a:t>Founder intro:</a:t>
            </a:r>
            <a:r>
              <a:rPr sz="1350" b="0" i="0">
                <a:solidFill>
                  <a:srgbClr val="2A2622"/>
                </a:solidFill>
                <a:latin typeface="Calibri"/>
              </a:rPr>
              <a:t> "Zero followers, ek sachchi shuruwat — 30 din ka safar, sab asli me."</a:t>
            </a:r>
          </a:p>
          <a:p>
            <a:pPr>
              <a:spcAft>
                <a:spcPts val="400"/>
              </a:spcAft>
            </a:pPr>
            <a:r>
              <a:rPr sz="1350" b="1">
                <a:solidFill>
                  <a:srgbClr val="8F3A22"/>
                </a:solidFill>
                <a:latin typeface="Calibri"/>
              </a:rPr>
              <a:t>2.  </a:t>
            </a:r>
            <a:r>
              <a:rPr sz="1350" b="1" i="0">
                <a:solidFill>
                  <a:srgbClr val="2A2622"/>
                </a:solidFill>
                <a:latin typeface="Calibri"/>
              </a:rPr>
              <a:t>Problem (Gujarat):</a:t>
            </a:r>
            <a:r>
              <a:rPr sz="1350" b="0" i="0">
                <a:solidFill>
                  <a:srgbClr val="2A2622"/>
                </a:solidFill>
                <a:latin typeface="Calibri"/>
              </a:rPr>
              <a:t> "Gujarat me 40 degree — aapki skin abhi kya kar rahi hai?"</a:t>
            </a:r>
          </a:p>
          <a:p>
            <a:pPr>
              <a:spcAft>
                <a:spcPts val="400"/>
              </a:spcAft>
            </a:pPr>
            <a:r>
              <a:rPr sz="1350" b="1">
                <a:solidFill>
                  <a:srgbClr val="8F3A22"/>
                </a:solidFill>
                <a:latin typeface="Calibri"/>
              </a:rPr>
              <a:t>3.  </a:t>
            </a:r>
            <a:r>
              <a:rPr sz="1350" b="1" i="0">
                <a:solidFill>
                  <a:srgbClr val="2A2622"/>
                </a:solidFill>
                <a:latin typeface="Calibri"/>
              </a:rPr>
              <a:t>Education save-bait:</a:t>
            </a:r>
            <a:r>
              <a:rPr sz="1350" b="0" i="0">
                <a:solidFill>
                  <a:srgbClr val="2A2622"/>
                </a:solidFill>
                <a:latin typeface="Calibri"/>
              </a:rPr>
              <a:t> "5 cheezein jo aapki skin ko ROZ kharab kar rahi hain (#3 sab common)."</a:t>
            </a:r>
          </a:p>
          <a:p>
            <a:pPr>
              <a:spcAft>
                <a:spcPts val="400"/>
              </a:spcAft>
            </a:pPr>
            <a:r>
              <a:rPr sz="1350" b="1">
                <a:solidFill>
                  <a:srgbClr val="8F3A22"/>
                </a:solidFill>
                <a:latin typeface="Calibri"/>
              </a:rPr>
              <a:t>4.  </a:t>
            </a:r>
            <a:r>
              <a:rPr sz="1350" b="1" i="0">
                <a:solidFill>
                  <a:srgbClr val="2A2622"/>
                </a:solidFill>
                <a:latin typeface="Calibri"/>
              </a:rPr>
              <a:t>Myth:</a:t>
            </a:r>
            <a:r>
              <a:rPr sz="1350" b="0" i="0">
                <a:solidFill>
                  <a:srgbClr val="2A2622"/>
                </a:solidFill>
                <a:latin typeface="Calibri"/>
              </a:rPr>
              <a:t> "'100% herbal' likha hai toh lagao? Yeh sach jano."</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373</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CEO FINAL VERDICT (Section 30)</a:t>
            </a:r>
          </a:p>
          <a:p>
            <a:r>
              <a:rPr sz="1200" i="1">
                <a:solidFill>
                  <a:srgbClr val="57504A"/>
                </a:solidFill>
                <a:latin typeface="Calibri"/>
              </a:rPr>
              <a:t>PART 23 — Compliance Rules + CEO Final Verdict</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b="1">
                <a:solidFill>
                  <a:srgbClr val="8F3A22"/>
                </a:solidFill>
                <a:latin typeface="Calibri"/>
              </a:rPr>
              <a:t>5.  </a:t>
            </a:r>
            <a:r>
              <a:rPr sz="1350" b="1" i="0">
                <a:solidFill>
                  <a:srgbClr val="2A2622"/>
                </a:solidFill>
                <a:latin typeface="Calibri"/>
              </a:rPr>
              <a:t>Relatable (G, share-machine):</a:t>
            </a:r>
            <a:r>
              <a:rPr sz="1350" b="0" i="0">
                <a:solidFill>
                  <a:srgbClr val="2A2622"/>
                </a:solidFill>
                <a:latin typeface="Calibri"/>
              </a:rPr>
              <a:t> "Gujarati ghar me pehli baar 'skincare' shuru ki? Watch this." (maa skit)</a:t>
            </a:r>
          </a:p>
          <a:p>
            <a:pPr>
              <a:spcAft>
                <a:spcPts val="400"/>
              </a:spcAft>
            </a:pPr>
            <a:r>
              <a:rPr sz="1350" b="1">
                <a:solidFill>
                  <a:srgbClr val="8F3A22"/>
                </a:solidFill>
                <a:latin typeface="Calibri"/>
              </a:rPr>
              <a:t>6.  </a:t>
            </a:r>
            <a:r>
              <a:rPr sz="1350" b="1" i="0">
                <a:solidFill>
                  <a:srgbClr val="2A2622"/>
                </a:solidFill>
                <a:latin typeface="Calibri"/>
              </a:rPr>
              <a:t>Brand story/teaser:</a:t>
            </a:r>
            <a:r>
              <a:rPr sz="1350" b="0" i="0">
                <a:solidFill>
                  <a:srgbClr val="2A2622"/>
                </a:solidFill>
                <a:latin typeface="Calibri"/>
              </a:rPr>
              <a:t> "3 mahine humne sirf ek serum dhoondha."</a:t>
            </a:r>
          </a:p>
          <a:p>
            <a:pPr>
              <a:spcAft>
                <a:spcPts val="400"/>
              </a:spcAft>
            </a:pPr>
            <a:r>
              <a:rPr sz="1350" b="1">
                <a:solidFill>
                  <a:srgbClr val="8F3A22"/>
                </a:solidFill>
                <a:latin typeface="Calibri"/>
              </a:rPr>
              <a:t>7.  </a:t>
            </a:r>
            <a:r>
              <a:rPr sz="1350" b="1" i="0">
                <a:solidFill>
                  <a:srgbClr val="2A2622"/>
                </a:solidFill>
                <a:latin typeface="Calibri"/>
              </a:rPr>
              <a:t>Hero product intro:</a:t>
            </a:r>
            <a:r>
              <a:rPr sz="1350" b="0" i="0">
                <a:solidFill>
                  <a:srgbClr val="2A2622"/>
                </a:solidFill>
                <a:latin typeface="Calibri"/>
              </a:rPr>
              <a:t> "Mila karo: RANGAT Vitamin C 10% — 4–6 hafte ka honest timeline. GLOW likho."</a:t>
            </a:r>
          </a:p>
          <a:p>
            <a:pPr>
              <a:spcAft>
                <a:spcPts val="400"/>
              </a:spcAft>
            </a:pPr>
            <a:r>
              <a:rPr sz="1350" b="1">
                <a:solidFill>
                  <a:srgbClr val="8F3A22"/>
                </a:solidFill>
                <a:latin typeface="Calibri"/>
              </a:rPr>
              <a:t>8.  </a:t>
            </a:r>
            <a:r>
              <a:rPr sz="1350" b="1" i="0">
                <a:solidFill>
                  <a:srgbClr val="2A2622"/>
                </a:solidFill>
                <a:latin typeface="Calibri"/>
              </a:rPr>
              <a:t>How-to save-bait:</a:t>
            </a:r>
            <a:r>
              <a:rPr sz="1350" b="0" i="0">
                <a:solidFill>
                  <a:srgbClr val="2A2622"/>
                </a:solidFill>
                <a:latin typeface="Calibri"/>
              </a:rPr>
              <a:t> "Vitamin C serum 99% log galat lagate hain. 5 steps, 40 second."</a:t>
            </a:r>
          </a:p>
          <a:p>
            <a:pPr>
              <a:spcAft>
                <a:spcPts val="400"/>
              </a:spcAft>
            </a:pPr>
            <a:r>
              <a:rPr sz="1350" b="1">
                <a:solidFill>
                  <a:srgbClr val="8F3A22"/>
                </a:solidFill>
                <a:latin typeface="Calibri"/>
              </a:rPr>
              <a:t>9.  </a:t>
            </a:r>
            <a:r>
              <a:rPr sz="1350" b="1" i="0">
                <a:solidFill>
                  <a:srgbClr val="2A2622"/>
                </a:solidFill>
                <a:latin typeface="Calibri"/>
              </a:rPr>
              <a:t>First real tester:</a:t>
            </a:r>
            <a:r>
              <a:rPr sz="1350" b="0" i="0">
                <a:solidFill>
                  <a:srgbClr val="2A2622"/>
                </a:solidFill>
                <a:latin typeface="Calibri"/>
              </a:rPr>
              <a:t> "2 hafte Vitamin C lagaya — sachchi baat, achi bhi, kami bhi."</a:t>
            </a:r>
          </a:p>
          <a:p>
            <a:pPr>
              <a:spcAft>
                <a:spcPts val="400"/>
              </a:spcAft>
            </a:pPr>
            <a:r>
              <a:rPr sz="1350" b="1">
                <a:solidFill>
                  <a:srgbClr val="8F3A22"/>
                </a:solidFill>
                <a:latin typeface="Calibri"/>
              </a:rPr>
              <a:t>10.  </a:t>
            </a:r>
            <a:r>
              <a:rPr sz="1350" b="1" i="0">
                <a:solidFill>
                  <a:srgbClr val="2A2622"/>
                </a:solidFill>
                <a:latin typeface="Calibri"/>
              </a:rPr>
              <a:t>🔥 The trust drop (Day 17):</a:t>
            </a:r>
            <a:r>
              <a:rPr sz="1350" b="0" i="0">
                <a:solidFill>
                  <a:srgbClr val="2A2622"/>
                </a:solidFill>
                <a:latin typeface="Calibri"/>
              </a:rPr>
              <a:t> "4 hafte. 20 aahaiyan. Same light, same angle, zero filter. Asli photos." → then D21 </a:t>
            </a:r>
            <a:r>
              <a:rPr sz="1350" b="1" i="0">
                <a:solidFill>
                  <a:srgbClr val="2A2622"/>
                </a:solidFill>
                <a:latin typeface="Calibri"/>
              </a:rPr>
              <a:t>LAUNCH:</a:t>
            </a:r>
            <a:r>
              <a:rPr sz="1350" b="0" i="0">
                <a:solidFill>
                  <a:srgbClr val="2A2622"/>
                </a:solidFill>
                <a:latin typeface="Calibri"/>
              </a:rPr>
              <a:t> "Founding 100 — FREE Face Wash mini + FREE shipping + COD. DM 'GLOW'."</a:t>
            </a:r>
          </a:p>
          <a:p>
            <a:pPr>
              <a:spcBef>
                <a:spcPts val="1000"/>
              </a:spcBef>
              <a:spcAft>
                <a:spcPts val="400"/>
              </a:spcAft>
            </a:pPr>
            <a:r>
              <a:rPr sz="1600" b="1" i="0">
                <a:solidFill>
                  <a:srgbClr val="8F3A22"/>
                </a:solidFill>
                <a:latin typeface="Calibri"/>
              </a:rPr>
              <a:t>6. First Meta Ad</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374</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CEO FINAL VERDICT (Section 30)</a:t>
            </a:r>
          </a:p>
          <a:p>
            <a:r>
              <a:rPr sz="1200" i="1">
                <a:solidFill>
                  <a:srgbClr val="57504A"/>
                </a:solidFill>
                <a:latin typeface="Calibri"/>
              </a:rPr>
              <a:t>PART 23 — Compliance Rules + CEO Final Verdict</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"The Story Testimonial"</a:t>
            </a:r>
            <a:r>
              <a:rPr sz="1350" b="0" i="0">
                <a:solidFill>
                  <a:srgbClr val="2A2622"/>
                </a:solidFill>
                <a:latin typeface="Calibri"/>
              </a:rPr>
              <a:t> (Ad 1 in </a:t>
            </a:r>
            <a:r>
              <a:rPr sz="1200" b="0" i="0">
                <a:solidFill>
                  <a:srgbClr val="8F3A22"/>
                </a:solidFill>
                <a:latin typeface="Consolas"/>
              </a:rPr>
              <a:t>17-sales-ads-library</a:t>
            </a:r>
            <a:r>
              <a:rPr sz="1350" b="0" i="0">
                <a:solidFill>
                  <a:srgbClr val="2A2622"/>
                </a:solidFill>
                <a:latin typeface="Calibri"/>
              </a:rPr>
              <a:t>): the real customer's "4 baar delete karke order kiya" 30s UGC video · hook frame: "Naya brand. Pehli baar. 4 baar cart se hataya." · primary text = the honest-proof text · headline: "COD + Return — pehli baar naye brand se, tension nahi" · CTA: </a:t>
            </a:r>
            <a:r>
              <a:rPr sz="1350" b="1" i="0">
                <a:solidFill>
                  <a:srgbClr val="2A2622"/>
                </a:solidFill>
                <a:latin typeface="Calibri"/>
              </a:rPr>
              <a:t>Send WhatsApp Message</a:t>
            </a:r>
            <a:r>
              <a:rPr sz="1350" b="0" i="0">
                <a:solidFill>
                  <a:srgbClr val="2A2622"/>
                </a:solidFill>
                <a:latin typeface="Calibri"/>
              </a:rPr>
              <a:t> · audience: 20–40, women, Ahmedabad broad + interest ad set All-Gujarat · live </a:t>
            </a:r>
            <a:r>
              <a:rPr sz="1350" b="1" i="0">
                <a:solidFill>
                  <a:srgbClr val="2A2622"/>
                </a:solidFill>
                <a:latin typeface="Calibri"/>
              </a:rPr>
              <a:t>Day 21 at ₹500/day</a:t>
            </a:r>
            <a:r>
              <a:rPr sz="1350" b="0" i="0">
                <a:solidFill>
                  <a:srgbClr val="2A2622"/>
                </a:solidFill>
                <a:latin typeface="Calibri"/>
              </a:rPr>
              <a:t> — </a:t>
            </a:r>
            <a:r>
              <a:rPr sz="1350" b="0" i="1">
                <a:solidFill>
                  <a:srgbClr val="2A2622"/>
                </a:solidFill>
                <a:latin typeface="Calibri"/>
              </a:rPr>
              <a:t>after</a:t>
            </a:r>
            <a:r>
              <a:rPr sz="1350" b="0" i="0">
                <a:solidFill>
                  <a:srgbClr val="2A2622"/>
                </a:solidFill>
                <a:latin typeface="Calibri"/>
              </a:rPr>
              <a:t> the D17 proof exists. Not one day before.</a:t>
            </a:r>
          </a:p>
          <a:p>
            <a:pPr>
              <a:spcBef>
                <a:spcPts val="1000"/>
              </a:spcBef>
              <a:spcAft>
                <a:spcPts val="400"/>
              </a:spcAft>
            </a:pPr>
            <a:r>
              <a:rPr sz="1600" b="1" i="0">
                <a:solidFill>
                  <a:srgbClr val="8F3A22"/>
                </a:solidFill>
                <a:latin typeface="Calibri"/>
              </a:rPr>
              <a:t>7. Daily ad budget</a:t>
            </a:r>
          </a:p>
          <a:p>
            <a:pPr>
              <a:spcAft>
                <a:spcPts val="700"/>
              </a:spcAft>
            </a:pPr>
            <a:r>
              <a:rPr sz="1350" b="1" i="0">
                <a:solidFill>
                  <a:srgbClr val="2A2622"/>
                </a:solidFill>
                <a:latin typeface="Calibri"/>
              </a:rPr>
              <a:t>₹500/day from Day 21.</a:t>
            </a:r>
            <a:r>
              <a:rPr sz="1350" b="0" i="0">
                <a:solidFill>
                  <a:srgbClr val="2A2622"/>
                </a:solidFill>
                <a:latin typeface="Calibri"/>
              </a:rPr>
              <a:t> Day 15–20: optional ₹200/day on one organic-validated reel (followers only). Scale rule: +30% every 48h on winners while CPA ≤ 1.2× target. Day 35: +₹500 (LAL campaign). Day 60: +₹1,000 (scale campaign). </a:t>
            </a:r>
            <a:r>
              <a:rPr sz="1350" b="1" i="0">
                <a:solidFill>
                  <a:srgbClr val="2A2622"/>
                </a:solidFill>
                <a:latin typeface="Calibri"/>
              </a:rPr>
              <a:t>Total path: ₹500 → ₹1,000 → ₹2,000 → ₹3,000/day by Day 90 — every step gated on CPA/ROAS, not on ambition.</a:t>
            </a:r>
            <a:r>
              <a:rPr sz="1350" b="0" i="0">
                <a:solidFill>
                  <a:srgbClr val="2A2622"/>
                </a:solidFill>
                <a:latin typeface="Calibri"/>
              </a:rPr>
              <a:t> (Full math: </a:t>
            </a:r>
            <a:r>
              <a:rPr sz="1200" b="0" i="0">
                <a:solidFill>
                  <a:srgbClr val="8F3A22"/>
                </a:solidFill>
                <a:latin typeface="Consolas"/>
              </a:rPr>
              <a:t>15-meta-ads-campaigns-budgets.md</a:t>
            </a:r>
            <a:r>
              <a:rPr sz="1350" b="0" i="0">
                <a:solidFill>
                  <a:srgbClr val="2A2622"/>
                </a:solidFill>
                <a:latin typeface="Calibri"/>
              </a:rPr>
              <a:t>.)</a:t>
            </a:r>
          </a:p>
          <a:p>
            <a:pPr>
              <a:spcBef>
                <a:spcPts val="1000"/>
              </a:spcBef>
              <a:spcAft>
                <a:spcPts val="400"/>
              </a:spcAft>
            </a:pPr>
            <a:r>
              <a:rPr sz="1600" b="1" i="0">
                <a:solidFill>
                  <a:srgbClr val="8F3A22"/>
                </a:solidFill>
                <a:latin typeface="Calibri"/>
              </a:rPr>
              <a:t>8. First 30-day sales strategy (the one paragraph)</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375</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CEO FINAL VERDICT (Section 30)</a:t>
            </a:r>
          </a:p>
          <a:p>
            <a:r>
              <a:rPr sz="1200" i="1">
                <a:solidFill>
                  <a:srgbClr val="57504A"/>
                </a:solidFill>
                <a:latin typeface="Calibri"/>
              </a:rPr>
              <a:t>PART 23 — Compliance Rules + CEO Final Verdict</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Weeks 1–2: zero selling — build the 20-tester program, the founder's face, and the "GLOW" DM waitlist (300+ by Day 14). Week 3: drop the Day-28 disclosed before/after + one creator collab; announce the batch. Day 21: </a:t>
            </a:r>
            <a:r>
              <a:rPr sz="1350" b="1" i="0">
                <a:solidFill>
                  <a:srgbClr val="2A2622"/>
                </a:solidFill>
                <a:latin typeface="Calibri"/>
              </a:rPr>
              <a:t>Founding 100 launch</a:t>
            </a:r>
            <a:r>
              <a:rPr sz="1350" b="0" i="0">
                <a:solidFill>
                  <a:srgbClr val="2A2622"/>
                </a:solidFill>
                <a:latin typeface="Calibri"/>
              </a:rPr>
              <a:t> — launch price + FREE Face Wash mini + FREE shipping + COD + "your review on our page," real 100-unit constraint, triple touch (reel + Stories + WhatsApp broadcast), ads on. Days 22–30: objection killer, 60-sec routine (kit logic), unboxing, testimonial, real seat-count close. </a:t>
            </a:r>
            <a:r>
              <a:rPr sz="1350" b="1" i="0">
                <a:solidFill>
                  <a:srgbClr val="2A2622"/>
                </a:solidFill>
                <a:latin typeface="Calibri"/>
              </a:rPr>
              <a:t>Target: 100 orders, 600+ GLOW DMs, 15+ UGC assets, WhatsApp list 300+.</a:t>
            </a:r>
            <a:r>
              <a:rPr sz="1350" b="0" i="0">
                <a:solidFill>
                  <a:srgbClr val="2A2622"/>
                </a:solidFill>
                <a:latin typeface="Calibri"/>
              </a:rPr>
              <a:t> Every order: 5-touch shipping comms + Day-1/7/14 WhatsApp sequence starting the review flywheel.</a:t>
            </a:r>
          </a:p>
          <a:p>
            <a:pPr>
              <a:spcBef>
                <a:spcPts val="1000"/>
              </a:spcBef>
              <a:spcAft>
                <a:spcPts val="400"/>
              </a:spcAft>
            </a:pPr>
            <a:r>
              <a:rPr sz="1600" b="1" i="0">
                <a:solidFill>
                  <a:srgbClr val="8F3A22"/>
                </a:solidFill>
                <a:latin typeface="Calibri"/>
              </a:rPr>
              <a:t>9. First 100-customer strategy (the one paragraph)</a:t>
            </a:r>
          </a:p>
          <a:p>
            <a:pPr>
              <a:spcAft>
                <a:spcPts val="700"/>
              </a:spcAft>
            </a:pPr>
            <a:r>
              <a:rPr sz="1350" b="1" i="0">
                <a:solidFill>
                  <a:srgbClr val="2A2622"/>
                </a:solidFill>
                <a:latin typeface="Calibri"/>
              </a:rPr>
              <a:t>DMs close 60–70% of them.</a:t>
            </a:r>
            <a:r>
              <a:rPr sz="1350" b="0" i="0">
                <a:solidFill>
                  <a:srgbClr val="2A2622"/>
                </a:solidFill>
                <a:latin typeface="Calibri"/>
              </a:rPr>
              <a:t> GLOW keyword everywhere; 15-minute human reply SLA; the 5-step GLOW script; auto-reply with a time promise; every comment gets a 2-line real reply. </a:t>
            </a:r>
            <a:r>
              <a:rPr sz="1350" b="1" i="0">
                <a:solidFill>
                  <a:srgbClr val="2A2622"/>
                </a:solidFill>
                <a:latin typeface="Calibri"/>
              </a:rPr>
              <a:t>Creators close 15–25%:</a:t>
            </a:r>
            <a:r>
              <a:rPr sz="1350" b="0" i="0">
                <a:solidFill>
                  <a:srgbClr val="2A2622"/>
                </a:solidFill>
                <a:latin typeface="Calibri"/>
              </a:rPr>
              <a:t> 10 micro-creators (Gujarat-first), product + ₹500–1,500 + 20% affiliate, 1 collab pre-launch, 2 in launch week, consent + ad rights in writing. </a:t>
            </a:r>
            <a:r>
              <a:rPr sz="1350" b="1" i="0">
                <a:solidFill>
                  <a:srgbClr val="2A2622"/>
                </a:solidFill>
                <a:latin typeface="Calibri"/>
              </a:rPr>
              <a:t>Ads close 30–50% from Day 21</a:t>
            </a:r>
            <a:r>
              <a:rPr sz="1350" b="0" i="0">
                <a:solidFill>
                  <a:srgbClr val="2A2622"/>
                </a:solidFill>
                <a:latin typeface="Calibri"/>
              </a:rPr>
              <a:t> at ₹500/day on proof-carrying creatives. </a:t>
            </a:r>
            <a:r>
              <a:rPr sz="1350" b="1" i="0">
                <a:solidFill>
                  <a:srgbClr val="2A2622"/>
                </a:solidFill>
                <a:latin typeface="Calibri"/>
              </a:rPr>
              <a:t>Referral starts Day 29</a:t>
            </a:r>
            <a:r>
              <a:rPr sz="1350" b="0" i="0">
                <a:solidFill>
                  <a:srgbClr val="2A2622"/>
                </a:solidFill>
                <a:latin typeface="Calibri"/>
              </a:rPr>
              <a:t> ("Do ₹100, Lo ₹100") and the Day-14 review message carries the ask. The offer (Founding 100) removes every psychological blocker at once — price, trial risk, waste fear, identity. If behind at Day 30, diagnose the DM pipeline before spending a rupee more.</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376</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PART B: THE CEO FINAL VERDICT (Section 30)</a:t>
            </a:r>
          </a:p>
          <a:p>
            <a:r>
              <a:rPr sz="1200" i="1">
                <a:solidFill>
                  <a:srgbClr val="57504A"/>
                </a:solidFill>
                <a:latin typeface="Calibri"/>
              </a:rPr>
              <a:t>PART 23 — Compliance Rules + CEO Final Verdict</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10. The biggest mistake to avoid</a:t>
            </a:r>
          </a:p>
          <a:p>
            <a:pPr>
              <a:spcAft>
                <a:spcPts val="700"/>
              </a:spcAft>
            </a:pPr>
            <a:r>
              <a:rPr sz="1350" b="1" i="0">
                <a:solidFill>
                  <a:srgbClr val="2A2622"/>
                </a:solidFill>
                <a:latin typeface="Calibri"/>
              </a:rPr>
              <a:t>Selling before you're believable.</a:t>
            </a:r>
            <a:r>
              <a:rPr sz="1350" b="0" i="0">
                <a:solidFill>
                  <a:srgbClr val="2A2622"/>
                </a:solidFill>
                <a:latin typeface="Calibri"/>
              </a:rPr>
              <a:t> The exact failure sequence of most new Indian D2C brands: launch 10 products on Day 1, run ads on Day 2, chase "10k followers in a month" with engagement bait, fake a "SOLD OUT," use one AI-glow before/after — and then </a:t>
            </a:r>
            <a:r>
              <a:rPr sz="1350" b="0" i="1">
                <a:solidFill>
                  <a:srgbClr val="2A2622"/>
                </a:solidFill>
                <a:latin typeface="Calibri"/>
              </a:rPr>
              <a:t>wonder why</a:t>
            </a:r>
            <a:r>
              <a:rPr sz="1350" b="0" i="0">
                <a:solidFill>
                  <a:srgbClr val="2A2622"/>
                </a:solidFill>
                <a:latin typeface="Calibri"/>
              </a:rPr>
              <a:t> nobody orders, because the profile shows a brand with no proof, no face, no reviews, and three "70% OFF" stickers. </a:t>
            </a:r>
            <a:r>
              <a:rPr sz="1350" b="1" i="0">
                <a:solidFill>
                  <a:srgbClr val="2A2622"/>
                </a:solidFill>
                <a:latin typeface="Calibri"/>
              </a:rPr>
              <a:t>Trust is a sequence, not a campaign.</a:t>
            </a:r>
            <a:r>
              <a:rPr sz="1350" b="0" i="0">
                <a:solidFill>
                  <a:srgbClr val="2A2622"/>
                </a:solidFill>
                <a:latin typeface="Calibri"/>
              </a:rPr>
              <a:t> Proof (20 testers, 4 weeks, real photos) → offer (real, once) → scale (only what CPA/ROAS allows). The second-biggest mistake is its twin: </a:t>
            </a:r>
            <a:r>
              <a:rPr sz="1350" b="1" i="0">
                <a:solidFill>
                  <a:srgbClr val="2A2622"/>
                </a:solidFill>
                <a:latin typeface="Calibri"/>
              </a:rPr>
              <a:t>chasing likes instead of DMs</a:t>
            </a:r>
            <a:r>
              <a:rPr sz="1350" b="0" i="0">
                <a:solidFill>
                  <a:srgbClr val="2A2622"/>
                </a:solidFill>
                <a:latin typeface="Calibri"/>
              </a:rPr>
              <a:t> — a 5k-follower account with 5 DMs/week is dead; a 500-follower account with 50 DMs/week is a business.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377</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5" name="Rectangle 4"/>
          <p:cNvSpPr/>
          <p:nvPr/>
        </p:nvSpPr>
        <p:spPr>
          <a:xfrm>
            <a:off x="320040" y="1261872"/>
            <a:ext cx="11551615" cy="5212080"/>
          </a:xfrm>
          <a:prstGeom prst="rect">
            <a:avLst/>
          </a:prstGeom>
          <a:solidFill>
            <a:srgbClr val="F1EDE4"/>
          </a:solidFill>
          <a:ln w="9525">
            <a:solidFill>
              <a:srgbClr val="D8CF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RANGAT NATURALS 90-DAY SOCIAL MEDIA + SALES MASTER PLAN (one page)</a:t>
            </a:r>
          </a:p>
          <a:p>
            <a:r>
              <a:rPr sz="1200" i="1">
                <a:solidFill>
                  <a:srgbClr val="57504A"/>
                </a:solidFill>
                <a:latin typeface="Calibri"/>
              </a:rPr>
              <a:t>PART 23 — Compliance Rules + CEO Final Verdict</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0"/>
            <a:ext cx="11460175" cy="4937760"/>
          </a:xfrm>
          <a:prstGeom prst="rect">
            <a:avLst/>
          </a:prstGeom>
          <a:noFill/>
        </p:spPr>
        <p:txBody>
          <a:bodyPr wrap="square">
            <a:spAutoFit/>
          </a:bodyPr>
          <a:lstStyle/>
          <a:p>
            <a:pPr>
              <a:spcAft>
                <a:spcPts val="100"/>
              </a:spcAft>
            </a:pPr>
            <a:r>
              <a:rPr sz="1150">
                <a:solidFill>
                  <a:srgbClr val="2A2622"/>
                </a:solidFill>
                <a:latin typeface="Consolas"/>
              </a:rPr>
              <a:t>GOAL: ATTENTION → TRUST → CUSTOMERS → SALES → REPEAT → PROFIT → BRAND GROWTH</a:t>
            </a:r>
          </a:p>
          <a:p>
            <a:pPr>
              <a:spcAft>
                <a:spcPts val="100"/>
              </a:spcAft>
            </a:pPr>
            <a:r>
              <a:rPr sz="1150">
                <a:solidFill>
                  <a:srgbClr val="2A2622"/>
                </a:solidFill>
                <a:latin typeface="Consolas"/>
              </a:rPr>
              <a:t>HERO: Vitamin C Serum 10% (D21) → Sunscreen (D45) → Night Cream (D75)   ·   ENTRY: Face Wash ₹249</a:t>
            </a:r>
          </a:p>
          <a:p>
            <a:pPr>
              <a:spcAft>
                <a:spcPts val="100"/>
              </a:spcAft>
            </a:pPr>
            <a:r>
              <a:rPr sz="1150">
                <a:solidFill>
                  <a:srgbClr val="2A2622"/>
                </a:solidFill>
                <a:latin typeface="Consolas"/>
              </a:rPr>
              <a:t>AUDIENCE: Women 20–35, Ahmedabad → Surat/Vadodara/Rajkot → top-6 India cities (D60+)</a:t>
            </a:r>
          </a:p>
          <a:p>
            <a:pPr>
              <a:spcAft>
                <a:spcPts val="100"/>
              </a:spcAft>
            </a:pPr>
            <a:r>
              <a:rPr sz="1150">
                <a:solidFill>
                  <a:srgbClr val="2A2622"/>
                </a:solidFill>
                <a:latin typeface="Consolas"/>
              </a:rPr>
              <a:t>PLATFORMS: Instagram (attention) + WhatsApp (close) + FB (crosspost/ads) + YT Shorts (search)   ·   Pinterest: later</a:t>
            </a:r>
          </a:p>
          <a:p>
            <a:pPr>
              <a:spcAft>
                <a:spcPts val="100"/>
              </a:spcAft>
            </a:pPr>
            <a:r>
              <a:rPr sz="1150">
                <a:solidFill>
                  <a:srgbClr val="2A2622"/>
                </a:solidFill>
                <a:latin typeface="Consolas"/>
              </a:rPr>
              <a:t>LANGUAGE: 50% Hinglish / 30% Gujarati / 20% English  ·   SIGNATURE: "Aamee skin, aamno liye" · "GLOW"</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378</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RANGAT NATURALS 90-DAY SOCIAL MEDIA + SALES MASTER PLAN (one page)</a:t>
            </a:r>
          </a:p>
          <a:p>
            <a:r>
              <a:rPr sz="1200" i="1">
                <a:solidFill>
                  <a:srgbClr val="57504A"/>
                </a:solidFill>
                <a:latin typeface="Calibri"/>
              </a:rPr>
              <a:t>PART 23 — Compliance Rules + CEO Final Verdict</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320040" y="1298448"/>
          <a:ext cx="11551612" cy="5029200"/>
        </p:xfrm>
        <a:graphic>
          <a:graphicData uri="http://schemas.openxmlformats.org/drawingml/2006/table">
            <a:tbl>
              <a:tblPr firstRow="1" bandRow="1">
                <a:tableStyleId>{5C22544A-7EE6-4342-B048-85BDC9FD1C3A}</a:tableStyleId>
              </a:tblPr>
              <a:tblGrid>
                <a:gridCol w="721975"/>
                <a:gridCol w="3609879"/>
                <a:gridCol w="3609879"/>
                <a:gridCol w="3609879"/>
              </a:tblGrid>
              <a:tr h="558800">
                <a:tc>
                  <a:txBody>
                    <a:bodyPr wrap="square"/>
                    <a:lstStyle/>
                    <a:p/>
                  </a:txBody>
                  <a:tcPr marL="45720" marR="45720" marT="18288" marB="18288" anchor="t">
                    <a:solidFill>
                      <a:srgbClr val="B44A2E"/>
                    </a:solidFill>
                  </a:tcPr>
                </a:tc>
                <a:tc>
                  <a:txBody>
                    <a:bodyPr wrap="square"/>
                    <a:lstStyle/>
                    <a:p>
                      <a:r>
                        <a:rPr sz="1200" b="1" i="0">
                          <a:solidFill>
                            <a:srgbClr val="FFFFFF"/>
                          </a:solidFill>
                          <a:latin typeface="Calibri"/>
                        </a:rPr>
                        <a:t>DAYS 1–30 "THE 100"</a:t>
                      </a:r>
                    </a:p>
                  </a:txBody>
                  <a:tcPr marL="45720" marR="45720" marT="18288" marB="18288" anchor="t">
                    <a:solidFill>
                      <a:srgbClr val="B44A2E"/>
                    </a:solidFill>
                  </a:tcPr>
                </a:tc>
                <a:tc>
                  <a:txBody>
                    <a:bodyPr wrap="square"/>
                    <a:lstStyle/>
                    <a:p>
                      <a:r>
                        <a:rPr sz="1200" b="1" i="0">
                          <a:solidFill>
                            <a:srgbClr val="FFFFFF"/>
                          </a:solidFill>
                          <a:latin typeface="Calibri"/>
                        </a:rPr>
                        <a:t>DAYS 31–60 "THE 500"</a:t>
                      </a:r>
                    </a:p>
                  </a:txBody>
                  <a:tcPr marL="45720" marR="45720" marT="18288" marB="18288" anchor="t">
                    <a:solidFill>
                      <a:srgbClr val="B44A2E"/>
                    </a:solidFill>
                  </a:tcPr>
                </a:tc>
                <a:tc>
                  <a:txBody>
                    <a:bodyPr wrap="square"/>
                    <a:lstStyle/>
                    <a:p>
                      <a:r>
                        <a:rPr sz="1200" b="1" i="0">
                          <a:solidFill>
                            <a:srgbClr val="FFFFFF"/>
                          </a:solidFill>
                          <a:latin typeface="Calibri"/>
                        </a:rPr>
                        <a:t>DAYS 61–90 "THE MACHINE"</a:t>
                      </a:r>
                    </a:p>
                  </a:txBody>
                  <a:tcPr marL="45720" marR="45720" marT="18288" marB="18288" anchor="t">
                    <a:solidFill>
                      <a:srgbClr val="B44A2E"/>
                    </a:solidFill>
                  </a:tcPr>
                </a:tc>
              </a:tr>
              <a:tr h="558800">
                <a:tc>
                  <a:txBody>
                    <a:bodyPr wrap="square"/>
                    <a:lstStyle/>
                    <a:p>
                      <a:r>
                        <a:rPr sz="1200" b="1" i="0">
                          <a:solidFill>
                            <a:srgbClr val="2A2622"/>
                          </a:solidFill>
                          <a:latin typeface="Calibri"/>
                        </a:rPr>
                        <a:t>Objective</a:t>
                      </a:r>
                    </a:p>
                  </a:txBody>
                  <a:tcPr marL="45720" marR="45720" marT="18288" marB="18288" anchor="t">
                    <a:solidFill>
                      <a:srgbClr val="FFFFFF"/>
                    </a:solidFill>
                  </a:tcPr>
                </a:tc>
                <a:tc>
                  <a:txBody>
                    <a:bodyPr wrap="square"/>
                    <a:lstStyle/>
                    <a:p>
                      <a:r>
                        <a:rPr sz="1200" b="0" i="0">
                          <a:solidFill>
                            <a:srgbClr val="2A2622"/>
                          </a:solidFill>
                          <a:latin typeface="Calibri"/>
                        </a:rPr>
                        <a:t>Believable brand, 100 customers, proof bank</a:t>
                      </a:r>
                    </a:p>
                  </a:txBody>
                  <a:tcPr marL="45720" marR="45720" marT="18288" marB="18288" anchor="t">
                    <a:solidFill>
                      <a:srgbClr val="FFFFFF"/>
                    </a:solidFill>
                  </a:tcPr>
                </a:tc>
                <a:tc>
                  <a:txBody>
                    <a:bodyPr wrap="square"/>
                    <a:lstStyle/>
                    <a:p>
                      <a:r>
                        <a:rPr sz="1200" b="0" i="0">
                          <a:solidFill>
                            <a:srgbClr val="2A2622"/>
                          </a:solidFill>
                          <a:latin typeface="Calibri"/>
                        </a:rPr>
                        <a:t>Convert trust → volume; Sunscreen hero; wedding-glow</a:t>
                      </a:r>
                    </a:p>
                  </a:txBody>
                  <a:tcPr marL="45720" marR="45720" marT="18288" marB="18288" anchor="t">
                    <a:solidFill>
                      <a:srgbClr val="FFFFFF"/>
                    </a:solidFill>
                  </a:tcPr>
                </a:tc>
                <a:tc>
                  <a:txBody>
                    <a:bodyPr wrap="square"/>
                    <a:lstStyle/>
                    <a:p>
                      <a:r>
                        <a:rPr sz="1200" b="0" i="0">
                          <a:solidFill>
                            <a:srgbClr val="2A2622"/>
                          </a:solidFill>
                          <a:latin typeface="Calibri"/>
                        </a:rPr>
                        <a:t>System + scale; Diwali wave; Night Cream; national test</a:t>
                      </a:r>
                    </a:p>
                  </a:txBody>
                  <a:tcPr marL="45720" marR="45720" marT="18288" marB="18288" anchor="t">
                    <a:solidFill>
                      <a:srgbClr val="FFFFFF"/>
                    </a:solidFill>
                  </a:tcPr>
                </a:tc>
              </a:tr>
              <a:tr h="558800">
                <a:tc>
                  <a:txBody>
                    <a:bodyPr wrap="square"/>
                    <a:lstStyle/>
                    <a:p>
                      <a:r>
                        <a:rPr sz="1200" b="1" i="0">
                          <a:solidFill>
                            <a:srgbClr val="2A2622"/>
                          </a:solidFill>
                          <a:latin typeface="Calibri"/>
                        </a:rPr>
                        <a:t>Content</a:t>
                      </a:r>
                    </a:p>
                  </a:txBody>
                  <a:tcPr marL="45720" marR="45720" marT="18288" marB="18288" anchor="t">
                    <a:solidFill>
                      <a:srgbClr val="F6F1E7"/>
                    </a:solidFill>
                  </a:tcPr>
                </a:tc>
                <a:tc>
                  <a:txBody>
                    <a:bodyPr wrap="square"/>
                    <a:lstStyle/>
                    <a:p>
                      <a:r>
                        <a:rPr sz="1200" b="0" i="0">
                          <a:solidFill>
                            <a:srgbClr val="2A2622"/>
                          </a:solidFill>
                          <a:latin typeface="Calibri"/>
                        </a:rPr>
                        <a:t>30-day calendar; founder 40%; 1 creator; tester program (D1→D28)</a:t>
                      </a:r>
                    </a:p>
                  </a:txBody>
                  <a:tcPr marL="45720" marR="45720" marT="18288" marB="18288" anchor="t">
                    <a:solidFill>
                      <a:srgbClr val="F6F1E7"/>
                    </a:solidFill>
                  </a:tcPr>
                </a:tc>
                <a:tc>
                  <a:txBody>
                    <a:bodyPr wrap="square"/>
                    <a:lstStyle/>
                    <a:p>
                      <a:r>
                        <a:rPr sz="1200" b="0" i="0">
                          <a:solidFill>
                            <a:srgbClr val="2A2622"/>
                          </a:solidFill>
                          <a:latin typeface="Calibri"/>
                        </a:rPr>
                        <a:t>Same rhythm; Sunscreen 40%; "Wedding Glow 6-Hafte" campaign; 5 more creators; 30-day challenge series</a:t>
                      </a:r>
                    </a:p>
                  </a:txBody>
                  <a:tcPr marL="45720" marR="45720" marT="18288" marB="18288" anchor="t">
                    <a:solidFill>
                      <a:srgbClr val="F6F1E7"/>
                    </a:solidFill>
                  </a:tcPr>
                </a:tc>
                <a:tc>
                  <a:txBody>
                    <a:bodyPr wrap="square"/>
                    <a:lstStyle/>
                    <a:p>
                      <a:r>
                        <a:rPr sz="1200" b="0" i="0">
                          <a:solidFill>
                            <a:srgbClr val="2A2622"/>
                          </a:solidFill>
                          <a:latin typeface="Calibri"/>
                        </a:rPr>
                        <a:t>7 reels/wk; Night Cream 30%; Diwali gift boxes; 10–15 creators total; 2 national</a:t>
                      </a:r>
                    </a:p>
                  </a:txBody>
                  <a:tcPr marL="45720" marR="45720" marT="18288" marB="18288" anchor="t">
                    <a:solidFill>
                      <a:srgbClr val="F6F1E7"/>
                    </a:solidFill>
                  </a:tcPr>
                </a:tc>
              </a:tr>
              <a:tr h="558800">
                <a:tc>
                  <a:txBody>
                    <a:bodyPr wrap="square"/>
                    <a:lstStyle/>
                    <a:p>
                      <a:r>
                        <a:rPr sz="1200" b="1" i="0">
                          <a:solidFill>
                            <a:srgbClr val="2A2622"/>
                          </a:solidFill>
                          <a:latin typeface="Calibri"/>
                        </a:rPr>
                        <a:t>Frequency</a:t>
                      </a:r>
                    </a:p>
                  </a:txBody>
                  <a:tcPr marL="45720" marR="45720" marT="18288" marB="18288" anchor="t">
                    <a:solidFill>
                      <a:srgbClr val="FFFFFF"/>
                    </a:solidFill>
                  </a:tcPr>
                </a:tc>
                <a:tc>
                  <a:txBody>
                    <a:bodyPr wrap="square"/>
                    <a:lstStyle/>
                    <a:p>
                      <a:r>
                        <a:rPr sz="1200" b="0" i="0">
                          <a:solidFill>
                            <a:srgbClr val="2A2622"/>
                          </a:solidFill>
                          <a:latin typeface="Calibri"/>
                        </a:rPr>
                        <a:t>6R + 2C + 3–5S + 3 shorts / week (batch Tue+Thu)</a:t>
                      </a:r>
                    </a:p>
                  </a:txBody>
                  <a:tcPr marL="45720" marR="45720" marT="18288" marB="18288" anchor="t">
                    <a:solidFill>
                      <a:srgbClr val="FFFFFF"/>
                    </a:solidFill>
                  </a:tcPr>
                </a:tc>
                <a:tc>
                  <a:txBody>
                    <a:bodyPr wrap="square"/>
                    <a:lstStyle/>
                    <a:p>
                      <a:r>
                        <a:rPr sz="1200" b="0" i="0">
                          <a:solidFill>
                            <a:srgbClr val="2A2622"/>
                          </a:solidFill>
                          <a:latin typeface="Calibri"/>
                        </a:rPr>
                        <a:t>Same</a:t>
                      </a:r>
                    </a:p>
                  </a:txBody>
                  <a:tcPr marL="45720" marR="45720" marT="18288" marB="18288" anchor="t">
                    <a:solidFill>
                      <a:srgbClr val="FFFFFF"/>
                    </a:solidFill>
                  </a:tcPr>
                </a:tc>
                <a:tc>
                  <a:txBody>
                    <a:bodyPr wrap="square"/>
                    <a:lstStyle/>
                    <a:p>
                      <a:r>
                        <a:rPr sz="1200" b="0" i="0">
                          <a:solidFill>
                            <a:srgbClr val="2A2622"/>
                          </a:solidFill>
                          <a:latin typeface="Calibri"/>
                        </a:rPr>
                        <a:t>Same</a:t>
                      </a:r>
                    </a:p>
                  </a:txBody>
                  <a:tcPr marL="45720" marR="45720" marT="18288" marB="18288" anchor="t">
                    <a:solidFill>
                      <a:srgbClr val="FFFFFF"/>
                    </a:solidFill>
                  </a:tcPr>
                </a:tc>
              </a:tr>
              <a:tr h="558800">
                <a:tc>
                  <a:txBody>
                    <a:bodyPr wrap="square"/>
                    <a:lstStyle/>
                    <a:p>
                      <a:r>
                        <a:rPr sz="1200" b="1" i="0">
                          <a:solidFill>
                            <a:srgbClr val="2A2622"/>
                          </a:solidFill>
                          <a:latin typeface="Calibri"/>
                        </a:rPr>
                        <a:t>Ads</a:t>
                      </a:r>
                    </a:p>
                  </a:txBody>
                  <a:tcPr marL="45720" marR="45720" marT="18288" marB="18288" anchor="t">
                    <a:solidFill>
                      <a:srgbClr val="F6F1E7"/>
                    </a:solidFill>
                  </a:tcPr>
                </a:tc>
                <a:tc>
                  <a:txBody>
                    <a:bodyPr wrap="square"/>
                    <a:lstStyle/>
                    <a:p>
                      <a:r>
                        <a:rPr sz="1200" b="0" i="0">
                          <a:solidFill>
                            <a:srgbClr val="2A2622"/>
                          </a:solidFill>
                          <a:latin typeface="Calibri"/>
                        </a:rPr>
                        <a:t>D15–20: optional ₹200 boost · D21: C1 ₹500 · D25: C3 ₹200</a:t>
                      </a:r>
                    </a:p>
                  </a:txBody>
                  <a:tcPr marL="45720" marR="45720" marT="18288" marB="18288" anchor="t">
                    <a:solidFill>
                      <a:srgbClr val="F6F1E7"/>
                    </a:solidFill>
                  </a:tcPr>
                </a:tc>
                <a:tc>
                  <a:txBody>
                    <a:bodyPr wrap="square"/>
                    <a:lstStyle/>
                    <a:p>
                      <a:r>
                        <a:rPr sz="1200" b="0" i="0">
                          <a:solidFill>
                            <a:srgbClr val="2A2622"/>
                          </a:solidFill>
                          <a:latin typeface="Calibri"/>
                        </a:rPr>
                        <a:t>C2 LIVE D35 ₹500 · scale winners · +Surat/Vadodara · sunscreen takes 40% from D50 · Diwali creative test D55</a:t>
                      </a:r>
                    </a:p>
                  </a:txBody>
                  <a:tcPr marL="45720" marR="45720" marT="18288" marB="18288" anchor="t">
                    <a:solidFill>
                      <a:srgbClr val="F6F1E7"/>
                    </a:solidFill>
                  </a:tcPr>
                </a:tc>
                <a:tc>
                  <a:txBody>
                    <a:bodyPr wrap="square"/>
                    <a:lstStyle/>
                    <a:p>
                      <a:r>
                        <a:rPr sz="1200" b="0" i="0">
                          <a:solidFill>
                            <a:srgbClr val="2A2622"/>
                          </a:solidFill>
                          <a:latin typeface="Calibri"/>
                        </a:rPr>
                        <a:t>C4 LIVE D60 → ₹2,000–3,000/day total · +Rajkot + 2 national cities (kill &gt;1.3x CPA) · retargeting +50% Diwali week</a:t>
                      </a:r>
                    </a:p>
                  </a:txBody>
                  <a:tcPr marL="45720" marR="45720" marT="18288" marB="18288" anchor="t">
                    <a:solidFill>
                      <a:srgbClr val="F6F1E7"/>
                    </a:solidFill>
                  </a:tcPr>
                </a:tc>
              </a:tr>
              <a:tr h="558800">
                <a:tc>
                  <a:txBody>
                    <a:bodyPr wrap="square"/>
                    <a:lstStyle/>
                    <a:p>
                      <a:r>
                        <a:rPr sz="1200" b="1" i="0">
                          <a:solidFill>
                            <a:srgbClr val="2A2622"/>
                          </a:solidFill>
                          <a:latin typeface="Calibri"/>
                        </a:rPr>
                        <a:t>Creators</a:t>
                      </a:r>
                    </a:p>
                  </a:txBody>
                  <a:tcPr marL="45720" marR="45720" marT="18288" marB="18288" anchor="t">
                    <a:solidFill>
                      <a:srgbClr val="FFFFFF"/>
                    </a:solidFill>
                  </a:tcPr>
                </a:tc>
                <a:tc>
                  <a:txBody>
                    <a:bodyPr wrap="square"/>
                    <a:lstStyle/>
                    <a:p>
                      <a:r>
                        <a:rPr sz="1200" b="0" i="0">
                          <a:solidFill>
                            <a:srgbClr val="2A2622"/>
                          </a:solidFill>
                          <a:latin typeface="Calibri"/>
                        </a:rPr>
                        <a:t>10 shortlisted · 3 live · consent+ad rights</a:t>
                      </a:r>
                    </a:p>
                  </a:txBody>
                  <a:tcPr marL="45720" marR="45720" marT="18288" marB="18288" anchor="t">
                    <a:solidFill>
                      <a:srgbClr val="FFFFFF"/>
                    </a:solidFill>
                  </a:tcPr>
                </a:tc>
                <a:tc>
                  <a:txBody>
                    <a:bodyPr wrap="square"/>
                    <a:lstStyle/>
                    <a:p>
                      <a:r>
                        <a:rPr sz="1200" b="0" i="0">
                          <a:solidFill>
                            <a:srgbClr val="2A2622"/>
                          </a:solidFill>
                          <a:latin typeface="Calibri"/>
                        </a:rPr>
                        <a:t>5 new (3 Gujarat/2 national) · beauty-page collab</a:t>
                      </a:r>
                    </a:p>
                  </a:txBody>
                  <a:tcPr marL="45720" marR="45720" marT="18288" marB="18288" anchor="t">
                    <a:solidFill>
                      <a:srgbClr val="FFFFFF"/>
                    </a:solidFill>
                  </a:tcPr>
                </a:tc>
                <a:tc>
                  <a:txBody>
                    <a:bodyPr wrap="square"/>
                    <a:lstStyle/>
                    <a:p>
                      <a:r>
                        <a:rPr sz="1200" b="0" i="0">
                          <a:solidFill>
                            <a:srgbClr val="2A2622"/>
                          </a:solidFill>
                          <a:latin typeface="Calibri"/>
                        </a:rPr>
                        <a:t>10–15 total · affiliate formalized · 1 established-account collab</a:t>
                      </a:r>
                    </a:p>
                  </a:txBody>
                  <a:tcPr marL="45720" marR="45720" marT="18288" marB="18288" anchor="t">
                    <a:solidFill>
                      <a:srgbClr val="FFFFFF"/>
                    </a:solidFill>
                  </a:tcPr>
                </a:tc>
              </a:tr>
              <a:tr h="558800">
                <a:tc>
                  <a:txBody>
                    <a:bodyPr wrap="square"/>
                    <a:lstStyle/>
                    <a:p>
                      <a:r>
                        <a:rPr sz="1200" b="1" i="0">
                          <a:solidFill>
                            <a:srgbClr val="2A2622"/>
                          </a:solidFill>
                          <a:latin typeface="Calibri"/>
                        </a:rPr>
                        <a:t>WhatsApp</a:t>
                      </a:r>
                    </a:p>
                  </a:txBody>
                  <a:tcPr marL="45720" marR="45720" marT="18288" marB="18288" anchor="t">
                    <a:solidFill>
                      <a:srgbClr val="F6F1E7"/>
                    </a:solidFill>
                  </a:tcPr>
                </a:tc>
                <a:tc>
                  <a:txBody>
                    <a:bodyPr wrap="square"/>
                    <a:lstStyle/>
                    <a:p>
                      <a:r>
                        <a:rPr sz="1200" b="0" i="0">
                          <a:solidFill>
                            <a:srgbClr val="2A2622"/>
                          </a:solidFill>
                          <a:latin typeface="Calibri"/>
                        </a:rPr>
                        <a:t>GLOW script · waitlist broadcast · box comms · D1/7/14 sequences</a:t>
                      </a:r>
                    </a:p>
                  </a:txBody>
                  <a:tcPr marL="45720" marR="45720" marT="18288" marB="18288" anchor="t">
                    <a:solidFill>
                      <a:srgbClr val="F6F1E7"/>
                    </a:solidFill>
                  </a:tcPr>
                </a:tc>
                <a:tc>
                  <a:txBody>
                    <a:bodyPr wrap="square"/>
                    <a:lstStyle/>
                    <a:p>
                      <a:r>
                        <a:rPr sz="1200" b="0" i="0">
                          <a:solidFill>
                            <a:srgbClr val="2A2622"/>
                          </a:solidFill>
                          <a:latin typeface="Calibri"/>
                        </a:rPr>
                        <a:t>+ D28/45/60 · sunscreen early-access to buyers · referral 10%+</a:t>
                      </a:r>
                    </a:p>
                  </a:txBody>
                  <a:tcPr marL="45720" marR="45720" marT="18288" marB="18288" anchor="t">
                    <a:solidFill>
                      <a:srgbClr val="F6F1E7"/>
                    </a:solidFill>
                  </a:tcPr>
                </a:tc>
                <a:tc>
                  <a:txBody>
                    <a:bodyPr wrap="square"/>
                    <a:lstStyle/>
                    <a:p>
                      <a:r>
                        <a:rPr sz="1200" b="0" i="0">
                          <a:solidFill>
                            <a:srgbClr val="2A2622"/>
                          </a:solidFill>
                          <a:latin typeface="Calibri"/>
                        </a:rPr>
                        <a:t>Full bank · Diwali gift broadcast D75 · refill engine · referral 15–20%</a:t>
                      </a:r>
                    </a:p>
                  </a:txBody>
                  <a:tcPr marL="45720" marR="45720" marT="18288" marB="18288" anchor="t">
                    <a:solidFill>
                      <a:srgbClr val="F6F1E7"/>
                    </a:solidFill>
                  </a:tcPr>
                </a:tc>
              </a:tr>
              <a:tr h="558800">
                <a:tc>
                  <a:txBody>
                    <a:bodyPr wrap="square"/>
                    <a:lstStyle/>
                    <a:p>
                      <a:r>
                        <a:rPr sz="1200" b="1" i="0">
                          <a:solidFill>
                            <a:srgbClr val="2A2622"/>
                          </a:solidFill>
                          <a:latin typeface="Calibri"/>
                        </a:rPr>
                        <a:t>Sales target</a:t>
                      </a:r>
                    </a:p>
                  </a:txBody>
                  <a:tcPr marL="45720" marR="45720" marT="18288" marB="18288" anchor="t">
                    <a:solidFill>
                      <a:srgbClr val="FFFFFF"/>
                    </a:solidFill>
                  </a:tcPr>
                </a:tc>
                <a:tc>
                  <a:txBody>
                    <a:bodyPr wrap="square"/>
                    <a:lstStyle/>
                    <a:p>
                      <a:r>
                        <a:rPr sz="1200" b="1" i="0">
                          <a:solidFill>
                            <a:srgbClr val="2A2622"/>
                          </a:solidFill>
                          <a:latin typeface="Calibri"/>
                        </a:rPr>
                        <a:t>100 orders</a:t>
                      </a:r>
                      <a:r>
                        <a:rPr sz="1200" b="0" i="0">
                          <a:solidFill>
                            <a:srgbClr val="2A2622"/>
                          </a:solidFill>
                          <a:latin typeface="Calibri"/>
                        </a:rPr>
                        <a:t> · AOV ₹550–650 · COD ≥ 85%</a:t>
                      </a:r>
                    </a:p>
                  </a:txBody>
                  <a:tcPr marL="45720" marR="45720" marT="18288" marB="18288" anchor="t">
                    <a:solidFill>
                      <a:srgbClr val="FFFFFF"/>
                    </a:solidFill>
                  </a:tcPr>
                </a:tc>
                <a:tc>
                  <a:txBody>
                    <a:bodyPr wrap="square"/>
                    <a:lstStyle/>
                    <a:p>
                      <a:r>
                        <a:rPr sz="1200" b="1" i="0">
                          <a:solidFill>
                            <a:srgbClr val="2A2622"/>
                          </a:solidFill>
                          <a:latin typeface="Calibri"/>
                        </a:rPr>
                        <a:t>400–500 cumulative</a:t>
                      </a:r>
                      <a:r>
                        <a:rPr sz="1200" b="0" i="0">
                          <a:solidFill>
                            <a:srgbClr val="2A2622"/>
                          </a:solidFill>
                          <a:latin typeface="Calibri"/>
                        </a:rPr>
                        <a:t> · kit 35% (AOV ₹800+) · sunscreen 80–120</a:t>
                      </a:r>
                    </a:p>
                  </a:txBody>
                  <a:tcPr marL="45720" marR="45720" marT="18288" marB="18288" anchor="t">
                    <a:solidFill>
                      <a:srgbClr val="FFFFFF"/>
                    </a:solidFill>
                  </a:tcPr>
                </a:tc>
                <a:tc>
                  <a:txBody>
                    <a:bodyPr wrap="square"/>
                    <a:lstStyle/>
                    <a:p>
                      <a:r>
                        <a:rPr sz="1200" b="1" i="0">
                          <a:solidFill>
                            <a:srgbClr val="2A2622"/>
                          </a:solidFill>
                          <a:latin typeface="Calibri"/>
                        </a:rPr>
                        <a:t>900–1,200 cumulative</a:t>
                      </a:r>
                      <a:r>
                        <a:rPr sz="1200" b="0" i="0">
                          <a:solidFill>
                            <a:srgbClr val="2A2622"/>
                          </a:solidFill>
                          <a:latin typeface="Calibri"/>
                        </a:rPr>
                        <a:t> · AOV ₹850–950 · repeat 12–15% · Diwali boxes 100+</a:t>
                      </a:r>
                    </a:p>
                  </a:txBody>
                  <a:tcPr marL="45720" marR="45720" marT="18288" marB="18288" anchor="t">
                    <a:solidFill>
                      <a:srgbClr val="FFFFFF"/>
                    </a:solidFill>
                  </a:tcPr>
                </a:tc>
              </a:tr>
              <a:tr h="558800">
                <a:tc>
                  <a:txBody>
                    <a:bodyPr wrap="square"/>
                    <a:lstStyle/>
                    <a:p>
                      <a:r>
                        <a:rPr sz="1200" b="1" i="0">
                          <a:solidFill>
                            <a:srgbClr val="2A2622"/>
                          </a:solidFill>
                          <a:latin typeface="Calibri"/>
                        </a:rPr>
                        <a:t>KPIs (gate)</a:t>
                      </a:r>
                    </a:p>
                  </a:txBody>
                  <a:tcPr marL="45720" marR="45720" marT="18288" marB="18288" anchor="t">
                    <a:solidFill>
                      <a:srgbClr val="F6F1E7"/>
                    </a:solidFill>
                  </a:tcPr>
                </a:tc>
                <a:tc>
                  <a:txBody>
                    <a:bodyPr wrap="square"/>
                    <a:lstStyle/>
                    <a:p>
                      <a:r>
                        <a:rPr sz="1200" b="0" i="0">
                          <a:solidFill>
                            <a:srgbClr val="2A2622"/>
                          </a:solidFill>
                          <a:latin typeface="Calibri"/>
                        </a:rPr>
                        <a:t>1k–1.5k followers · CPA ≤ ₹400 · 15 UGC · 3 reels &gt;10k</a:t>
                      </a:r>
                    </a:p>
                  </a:txBody>
                  <a:tcPr marL="45720" marR="45720" marT="18288" marB="18288" anchor="t">
                    <a:solidFill>
                      <a:srgbClr val="F6F1E7"/>
                    </a:solidFill>
                  </a:tcPr>
                </a:tc>
                <a:tc>
                  <a:txBody>
                    <a:bodyPr wrap="square"/>
                    <a:lstStyle/>
                    <a:p>
                      <a:r>
                        <a:rPr sz="1200" b="0" i="0">
                          <a:solidFill>
                            <a:srgbClr val="2A2622"/>
                          </a:solidFill>
                          <a:latin typeface="Calibri"/>
                        </a:rPr>
                        <a:t>CPA ≤ ₹300 · ROAS ≥ 2.5x · 40 photo reviews · repeat 10%</a:t>
                      </a:r>
                    </a:p>
                  </a:txBody>
                  <a:tcPr marL="45720" marR="45720" marT="18288" marB="18288" anchor="t">
                    <a:solidFill>
                      <a:srgbClr val="F6F1E7"/>
                    </a:solidFill>
                  </a:tcPr>
                </a:tc>
                <a:tc>
                  <a:txBody>
                    <a:bodyPr wrap="square"/>
                    <a:lstStyle/>
                    <a:p>
                      <a:r>
                        <a:rPr sz="1200" b="0" i="0">
                          <a:solidFill>
                            <a:srgbClr val="2A2622"/>
                          </a:solidFill>
                          <a:latin typeface="Calibri"/>
                        </a:rPr>
                        <a:t>ROAS ≥ 3x · CPA ≤ ₹250 · LTV:CAC ≥ 2.5 · 5k–8k followers · </a:t>
                      </a:r>
                      <a:r>
                        <a:rPr sz="1200" b="1" i="0">
                          <a:solidFill>
                            <a:srgbClr val="2A2622"/>
                          </a:solidFill>
                          <a:latin typeface="Calibri"/>
                        </a:rPr>
                        <a:t>contribution margin positive</a:t>
                      </a:r>
                    </a:p>
                  </a:txBody>
                  <a:tcPr marL="45720" marR="45720" marT="18288" marB="18288" anchor="t">
                    <a:solidFill>
                      <a:srgbClr val="F6F1E7"/>
                    </a:solidFill>
                  </a:tcPr>
                </a:tc>
              </a:tr>
            </a:tbl>
          </a:graphicData>
        </a:graphic>
      </p:graphicFrame>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379</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THE RANGAT NATURALS 90-DAY SOCIAL MEDIA + SALES MASTER PLAN (one page)</a:t>
            </a:r>
          </a:p>
          <a:p>
            <a:r>
              <a:rPr sz="1200" i="1">
                <a:solidFill>
                  <a:srgbClr val="57504A"/>
                </a:solidFill>
                <a:latin typeface="Calibri"/>
              </a:rPr>
              <a:t>PART 23 — Compliance Rules + CEO Final Verdict</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1" i="0">
                <a:solidFill>
                  <a:srgbClr val="2A2622"/>
                </a:solidFill>
                <a:latin typeface="Calibri"/>
              </a:rPr>
              <a:t>The daily prayer (write it above the desk):</a:t>
            </a:r>
          </a:p>
          <a:p>
            <a:pPr>
              <a:spcBef>
                <a:spcPts val="600"/>
              </a:spcBef>
              <a:spcAft>
                <a:spcPts val="600"/>
              </a:spcAft>
            </a:pPr>
            <a:r>
              <a:rPr sz="1250" b="0" i="1">
                <a:solidFill>
                  <a:srgbClr val="57504A"/>
                </a:solidFill>
                <a:latin typeface="Calibri"/>
              </a:rPr>
              <a:t>“*Hum likes ke liye nahi, orders ke liye post karte hain.
Har reel = ek sawaal jo buyer poochta hai.
Har DM = 15 minute me jawaab, insaan wala.
Har order = ek kahani jo agle 100 customers tak jaati hai.
RANGAT NATURALS — asli skin, asli result.*”</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380</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6F1E7"/>
        </a:solidFill>
        <a:effectLst/>
      </p:bgPr>
    </p:bg>
    <p:spTree>
      <p:nvGrpSpPr>
        <p:cNvPr id="1" name=""/>
        <p:cNvGrpSpPr/>
        <p:nvPr/>
      </p:nvGrpSpPr>
      <p:grpSpPr/>
      <p:sp>
        <p:nvSpPr>
          <p:cNvPr id="2" name="Rectangle 1"/>
          <p:cNvSpPr/>
          <p:nvPr/>
        </p:nvSpPr>
        <p:spPr>
          <a:xfrm>
            <a:off x="0" y="4160520"/>
            <a:ext cx="12191695" cy="3810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737360"/>
            <a:ext cx="10362895" cy="548640"/>
          </a:xfrm>
          <a:prstGeom prst="rect">
            <a:avLst/>
          </a:prstGeom>
          <a:noFill/>
        </p:spPr>
        <p:txBody>
          <a:bodyPr wrap="square">
            <a:spAutoFit/>
          </a:bodyPr>
          <a:lstStyle/>
          <a:p>
            <a:r>
              <a:rPr sz="2000" b="1">
                <a:solidFill>
                  <a:srgbClr val="B44A2E"/>
                </a:solidFill>
                <a:latin typeface="Calibri"/>
              </a:rPr>
              <a:t>PART 24</a:t>
            </a:r>
          </a:p>
        </p:txBody>
      </p:sp>
      <p:sp>
        <p:nvSpPr>
          <p:cNvPr id="4" name="TextBox 3"/>
          <p:cNvSpPr txBox="1"/>
          <p:nvPr/>
        </p:nvSpPr>
        <p:spPr>
          <a:xfrm>
            <a:off x="914400" y="2377440"/>
            <a:ext cx="10362895" cy="1645920"/>
          </a:xfrm>
          <a:prstGeom prst="rect">
            <a:avLst/>
          </a:prstGeom>
          <a:noFill/>
        </p:spPr>
        <p:txBody>
          <a:bodyPr wrap="square">
            <a:spAutoFit/>
          </a:bodyPr>
          <a:lstStyle/>
          <a:p>
            <a:r>
              <a:rPr sz="3000" b="1">
                <a:solidFill>
                  <a:srgbClr val="8F3A22"/>
                </a:solidFill>
                <a:latin typeface="Calibri"/>
              </a:rPr>
              <a:t>Master Action Checklists (compiled from the plan)</a:t>
            </a:r>
          </a:p>
        </p:txBody>
      </p:sp>
      <p:sp>
        <p:nvSpPr>
          <p:cNvPr id="5" name="TextBox 4"/>
          <p:cNvSpPr txBox="1"/>
          <p:nvPr/>
        </p:nvSpPr>
        <p:spPr>
          <a:xfrm>
            <a:off x="914400" y="4434840"/>
            <a:ext cx="10362895" cy="731520"/>
          </a:xfrm>
          <a:prstGeom prst="rect">
            <a:avLst/>
          </a:prstGeom>
          <a:noFill/>
        </p:spPr>
        <p:txBody>
          <a:bodyPr wrap="square">
            <a:spAutoFit/>
          </a:bodyPr>
          <a:lstStyle/>
          <a:p>
            <a:r>
              <a:rPr sz="1400" i="1">
                <a:solidFill>
                  <a:srgbClr val="57504A"/>
                </a:solidFill>
                <a:latin typeface="Calibri"/>
              </a:rPr>
              <a:t>PART 24 — Master Action Checklists</a:t>
            </a:r>
          </a:p>
        </p:txBody>
      </p:sp>
      <p:sp>
        <p:nvSpPr>
          <p:cNvPr id="6" name="TextBox 5"/>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7" name="TextBox 6"/>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381</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Master Action Checklists</a:t>
            </a:r>
          </a:p>
          <a:p>
            <a:r>
              <a:rPr sz="1200" i="1">
                <a:solidFill>
                  <a:srgbClr val="57504A"/>
                </a:solidFill>
                <a:latin typeface="Calibri"/>
              </a:rPr>
              <a:t>PART 24 — Master Action Checklists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700"/>
              </a:spcAft>
            </a:pPr>
            <a:r>
              <a:rPr sz="1350" b="0" i="0">
                <a:solidFill>
                  <a:srgbClr val="2A2622"/>
                </a:solidFill>
                <a:latin typeface="Calibri"/>
              </a:rPr>
              <a:t>Every item below is an existing checklist line from this plan, gathered here so the execution steps live in one place. Full context for each group is in the referenced section.</a:t>
            </a:r>
          </a:p>
          <a:p>
            <a:pPr>
              <a:spcBef>
                <a:spcPts val="1000"/>
              </a:spcBef>
              <a:spcAft>
                <a:spcPts val="400"/>
              </a:spcAft>
            </a:pPr>
            <a:r>
              <a:rPr sz="1600" b="1" i="0">
                <a:solidFill>
                  <a:srgbClr val="8F3A22"/>
                </a:solidFill>
                <a:latin typeface="Calibri"/>
              </a:rPr>
              <a:t>Day 0 — before anything goes live  (from: New Account Launch Strategy)</a:t>
            </a:r>
          </a:p>
          <a:p>
            <a:pPr>
              <a:spcAft>
                <a:spcPts val="400"/>
              </a:spcAft>
            </a:pPr>
            <a:r>
              <a:rPr sz="1350">
                <a:solidFill>
                  <a:srgbClr val="B44A2E"/>
                </a:solidFill>
                <a:latin typeface="Calibri"/>
              </a:rPr>
              <a:t>☐ </a:t>
            </a:r>
            <a:r>
              <a:rPr sz="1350" b="0" i="0">
                <a:solidFill>
                  <a:srgbClr val="2A2622"/>
                </a:solidFill>
                <a:latin typeface="Calibri"/>
              </a:rPr>
              <a:t>Profile fully built per the Profile Build section (bio, name field, 5 highlights, 3 pinned posts: founder intro, “what is RANGAT,” one problem reel)</a:t>
            </a:r>
          </a:p>
          <a:p>
            <a:pPr>
              <a:spcAft>
                <a:spcPts val="400"/>
              </a:spcAft>
            </a:pPr>
            <a:r>
              <a:rPr sz="1350">
                <a:solidFill>
                  <a:srgbClr val="B44A2E"/>
                </a:solidFill>
                <a:latin typeface="Calibri"/>
              </a:rPr>
              <a:t>☐ </a:t>
            </a:r>
            <a:r>
              <a:rPr sz="1350" b="0" i="0">
                <a:solidFill>
                  <a:srgbClr val="2A2622"/>
                </a:solidFill>
                <a:latin typeface="Calibri"/>
              </a:rPr>
              <a:t>WhatsApp Business set up: catalog (3 products), quick replies, labels, greeting message, business profile photo = same as IG</a:t>
            </a:r>
          </a:p>
          <a:p>
            <a:pPr>
              <a:spcAft>
                <a:spcPts val="400"/>
              </a:spcAft>
            </a:pPr>
            <a:r>
              <a:rPr sz="1350">
                <a:solidFill>
                  <a:srgbClr val="B44A2E"/>
                </a:solidFill>
                <a:latin typeface="Calibri"/>
              </a:rPr>
              <a:t>☐ </a:t>
            </a:r>
            <a:r>
              <a:rPr sz="1350" b="0" i="0">
                <a:solidFill>
                  <a:srgbClr val="2A2622"/>
                </a:solidFill>
                <a:latin typeface="Calibri"/>
              </a:rPr>
              <a:t>20-person tester list assembled (friends/family/college, Ahmedabad, women 20–40, mix of skin types) — the 4-week proof program starts Day 1 with the actual product batch</a:t>
            </a:r>
          </a:p>
          <a:p>
            <a:pPr>
              <a:spcAft>
                <a:spcPts val="400"/>
              </a:spcAft>
            </a:pPr>
            <a:r>
              <a:rPr sz="1350">
                <a:solidFill>
                  <a:srgbClr val="B44A2E"/>
                </a:solidFill>
                <a:latin typeface="Calibri"/>
              </a:rPr>
              <a:t>☐ </a:t>
            </a:r>
            <a:r>
              <a:rPr sz="1350" b="0" i="0">
                <a:solidFill>
                  <a:srgbClr val="2A2622"/>
                </a:solidFill>
                <a:latin typeface="Calibri"/>
              </a:rPr>
              <a:t>10 micro-creator shortlist (5k–50k, Gujarat) with email/DM template ready (see Gujarat-First Strategy)</a:t>
            </a:r>
          </a:p>
          <a:p>
            <a:pPr>
              <a:spcAft>
                <a:spcPts val="400"/>
              </a:spcAft>
            </a:pPr>
            <a:r>
              <a:rPr sz="1350">
                <a:solidFill>
                  <a:srgbClr val="B44A2E"/>
                </a:solidFill>
                <a:latin typeface="Calibri"/>
              </a:rPr>
              <a:t>☐ </a:t>
            </a:r>
            <a:r>
              <a:rPr sz="1350" b="0" i="0">
                <a:solidFill>
                  <a:srgbClr val="2A2622"/>
                </a:solidFill>
                <a:latin typeface="Calibri"/>
              </a:rPr>
              <a:t>Batch-shoot Day 1–7 content in one 4-hour session (see Content Production System)</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382</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Master Action Checklists</a:t>
            </a:r>
          </a:p>
          <a:p>
            <a:r>
              <a:rPr sz="1200" i="1">
                <a:solidFill>
                  <a:srgbClr val="57504A"/>
                </a:solidFill>
                <a:latin typeface="Calibri"/>
              </a:rPr>
              <a:t>PART 24 — Master Action Checklists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Bef>
                <a:spcPts val="1000"/>
              </a:spcBef>
              <a:spcAft>
                <a:spcPts val="400"/>
              </a:spcAft>
            </a:pPr>
            <a:r>
              <a:rPr sz="1600" b="1" i="0">
                <a:solidFill>
                  <a:srgbClr val="8F3A22"/>
                </a:solidFill>
                <a:latin typeface="Calibri"/>
              </a:rPr>
              <a:t>Week 1 + Day 8–10  (from: 30-Day Calendar, Days 1–10)</a:t>
            </a:r>
          </a:p>
          <a:p>
            <a:pPr>
              <a:spcAft>
                <a:spcPts val="400"/>
              </a:spcAft>
            </a:pPr>
            <a:r>
              <a:rPr sz="1350">
                <a:solidFill>
                  <a:srgbClr val="B44A2E"/>
                </a:solidFill>
                <a:latin typeface="Calibri"/>
              </a:rPr>
              <a:t>☐ </a:t>
            </a:r>
            <a:r>
              <a:rPr sz="1350" b="0" i="0">
                <a:solidFill>
                  <a:srgbClr val="2A2622"/>
                </a:solidFill>
                <a:latin typeface="Calibri"/>
              </a:rPr>
              <a:t>Day 1: 50+ warm followers from founder network (real, no buys)</a:t>
            </a:r>
          </a:p>
          <a:p>
            <a:pPr>
              <a:spcAft>
                <a:spcPts val="400"/>
              </a:spcAft>
            </a:pPr>
            <a:r>
              <a:rPr sz="1350">
                <a:solidFill>
                  <a:srgbClr val="B44A2E"/>
                </a:solidFill>
                <a:latin typeface="Calibri"/>
              </a:rPr>
              <a:t>☐ </a:t>
            </a:r>
            <a:r>
              <a:rPr sz="1350" b="0" i="0">
                <a:solidFill>
                  <a:srgbClr val="2A2622"/>
                </a:solidFill>
                <a:latin typeface="Calibri"/>
              </a:rPr>
              <a:t>Day 3: 20+ comments harvested → saved to Notion/sheet (“pain point bank”)</a:t>
            </a:r>
          </a:p>
          <a:p>
            <a:pPr>
              <a:spcAft>
                <a:spcPts val="400"/>
              </a:spcAft>
            </a:pPr>
            <a:r>
              <a:rPr sz="1350">
                <a:solidFill>
                  <a:srgbClr val="B44A2E"/>
                </a:solidFill>
                <a:latin typeface="Calibri"/>
              </a:rPr>
              <a:t>☐ </a:t>
            </a:r>
            <a:r>
              <a:rPr sz="1350" b="0" i="0">
                <a:solidFill>
                  <a:srgbClr val="2A2622"/>
                </a:solidFill>
                <a:latin typeface="Calibri"/>
              </a:rPr>
              <a:t>Day 7: 30+ “GLOW” DMs collected → WhatsApp list started (label: WAITLIST)</a:t>
            </a:r>
          </a:p>
          <a:p>
            <a:pPr>
              <a:spcAft>
                <a:spcPts val="400"/>
              </a:spcAft>
            </a:pPr>
            <a:r>
              <a:rPr sz="1350">
                <a:solidFill>
                  <a:srgbClr val="B44A2E"/>
                </a:solidFill>
                <a:latin typeface="Calibri"/>
              </a:rPr>
              <a:t>☐ </a:t>
            </a:r>
            <a:r>
              <a:rPr sz="1350" b="0" i="0">
                <a:solidFill>
                  <a:srgbClr val="2A2622"/>
                </a:solidFill>
                <a:latin typeface="Calibri"/>
              </a:rPr>
              <a:t>Day 8: product in WhatsApp catalog; price + COD + shipping policy written in description</a:t>
            </a:r>
          </a:p>
          <a:p>
            <a:pPr>
              <a:spcAft>
                <a:spcPts val="400"/>
              </a:spcAft>
            </a:pPr>
            <a:r>
              <a:rPr sz="1350">
                <a:solidFill>
                  <a:srgbClr val="B44A2E"/>
                </a:solidFill>
                <a:latin typeface="Calibri"/>
              </a:rPr>
              <a:t>☐ </a:t>
            </a:r>
            <a:r>
              <a:rPr sz="1350" b="0" i="0">
                <a:solidFill>
                  <a:srgbClr val="2A2622"/>
                </a:solidFill>
                <a:latin typeface="Calibri"/>
              </a:rPr>
              <a:t>Day 10: 3 reels queued to YouTube Shorts with SEO titles</a:t>
            </a:r>
          </a:p>
          <a:p>
            <a:pPr>
              <a:spcAft>
                <a:spcPts val="400"/>
              </a:spcAft>
            </a:pPr>
            <a:r>
              <a:rPr sz="1350">
                <a:solidFill>
                  <a:srgbClr val="B44A2E"/>
                </a:solidFill>
                <a:latin typeface="Calibri"/>
              </a:rPr>
              <a:t>☐ </a:t>
            </a:r>
            <a:r>
              <a:rPr sz="1350" b="0" i="0">
                <a:solidFill>
                  <a:srgbClr val="2A2622"/>
                </a:solidFill>
                <a:latin typeface="Calibri"/>
              </a:rPr>
              <a:t>Tester program: photos taken Day 1 + Day 7 (same light/angle, logged)</a:t>
            </a:r>
          </a:p>
          <a:p>
            <a:pPr>
              <a:spcBef>
                <a:spcPts val="1000"/>
              </a:spcBef>
              <a:spcAft>
                <a:spcPts val="400"/>
              </a:spcAft>
            </a:pPr>
            <a:r>
              <a:rPr sz="1600" b="1" i="0">
                <a:solidFill>
                  <a:srgbClr val="8F3A22"/>
                </a:solidFill>
                <a:latin typeface="Calibri"/>
              </a:rPr>
              <a:t>Week 3 (Days 15–21)  (from: 30-Day Calendar, Days 11–20)</a:t>
            </a:r>
          </a:p>
          <a:p>
            <a:pPr>
              <a:spcAft>
                <a:spcPts val="400"/>
              </a:spcAft>
            </a:pPr>
            <a:r>
              <a:rPr sz="1350">
                <a:solidFill>
                  <a:srgbClr val="B44A2E"/>
                </a:solidFill>
                <a:latin typeface="Calibri"/>
              </a:rPr>
              <a:t>☐ </a:t>
            </a:r>
            <a:r>
              <a:rPr sz="1350" b="0" i="0">
                <a:solidFill>
                  <a:srgbClr val="2A2622"/>
                </a:solidFill>
                <a:latin typeface="Calibri"/>
              </a:rPr>
              <a:t>D15: 3-mistakes reel CTR check (target ≥1.5% reach CTR) → if yes, boost candidate</a:t>
            </a:r>
          </a:p>
          <a:p>
            <a:pPr>
              <a:spcAft>
                <a:spcPts val="400"/>
              </a:spcAft>
            </a:pPr>
            <a:r>
              <a:rPr sz="1350">
                <a:solidFill>
                  <a:srgbClr val="B44A2E"/>
                </a:solidFill>
                <a:latin typeface="Calibri"/>
              </a:rPr>
              <a:t>☐ </a:t>
            </a:r>
            <a:r>
              <a:rPr sz="1350" b="0" i="0">
                <a:solidFill>
                  <a:srgbClr val="2A2622"/>
                </a:solidFill>
                <a:latin typeface="Calibri"/>
              </a:rPr>
              <a:t>D17: Before/after live + PINNED; same reel cut into: 30-sec ad version + 2 static quote cards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383</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Master Action Checklists</a:t>
            </a:r>
          </a:p>
          <a:p>
            <a:r>
              <a:rPr sz="1200" i="1">
                <a:solidFill>
                  <a:srgbClr val="57504A"/>
                </a:solidFill>
                <a:latin typeface="Calibri"/>
              </a:rPr>
              <a:t>PART 24 — Master Action Checklists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D19: Collab post live on both grids; creator’s video saved to UGC bank (permission for ads = signed)</a:t>
            </a:r>
          </a:p>
          <a:p>
            <a:pPr>
              <a:spcAft>
                <a:spcPts val="400"/>
              </a:spcAft>
            </a:pPr>
            <a:r>
              <a:rPr sz="1350">
                <a:solidFill>
                  <a:srgbClr val="B44A2E"/>
                </a:solidFill>
                <a:latin typeface="Calibri"/>
              </a:rPr>
              <a:t>☐ </a:t>
            </a:r>
            <a:r>
              <a:rPr sz="1350" b="0" i="0">
                <a:solidFill>
                  <a:srgbClr val="2A2622"/>
                </a:solidFill>
                <a:latin typeface="Calibri"/>
              </a:rPr>
              <a:t>D20: WhatsApp broadcast #1 to waitlist: “Kal launch — GLOW reply karo, aapka number save karte hain” (24h before)</a:t>
            </a:r>
          </a:p>
          <a:p>
            <a:pPr>
              <a:spcAft>
                <a:spcPts val="400"/>
              </a:spcAft>
            </a:pPr>
            <a:r>
              <a:rPr sz="1350">
                <a:solidFill>
                  <a:srgbClr val="B44A2E"/>
                </a:solidFill>
                <a:latin typeface="Calibri"/>
              </a:rPr>
              <a:t>☐ </a:t>
            </a:r>
            <a:r>
              <a:rPr sz="1350" b="0" i="0">
                <a:solidFill>
                  <a:srgbClr val="2A2622"/>
                </a:solidFill>
                <a:latin typeface="Calibri"/>
              </a:rPr>
              <a:t>D21: Ads account ready: Pixel on website/WA, WhatsApp Business API linked, campaign built but NOT switched on</a:t>
            </a:r>
          </a:p>
          <a:p>
            <a:pPr>
              <a:spcAft>
                <a:spcPts val="400"/>
              </a:spcAft>
            </a:pPr>
            <a:r>
              <a:rPr sz="1350">
                <a:solidFill>
                  <a:srgbClr val="B44A2E"/>
                </a:solidFill>
                <a:latin typeface="Calibri"/>
              </a:rPr>
              <a:t>☐ </a:t>
            </a:r>
            <a:r>
              <a:rPr sz="1350" b="0" i="0">
                <a:solidFill>
                  <a:srgbClr val="2A2622"/>
                </a:solidFill>
                <a:latin typeface="Calibri"/>
              </a:rPr>
              <a:t>All Day-17 + Day-19 creatives have ad permissions in writing (email/WhatsApp screenshot)</a:t>
            </a:r>
          </a:p>
          <a:p>
            <a:pPr>
              <a:spcBef>
                <a:spcPts val="1000"/>
              </a:spcBef>
              <a:spcAft>
                <a:spcPts val="400"/>
              </a:spcAft>
            </a:pPr>
            <a:r>
              <a:rPr sz="1600" b="1" i="0">
                <a:solidFill>
                  <a:srgbClr val="8F3A22"/>
                </a:solidFill>
                <a:latin typeface="Calibri"/>
              </a:rPr>
              <a:t>Profile — the 3-second test  (from: Instagram Profile Build)</a:t>
            </a:r>
          </a:p>
          <a:p>
            <a:pPr>
              <a:spcAft>
                <a:spcPts val="400"/>
              </a:spcAft>
            </a:pPr>
            <a:r>
              <a:rPr sz="1350">
                <a:solidFill>
                  <a:srgbClr val="B44A2E"/>
                </a:solidFill>
                <a:latin typeface="Calibri"/>
              </a:rPr>
              <a:t>☐ </a:t>
            </a:r>
            <a:r>
              <a:rPr sz="1350" b="0" i="0">
                <a:solidFill>
                  <a:srgbClr val="2A2622"/>
                </a:solidFill>
                <a:latin typeface="Calibri"/>
              </a:rPr>
              <a:t>Bio line 1 says “Indian skincare” (category + origin)</a:t>
            </a:r>
          </a:p>
          <a:p>
            <a:pPr>
              <a:spcAft>
                <a:spcPts val="400"/>
              </a:spcAft>
            </a:pPr>
            <a:r>
              <a:rPr sz="1350">
                <a:solidFill>
                  <a:srgbClr val="B44A2E"/>
                </a:solidFill>
                <a:latin typeface="Calibri"/>
              </a:rPr>
              <a:t>☐ </a:t>
            </a:r>
            <a:r>
              <a:rPr sz="1350" b="0" i="0">
                <a:solidFill>
                  <a:srgbClr val="2A2622"/>
                </a:solidFill>
                <a:latin typeface="Calibri"/>
              </a:rPr>
              <a:t>Bio line 2 lists what we sell + honest timeline (no miracle)</a:t>
            </a:r>
          </a:p>
          <a:p>
            <a:pPr>
              <a:spcAft>
                <a:spcPts val="400"/>
              </a:spcAft>
            </a:pPr>
            <a:r>
              <a:rPr sz="1350">
                <a:solidFill>
                  <a:srgbClr val="B44A2E"/>
                </a:solidFill>
                <a:latin typeface="Calibri"/>
              </a:rPr>
              <a:t>☐ </a:t>
            </a:r>
            <a:r>
              <a:rPr sz="1350" b="0" i="0">
                <a:solidFill>
                  <a:srgbClr val="2A2622"/>
                </a:solidFill>
                <a:latin typeface="Calibri"/>
              </a:rPr>
              <a:t>Bio line 3 kills the risk (COD + support)</a:t>
            </a:r>
          </a:p>
          <a:p>
            <a:pPr>
              <a:spcAft>
                <a:spcPts val="400"/>
              </a:spcAft>
            </a:pPr>
            <a:r>
              <a:rPr sz="1350">
                <a:solidFill>
                  <a:srgbClr val="B44A2E"/>
                </a:solidFill>
                <a:latin typeface="Calibri"/>
              </a:rPr>
              <a:t>☐ </a:t>
            </a:r>
            <a:r>
              <a:rPr sz="1350" b="0" i="0">
                <a:solidFill>
                  <a:srgbClr val="2A2622"/>
                </a:solidFill>
                <a:latin typeface="Calibri"/>
              </a:rPr>
              <a:t>Bio line 4 = one action (DM GLOW / WhatsApp)</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384</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Master Action Checklists</a:t>
            </a:r>
          </a:p>
          <a:p>
            <a:r>
              <a:rPr sz="1200" i="1">
                <a:solidFill>
                  <a:srgbClr val="57504A"/>
                </a:solidFill>
                <a:latin typeface="Calibri"/>
              </a:rPr>
              <a:t>PART 24 — Master Action Checklists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Avatar = founder’s face</a:t>
            </a:r>
          </a:p>
          <a:p>
            <a:pPr>
              <a:spcAft>
                <a:spcPts val="400"/>
              </a:spcAft>
            </a:pPr>
            <a:r>
              <a:rPr sz="1350">
                <a:solidFill>
                  <a:srgbClr val="B44A2E"/>
                </a:solidFill>
                <a:latin typeface="Calibri"/>
              </a:rPr>
              <a:t>☐ </a:t>
            </a:r>
            <a:r>
              <a:rPr sz="1350" b="0" i="0">
                <a:solidFill>
                  <a:srgbClr val="2A2622"/>
                </a:solidFill>
                <a:latin typeface="Calibri"/>
              </a:rPr>
              <a:t>3 pins = buy / trust / who</a:t>
            </a:r>
          </a:p>
          <a:p>
            <a:pPr>
              <a:spcAft>
                <a:spcPts val="400"/>
              </a:spcAft>
            </a:pPr>
            <a:r>
              <a:rPr sz="1350">
                <a:solidFill>
                  <a:srgbClr val="B44A2E"/>
                </a:solidFill>
                <a:latin typeface="Calibri"/>
              </a:rPr>
              <a:t>☐ </a:t>
            </a:r>
            <a:r>
              <a:rPr sz="1350" b="0" i="0">
                <a:solidFill>
                  <a:srgbClr val="2A2622"/>
                </a:solidFill>
                <a:latin typeface="Calibri"/>
              </a:rPr>
              <a:t>Highlights = RESULTS first (the trust hook)</a:t>
            </a:r>
          </a:p>
          <a:p>
            <a:pPr>
              <a:spcAft>
                <a:spcPts val="400"/>
              </a:spcAft>
            </a:pPr>
            <a:r>
              <a:rPr sz="1350">
                <a:solidFill>
                  <a:srgbClr val="B44A2E"/>
                </a:solidFill>
                <a:latin typeface="Calibri"/>
              </a:rPr>
              <a:t>☐ </a:t>
            </a:r>
            <a:r>
              <a:rPr sz="1350" b="0" i="0">
                <a:solidFill>
                  <a:srgbClr val="2A2622"/>
                </a:solidFill>
                <a:latin typeface="Calibri"/>
              </a:rPr>
              <a:t>Name field has “Indian Skincare”</a:t>
            </a:r>
          </a:p>
          <a:p>
            <a:pPr>
              <a:spcBef>
                <a:spcPts val="1000"/>
              </a:spcBef>
              <a:spcAft>
                <a:spcPts val="400"/>
              </a:spcAft>
            </a:pPr>
            <a:r>
              <a:rPr sz="1600" b="1" i="0">
                <a:solidFill>
                  <a:srgbClr val="8F3A22"/>
                </a:solidFill>
                <a:latin typeface="Calibri"/>
              </a:rPr>
              <a:t>Ad infrastructure — build by Day 14, before any spend  (from: Meta Ads Strategy)</a:t>
            </a:r>
          </a:p>
          <a:p>
            <a:pPr>
              <a:spcAft>
                <a:spcPts val="400"/>
              </a:spcAft>
            </a:pPr>
            <a:r>
              <a:rPr sz="1350">
                <a:solidFill>
                  <a:srgbClr val="B44A2E"/>
                </a:solidFill>
                <a:latin typeface="Calibri"/>
              </a:rPr>
              <a:t>☐ </a:t>
            </a:r>
            <a:r>
              <a:rPr sz="1350" b="0" i="0">
                <a:solidFill>
                  <a:srgbClr val="2A2622"/>
                </a:solidFill>
                <a:latin typeface="Calibri"/>
              </a:rPr>
              <a:t>Meta Business Manager + ad account, payment (₹ via card/UPI-supported method), time zone IST</a:t>
            </a:r>
          </a:p>
          <a:p>
            <a:pPr>
              <a:spcAft>
                <a:spcPts val="400"/>
              </a:spcAft>
            </a:pPr>
            <a:r>
              <a:rPr sz="1350">
                <a:solidFill>
                  <a:srgbClr val="B44A2E"/>
                </a:solidFill>
                <a:latin typeface="Calibri"/>
              </a:rPr>
              <a:t>☐ </a:t>
            </a:r>
            <a:r>
              <a:rPr sz="1350" b="0" i="0">
                <a:solidFill>
                  <a:srgbClr val="2A2622"/>
                </a:solidFill>
                <a:latin typeface="Calibri"/>
              </a:rPr>
              <a:t>Meta Pixel on website (if live) + Conversions API — events: PageView, AddToCart, InitiateCheckout, Purchase</a:t>
            </a:r>
          </a:p>
          <a:p>
            <a:pPr>
              <a:spcAft>
                <a:spcPts val="400"/>
              </a:spcAft>
            </a:pPr>
            <a:r>
              <a:rPr sz="1350">
                <a:solidFill>
                  <a:srgbClr val="B44A2E"/>
                </a:solidFill>
                <a:latin typeface="Calibri"/>
              </a:rPr>
              <a:t>☐ </a:t>
            </a:r>
            <a:r>
              <a:rPr sz="1350" b="0" i="0">
                <a:solidFill>
                  <a:srgbClr val="2A2622"/>
                </a:solidFill>
                <a:latin typeface="Calibri"/>
              </a:rPr>
              <a:t>WhatsApp Business API connected (Click-to-WhatsApp objective) + the GLOW quick-reply flow</a:t>
            </a:r>
          </a:p>
          <a:p>
            <a:pPr>
              <a:spcAft>
                <a:spcPts val="400"/>
              </a:spcAft>
            </a:pPr>
            <a:r>
              <a:rPr sz="1350">
                <a:solidFill>
                  <a:srgbClr val="B44A2E"/>
                </a:solidFill>
                <a:latin typeface="Calibri"/>
              </a:rPr>
              <a:t>☐ </a:t>
            </a:r>
            <a:r>
              <a:rPr sz="1350" b="0" i="0">
                <a:solidFill>
                  <a:srgbClr val="2A2622"/>
                </a:solidFill>
                <a:latin typeface="Calibri"/>
              </a:rPr>
              <a:t>Catalog (serum, face wash, moisturizer, kits) with the real photos</a:t>
            </a:r>
          </a:p>
          <a:p>
            <a:pPr>
              <a:spcAft>
                <a:spcPts val="400"/>
              </a:spcAft>
            </a:pPr>
            <a:r>
              <a:rPr sz="1350">
                <a:solidFill>
                  <a:srgbClr val="B44A2E"/>
                </a:solidFill>
                <a:latin typeface="Calibri"/>
              </a:rPr>
              <a:t>☐ </a:t>
            </a:r>
            <a:r>
              <a:rPr sz="1350" b="0" i="0">
                <a:solidFill>
                  <a:srgbClr val="2A2622"/>
                </a:solidFill>
                <a:latin typeface="Calibri"/>
              </a:rPr>
              <a:t>Creative permission forms collected from testers/creators (ad use rights)</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385</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65760" y="201168"/>
            <a:ext cx="11460175" cy="868680"/>
          </a:xfrm>
          <a:prstGeom prst="rect">
            <a:avLst/>
          </a:prstGeom>
          <a:noFill/>
        </p:spPr>
        <p:txBody>
          <a:bodyPr wrap="square">
            <a:spAutoFit/>
          </a:bodyPr>
          <a:lstStyle/>
          <a:p>
            <a:r>
              <a:rPr sz="2400" b="1">
                <a:solidFill>
                  <a:srgbClr val="8F3A22"/>
                </a:solidFill>
                <a:latin typeface="Calibri"/>
              </a:rPr>
              <a:t>Master Action Checklists</a:t>
            </a:r>
          </a:p>
          <a:p>
            <a:r>
              <a:rPr sz="1200" i="1">
                <a:solidFill>
                  <a:srgbClr val="57504A"/>
                </a:solidFill>
                <a:latin typeface="Calibri"/>
              </a:rPr>
              <a:t>PART 24 — Master Action Checklists</a:t>
            </a:r>
          </a:p>
        </p:txBody>
      </p:sp>
      <p:sp>
        <p:nvSpPr>
          <p:cNvPr id="3" name="Rectangle 2"/>
          <p:cNvSpPr/>
          <p:nvPr/>
        </p:nvSpPr>
        <p:spPr>
          <a:xfrm>
            <a:off x="365760" y="1078992"/>
            <a:ext cx="11460175" cy="20320"/>
          </a:xfrm>
          <a:prstGeom prst="rect">
            <a:avLst/>
          </a:prstGeom>
          <a:solidFill>
            <a:srgbClr val="B4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280160"/>
            <a:ext cx="11460175" cy="5120640"/>
          </a:xfrm>
          <a:prstGeom prst="rect">
            <a:avLst/>
          </a:prstGeom>
          <a:noFill/>
        </p:spPr>
        <p:txBody>
          <a:bodyPr wrap="square">
            <a:spAutoFit/>
          </a:bodyPr>
          <a:lstStyle/>
          <a:p>
            <a:pPr>
              <a:spcAft>
                <a:spcPts val="400"/>
              </a:spcAft>
            </a:pPr>
            <a:r>
              <a:rPr sz="1350">
                <a:solidFill>
                  <a:srgbClr val="B44A2E"/>
                </a:solidFill>
                <a:latin typeface="Calibri"/>
              </a:rPr>
              <a:t>☐ </a:t>
            </a:r>
            <a:r>
              <a:rPr sz="1350" b="0" i="0">
                <a:solidFill>
                  <a:srgbClr val="2A2622"/>
                </a:solidFill>
                <a:latin typeface="Calibri"/>
              </a:rPr>
              <a:t>Creative bank ready Day 20: 6 videos (D17 B/A, D19 creator, D21 launch, D22 objection, D24 unboxing, D26 testimonial) + 3 statics (offer card, texture, box-content)</a:t>
            </a:r>
          </a:p>
          <a:p>
            <a:pPr>
              <a:spcBef>
                <a:spcPts val="1000"/>
              </a:spcBef>
              <a:spcAft>
                <a:spcPts val="400"/>
              </a:spcAft>
            </a:pPr>
            <a:r>
              <a:rPr sz="1600" b="1" i="0">
                <a:solidFill>
                  <a:srgbClr val="8F3A22"/>
                </a:solidFill>
                <a:latin typeface="Calibri"/>
              </a:rPr>
              <a:t>Also run on schedule (details in their sections)</a:t>
            </a:r>
          </a:p>
          <a:p>
            <a:pPr>
              <a:spcAft>
                <a:spcPts val="400"/>
              </a:spcAft>
            </a:pPr>
            <a:r>
              <a:rPr sz="1350">
                <a:solidFill>
                  <a:srgbClr val="B44A2E"/>
                </a:solidFill>
                <a:latin typeface="Calibri"/>
              </a:rPr>
              <a:t>•  </a:t>
            </a:r>
            <a:r>
              <a:rPr sz="1350" b="0" i="0">
                <a:solidFill>
                  <a:srgbClr val="2A2622"/>
                </a:solidFill>
                <a:latin typeface="Calibri"/>
              </a:rPr>
              <a:t>Day 30 numbers review — the 8 KPIs table (from: 30-Day Calendar, Days 21–30)</a:t>
            </a:r>
          </a:p>
          <a:p>
            <a:pPr>
              <a:spcAft>
                <a:spcPts val="400"/>
              </a:spcAft>
            </a:pPr>
            <a:r>
              <a:rPr sz="1350">
                <a:solidFill>
                  <a:srgbClr val="B44A2E"/>
                </a:solidFill>
                <a:latin typeface="Calibri"/>
              </a:rPr>
              <a:t>•  </a:t>
            </a:r>
            <a:r>
              <a:rPr sz="1350" b="0" i="0">
                <a:solidFill>
                  <a:srgbClr val="2A2622"/>
                </a:solidFill>
                <a:latin typeface="Calibri"/>
              </a:rPr>
              <a:t>Weekly ad operating rhythm — 60 min every Sunday (from: Meta Ads Strategy)</a:t>
            </a:r>
          </a:p>
          <a:p>
            <a:pPr>
              <a:spcAft>
                <a:spcPts val="400"/>
              </a:spcAft>
            </a:pPr>
            <a:r>
              <a:rPr sz="1350">
                <a:solidFill>
                  <a:srgbClr val="B44A2E"/>
                </a:solidFill>
                <a:latin typeface="Calibri"/>
              </a:rPr>
              <a:t>•  </a:t>
            </a:r>
            <a:r>
              <a:rPr sz="1350" b="0" i="0">
                <a:solidFill>
                  <a:srgbClr val="2A2622"/>
                </a:solidFill>
                <a:latin typeface="Calibri"/>
              </a:rPr>
              <a:t>Weekly story KPIs — every Sunday (from: Instagram Stories)</a:t>
            </a:r>
          </a:p>
          <a:p>
            <a:pPr>
              <a:spcAft>
                <a:spcPts val="400"/>
              </a:spcAft>
            </a:pPr>
            <a:r>
              <a:rPr sz="1350">
                <a:solidFill>
                  <a:srgbClr val="B44A2E"/>
                </a:solidFill>
                <a:latin typeface="Calibri"/>
              </a:rPr>
              <a:t>•  </a:t>
            </a:r>
            <a:r>
              <a:rPr sz="1350" b="0" i="0">
                <a:solidFill>
                  <a:srgbClr val="2A2622"/>
                </a:solidFill>
                <a:latin typeface="Calibri"/>
              </a:rPr>
              <a:t>Weekly operating cadence — the CEO’s 5-hour week (from: 90-Day Master Plan)</a:t>
            </a:r>
          </a:p>
          <a:p>
            <a:pPr>
              <a:spcAft>
                <a:spcPts val="400"/>
              </a:spcAft>
            </a:pPr>
            <a:r>
              <a:rPr sz="1350">
                <a:solidFill>
                  <a:srgbClr val="B44A2E"/>
                </a:solidFill>
                <a:latin typeface="Calibri"/>
              </a:rPr>
              <a:t>•  </a:t>
            </a:r>
            <a:r>
              <a:rPr sz="1350" b="0" i="0">
                <a:solidFill>
                  <a:srgbClr val="2A2622"/>
                </a:solidFill>
                <a:latin typeface="Calibri"/>
              </a:rPr>
              <a:t>90-Day KPI board — reviewed every Sunday, 45 min (from: 90-Day Master Plan)</a:t>
            </a:r>
          </a:p>
          <a:p>
            <a:pPr>
              <a:spcAft>
                <a:spcPts val="400"/>
              </a:spcAft>
            </a:pPr>
            <a:r>
              <a:rPr sz="1350">
                <a:solidFill>
                  <a:srgbClr val="B44A2E"/>
                </a:solidFill>
                <a:latin typeface="Calibri"/>
              </a:rPr>
              <a:t>•  </a:t>
            </a:r>
            <a:r>
              <a:rPr sz="1350" b="0" i="0">
                <a:solidFill>
                  <a:srgbClr val="2A2622"/>
                </a:solidFill>
                <a:latin typeface="Calibri"/>
              </a:rPr>
              <a:t>Sunday planning block — 2 hrs, the brain of the production system (from: Content Production System)</a:t>
            </a:r>
          </a:p>
        </p:txBody>
      </p:sp>
      <p:sp>
        <p:nvSpPr>
          <p:cNvPr id="5" name="TextBox 4"/>
          <p:cNvSpPr txBox="1"/>
          <p:nvPr/>
        </p:nvSpPr>
        <p:spPr>
          <a:xfrm>
            <a:off x="365760" y="6473952"/>
            <a:ext cx="11460175" cy="274320"/>
          </a:xfrm>
          <a:prstGeom prst="rect">
            <a:avLst/>
          </a:prstGeom>
          <a:noFill/>
        </p:spPr>
        <p:txBody>
          <a:bodyPr wrap="square">
            <a:spAutoFit/>
          </a:bodyPr>
          <a:lstStyle/>
          <a:p>
            <a:r>
              <a:rPr sz="900">
                <a:solidFill>
                  <a:srgbClr val="57504A"/>
                </a:solidFill>
                <a:latin typeface="Calibri"/>
              </a:rPr>
              <a:t>RANGAT NATURALS  ·  Master Growth Plan</a:t>
            </a:r>
          </a:p>
        </p:txBody>
      </p:sp>
      <p:sp>
        <p:nvSpPr>
          <p:cNvPr id="6" name="TextBox 5"/>
          <p:cNvSpPr txBox="1"/>
          <p:nvPr/>
        </p:nvSpPr>
        <p:spPr>
          <a:xfrm>
            <a:off x="9997135" y="6473952"/>
            <a:ext cx="1828800" cy="274320"/>
          </a:xfrm>
          <a:prstGeom prst="rect">
            <a:avLst/>
          </a:prstGeom>
          <a:noFill/>
        </p:spPr>
        <p:txBody>
          <a:bodyPr wrap="square">
            <a:spAutoFit/>
          </a:bodyPr>
          <a:lstStyle/>
          <a:p>
            <a:pPr algn="r"/>
            <a:r>
              <a:rPr sz="900">
                <a:solidFill>
                  <a:srgbClr val="57504A"/>
                </a:solidFill>
                <a:latin typeface="Calibri"/>
              </a:rPr>
              <a:t>386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RANGAT NATURALS — Social Media + Sales Growth Master Plan</dc:title>
  <dc:subject/>
  <dc:creator>RANGAT NATURALS Strategy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