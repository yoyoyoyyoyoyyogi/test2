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0562B"/>
                </a:solidFill>
                <a:latin typeface="Calibri"/>
              </a:rPr>
              <a:t>RANGAT NATURALS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2B2B2B"/>
                </a:solidFill>
                <a:latin typeface="Calibri"/>
              </a:rPr>
              <a:t>SOCIAL MEDIA EXECUTION
MASTER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0">
                <a:solidFill>
                  <a:srgbClr val="2B2B2B"/>
                </a:solidFill>
                <a:latin typeface="Calibri"/>
              </a:rPr>
              <a:t>The complete step-by-step action manual — Day 0 setup · 30-day day-by-day calendar (21 fields per day) · AI prompts + free manual methods for every day · influencers · Meta Ads · the 90-day machine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394960"/>
            <a:ext cx="10543032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EXECUTIVE EDITION — the 30 most important actionable points of the full guide (PDF + DOCX = complete detail)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8A7F72"/>
                </a:solidFill>
                <a:latin typeface="Calibri"/>
              </a:rPr>
              <a:t>North star: CUSTOMERS + SALES + REPEAT + PROFIT · Market: Ahmedabad → Gujarat → West India → India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THE RULE THAT RUNS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North Star + Ground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2713482" cy="86868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64008" cy="86868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26464"/>
            <a:ext cx="25306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C0562B"/>
                </a:solidFill>
                <a:latin typeface="Calibri"/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55648"/>
            <a:ext cx="2530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50" b="0">
                <a:solidFill>
                  <a:srgbClr val="2B2B2B"/>
                </a:solidFill>
                <a:latin typeface="Calibri"/>
              </a:rPr>
              <a:t>real orders, not likes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6130" y="1371600"/>
            <a:ext cx="2713482" cy="86868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26130" y="1371600"/>
            <a:ext cx="64008" cy="86868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3290" y="1426464"/>
            <a:ext cx="25306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C0562B"/>
                </a:solidFill>
                <a:latin typeface="Calibri"/>
              </a:rPr>
              <a:t>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3290" y="1755648"/>
            <a:ext cx="2530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50" b="0">
                <a:solidFill>
                  <a:srgbClr val="2B2B2B"/>
                </a:solidFill>
                <a:latin typeface="Calibri"/>
              </a:rPr>
              <a:t>DM "GLOW" → WhatsApp → COD (Cash on Delivery)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9340" y="1371600"/>
            <a:ext cx="2713482" cy="86868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9340" y="1371600"/>
            <a:ext cx="64008" cy="86868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6500" y="1426464"/>
            <a:ext cx="25306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C0562B"/>
                </a:solidFill>
                <a:latin typeface="Calibri"/>
              </a:rPr>
              <a:t>REPEAT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1755648"/>
            <a:ext cx="2530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50" b="0">
                <a:solidFill>
                  <a:srgbClr val="2B2B2B"/>
                </a:solidFill>
                <a:latin typeface="Calibri"/>
              </a:rPr>
              <a:t>10–15% by Day 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72550" y="1371600"/>
            <a:ext cx="2713482" cy="86868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72550" y="1371600"/>
            <a:ext cx="64008" cy="86868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09710" y="1426464"/>
            <a:ext cx="25306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C0562B"/>
                </a:solidFill>
                <a:latin typeface="Calibri"/>
              </a:rPr>
              <a:t>PROFIT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9710" y="1755648"/>
            <a:ext cx="2530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50" b="0">
                <a:solidFill>
                  <a:srgbClr val="2B2B2B"/>
                </a:solidFill>
                <a:latin typeface="Calibri"/>
              </a:rPr>
              <a:t>LTV:CAC ≥ 2.5 by Day 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4688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2B2B2B"/>
                </a:solidFill>
                <a:latin typeface="Calibri"/>
              </a:rPr>
              <a:t>Every post must answer: which stranger will this make buy — and how (DM "GLOW" → WhatsApp → COD)? No job in that chain = not posted.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063240"/>
            <a:ext cx="11155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150" b="1">
                <a:solidFill>
                  <a:srgbClr val="C0562B"/>
                </a:solidFill>
                <a:latin typeface="Calibri"/>
              </a:rPr>
              <a:t>▪  </a:t>
            </a:r>
            <a:r>
              <a:rPr sz="1150" b="1">
                <a:solidFill>
                  <a:srgbClr val="2B2B2B"/>
                </a:solidFill>
                <a:latin typeface="Calibri"/>
              </a:rPr>
              <a:t>No fake anything. </a:t>
            </a:r>
            <a:r>
              <a:rPr sz="1150" b="0">
                <a:solidFill>
                  <a:srgbClr val="2B2B2B"/>
                </a:solidFill>
                <a:latin typeface="Calibri"/>
              </a:rPr>
              <a:t>No fake reviews, testimonials, before/after, followers or engagement — ever.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150" b="1">
                <a:solidFill>
                  <a:srgbClr val="C0562B"/>
                </a:solidFill>
                <a:latin typeface="Calibri"/>
              </a:rPr>
              <a:t>▪  </a:t>
            </a:r>
            <a:r>
              <a:rPr sz="1150" b="1">
                <a:solidFill>
                  <a:srgbClr val="2B2B2B"/>
                </a:solidFill>
                <a:latin typeface="Calibri"/>
              </a:rPr>
              <a:t>No impossible claims. </a:t>
            </a:r>
            <a:r>
              <a:rPr sz="1150" b="0">
                <a:solidFill>
                  <a:srgbClr val="2B2B2B"/>
                </a:solidFill>
                <a:latin typeface="Calibri"/>
              </a:rPr>
              <a:t>No guaranteed results, no "cure / remove / permanent / 100%", no medical claims, no unverified claims.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150" b="1">
                <a:solidFill>
                  <a:srgbClr val="C0562B"/>
                </a:solidFill>
                <a:latin typeface="Calibri"/>
              </a:rPr>
              <a:t>▪  </a:t>
            </a:r>
            <a:r>
              <a:rPr sz="1150" b="1">
                <a:solidFill>
                  <a:srgbClr val="2B2B2B"/>
                </a:solidFill>
                <a:latin typeface="Calibri"/>
              </a:rPr>
              <a:t>No copyrighted downloads. </a:t>
            </a:r>
            <a:r>
              <a:rPr sz="1150" b="0">
                <a:solidFill>
                  <a:srgbClr val="2B2B2B"/>
                </a:solidFill>
                <a:latin typeface="Calibri"/>
              </a:rPr>
              <a:t>No IG/TikTok/YouTube downloads. Free licensed stock only (Pexels/Pixabay/Unsplash) as B-roll, with your own edit + voice + product on top.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150" b="1">
                <a:solidFill>
                  <a:srgbClr val="C0562B"/>
                </a:solidFill>
                <a:latin typeface="Calibri"/>
              </a:rPr>
              <a:t>▪  </a:t>
            </a:r>
            <a:r>
              <a:rPr sz="1150" b="1">
                <a:solidFill>
                  <a:srgbClr val="2B2B2B"/>
                </a:solidFill>
                <a:latin typeface="Calibri"/>
              </a:rPr>
              <a:t>Brand, not manufacturer. </a:t>
            </a:r>
            <a:r>
              <a:rPr sz="1150" b="0">
                <a:solidFill>
                  <a:srgbClr val="2B2B2B"/>
                </a:solidFill>
                <a:latin typeface="Calibri"/>
              </a:rPr>
              <a:t>RANGAT NATURALS is a private-label brand — "hum manufacturer nahi hain" is a selling line, not an apology.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150" b="1">
                <a:solidFill>
                  <a:srgbClr val="C0562B"/>
                </a:solidFill>
                <a:latin typeface="Calibri"/>
              </a:rPr>
              <a:t>▪  </a:t>
            </a:r>
            <a:r>
              <a:rPr sz="1150" b="1">
                <a:solidFill>
                  <a:srgbClr val="2B2B2B"/>
                </a:solidFill>
                <a:latin typeface="Calibri"/>
              </a:rPr>
              <a:t>One focus product at a time. </a:t>
            </a:r>
            <a:r>
              <a:rPr sz="1150" b="0">
                <a:solidFill>
                  <a:srgbClr val="2B2B2B"/>
                </a:solidFill>
                <a:latin typeface="Calibri"/>
              </a:rPr>
              <a:t>Vitamin C Serum 10% first; nothing else sold for 60 days (Sunscreen wave 2, Night Cream wave 3).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150" b="1">
                <a:solidFill>
                  <a:srgbClr val="C0562B"/>
                </a:solidFill>
                <a:latin typeface="Calibri"/>
              </a:rPr>
              <a:t>▪  </a:t>
            </a:r>
            <a:r>
              <a:rPr sz="1150" b="1">
                <a:solidFill>
                  <a:srgbClr val="2B2B2B"/>
                </a:solidFill>
                <a:latin typeface="Calibri"/>
              </a:rPr>
              <a:t>Gujarat first, India always. </a:t>
            </a:r>
            <a:r>
              <a:rPr sz="1150" b="0">
                <a:solidFill>
                  <a:srgbClr val="2B2B2B"/>
                </a:solidFill>
                <a:latin typeface="Calibri"/>
              </a:rPr>
              <a:t>The brand is Indian from Day 1 (name field: "Indian Skincare"); the energy starts in Gujarat.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150" b="1">
                <a:solidFill>
                  <a:srgbClr val="C0562B"/>
                </a:solidFill>
                <a:latin typeface="Calibri"/>
              </a:rPr>
              <a:t>▪  </a:t>
            </a:r>
            <a:r>
              <a:rPr sz="1150" b="1">
                <a:solidFill>
                  <a:srgbClr val="2B2B2B"/>
                </a:solidFill>
                <a:latin typeface="Calibri"/>
              </a:rPr>
              <a:t>Small budget, big discipline. </a:t>
            </a:r>
            <a:r>
              <a:rPr sz="1150" b="0">
                <a:solidFill>
                  <a:srgbClr val="2B2B2B"/>
                </a:solidFill>
                <a:latin typeface="Calibri"/>
              </a:rPr>
              <a:t>Founder + 1 part-time · ads start Day 21 at ₹500/day · no ad on Day 1 · always "RANGAT NATURALS", never a placeholder.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THE 10 DECISIONS THIS GUIDE EXECUTES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CEO Decisions (locked)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180"/>
                <a:gridCol w="2080578"/>
                <a:gridCol w="845235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The rule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Hero product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Vitamin C Serum 10% + Face Wash (entry) + Moisturizer — nothing else for 60 days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First customer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Women 20–35, Ahmedabad → Surat/Vadodara/Rajkot · ₹399–799 sweet spot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Platform rank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Instagram 60 · WhatsApp 25 (COD/CTWA) · Facebook 10 · YouTube Shorts 5 · Pinterest 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Cadence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5–7 Reels/week · 3–5 Stories/day · 2 carousels/week · 2-day shoot batches · language 50/30/20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Ads timing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NO ads Days 1–14 · optional ₹200 boost D15–20 (cap ₹300) · full ads Day 21 at ₹500/day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Launch offer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"Founding 100" = launch price + free Face Wash mini + free shipping + COD + featured review · 100-unit cap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Proof engine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20 testers × 4 weeks, real + disclosed only · Day-7 "nothing yet" honesty · 1 negative per 3 positives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Funnel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Reel → Profile → DM "GLOW" → WhatsApp → COD → D1/7/14/28 → review → ₹100/₹100 referral → repeat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Content mix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Awareness 20 / Education 25 / Trust 30 / Sales 20 · exactly 1-in-5 posts direct-sell after D15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Day-30 KPIs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80–100 orders · 600–1,000 GLOW DMs · DM→order 25–40% · 1–2k followers · COD fail &lt;15%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WHAT WE SELL, TO WHOM, AND THE LAUNCH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Product Waves + Founding 100 + ICP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585215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370"/>
                <a:gridCol w="3069985"/>
                <a:gridCol w="182280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Wave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1 (HERO)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Vitamin C Serum 10% + Face Wash + Moisturizer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Day 1 (launch D21)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Sunscreen SPF 50 (no white cast)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D45–60 (waitlist from D18)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Night Cream + gifting boxes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D75–90 (Diwali)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Lip / Hair / Body Care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post-90 (seasonal)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0" y="13716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ICP — the first 1,000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51206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0">
                <a:solidFill>
                  <a:srgbClr val="2B2B2B"/>
                </a:solidFill>
                <a:latin typeface="Calibri"/>
              </a:rPr>
              <a:t>Women 20–35 · Ahmedabad first, then Surat / Vadodara / Rajkot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0">
                <a:solidFill>
                  <a:srgbClr val="2B2B2B"/>
                </a:solidFill>
                <a:latin typeface="Calibri"/>
              </a:rPr>
              <a:t>Budget: ₹399–799 · "aam daam" value psychology (₹600 = 20 chai, 4 hafte)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0">
                <a:solidFill>
                  <a:srgbClr val="2B2B2B"/>
                </a:solidFill>
                <a:latin typeface="Calibri"/>
              </a:rPr>
              <a:t>First-time skincare OR routine-curious · heavy WhatsApp + Instagram users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0">
                <a:solidFill>
                  <a:srgbClr val="2B2B2B"/>
                </a:solidFill>
                <a:latin typeface="Calibri"/>
              </a:rPr>
              <a:t>#1 fear: fake products (fakery fear) → kill it with COD + batch card + real proof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5196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C0562B"/>
                </a:solidFill>
                <a:latin typeface="Calibri"/>
              </a:rPr>
              <a:t>THE LAUNCH OFFER — "Founding 100" (100-unit cap, real urgency)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4572000"/>
          <a:ext cx="1118311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9923"/>
                <a:gridCol w="3116604"/>
                <a:gridCol w="4216583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Element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Why it works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Launch price + FREE Face Wash mini + FREE shipping + COD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100 seats only — "batch 1, phir nahi"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Risk killed (COD) + value stacked + scarcity TRUE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Featured review slot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Founding buyers get a feature on the page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Buys the proof engine with the first 100 customers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Post-launch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Referral: do ₹100, lo ₹100 (D29) + wave-2 offers to purchasers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The repeat + referral loop starts inside the first 30 days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WHERE WE PLAY + THE 3-SECOND PROFILE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Platform Ranking &amp; Profile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5120639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857"/>
                <a:gridCol w="867905"/>
                <a:gridCol w="2950877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Reach + trust + search (SEO)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WhatsApp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The actual sale: CTWA, COD, D1/7/14/28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Facebook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Reels mirror + older-buyer reach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YouTube Shorts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Long-tail search (top 3 reels, Fridays)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Pinterest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Not for launch — skip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0" y="137160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Profile = a sales page (built Day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691640"/>
            <a:ext cx="5760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Name field: </a:t>
            </a:r>
            <a:r>
              <a:rPr sz="1000" b="0">
                <a:solidFill>
                  <a:srgbClr val="2B2B2B"/>
                </a:solidFill>
                <a:latin typeface="Calibri"/>
              </a:rPr>
              <a:t>"RANGAT Naturals | Indian Skincare" (it is a search field)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Bio 4 lines: </a:t>
            </a:r>
            <a:r>
              <a:rPr sz="1000" b="0">
                <a:solidFill>
                  <a:srgbClr val="2B2B2B"/>
                </a:solidFill>
                <a:latin typeface="Calibri"/>
              </a:rPr>
              <a:t>category+signature → product+honest 4–6 hafte → COD+support → DM "GLOW"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Avatar: </a:t>
            </a:r>
            <a:r>
              <a:rPr sz="1000" b="0">
                <a:solidFill>
                  <a:srgbClr val="2B2B2B"/>
                </a:solidFill>
                <a:latin typeface="Calibri"/>
              </a:rPr>
              <a:t>founder’s face (a face converts a zero brand better than a logo)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Link: </a:t>
            </a:r>
            <a:r>
              <a:rPr sz="1000" b="0">
                <a:solidFill>
                  <a:srgbClr val="2B2B2B"/>
                </a:solidFill>
                <a:latin typeface="Calibri"/>
              </a:rPr>
              <a:t>3 items max — WhatsApp first, ordered by conversion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3 pins: </a:t>
            </a:r>
            <a:r>
              <a:rPr sz="1000" b="0">
                <a:solidFill>
                  <a:srgbClr val="2B2B2B"/>
                </a:solidFill>
                <a:latin typeface="Calibri"/>
              </a:rPr>
              <a:t>buy (hero+offer) · trust (Day-28 B/A) · who (founder)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6 highlights: </a:t>
            </a:r>
            <a:r>
              <a:rPr sz="1000" b="0">
                <a:solidFill>
                  <a:srgbClr val="2B2B2B"/>
                </a:solidFill>
                <a:latin typeface="Calibri"/>
              </a:rPr>
              <a:t>RESULTS first · HOW TO USE · REVIEW · FOUNDER · INSIDE · OFFER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160520"/>
            <a:ext cx="2713482" cy="9144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160520"/>
            <a:ext cx="64008" cy="91440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15384"/>
            <a:ext cx="25306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C0562B"/>
                </a:solidFill>
                <a:latin typeface="Calibri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44568"/>
            <a:ext cx="2530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50" b="0">
                <a:solidFill>
                  <a:srgbClr val="2B2B2B"/>
                </a:solidFill>
                <a:latin typeface="Calibri"/>
              </a:rPr>
              <a:t>DM reply SLA (7 AM–11 PM)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26130" y="4160520"/>
            <a:ext cx="2713482" cy="9144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26130" y="4160520"/>
            <a:ext cx="64008" cy="91440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3290" y="4215384"/>
            <a:ext cx="25306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C0562B"/>
                </a:solidFill>
                <a:latin typeface="Calibri"/>
              </a:rPr>
              <a:t>2 hrs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3290" y="4544568"/>
            <a:ext cx="2530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50" b="0">
                <a:solidFill>
                  <a:srgbClr val="2B2B2B"/>
                </a:solidFill>
                <a:latin typeface="Calibri"/>
              </a:rPr>
              <a:t>comment reply SLA (launch week: 15 min)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9340" y="4160520"/>
            <a:ext cx="2713482" cy="9144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9340" y="4160520"/>
            <a:ext cx="64008" cy="91440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6500" y="4215384"/>
            <a:ext cx="25306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C0562B"/>
                </a:solidFill>
                <a:latin typeface="Calibri"/>
              </a:rPr>
              <a:t>3 sec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4544568"/>
            <a:ext cx="2530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50" b="0">
                <a:solidFill>
                  <a:srgbClr val="2B2B2B"/>
                </a:solidFill>
                <a:latin typeface="Calibri"/>
              </a:rPr>
              <a:t>stranger’s profile test — buy/trust/who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2550" y="4160520"/>
            <a:ext cx="2713482" cy="9144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72550" y="4160520"/>
            <a:ext cx="64008" cy="914400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09710" y="4215384"/>
            <a:ext cx="253060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C0562B"/>
                </a:solidFill>
                <a:latin typeface="Calibri"/>
              </a:rPr>
              <a:t>"insaan, bot nahi"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9710" y="4544568"/>
            <a:ext cx="25306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850" b="0">
                <a:solidFill>
                  <a:srgbClr val="2B2B2B"/>
                </a:solidFill>
                <a:latin typeface="Calibri"/>
              </a:rPr>
              <a:t>the auto-reply line that is a brand 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34924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2B2B2B"/>
                </a:solidFill>
                <a:latin typeface="Calibri"/>
              </a:rPr>
              <a:t>Auto-reply (IG + WhatsApp): "Namaste! RANGAT NATURALS yahan. ‘GLOW’ likhiye product + price ke liye. COD hai. Koi sawaal? Hum insaan hain, bot nahi."  ·  Quick replies pre-set: GLOW / COD / PRICE  ·  WhatsApp Business catalog = 1 product (VC Serum, ₹600).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WHAT PERCENTAGE OF WHAT —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Content Mix: 20 / 25 / 30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9945"/>
                <a:gridCol w="549989"/>
                <a:gridCol w="2383286"/>
                <a:gridCol w="2749945"/>
                <a:gridCol w="2749945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Bucket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Formats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Calendar share (of 30 days)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Attention (relatable/problem/curiosity)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Stop strangers’ scroll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Relatable skits, problem reels, 5s hooks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D1, D2, D5, D11, D15, D25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Education (save-intent)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Make RANGAT the "smart" brand; feed search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Carousels, how-to, myth-vs-reality, layering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D3, D4, D7, D10, D18, D23, D28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Trust (proof/UGC/founder/BTS)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Convert evaluators — biggest bucket for a zero brand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Disclosed B/A, testimonials, founder, BTS, collabs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D6, D9, D12, D13, D16, D17, D19, D24, D26, D29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Sales (offer/direct)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Collect the DMs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Launch film, box contents, COD, referral, seat counts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D8, D14, D20, D21, D27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343400"/>
            <a:ext cx="11155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C0562B"/>
                </a:solidFill>
                <a:latin typeface="Calibri"/>
              </a:rPr>
              <a:t>The 1-in-5 rule: after Day 15, EXACTLY 1 of every 5 posts is a direct-sell post (max 3-in-9 in offer windows). Never 2 sell posts in a row — the next post must be Trust or Education.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937760"/>
            <a:ext cx="11155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Your other buckets map in: </a:t>
            </a:r>
            <a:r>
              <a:rPr sz="1050" b="0">
                <a:solidFill>
                  <a:srgbClr val="2B2B2B"/>
                </a:solidFill>
                <a:latin typeface="Calibri"/>
              </a:rPr>
              <a:t>Entertainment = inside Attention · UGC + Social proof + Founder + Demo = inside Trust · Problem-solution = Attention→Education bridge · Community = referral/community days.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The calendar encodes the mix — </a:t>
            </a:r>
            <a:r>
              <a:rPr sz="1050" b="0">
                <a:solidFill>
                  <a:srgbClr val="2B2B2B"/>
                </a:solidFill>
                <a:latin typeface="Calibri"/>
              </a:rPr>
              <a:t>do not "fix" a day’s type. If a week drifts (2 sell posts), the next post is Trust or Education. Sunday KPI review checks next week’s mix.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DO THIS IN ONE SITTING BEFORE POST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Day 0 — Complete Instagram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66928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Professional account </a:t>
            </a:r>
            <a:r>
              <a:rPr sz="1050" b="0">
                <a:solidFill>
                  <a:srgbClr val="2B2B2B"/>
                </a:solidFill>
                <a:latin typeface="Calibri"/>
              </a:rPr>
              <a:t>→ Business → Category: Beauty &amp; Cosmetics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Username: </a:t>
            </a:r>
            <a:r>
              <a:rPr sz="1050" b="0">
                <a:solidFill>
                  <a:srgbClr val="2B2B2B"/>
                </a:solidFill>
                <a:latin typeface="Calibri"/>
              </a:rPr>
              <a:t>@rangatnaturals (fallbacks: .in / india) — identical on WhatsApp/FB/YT, never changed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Name field: </a:t>
            </a:r>
            <a:r>
              <a:rPr sz="1050" b="0">
                <a:solidFill>
                  <a:srgbClr val="2B2B2B"/>
                </a:solidFill>
                <a:latin typeface="Calibri"/>
              </a:rPr>
              <a:t>RANGAT Naturals | Indian Skincare (search field — keywords in it)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Bio: </a:t>
            </a:r>
            <a:r>
              <a:rPr sz="1050" b="0">
                <a:solidFill>
                  <a:srgbClr val="2B2B2B"/>
                </a:solidFill>
                <a:latin typeface="Calibri"/>
              </a:rPr>
              <a:t>the exact 4 lines (category → product+honest timeline → COD+support → DM "GLOW")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Contact buttons: </a:t>
            </a:r>
            <a:r>
              <a:rPr sz="1050" b="0">
                <a:solidFill>
                  <a:srgbClr val="2B2B2B"/>
                </a:solidFill>
                <a:latin typeface="Calibri"/>
              </a:rPr>
              <a:t>WhatsApp + Email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Avatar: </a:t>
            </a:r>
            <a:r>
              <a:rPr sz="1050" b="0">
                <a:solidFill>
                  <a:srgbClr val="2B2B2B"/>
                </a:solidFill>
                <a:latin typeface="Calibri"/>
              </a:rPr>
              <a:t>founder’s face — warm, real, no heavy filters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Link: </a:t>
            </a:r>
            <a:r>
              <a:rPr sz="1050" b="0">
                <a:solidFill>
                  <a:srgbClr val="2B2B2B"/>
                </a:solidFill>
                <a:latin typeface="Calibri"/>
              </a:rPr>
              <a:t>Linktree/Stan Store — 3 items max, WhatsApp order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21208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6 Highlight shells </a:t>
            </a:r>
            <a:r>
              <a:rPr sz="1050" b="0">
                <a:solidFill>
                  <a:srgbClr val="2B2B2B"/>
                </a:solidFill>
                <a:latin typeface="Calibri"/>
              </a:rPr>
              <a:t>(cream + terracotta covers): RESULTS · HOW TO USE · REVIEW · FOUNDER · INSIDE · OFFER — RESULTS always first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Quick replies: </a:t>
            </a:r>
            <a:r>
              <a:rPr sz="1050" b="0">
                <a:solidFill>
                  <a:srgbClr val="2B2B2B"/>
                </a:solidFill>
                <a:latin typeface="Calibri"/>
              </a:rPr>
              <a:t>GLOW / COD / PRICE pre-written with price + COD + 15-min promise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Auto-reply live </a:t>
            </a:r>
            <a:r>
              <a:rPr sz="1050" b="0">
                <a:solidFill>
                  <a:srgbClr val="2B2B2B"/>
                </a:solidFill>
                <a:latin typeface="Calibri"/>
              </a:rPr>
              <a:t>(IG + WhatsApp Business) — the "insaan, bot nahi" line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Comments ON </a:t>
            </a:r>
            <a:r>
              <a:rPr sz="1050" b="0">
                <a:solidFill>
                  <a:srgbClr val="2B2B2B"/>
                </a:solidFill>
                <a:latin typeface="Calibri"/>
              </a:rPr>
              <a:t>(a zero brand that silences comments looks guilty); hide-list = spam words only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SLAs on calendar: </a:t>
            </a:r>
            <a:r>
              <a:rPr sz="1050" b="0">
                <a:solidFill>
                  <a:srgbClr val="2B2B2B"/>
                </a:solidFill>
                <a:latin typeface="Calibri"/>
              </a:rPr>
              <a:t>15-min DM (7 AM–11 PM) · 2-hr comments · first-60-minutes after every post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WhatsApp Business: </a:t>
            </a:r>
            <a:r>
              <a:rPr sz="1050" b="0">
                <a:solidFill>
                  <a:srgbClr val="2B2B2B"/>
                </a:solidFill>
                <a:latin typeface="Calibri"/>
              </a:rPr>
              <a:t>catalog = VC Serum ₹600 · click-to-chat link in bio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8A7F72"/>
                </a:solidFill>
                <a:latin typeface="Calibri"/>
              </a:rPr>
              <a:t>Alt text from post #1 · 3 pins planned (D8 hero · D17 proof · D13 founder) · first 12-point SEO checklist already satisfied by the setup.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A ZERO-BUDGET SALES CHANNEL THAT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Instagram SEO — 5 placements + 12-point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5394958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092"/>
                <a:gridCol w="1740309"/>
                <a:gridCol w="3132557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Keyword placement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Name field (IG)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highest weight — "Indian Skincare" inside the name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On-screen text / hook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IG OCRs it — target keyword in frame 1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Caption line 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first ~80 chars = search snippet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Hashtags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topic clustering — 8–15, never 30 random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YouTube title + description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the long-tail winner (3 Shorts/week)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12-point checklist (run on EVERY post)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91640"/>
            <a:ext cx="548640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50"/>
              </a:spcAft>
            </a:pPr>
            <a:r>
              <a:rPr sz="950" b="1">
                <a:solidFill>
                  <a:srgbClr val="C0562B"/>
                </a:solidFill>
                <a:latin typeface="Calibri"/>
              </a:rPr>
              <a:t>▪  </a:t>
            </a:r>
            <a:r>
              <a:rPr sz="950" b="0">
                <a:solidFill>
                  <a:srgbClr val="2B2B2B"/>
                </a:solidFill>
                <a:latin typeface="Calibri"/>
              </a:rPr>
              <a:t>1–2: name field + bio carry the category phrase</a:t>
            </a:r>
          </a:p>
          <a:p>
            <a:pPr algn="l">
              <a:lnSpc>
                <a:spcPct val="102000"/>
              </a:lnSpc>
              <a:spcAft>
                <a:spcPts val="350"/>
              </a:spcAft>
            </a:pPr>
            <a:r>
              <a:rPr sz="950" b="1">
                <a:solidFill>
                  <a:srgbClr val="C0562B"/>
                </a:solidFill>
                <a:latin typeface="Calibri"/>
              </a:rPr>
              <a:t>▪  </a:t>
            </a:r>
            <a:r>
              <a:rPr sz="950" b="0">
                <a:solidFill>
                  <a:srgbClr val="2B2B2B"/>
                </a:solidFill>
                <a:latin typeface="Calibri"/>
              </a:rPr>
              <a:t>3–4: hook text + caption line 1 = the search phrase (Hinglish OK)</a:t>
            </a:r>
          </a:p>
          <a:p>
            <a:pPr algn="l">
              <a:lnSpc>
                <a:spcPct val="102000"/>
              </a:lnSpc>
              <a:spcAft>
                <a:spcPts val="350"/>
              </a:spcAft>
            </a:pPr>
            <a:r>
              <a:rPr sz="950" b="1">
                <a:solidFill>
                  <a:srgbClr val="C0562B"/>
                </a:solidFill>
                <a:latin typeface="Calibri"/>
              </a:rPr>
              <a:t>▪  </a:t>
            </a:r>
            <a:r>
              <a:rPr sz="950" b="0">
                <a:solidFill>
                  <a:srgbClr val="2B2B2B"/>
                </a:solidFill>
                <a:latin typeface="Calibri"/>
              </a:rPr>
              <a:t>5: one "keyword Reel" per product per month (title = the query)</a:t>
            </a:r>
          </a:p>
          <a:p>
            <a:pPr algn="l">
              <a:lnSpc>
                <a:spcPct val="102000"/>
              </a:lnSpc>
              <a:spcAft>
                <a:spcPts val="350"/>
              </a:spcAft>
            </a:pPr>
            <a:r>
              <a:rPr sz="950" b="1">
                <a:solidFill>
                  <a:srgbClr val="C0562B"/>
                </a:solidFill>
                <a:latin typeface="Calibri"/>
              </a:rPr>
              <a:t>▪  </a:t>
            </a:r>
            <a:r>
              <a:rPr sz="950" b="0">
                <a:solidFill>
                  <a:srgbClr val="2B2B2B"/>
                </a:solidFill>
                <a:latin typeface="Calibri"/>
              </a:rPr>
              <a:t>6–7: location tag (Ahmedabad/Gujarat) + manual alt text every post</a:t>
            </a:r>
          </a:p>
          <a:p>
            <a:pPr algn="l">
              <a:lnSpc>
                <a:spcPct val="102000"/>
              </a:lnSpc>
              <a:spcAft>
                <a:spcPts val="350"/>
              </a:spcAft>
            </a:pPr>
            <a:r>
              <a:rPr sz="950" b="1">
                <a:solidFill>
                  <a:srgbClr val="C0562B"/>
                </a:solidFill>
                <a:latin typeface="Calibri"/>
              </a:rPr>
              <a:t>▪  </a:t>
            </a:r>
            <a:r>
              <a:rPr sz="950" b="0">
                <a:solidFill>
                  <a:srgbClr val="2B2B2B"/>
                </a:solidFill>
                <a:latin typeface="Calibri"/>
              </a:rPr>
              <a:t>8–9: 8–15 hashtags (5-set rotation) + searchable series names</a:t>
            </a:r>
          </a:p>
          <a:p>
            <a:pPr algn="l">
              <a:lnSpc>
                <a:spcPct val="102000"/>
              </a:lnSpc>
              <a:spcAft>
                <a:spcPts val="350"/>
              </a:spcAft>
            </a:pPr>
            <a:r>
              <a:rPr sz="950" b="1">
                <a:solidFill>
                  <a:srgbClr val="C0562B"/>
                </a:solidFill>
                <a:latin typeface="Calibri"/>
              </a:rPr>
              <a:t>▪  </a:t>
            </a:r>
            <a:r>
              <a:rPr sz="950" b="0">
                <a:solidFill>
                  <a:srgbClr val="2B2B2B"/>
                </a:solidFill>
                <a:latin typeface="Calibri"/>
              </a:rPr>
              <a:t>10–11: comment conversations are indexed · first 60 min = founder in the comments</a:t>
            </a:r>
          </a:p>
          <a:p>
            <a:pPr algn="l">
              <a:lnSpc>
                <a:spcPct val="102000"/>
              </a:lnSpc>
              <a:spcAft>
                <a:spcPts val="350"/>
              </a:spcAft>
            </a:pPr>
            <a:r>
              <a:rPr sz="950" b="1">
                <a:solidFill>
                  <a:srgbClr val="C0562B"/>
                </a:solidFill>
                <a:latin typeface="Calibri"/>
              </a:rPr>
              <a:t>▪  </a:t>
            </a:r>
            <a:r>
              <a:rPr sz="950" b="0">
                <a:solidFill>
                  <a:srgbClr val="2B2B2B"/>
                </a:solidFill>
                <a:latin typeface="Calibri"/>
              </a:rPr>
              <a:t>12: monthly keyword audit (after D30: real "searches that led to profile" data)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69080"/>
            <a:ext cx="111556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2B2B2B"/>
                </a:solidFill>
                <a:latin typeface="Calibri"/>
              </a:rPr>
              <a:t>Keyword bank (5 types, rotate weekly):  ① PRODUCT — vitamin c serum india · price in india · for oily skin · best vitamin c serum india · face wash for oily skin india · sunscreen spf 50 india · no white cast · night cream for glow…  ② PROBLEM — skincare for oily skin · dull skin routine · monsoon skincare tips · hard water face problem…  ③ EDUCATION — vitamin c serum kaise use kare · layering order · patch test kya hai · spf 30 vs 50…  ④ LONG-TAIL (YT gold) — best vitamin c serum under 500 · naye brand se order kaise kare safe · ahmedabad skincare brand…  ⑤ GUJARATI/HINDI — chamak ke liye kya lagaye · gujarati skincare tips · amdaad skincare…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TOPIC CLUSTERING, NOT REACH INCANTATIONS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Hashtag Framework — 5 sets, 8–15 tags, 12 ready 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757"/>
                <a:gridCol w="2278041"/>
                <a:gridCol w="1449662"/>
                <a:gridCol w="579865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Set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Count per post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1 · BRAND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always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1–2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#RangatNaturals · #AameeSkinAamnoLiye · #RangatGlow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2 · PRODUCT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match the product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2–3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#VitaminCSerum · #SPF50 · #FaceWashIndia · #NoWhiteCast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3 · PROBLEM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match the problem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2–4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#OilySkin · #DullSkin · #MonsoonSkincare · #Pigmentation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4 · LOCATION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always for Gujarat posts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1–3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#Ahmedabad · #Amdavad · #Surat · #Vadodara · #Rajkot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5 · NICHE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community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2–3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#SkincareIndia · #DesiSkincare · #D2CIndia · #MadeInIndia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611880"/>
            <a:ext cx="5669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Rotation rules: </a:t>
            </a:r>
            <a:r>
              <a:rPr sz="1050" b="0">
                <a:solidFill>
                  <a:srgbClr val="2B2B2B"/>
                </a:solidFill>
                <a:latin typeface="Calibri"/>
              </a:rPr>
              <a:t>never the same block twice in a row · never bought/irrelevant tags · launch posts get the full brand set · after 10k drop generic niche tags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Sunday 30 min: </a:t>
            </a:r>
            <a:r>
              <a:rPr sz="1050" b="0">
                <a:solidFill>
                  <a:srgbClr val="2B2B2B"/>
                </a:solidFill>
                <a:latin typeface="Calibri"/>
              </a:rPr>
              <a:t>impressions from hashtags vs feed vs search → shift set weights (search+feed = where Indian skincare reach lives)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The calendar assigns </a:t>
            </a:r>
            <a:r>
              <a:rPr sz="1050" b="0">
                <a:solidFill>
                  <a:srgbClr val="2B2B2B"/>
                </a:solidFill>
                <a:latin typeface="Calibri"/>
              </a:rPr>
              <a:t>one of 12 ready-made sets to every day (copy-paste) — the full 12 sets are in the guide (Sections 2.4 + 3).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61188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The 12 ready-made sets (one per post type)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931920"/>
            <a:ext cx="52120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2B2B2B"/>
                </a:solidFill>
                <a:latin typeface="Calibri"/>
              </a:rPr>
              <a:t>1 Problem (oily/monsoon) · 2 VC education · 3 Hero/offer · 4 Before-after (disclosed) · 5 Founder · 6 Sunscreen · 7 Face Wash/male · 8 Gujarat relatable · 9 Wedding glow · 10 Diwali gifting · 11 Winter/night · 12 Referral/community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100% OF ZERO-BRAND REACH IS EARNED IN 2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Hook System — 16 types (all truthful, all compliant)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B2B2B"/>
                </a:solidFill>
                <a:latin typeface="Calibri"/>
              </a:rPr>
              <a:t>Anatomy: WHO it’s for + THE tension + the payoff promise — spoken line + on-screen text + first frame, all the same thing in &lt;2s. If the hook needs a "welcome", it is dead. Start mid-action.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74519"/>
          <a:ext cx="1118311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993"/>
                <a:gridCol w="3931562"/>
                <a:gridCol w="1659993"/>
                <a:gridCol w="3931562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Line (ready to use)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Line (ready to use)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1 Curiosity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"3 mahine humne sirf ek serum dhoondha. Wajah dekho."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9 Controversy-adjacent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"2000 ki imported vs 500 ki Indian — ingredient list khol ke."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2 Problem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"Gujarat me 40° — aapki skin abhi kya kar rahi hai?"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10 Relatable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"Gujarati ghar me pehli baar ‘skincare’ shuru ki?"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3 Fear/loss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"UV window se bhi aata hai — ghar baithe bhi."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11 Story/founder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"Pehla formula? Reject. Yeh kahani suno."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4 Before-after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"Day 1. Day 28. Same light, same angle." (real only)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12 Demo/challenge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"10 second. Ek drop. Phir aap khud dekhogi."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5 Mistakes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"Vitamin C serum bheege chehre par? 99% log yahi karte hain."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13 Social proof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"Is aahai ne order karne se 4 baar delete kiya. Yeh uski kahani hai."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6 Myth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"‘100% herbal’ likha hai toh lagao? Yeh sach jano."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14 Comparison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"SPF 30 vs 50 — math samjho, phir khud decide karo."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7 Unexpected fact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"Aapki skin 28 din me poori naye ho jaati hai."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15 Offer/urgency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"100 seats. Aaj baad me = koi seat nahi." (TRUE scarcity)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8 Question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"Oily skin pe moisturizer? Haan ya nahi? Comment karo."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16 Pattern-interrupt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"Par ruklo, yeh dekho." (the 2–5s retention hook)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8A7F72"/>
                </a:solidFill>
                <a:latin typeface="Calibri"/>
              </a:rPr>
              <a:t>Retention: pattern-interrupt at 2–5s · new visual every 5–7s · CTA in last 3s · hard cap 30–45s.  Never the same style twice in a row; hook log: kill bottom-10, rewrite top-10.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THE HEART OF THE GUIDE — ALL 21 FIELDS PER DAY (PDF/DOCX)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30-Day Calendar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08" cy="5193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01"/>
                <a:gridCol w="1672687"/>
                <a:gridCol w="3393166"/>
                <a:gridCol w="525701"/>
                <a:gridCol w="1672687"/>
                <a:gridCol w="3393166"/>
              </a:tblGrid>
              <a:tr h="324612"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One-line job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One-line job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problem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"40° bahar, 25° andar" — stop the scroll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8s · texture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Macro ASMR — the ad-creative bank roll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10s · problem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Monsoon tired face → 60-second fix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B/A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DAY-28 DROP — pinned, disclosed (THE proof)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Carousel · education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5 daily skin-killers — first save magnet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10s · education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SPF reapply — sunscreen wave tease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12s · myth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Herbal ≠ safe — the honest brand stance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creator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FIRST COLLAB — a second face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relatable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Maa wala skit — THE share machine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12s · BTS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Packing night — launch-eve countdown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founder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"Hum manufacturer nahi hain" — positioning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LAUNCH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Founding 100 — the sale begins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20s · Q&amp;A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4 real questions, 4 honest answers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trust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4 darr, 4 jawaab — risk killers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8s · product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"Mila karo. Vitamin C 10%" — hero intro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20s · routine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60-second routine, "try it today"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how-to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5 steps, 40 seconds — most-saved format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UGC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Customer #1 unboxing — real proof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Carousel · education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VC ka 60-sec science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12s · myth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VC = orange? The ₹20 orange prop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10s · problem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Window UV — SPF even at home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testimony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"4 baar delete karke" — THE first 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12s · proof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Tester Day-14, "abhi shuru hai" honesty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Carousel · sales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Box me kya hai + real seat count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12s · founder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Formula 1 rejected — behind-the-brand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12s · night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Night routine — Night Cream waitlist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12s · value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₹600 = 20 chai, 4 hafte — price respect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10s · referral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Do ₹100, lo ₹100 — the loop starts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mistakes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3 skincare mistakes, "stop" hand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Reel 15s · recap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30 din ka safar — the pinned journey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WEEKS 1–2 — BRAND, PROBLEM, PRODUCT, EDUCATION (D1–14)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What each day must contain (full detail in the guide)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11" cy="4732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648"/>
                <a:gridCol w="3350007"/>
                <a:gridCol w="1675003"/>
                <a:gridCol w="1034561"/>
                <a:gridCol w="1280885"/>
                <a:gridCol w="3350007"/>
              </a:tblGrid>
              <a:tr h="315468"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Hook (verbatim)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CTA (verbatim)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Posting time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Hashtag set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19">
                          <a:solidFill>
                            <a:srgbClr val="FFFFFF"/>
                          </a:solidFill>
                          <a:latin typeface="Calibri"/>
                        </a:rPr>
                        <a:t>Option A / B in one line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"40° bahar, 25° andar — dono skin par alag karte hain."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"DM GLOW" + COD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8:00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1 · problem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AI B-roll + real VO  /  3-shot window selfie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Monsoon tired face → "60-second fix, roz."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"DM GLOW · COD"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8:00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1 · problem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AI mirror-selfie  /  mirror + lather + nod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"5 daily skin-killers — #3 aap bhi karti ho."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Save + comment your number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9:00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8 · Gujarat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AI slide bgs + Canva  /  5 real close-ups + Canva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"‘100% herbal’ likha hai toh lagao? Yeh sach jano."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"DM GLOW"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8:00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2 · VC education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AI kitchen + haldi bowl  /  founder in real kitchen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"Gujarati ghar me pehli baar ‘skincare’ shuru ki?"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Share to that friend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8:00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8 · Gujarat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AI 2-char skit B-roll  /  SHOOT IT — the flagship skit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"3 mahine humne sirf ek serum dhoondha. Wajah dekho."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"DM GLOW"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8:00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5 · founder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AI desk doc-style  /  shoot the REAL workspace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4 real Q&amp;A — "Kitne din me result?" → "4–6 hafte. Fake nahi."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DM your 5th question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8:00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2 · VC education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AI Q&amp;A rapid  /  you answer 4 questions, 1 sitting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"Mila karo. Vitamin C 10%."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GLOW = launch list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12:30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3 · hero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AI macro product film  /  YOUR bottle, tripod + window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"Vitamin C serum kaise use kare? 5 steps, 40 second."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DM GLOW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12:30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2 · VC education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AI 5-step tutorial  /  5 takes × 3 sec + number overlays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"Vitamin C kya karta hai? (60 sec)"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Save karo · DM GLOW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9:00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2 · VC education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AI carousel bgs  /  Canva + 2 real product photos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"UV window se bhi aata hai — ghar baithe bhi."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DM GLOW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12:30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6 · sunscreen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AI window SPF  /  by your real window (light patch = the point)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"Day 1. Day 14. Same light, same angle." (TESTER)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Day-28 update Sunday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8:00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4 · disclosed B/A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AI bg plates ONLY  /  REAL tester photos, card in frame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"Pehla formula? Reject. Yeh kahani suno."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DM GLOW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8:00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5 · founder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AI packaging BTS  /  your real samples + post-its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"2000 vs 500 — hum ingredient list khol ke batate hain."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DM GLOW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12:30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12 · community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2B2B2B"/>
                          </a:solidFill>
                          <a:latin typeface="Calibri"/>
                        </a:rPr>
                        <a:t>AI chai-glasses prop  /  20 glasses + your bottle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WEEKS 3–4 — PROOF, LAUNCH, CONVERSION (D15–30)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What each day must contain (full detail in the guide)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08" cy="4430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827"/>
                <a:gridCol w="3265864"/>
                <a:gridCol w="1731897"/>
                <a:gridCol w="1039138"/>
                <a:gridCol w="1286552"/>
                <a:gridCol w="3364830"/>
              </a:tblGrid>
              <a:tr h="260603">
                <a:tc>
                  <a:txBody>
                    <a:bodyPr wrap="square"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Hook (verbatim)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CTA (verbatim)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Posting time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Hashtag set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  <a:latin typeface="Calibri"/>
                        </a:rPr>
                        <a:t>Option A / B in one line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"Chehra din me 4 baar raho — ruko."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DM GLOW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8:00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1 · problem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AI 3-mistake rapid  /  do the wrong thing on purpose ×3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"Ek drop. Bas itna." (texture)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DM GLOW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12:30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3 · hero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AI macro ASMR  /  phone macro + glass dish + window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"Day 1. Day 28. Same light, same angle. Dekho khud."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GLOW DM (link)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8:00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4 · disclosed B/A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AI bg plates ONLY  /  REAL tester, 2 photos + her 5s line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"SPF 30+ roz. Bahar = 2–3 ghante me reapply."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Sunscreen waitlist — GLOW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12:30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6 · sunscreen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AI reapply  /  mirror + hand + cheek, 3 shots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"Creator se review ya brand se — kya zyada bharosa?"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Collab tag + GLOW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8:00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5 · founder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NO AI — creator-shot  /  she films, you supervise + overlay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"Kal. 100 boxes. Aapka number?"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GLOW DM + countdown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9:00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3 · hero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AI packing BTS  /  PACK REAL BOXES + film (lamp, "1/100")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LAUNCH: "Din 21. 100 boxes. Aapke naam."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DM "GLOW" abhi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12:00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3 · full brand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AI launch film  /  you + real box + morning light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"4 darr, 4 jawaab." (fake? result? time? kaun?)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DM your darr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8:00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12 · community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AI founder-answer  /  4 answers on your sofa, 3.5s each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"60 second. Roz. Aaj try karo, kal update bhejo."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GLOW DM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12:30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2 · VC education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AI routine film  /  do the routine ON camera, 5 cuts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"Pehli parcel. Pehli aahai. Asli reaction."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DM GLOW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12:30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12 · community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AI unboxing fallback ONLY  /  ASK CUSTOMER #1 for 15-sec clip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"Vitamin C se chehra orange? Yeh myth kyun chalta hai."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DM GLOW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8:00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2 · VC education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AI orange squeeze  /  real orange ₹20 + your bottle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"Is aahai ne order karne se 4 baar delete kiya."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Aapki kahani bhi — GLOW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8:00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4 · proof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AI: none (real customer)  /  her clip + chat frame + quote card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"Box me kya hai? (3 clues)"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GLOW — X seat bachi (real)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9:00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3 · hero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AI bg + real flat-lay  /  real box top-down + Canva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"Raat ko kya lagana chahiye?"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Night cream waitlist — GLOW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8:00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11 · night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AI night routine  /  lamp light, 3 shots, 9 PM sitting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"Do ₹100, lo ₹100."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Code lo + 1 dost ko bhejo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8:00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12 · referral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AI two-notes gesture  /  two real ₹100 notes, 1 sitting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"DIN 1 → DIN 30. Dekho khud."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GLOW DM — mahine 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9:00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12 · community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2B2B2B"/>
                          </a:solidFill>
                          <a:latin typeface="Calibri"/>
                        </a:rPr>
                        <a:t>AI closing plate only  /  montage of your 8 best moments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Milestones: D17 first B/A pinned · D19 first collab · D21 LAUNCH (12:00 PM + all 3 story slots) · D29 referral · D30 KPI review — 80–100 orders · 600–1,000 GLOW DMs · DM→order 25–40% · 1–2k followers · COD fail &lt;15%.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NO FIELD SKIPPED — FOR ANY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Every Day = 21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1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276"/>
                <a:gridCol w="1810599"/>
                <a:gridCol w="3301680"/>
                <a:gridCol w="479276"/>
                <a:gridCol w="1810599"/>
                <a:gridCol w="3301680"/>
              </a:tblGrid>
              <a:tr h="297180"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What it carries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What it carries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Day N (Week W, weekday)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HOOK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frame-1 spoken + on-screen text (verbatim library)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DATE / SEQUENCE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Day N of 30 · launch-minus-X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CONTENT STRUCTURE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cuts, shots, length, characters, setting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IG Reel → FB (+ YT Shorts Fridays)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SCRIPT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the exact words (VO / live / skit / guided)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POST / REEL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format + length + working title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ON-SCREEN TEXT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every text overlay, frame by frame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CONTENT TYPE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pillar + bucket (attention/education/trust/sales)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CAPTION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line 1 = SEO phrase + full caption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Ahmedabad/Gujarat (or tester/creator/customer city)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CTA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the one action (GLOW / save / share / waitlist)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POSTING TIME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best + 2nd-best (Gujarat IST, per content type)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SEO KEYWORDS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3 keywords → on-screen text + caption line 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EXACT IDEA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the full creative concept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HASHTAGS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which of the 12 ready sets (8–15 tags)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SLIDES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carousel days: slides 1–6 + CTA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STORY SUPPORT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M/A/E lines for the 3 story slots (verbatim)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metric job (saves/shares/trust/orders)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OPTION A + B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AI prompt (copy-paste) + free manual method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TARGET CUSTOMER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who this day is for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(every day also gets its alt text + first-60-min duty)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44068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B2B2B"/>
                </a:solidFill>
                <a:latin typeface="Calibri"/>
              </a:rPr>
              <a:t>How a day works (10 min): read the 7-field meta table → produce with Option A or B → add text/caption/hashtags/alt text/location → post at the time → 3 story slots at 8 AM / 1 PM / 8 PM → stay for the first 60 minutes and reply to every comment.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MATCH LENGTH TO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Reel Formats by Duration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09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4983"/>
                <a:gridCol w="3116604"/>
                <a:gridCol w="2749945"/>
                <a:gridCol w="1741632"/>
                <a:gridCol w="2749945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Length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Use for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AI-feasible?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5s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Single hook beat — one gesture, one line, one text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Pattern-interrupts, ad variants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✓ fully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2–3/week — test hooks cheaply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8s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Problem (3s) → product reveal (2s) → promise (3s)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Quick problem→solution, texture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✓ fully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Hero intro moments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10s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Problem → routine step → payoff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Micro-tutorials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✓ with real VO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Education micro-doses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15s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3 cuts × 5s: hook → proof → CTA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The workhorse reel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✓ B-roll + human VO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DEFAULT for most calendar days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20s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4 cuts: hook → 2 proof beats → CTA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Q&amp;A rapid, 3 mistakes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✓ B-roll, human voice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Deep-dives, founder answers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30s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5–6 cuts, story arc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Founder, testimonial, launch, B/A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✗ manual-first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Trust + sales: always human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257800"/>
            <a:ext cx="11155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0">
                <a:solidFill>
                  <a:srgbClr val="2B2B2B"/>
                </a:solidFill>
                <a:latin typeface="Calibri"/>
              </a:rPr>
              <a:t>Hard cap: 30–45s product/education · 60s max stories · first 2s = spoken hook + on-screen text + face/moving product.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0">
                <a:solidFill>
                  <a:srgbClr val="2B2B2B"/>
                </a:solidFill>
                <a:latin typeface="Calibri"/>
              </a:rPr>
              <a:t>5s/8s reels are the AD-TESTING factory: generate weekly (AI), test in Meta, shoot the winner on a human (UGC ≈ 2× brand creative ROAS).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THE CREATIVE FACTORY — WITH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AI Content System (Option 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76072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Rule 1 — never fake a customer. </a:t>
            </a:r>
            <a:r>
              <a:rPr sz="1000" b="0">
                <a:solidFill>
                  <a:srgbClr val="2B2B2B"/>
                </a:solidFill>
                <a:latin typeface="Calibri"/>
              </a:rPr>
              <a:t>AI "creators" = concept/teaser only, labeled "AI concept". Real testimonials &amp; B/A = humans only (ASCI/Meta-safe).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Rule 2 — AI butchers brand text. </a:t>
            </a:r>
            <a:r>
              <a:rPr sz="1000" b="0">
                <a:solidFill>
                  <a:srgbClr val="2B2B2B"/>
                </a:solidFill>
                <a:latin typeface="Calibri"/>
              </a:rPr>
              <a:t>Generate WITHOUT readable labels; add real label, hook text, captions, CTA in CapCut. Every prompt assumes this.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Rule 3 — consistency lock. </a:t>
            </a:r>
            <a:r>
              <a:rPr sz="1000" b="0">
                <a:solidFill>
                  <a:srgbClr val="2B2B2B"/>
                </a:solidFill>
                <a:latin typeface="Calibri"/>
              </a:rPr>
              <a:t>One character sheet, reused across 5–10 videos — a recurring face builds parasocial trust.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Rule 4 — skin realism. </a:t>
            </a:r>
            <a:r>
              <a:rPr sz="1000" b="0">
                <a:solidFill>
                  <a:srgbClr val="2B2B2B"/>
                </a:solidFill>
                <a:latin typeface="Calibri"/>
              </a:rPr>
              <a:t>No beauty filter, no smoothing — "natural texture, visible pores, no retouch" in every prompt.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Rule 5 — AI images for </a:t>
            </a:r>
            <a:r>
              <a:rPr sz="1000" b="0">
                <a:solidFill>
                  <a:srgbClr val="2B2B2B"/>
                </a:solidFill>
                <a:latin typeface="Calibri"/>
              </a:rPr>
              <a:t>profile shots, carousel bgs, flat-lays, ad statics (labeled brand visuals).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The calendar carries </a:t>
            </a:r>
            <a:r>
              <a:rPr sz="1000" b="0">
                <a:solidFill>
                  <a:srgbClr val="2B2B2B"/>
                </a:solidFill>
                <a:latin typeface="Calibri"/>
              </a:rPr>
              <a:t>a complete copy-paste prompt for EVERY day: subject · model · appearance · product · scene · light · camera · movement · expression · pose · text · style · UGC feel · length · 9:16 · hook · CTA.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371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Character sheet (paste into every prompt)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691640"/>
            <a:ext cx="5120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2B2B2B"/>
                </a:solidFill>
                <a:latin typeface="Calibri"/>
              </a:rPr>
              <a:t>"Indian woman, 26, medium-tan skin with natural texture and visible pores, light brown eyes, shoulder-length straight hair, small nose stud, no makeup (tinted lip only), simple beige cotton kurta. Warm, calm, slightly smiling. No beauty filter, no skin smoothing — realistic, slightly imperfect, natural."  (+ male 28 stubble / Gen-Z 20 hoodie variants)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977639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Workflow (every AI reel)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297680"/>
            <a:ext cx="5120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50"/>
              </a:spcAft>
            </a:pPr>
            <a:r>
              <a:rPr sz="950" b="1">
                <a:solidFill>
                  <a:srgbClr val="C0562B"/>
                </a:solidFill>
                <a:latin typeface="Calibri"/>
              </a:rPr>
              <a:t>▪  </a:t>
            </a:r>
            <a:r>
              <a:rPr sz="950" b="0">
                <a:solidFill>
                  <a:srgbClr val="2B2B2B"/>
                </a:solidFill>
                <a:latin typeface="Calibri"/>
              </a:rPr>
              <a:t>1 · Generate 3–5 takes (plain label, no text)</a:t>
            </a:r>
          </a:p>
          <a:p>
            <a:pPr algn="l">
              <a:lnSpc>
                <a:spcPct val="102000"/>
              </a:lnSpc>
              <a:spcAft>
                <a:spcPts val="350"/>
              </a:spcAft>
            </a:pPr>
            <a:r>
              <a:rPr sz="950" b="1">
                <a:solidFill>
                  <a:srgbClr val="C0562B"/>
                </a:solidFill>
                <a:latin typeface="Calibri"/>
              </a:rPr>
              <a:t>▪  </a:t>
            </a:r>
            <a:r>
              <a:rPr sz="950" b="0">
                <a:solidFill>
                  <a:srgbClr val="2B2B2B"/>
                </a:solidFill>
                <a:latin typeface="Calibri"/>
              </a:rPr>
              <a:t>2 · Pick best → CapCut: real product insert + label</a:t>
            </a:r>
          </a:p>
          <a:p>
            <a:pPr algn="l">
              <a:lnSpc>
                <a:spcPct val="102000"/>
              </a:lnSpc>
              <a:spcAft>
                <a:spcPts val="350"/>
              </a:spcAft>
            </a:pPr>
            <a:r>
              <a:rPr sz="950" b="1">
                <a:solidFill>
                  <a:srgbClr val="C0562B"/>
                </a:solidFill>
                <a:latin typeface="Calibri"/>
              </a:rPr>
              <a:t>▪  </a:t>
            </a:r>
            <a:r>
              <a:rPr sz="950" b="0">
                <a:solidFill>
                  <a:srgbClr val="2B2B2B"/>
                </a:solidFill>
                <a:latin typeface="Calibri"/>
              </a:rPr>
              <a:t>3 · Add hook text (0–2s) + CTA card (last 1.5s)</a:t>
            </a:r>
          </a:p>
          <a:p>
            <a:pPr algn="l">
              <a:lnSpc>
                <a:spcPct val="102000"/>
              </a:lnSpc>
              <a:spcAft>
                <a:spcPts val="350"/>
              </a:spcAft>
            </a:pPr>
            <a:r>
              <a:rPr sz="950" b="1">
                <a:solidFill>
                  <a:srgbClr val="C0562B"/>
                </a:solidFill>
                <a:latin typeface="Calibri"/>
              </a:rPr>
              <a:t>▪  </a:t>
            </a:r>
            <a:r>
              <a:rPr sz="950" b="0">
                <a:solidFill>
                  <a:srgbClr val="2B2B2B"/>
                </a:solidFill>
                <a:latin typeface="Calibri"/>
              </a:rPr>
              <a:t>4 · Real voice-over (founder/customer) — never TTS for proof</a:t>
            </a:r>
          </a:p>
          <a:p>
            <a:pPr algn="l">
              <a:lnSpc>
                <a:spcPct val="102000"/>
              </a:lnSpc>
              <a:spcAft>
                <a:spcPts val="350"/>
              </a:spcAft>
            </a:pPr>
            <a:r>
              <a:rPr sz="950" b="1">
                <a:solidFill>
                  <a:srgbClr val="C0562B"/>
                </a:solidFill>
                <a:latin typeface="Calibri"/>
              </a:rPr>
              <a:t>▪  </a:t>
            </a:r>
            <a:r>
              <a:rPr sz="950" b="0">
                <a:solidFill>
                  <a:srgbClr val="2B2B2B"/>
                </a:solidFill>
                <a:latin typeface="Calibri"/>
              </a:rPr>
              <a:t>5 · Export 1080×1920 · 9:16 · no filters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ONE PHONE, ONE PERSON, ZERO BUDGET — ALWAYS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Free / Manual System (Option 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76072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ONLY free-licensed stock: </a:t>
            </a:r>
            <a:r>
              <a:rPr sz="1000" b="0">
                <a:solidFill>
                  <a:srgbClr val="2B2B2B"/>
                </a:solidFill>
                <a:latin typeface="Calibri"/>
              </a:rPr>
              <a:t>Pexels · Pixabay · Unsplash (commercial use, no attribution — re-check each clip’s license, 30 seconds).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NEVER download </a:t>
            </a:r>
            <a:r>
              <a:rPr sz="1000" b="0">
                <a:solidFill>
                  <a:srgbClr val="2B2B2B"/>
                </a:solidFill>
                <a:latin typeface="Calibri"/>
              </a:rPr>
              <a:t>from Instagram, TikTok, YouTube or any copyrighted source. Watermarked ≠ free.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NEVER present stock as </a:t>
            </a:r>
            <a:r>
              <a:rPr sz="1000" b="0">
                <a:solidFill>
                  <a:srgbClr val="2B2B2B"/>
                </a:solidFill>
                <a:latin typeface="Calibri"/>
              </a:rPr>
              <a:t>your product, your customer or your factory. Stock = B-roll/background only; your bottle + your face are always real.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ALWAYS add your layer: </a:t>
            </a:r>
            <a:r>
              <a:rPr sz="1000" b="0">
                <a:solidFill>
                  <a:srgbClr val="2B2B2B"/>
                </a:solidFill>
                <a:latin typeface="Calibri"/>
              </a:rPr>
              <a:t>your voice, your text, your product close-ups, your edit. Stock + your hook + your product = original. Stock alone = not yours.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Faces: </a:t>
            </a:r>
            <a:r>
              <a:rPr sz="1000" b="0">
                <a:solidFill>
                  <a:srgbClr val="2B2B2B"/>
                </a:solidFill>
                <a:latin typeface="Calibri"/>
              </a:rPr>
              <a:t>prefer hands/texture/objects shots — they blend and avoid uncanny faces next to your product.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Stock search bank (guide §6.2): </a:t>
            </a:r>
            <a:r>
              <a:rPr sz="1000" b="0">
                <a:solidFill>
                  <a:srgbClr val="2B2B2B"/>
                </a:solidFill>
                <a:latin typeface="Calibri"/>
              </a:rPr>
              <a:t>"woman washing face bathroom" · "sunscreen on hand close up" · "kraft box packing hands" · "chai glass table" · "oil drop slow motion"…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2120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Phone studio = a window: </a:t>
            </a:r>
            <a:r>
              <a:rPr sz="1000" b="0">
                <a:solidFill>
                  <a:srgbClr val="2B2B2B"/>
                </a:solidFill>
                <a:latin typeface="Calibri"/>
              </a:rPr>
              <a:t>9–11 AM or 3–5 PM light · ₹500 tripod · 4 angles (face / hands / over-shoulder / top-down) · voice recorded separately · 3 takes per shot.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CapCut (free): </a:t>
            </a:r>
            <a:r>
              <a:rPr sz="1000" b="0">
                <a:solidFill>
                  <a:srgbClr val="2B2B2B"/>
                </a:solidFill>
                <a:latin typeface="Calibri"/>
              </a:rPr>
              <a:t>cuts every 2–3s · 2 text sizes max · no face filters · one ambient track at −20 dB · 1080×1920 reels, 1080×1350 carousels.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Canva (free): </a:t>
            </a:r>
            <a:r>
              <a:rPr sz="1000" b="0">
                <a:solidFill>
                  <a:srgbClr val="2B2B2B"/>
                </a:solidFill>
                <a:latin typeface="Calibri"/>
              </a:rPr>
              <a:t>1 master carousel template + 1 story template + 1 quote card + 6 highlight covers. Product photos = always real.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The 6 manual templates: </a:t>
            </a:r>
            <a:r>
              <a:rPr sz="1000" b="0">
                <a:solidFill>
                  <a:srgbClr val="2B2B2B"/>
                </a:solidFill>
                <a:latin typeface="Calibri"/>
              </a:rPr>
              <a:t>hook cut (7s) · texture (8–10s) · myth flip (10s) · story clip (10–15s) · unboxing (12–15s) · quote card + B-roll (10s).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Every calendar day carries </a:t>
            </a:r>
            <a:r>
              <a:rPr sz="1000" b="0">
                <a:solidFill>
                  <a:srgbClr val="2B2B2B"/>
                </a:solidFill>
                <a:latin typeface="Calibri"/>
              </a:rPr>
              <a:t>its exact Option B shot list — most days need no stock at all (BTS, founder, skits, texture = your own hands).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2 PER WEEK — THE SAVE + SEARCH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Carousel System — 10 Blueprints (slides 1–6 + CTA)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10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324"/>
                <a:gridCol w="2291621"/>
                <a:gridCol w="2658280"/>
                <a:gridCol w="3666594"/>
                <a:gridCol w="2108291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Blueprint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Slide 1 hook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Slides 2–5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Slide 6 CTA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5 daily skin-killers (D3)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"#3 aap bhi karti ho"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UV window · phone touch · hard water · no SPF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Save karo + comment your number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VC ka 60-sec science (D10)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"Vitamin C kya karta hai?"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bright-look · even tone · 10% kyun · subah+SPF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Save karo · DM GLOW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Box me kya hai (D27)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"3 clues"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serum · free FW mini · 60-sec card · support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X seat bachi (REAL) · DM GLOW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Layering order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"Aapka serum galat order me?"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wash · serum · moisturizer · SPF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Save + 60-sec routine link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4 darr, 4 jawaab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first-time buyer fears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fake→batch card · COD · 4–6 hafte · hum kaun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DM your darr — hum insaan hain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VC = orange? Myth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"Yeh myth kyun chalta hai"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old acid · stable 10% · real test · tester photos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Dekh li? Ab GLOW DM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30 din ka safar (D30)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"DIN 1 → DIN 30"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day-1 photo · 3 moments · real numbers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Mahine 2 me milte hain — GLOW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Hum manufacturer nahi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"Yehi humari taqat hai"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23-version formula · 20 testers · batch card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2 sawaal puchho → DM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COD kaise kaam karta hai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"Paisa aapke paas, jab tak nahi dekhte"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GLOW 1 min · 2–4 din · kholo-dekho-do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Aaj order — GLOW DM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C10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SPF basics (wave 2)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"SPF 30 ya 50?"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math · 2 finger-length · reapply · 40° Gujarat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Waitlist — DM GLOW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WHERE A SMALL ACCOUNT FEELS LIKE A RELATIONSHIP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Story System — 3 slots/day + WhatsApp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6766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1828800"/>
                <a:gridCol w="23774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Calibri"/>
                        </a:rPr>
                        <a:t>Slot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Morning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8:00 AM (7–9 AM)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"Roz ka 1 sach" — value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1 tip/routine shot + question box/poll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Afternoon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1:00 PM (12:30–2:30)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"Peeche ki kahani" — trust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1 BTS frame + poll/quiz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Evening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8:00 PM (7:30–9)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"Aaj ka CTA" — conversion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product/offer/review + DM CTA or link sticker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657600"/>
            <a:ext cx="67665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0">
                <a:solidFill>
                  <a:srgbClr val="2B2B2B"/>
                </a:solidFill>
                <a:latin typeface="Calibri"/>
              </a:rPr>
              <a:t>3–5 frames per slot max · frame 1 = hook · last frame = poll/question OR CTA.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0">
                <a:solidFill>
                  <a:srgbClr val="2B2B2B"/>
                </a:solidFill>
                <a:latin typeface="Calibri"/>
              </a:rPr>
              <a:t>Evening slot ALWAYS ends with a DM CTA or link sticker — the silent order engine (buyers DM from Stories, not Reels).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0">
                <a:solidFill>
                  <a:srgbClr val="2B2B2B"/>
                </a:solidFill>
                <a:latin typeface="Calibri"/>
              </a:rPr>
              <a:t>Reply to EVERY poll answer within 2 hours — DM conversation = pipeline.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0">
                <a:solidFill>
                  <a:srgbClr val="2B2B2B"/>
                </a:solidFill>
                <a:latin typeface="Calibri"/>
              </a:rPr>
              <a:t>Same 3 slots → WhatsApp Status the same day (zero extra work; Gujarat = heavy WhatsApp-Status market).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0">
                <a:solidFill>
                  <a:srgbClr val="2B2B2B"/>
                </a:solidFill>
                <a:latin typeface="Calibri"/>
              </a:rPr>
              <a:t>Asset rotation: polls · question boxes · quizzes (reveal next story) · this-or-that · countdown · BTS · UGC repost · quote card · "Day X of 30" · flashback.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3716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The 30-day story calendar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691640"/>
            <a:ext cx="41148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30" b="0">
                <a:solidFill>
                  <a:srgbClr val="2B2B2B"/>
                </a:solidFill>
                <a:latin typeface="Calibri"/>
              </a:rPr>
              <a:t>All 30 days’ M/A/E lines are in the guide (Section 9.2), verbatim — one line per slot per day. Examples:
D1 · M: "Aaj se yahan roz 1 skin-sach milega. Aapka skin type? (poll)" · E: "30 din ka safar shuru — GLOW likho."
D17 · M: "4 hafte. 20 aahaiyan. Same light." · A: tester day-1 vs day-28 + disclaimer · E: "Aap bhi 4 hafte baad yahan ho sakti ho."
D21 · M: LAUNCH offer (4 frames) + link · A: "Pehla order aaya! [City]" (real) · E: "GLOW DM = order. 15 min me reply."
D29 · A: referral launch "Do ₹100, lo ₹100" (3 frames) · E: "Apna code lo + 1 dost ko bhejo aaj."
D31–90: same slots; evening CTA rotates weekly (waitlist → unboxings → night cream → Diwali).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GUJARAT IST — AND HOW TO REPLACE THEM WITH YOUR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Posting Times by Content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626"/>
                <a:gridCol w="2383286"/>
                <a:gridCol w="2016626"/>
                <a:gridCol w="476657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BEST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2ND BEST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Reels (default)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8:00 PM (7:30–9:00 PM window)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12:30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Peak evening scroll · first 60 min decide distribution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Reels (product/launch)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12:30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8:00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Lunch = purchase browsing · D21 launch: 12:00 PM sharp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Carousels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9:00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12:30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Swipes need quiet evening attention; saves happen late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Stories M / A / 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8:00 AM / 1:00 PM / 8:00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7:30 AM / 12:30 PM / 7:30 PM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Chai slot · lunch BTS · CTA before the 11 PM DM close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Saturday / Sunday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Reels 12:00 PM / 11:00 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Stories unchanged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B2B2B"/>
                          </a:solidFill>
                          <a:latin typeface="Calibri"/>
                        </a:rPr>
                        <a:t>Sat lunch peak · Sun = "aapke sawaal ka din"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709160"/>
            <a:ext cx="11155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Never one time for everything: </a:t>
            </a:r>
            <a:r>
              <a:rPr sz="1050" b="0">
                <a:solidFill>
                  <a:srgbClr val="2B2B2B"/>
                </a:solidFill>
                <a:latin typeface="Calibri"/>
              </a:rPr>
              <a:t>each format has its own job and window. Be in the first 60 minutes — founder replies to every comment in that hour.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After Day 21, swap in YOUR data: </a:t>
            </a:r>
            <a:r>
              <a:rPr sz="1050" b="0">
                <a:solidFill>
                  <a:srgbClr val="2B2B2B"/>
                </a:solidFill>
                <a:latin typeface="Calibri"/>
              </a:rPr>
              <a:t>Insights → "When followers are most active" (top cities) + 24-hour reach graph per post type → A/B one hour per week, one variable at a time → write winners into the Sheet’s Posting tab. DM window (7 AM–11 PM) never moves.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GUJARAT IS WHERE THE ENERGY STARTS — NOT WHERE THE BRAND 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Gujarat First → West India →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694943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0049"/>
                <a:gridCol w="1781907"/>
                <a:gridCol w="1336430"/>
                <a:gridCol w="2851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Wave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Angles that land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Home base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Ahmedabad (60% of energy)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Days 1–30+ forever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hard water · 40° summers · chai+thepla · SG Highway · shaadi · Diwali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Wave 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Surat (young, fast)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Wk 4–6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"diamond city hustle" · student budget · 2-minute routine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Wave 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Vadodara (culture)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Wk 6–8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wedding-glow · colleges · light "Vadu" humor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Wave 3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Rajkot (value+family)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Wk 8+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dry winters · gifting for maa/nani · "Rajkot walo"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National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Top-6 India cities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Day 60+ (C4)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"Indian skin" creative — NEVER "Gujarat only" nationally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572000"/>
            <a:ext cx="6949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50"/>
              </a:spcAft>
            </a:pPr>
            <a:r>
              <a:rPr sz="980" b="1">
                <a:solidFill>
                  <a:srgbClr val="C0562B"/>
                </a:solidFill>
                <a:latin typeface="Calibri"/>
              </a:rPr>
              <a:t>▪  </a:t>
            </a:r>
            <a:r>
              <a:rPr sz="980" b="1">
                <a:solidFill>
                  <a:srgbClr val="2B2B2B"/>
                </a:solidFill>
                <a:latin typeface="Calibri"/>
              </a:rPr>
              <a:t>Language per post: </a:t>
            </a:r>
            <a:r>
              <a:rPr sz="980" b="0">
                <a:solidFill>
                  <a:srgbClr val="2B2B2B"/>
                </a:solidFill>
                <a:latin typeface="Calibri"/>
              </a:rPr>
              <a:t>founder 40/50/10 (Guj/Hing/Eng) · relatable 60/40/0 · product 20/70/10 · captions carry SEO keywords.</a:t>
            </a:r>
          </a:p>
          <a:p>
            <a:pPr algn="l">
              <a:lnSpc>
                <a:spcPct val="102000"/>
              </a:lnSpc>
              <a:spcAft>
                <a:spcPts val="450"/>
              </a:spcAft>
            </a:pPr>
            <a:r>
              <a:rPr sz="980" b="1">
                <a:solidFill>
                  <a:srgbClr val="C0562B"/>
                </a:solidFill>
                <a:latin typeface="Calibri"/>
              </a:rPr>
              <a:t>▪  </a:t>
            </a:r>
            <a:r>
              <a:rPr sz="980" b="1">
                <a:solidFill>
                  <a:srgbClr val="2B2B2B"/>
                </a:solidFill>
                <a:latin typeface="Calibri"/>
              </a:rPr>
              <a:t>Gujarati for warmth, Hinglish for product facts. </a:t>
            </a:r>
            <a:r>
              <a:rPr sz="980" b="0">
                <a:solidFill>
                  <a:srgbClr val="2B2B2B"/>
                </a:solidFill>
                <a:latin typeface="Calibri"/>
              </a:rPr>
              <a:t>Never English-default (reads "imported"), never Gujarati as a joke.</a:t>
            </a:r>
          </a:p>
          <a:p>
            <a:pPr algn="l">
              <a:lnSpc>
                <a:spcPct val="102000"/>
              </a:lnSpc>
              <a:spcAft>
                <a:spcPts val="450"/>
              </a:spcAft>
            </a:pPr>
            <a:r>
              <a:rPr sz="980" b="1">
                <a:solidFill>
                  <a:srgbClr val="C0562B"/>
                </a:solidFill>
                <a:latin typeface="Calibri"/>
              </a:rPr>
              <a:t>▪  </a:t>
            </a:r>
            <a:r>
              <a:rPr sz="980" b="1">
                <a:solidFill>
                  <a:srgbClr val="2B2B2B"/>
                </a:solidFill>
                <a:latin typeface="Calibri"/>
              </a:rPr>
              <a:t>Signature lines: </a:t>
            </a:r>
            <a:r>
              <a:rPr sz="980" b="0">
                <a:solidFill>
                  <a:srgbClr val="2B2B2B"/>
                </a:solidFill>
                <a:latin typeface="Calibri"/>
              </a:rPr>
              <a:t>"Aamee skin, aamno liye." · "Asli skin, asli result." · "Skincare that understands Indian skin."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2588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Content ratio (stays Indian)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0" y="1645920"/>
          <a:ext cx="3913631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4089"/>
                <a:gridCol w="1369771"/>
                <a:gridCol w="1369771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Gujarat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All-India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Month 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Month 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Month 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0" y="3337560"/>
            <a:ext cx="39319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30" b="0">
                <a:solidFill>
                  <a:srgbClr val="2B2B2B"/>
                </a:solidFill>
                <a:latin typeface="Calibri"/>
              </a:rPr>
              <a:t>Seasonal engine (Gujarat weather):
· Mar–Jun: 40°+ UV → sunscreen, tan-look
· Jul–Sep: monsoon dullness → VC HERO (launch window)
· Oct–Dec: wedding PEAK + Diwali → glow boxes
· Jan–Feb: dry nights → face cream, body care
The proof story travels: "Gujarat me 20 testers, 100 pehli customers — ab India ke saath" is a STRONGER national story than no home.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THE HIGHEST-CONVERTING ASSET — AND THE FASTEST WAY TO DIE IF FAKED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Legitimate Before/After — 8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80" b="1">
                <a:solidFill>
                  <a:srgbClr val="C0562B"/>
                </a:solidFill>
                <a:latin typeface="Calibri"/>
              </a:rPr>
              <a:t>▪  </a:t>
            </a:r>
            <a:r>
              <a:rPr sz="1080" b="1">
                <a:solidFill>
                  <a:srgbClr val="2B2B2B"/>
                </a:solidFill>
                <a:latin typeface="Calibri"/>
              </a:rPr>
              <a:t>1 · Real testers, real product, real time. </a:t>
            </a:r>
            <a:r>
              <a:rPr sz="1080" b="0">
                <a:solidFill>
                  <a:srgbClr val="2B2B2B"/>
                </a:solidFill>
                <a:latin typeface="Calibri"/>
              </a:rPr>
              <a:t>20-tester × 4-week program before launch. No stock, no AI faces, no actors-as-customers.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80" b="1">
                <a:solidFill>
                  <a:srgbClr val="C0562B"/>
                </a:solidFill>
                <a:latin typeface="Calibri"/>
              </a:rPr>
              <a:t>▪  </a:t>
            </a:r>
            <a:r>
              <a:rPr sz="1080" b="1">
                <a:solidFill>
                  <a:srgbClr val="2B2B2B"/>
                </a:solidFill>
                <a:latin typeface="Calibri"/>
              </a:rPr>
              <a:t>2 · Written consent on file </a:t>
            </a:r>
            <a:r>
              <a:rPr sz="1080" b="0">
                <a:solidFill>
                  <a:srgbClr val="2B2B2B"/>
                </a:solidFill>
                <a:latin typeface="Calibri"/>
              </a:rPr>
              <a:t>(template in the guide). Consent lapses → content comes down.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80" b="1">
                <a:solidFill>
                  <a:srgbClr val="C0562B"/>
                </a:solidFill>
                <a:latin typeface="Calibri"/>
              </a:rPr>
              <a:t>▪  </a:t>
            </a:r>
            <a:r>
              <a:rPr sz="1080" b="1">
                <a:solidFill>
                  <a:srgbClr val="2B2B2B"/>
                </a:solidFill>
                <a:latin typeface="Calibri"/>
              </a:rPr>
              <a:t>3 · Same everything: </a:t>
            </a:r>
            <a:r>
              <a:rPr sz="1080" b="0">
                <a:solidFill>
                  <a:srgbClr val="2B2B2B"/>
                </a:solidFill>
                <a:latin typeface="Calibri"/>
              </a:rPr>
              <a:t>same window light, angle, distance, phone · no filter, no retouch · printed "Day 1 — RANGAT 4-hafte program" card in BOTH frames.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80" b="1">
                <a:solidFill>
                  <a:srgbClr val="C0562B"/>
                </a:solidFill>
                <a:latin typeface="Calibri"/>
              </a:rPr>
              <a:t>▪  </a:t>
            </a:r>
            <a:r>
              <a:rPr sz="1080" b="1">
                <a:solidFill>
                  <a:srgbClr val="2B2B2B"/>
                </a:solidFill>
                <a:latin typeface="Calibri"/>
              </a:rPr>
              <a:t>4 · Disclosed on every frame: </a:t>
            </a:r>
            <a:r>
              <a:rPr sz="1080" b="0">
                <a:solidFill>
                  <a:srgbClr val="2B2B2B"/>
                </a:solidFill>
                <a:latin typeface="Calibri"/>
              </a:rPr>
              <a:t>"Day 1 → Day 28 · 4 hafte · Results may vary" — never cropped out in the ad version.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80" b="1">
                <a:solidFill>
                  <a:srgbClr val="C0562B"/>
                </a:solidFill>
                <a:latin typeface="Calibri"/>
              </a:rPr>
              <a:t>▪  </a:t>
            </a:r>
            <a:r>
              <a:rPr sz="1080" b="1">
                <a:solidFill>
                  <a:srgbClr val="2B2B2B"/>
                </a:solidFill>
                <a:latin typeface="Calibri"/>
              </a:rPr>
              <a:t>5 · Show the boring middle: </a:t>
            </a:r>
            <a:r>
              <a:rPr sz="1080" b="0">
                <a:solidFill>
                  <a:srgbClr val="2B2B2B"/>
                </a:solidFill>
                <a:latin typeface="Calibri"/>
              </a:rPr>
              <a:t>the Day-7 "abhi toh shuru hai — kuch nahi dikh raha" frame is REQUIRED.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80" b="1">
                <a:solidFill>
                  <a:srgbClr val="C0562B"/>
                </a:solidFill>
                <a:latin typeface="Calibri"/>
              </a:rPr>
              <a:t>▪  </a:t>
            </a:r>
            <a:r>
              <a:rPr sz="1080" b="1">
                <a:solidFill>
                  <a:srgbClr val="2B2B2B"/>
                </a:solidFill>
                <a:latin typeface="Calibri"/>
              </a:rPr>
              <a:t>6 · 1 honest negative per 3 positives </a:t>
            </a:r>
            <a:r>
              <a:rPr sz="1080" b="0">
                <a:solidFill>
                  <a:srgbClr val="2B2B2B"/>
                </a:solidFill>
                <a:latin typeface="Calibri"/>
              </a:rPr>
              <a:t>("18 continue, 2 nahi — dono ki baat suno" is the format).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80" b="1">
                <a:solidFill>
                  <a:srgbClr val="C0562B"/>
                </a:solidFill>
                <a:latin typeface="Calibri"/>
              </a:rPr>
              <a:t>▪  </a:t>
            </a:r>
            <a:r>
              <a:rPr sz="1080" b="1">
                <a:solidFill>
                  <a:srgbClr val="2B2B2B"/>
                </a:solidFill>
                <a:latin typeface="Calibri"/>
              </a:rPr>
              <a:t>7 · Safe language: </a:t>
            </a:r>
            <a:r>
              <a:rPr sz="1080" b="0">
                <a:solidFill>
                  <a:srgbClr val="2B2B2B"/>
                </a:solidFill>
                <a:latin typeface="Calibri"/>
              </a:rPr>
              <a:t>"dikhna kam karta hai" · "help karta hai" · "4–6 hafte ka honest timeline" — never cure/remove/khatam/100%.</a:t>
            </a:r>
          </a:p>
          <a:p>
            <a:pPr algn="l">
              <a:lnSpc>
                <a:spcPct val="102000"/>
              </a:lnSpc>
              <a:spcAft>
                <a:spcPts val="700"/>
              </a:spcAft>
            </a:pPr>
            <a:r>
              <a:rPr sz="1080" b="1">
                <a:solidFill>
                  <a:srgbClr val="C0562B"/>
                </a:solidFill>
                <a:latin typeface="Calibri"/>
              </a:rPr>
              <a:t>▪  </a:t>
            </a:r>
            <a:r>
              <a:rPr sz="1080" b="1">
                <a:solidFill>
                  <a:srgbClr val="2B2B2B"/>
                </a:solidFill>
                <a:latin typeface="Calibri"/>
              </a:rPr>
              <a:t>8 · Frequency: </a:t>
            </a:r>
            <a:r>
              <a:rPr sz="1080" b="0">
                <a:solidFill>
                  <a:srgbClr val="2B2B2B"/>
                </a:solidFill>
                <a:latin typeface="Calibri"/>
              </a:rPr>
              <a:t>first B/A = D17 (pinned + ad cut) · then 1–2/week, always from the real pool with consent.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2356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8A7F72"/>
                </a:solidFill>
                <a:latin typeface="Calibri"/>
              </a:rPr>
              <a:t>Consent template: "Main RANGAT ka [product] [dates] ke beech use kiya. Yeh meri asli photos hain (same light, bina filter). RANGAT inhe IG/website/Meta ads me use kar sakta hai, saath me ‘Results may vary’ likha hoga. — [Naam, city, date]"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5K–50K = THE SWEET SPOT FOR A NEW BRAND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Micro-Influencer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76072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Who: </a:t>
            </a:r>
            <a:r>
              <a:rPr sz="1000" b="0">
                <a:solidFill>
                  <a:srgbClr val="2B2B2B"/>
                </a:solidFill>
                <a:latin typeface="Calibri"/>
              </a:rPr>
              <a:t>Gujarat nano/micro creators — food/lifestyle Gujarati → college/influencer → beauty local → fashion (wedding season) → male lifestyle (Face Wash wave).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Where to find (2 hrs/week, Wed): </a:t>
            </a:r>
            <a:r>
              <a:rPr sz="1000" b="0">
                <a:solidFill>
                  <a:srgbClr val="2B2B2B"/>
                </a:solidFill>
                <a:latin typeface="Calibri"/>
              </a:rPr>
              <a:t>#Amdavad #Ahmedabad #Gujaraticreator #Amdavadi + explore from 5 known locals + "Ahmedabad vlog" on YT + wedding vendors’ tagged photos + your own 20-tester pool.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Shortlist discipline: </a:t>
            </a:r>
            <a:r>
              <a:rPr sz="1000" b="0">
                <a:solidFill>
                  <a:srgbClr val="2B2B2B"/>
                </a:solidFill>
                <a:latin typeface="Calibri"/>
              </a:rPr>
              <a:t>10 names by D10 · 3–5 contacted/week · 3 live by D19 · 15 UGC by D30 · 40–60 in bank by D90.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Vetting (15 min): </a:t>
            </a:r>
            <a:r>
              <a:rPr sz="1000" b="0">
                <a:solidFill>
                  <a:srgbClr val="2B2B2B"/>
                </a:solidFill>
                <a:latin typeface="Calibri"/>
              </a:rPr>
              <a:t>ER = (likes+comments)÷followers on last 20 posts → target &gt;4% (8k with 450 likes beats 100k with 300) · real Gujarati commenters = real audience · no brand-damage flags · the DM test (ghosts = deprioritize).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21208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Comp model (in writing): </a:t>
            </a:r>
            <a:r>
              <a:rPr sz="1000" b="0">
                <a:solidFill>
                  <a:srgbClr val="2B2B2B"/>
                </a:solidFill>
                <a:latin typeface="Calibri"/>
              </a:rPr>
              <a:t>product free + flat fee by tier: 5–10k → ₹500 · 10–25k → ₹1,000 · 25–50k → ₹1,500–2,000 · 20% affiliate on their code (first 20 sales) · ₹100 per Meta ad-use (stated).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Deliverable: </a:t>
            </a:r>
            <a:r>
              <a:rPr sz="1000" b="0">
                <a:solidFill>
                  <a:srgbClr val="2B2B2B"/>
                </a:solidFill>
                <a:latin typeface="Calibri"/>
              </a:rPr>
              <a:t>1 Reel 15–45s (UGC structure) + written permission to use as a Meta ad.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4 hard rules in every brief: </a:t>
            </a:r>
            <a:r>
              <a:rPr sz="1000" b="0">
                <a:solidFill>
                  <a:srgbClr val="2B2B2B"/>
                </a:solidFill>
                <a:latin typeface="Calibri"/>
              </a:rPr>
              <a:t>no medical claims · no "cure/remove/permanent" · "results may vary" on any B/A · no fake urgency.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Consent line saved with the video: </a:t>
            </a:r>
            <a:r>
              <a:rPr sz="1000" b="0">
                <a:solidFill>
                  <a:srgbClr val="2B2B2B"/>
                </a:solidFill>
                <a:latin typeface="Calibri"/>
              </a:rPr>
              <a:t>"Main RANGAT ka [product] use kar raha/hoon [dates], apni asli experience ke saath. Video IG + Meta ads me use kar sakte ho."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▪  </a:t>
            </a:r>
            <a:r>
              <a:rPr sz="1000" b="1">
                <a:solidFill>
                  <a:srgbClr val="2B2B2B"/>
                </a:solidFill>
                <a:latin typeface="Calibri"/>
              </a:rPr>
              <a:t>Creator KPIs (Sunday): </a:t>
            </a:r>
            <a:r>
              <a:rPr sz="1000" b="0">
                <a:solidFill>
                  <a:srgbClr val="2B2B2B"/>
                </a:solidFill>
                <a:latin typeface="Calibri"/>
              </a:rPr>
              <a:t>contacted / accepted / live / code sales / creator-creative ROAS vs brand (UGC should run ≈2×) / cost per asset &lt;₹800.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COPY-PASTE — PERSONALIZE LINE 1 WITH THEIR ACTUAL POST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6 Outreach 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11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972"/>
                <a:gridCol w="1741632"/>
                <a:gridCol w="8066507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Template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The move (core line, verbatim)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T1 · FIRST DM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cold, any creator on shortlist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"Main [Name], RANGAT NATURALS ki founder — Gujarat ka ek naya skincare brand… Aapko hamara Vitamin C Serum bhejna chahte hain — bilkul free, koi script nahi. Aapki honest baat (achhi bhi, kami bhi)… Kya aap try karne ke liye sochenge?"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T2 · FOLLOW-UP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48h silence, ONCE, polite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"Short version: free Vitamin C Serum (₹600 value), koi script nahi, sirf honest review. Agar nahi chahiye toh ‘na’ bol dijiye, main respect karungi."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T3 · GIFTING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testers / nanos, no expectation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"Aapke naam ek free Vitamin C Serum (koi expectation nahi) bhejna chahte hain. Agar aap naturally use karke baat karoge — achhi bhi, kami bhi — wohi humari sabse badi madad hai."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T4 · PAID COLLAB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she said yes / after a good first post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"1 Reel (15–45s, aapka style, hum sirf 4 lines ki brief dete hain: no medical claims, no cure words, B/A pe ‘results may vary’, no fake urgency) + Meta ads me use ka written permission. Terms: flat ₹[tier] + aapke code par 20% commission (pehle 20 sales) + har ad-use pe ₹100."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T5 · AFFILIATE-ONLY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higher creators, no fee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"Aapko unique code, har sale pe 20% commission (₹120+ per order on hero), monthly payout, product aapko free (1 unit pehle, phir har 10 sales pe 1 free). Koi posting obligation nahi. Code chahiye toh bas ‘CODE’ likh dijiye."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T6 · UGC-ONLY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paid clip, no her-audience duty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"Aap ghar par 15-sec clip banaogi (hum brief dete hain) — aapki audience ke liye kuch post karna NAHI hai. Clip sirf RANGAT ke page + ads me chalegi. Payment: ₹[500–1,500] per clip + har ad-use pe ₹100."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READY TO BRIEF — EACH WITH HOOK / ACTION / PLACEMENT / SCRIPT / CTA / DELIVERABLES / RIGHTS /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10 Influencer Campaign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3110" cy="4727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653"/>
                <a:gridCol w="3024940"/>
                <a:gridCol w="4583242"/>
                <a:gridCol w="2933275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IC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Hook (creator’s line)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Deliverables + rights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IC-1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The First 100 (D21–30)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"Main Gujarat ki pehli 100 me hoon."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 Reel 20–30s + 3 story frames · 30-day ad 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IC-2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4 Hafte Ka Sach (D21+)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"Day 1. Mera chehra. Dekhte hain kya hota hai." (D1/14/28, same light)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3 reels 15–20s over 3 weeks · ad use on part 3 (disclosed)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IC-3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Maa Ki Approval (D31+, Gujarat gold)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"Maine maa ko bhi lagaya. Unki baat suno." (real Gujarati dialogue)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 Reel 20–30s + 2 frames · 60-day ad use (highest-trust creative)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IC-4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Gym Ka Saath (Surat, W4–6)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"9 se 9 office + gym — 60 second kahan se aayega?"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 Reel 15–25s + quote card · 30-day ad use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IC-5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Monsoon Check (Jul–Sep)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"Baarish ke din bhi UV aata hai. Pehle bhi nahi lagati thi."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 Reel 15–20s · 30-day ad 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IC-6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Wedding Glow Countdown (Oct–Feb)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"Shaadi se 6 hafte pehle yeh kiya." (6→1 countdown, disclosed)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 Reel 25–30s + 6 countdown frames · 60-day ad use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IC-7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The Lab Visit (D45+)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"Formula chunna aisa dikhta nahi. Main dikhati hoon." (workspace tour)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 Reel 30–45s + 2 BTS frames · 60-day ad use (founder-trust)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IC-8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Men Bhi (Face Wash wave, D60+)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"Mard bhi skin. 60 second." (male creators 10–50k)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 Reel 15–20s + 2 ad cuts · 30-day ad use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IC-9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Diwali Gift Box (Nov)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"Diwali pe ‘dhyan’ wala gift — box dekho." (real gift moment)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 Reel 20–25s + 1 flat-lay photo · 45-day ad 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IC-10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UGC Factory (repeatable)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varies per brief — 1 shoot, 6 assets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reel + 3 story frames + quote card + 2 ad cuts · 90-day ad use (₹100/use/asset)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ADS ON DAY 1? NO. (WITH THE EXACT EXCEPTION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Meta Ads — The 4 Campaigns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B2B2B"/>
                </a:solidFill>
                <a:latin typeface="Calibri"/>
              </a:rPr>
              <a:t>Zero reviews + zero content history = paying ₹150–300 per "hmm, who is this?" (India skincare CPMs already ₹100–260). So: organic-only D1–14 → optional ₹200/day boost D15–20 on the ONE best organic-validated reel (cap ₹300, 3-day windows) → full ads from D21 (LAUNCH) at ₹500/day.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194560"/>
          <a:ext cx="1118310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626"/>
                <a:gridCol w="1099978"/>
                <a:gridCol w="3116604"/>
                <a:gridCol w="1191643"/>
                <a:gridCol w="3758258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Campaign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Live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Audience / geo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60">
                          <a:solidFill>
                            <a:srgbClr val="FFFFFF"/>
                          </a:solidFill>
                          <a:latin typeface="Calibri"/>
                        </a:rPr>
                        <a:t>Creatives + kill/scale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C1 · GLOW PROSPECT (cold)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D21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A: Broad Ahmedabad 18–45 (₹300) · B: Interest Gujarat+West, 18–35 women (₹200) — Sales → WhatsApp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₹500/day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Story testimonial · 4-hafte B/A · launch film · texture 8s — rank by ATC cost, 7-day window, +30%/48h while CPA ≤ 1.2× target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C3 · RECOVER (retargeting)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D25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R1 engagers · R2 viewers · R3 video 50% · R4 WA leads no-buy · R5 ATC · R6 purchasers · R7 bio-visiters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₹200–300/day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proof for R1/R3/R7 · COD+seat-count for R4/R5 (REAL numbers) · freq ≤3–4/wk · scale whichever CPA ≤₹150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C2 · PROOF &amp; LAL (warm)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D35 (after 50+ purchases)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1% lookalike of purchasers + engagers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₹500–1,000/day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UGC review clips · B/A carousel · "18 continue, 2 nahi" — the profit engine (2.8–4.5× ROAS zone)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C4 · SCALE (national)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D60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Advantage+ · Gujarat + 6 India cities (kill any city &gt;1.3× Gujarat CPA)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₹1,000/day → +30%/3d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60">
                          <a:solidFill>
                            <a:srgbClr val="2B2B2B"/>
                          </a:solidFill>
                          <a:latin typeface="Calibri"/>
                        </a:rPr>
                        <a:t>Sunscreen hero + top 2 proven C1 creatives · blended CPA ≤₹300, ROAS ≥2.5x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C0562B"/>
                </a:solidFill>
                <a:latin typeface="Calibri"/>
              </a:rPr>
              <a:t>Sequence: D21 C1 ₹500 → D25 C3 → D35 C2 → D60 C4 → D90 full engine ₹2,000–5,000/day. Retargeting = 15–25% of total spend, always.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EXACTLY WHEN EACH BUDGET LEVEL IS USED — CPA-GATED, NEVER JUMPED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5 Budget Plans (₹ per day)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4983"/>
                <a:gridCol w="3024940"/>
                <a:gridCol w="3299934"/>
                <a:gridCol w="4033253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Allocation per day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What it buys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₹300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D15–20 micro-test (default ₹200 boost — never exceed ₹300 pre-launch)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1 organic-validated reel · Gujarat+interest · 3-day windows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Reach + follower base for launch — NO cold-conversion spend before D21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₹500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D21 launch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C1: broad ₹300 + interest ₹200 · 4 creatives · WhatsApp objective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The first real sales engine; ATC data for the whole system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₹1,000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D35–59 proof phase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C1 ₹500 + C2 ₹200–300 + C3 ₹200–300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Warm engine on; CPA falls as LAL + retargeting kick 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₹2,000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D60+ scale phase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C4 ₹1,000 + C1 ₹500 + C2 ₹300 + C3 ₹200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6 India cities enter · sunscreen wave-2 handoff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₹5,000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D90+ / seasonal peak (Diwali, wedding) — only after 2 straight weeks CPA ≤₹300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C4 ₹2,500 + C1 ₹1,000 + C2 ₹750 + C3 ₹750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Full engine at season peak; retargeting stays 15–25%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349240"/>
            <a:ext cx="11155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Scale in +30% steps every 48–72h </a:t>
            </a:r>
            <a:r>
              <a:rPr sz="1050" b="0">
                <a:solidFill>
                  <a:srgbClr val="2B2B2B"/>
                </a:solidFill>
                <a:latin typeface="Calibri"/>
              </a:rPr>
              <a:t>while CPA ≤ 1.2× target — never double (it resets the learning phase). Kill creative at CPM +30% / CTR −25% / CPA +50%.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▪  </a:t>
            </a:r>
            <a:r>
              <a:rPr sz="1050" b="1">
                <a:solidFill>
                  <a:srgbClr val="2B2B2B"/>
                </a:solidFill>
                <a:latin typeface="Calibri"/>
              </a:rPr>
              <a:t>Targets: </a:t>
            </a:r>
            <a:r>
              <a:rPr sz="1050" b="0">
                <a:solidFill>
                  <a:srgbClr val="2B2B2B"/>
                </a:solidFill>
                <a:latin typeface="Calibri"/>
              </a:rPr>
              <a:t>CPA ≤₹300 Month 2 → ≤₹250 by D90 · ROAS ≥3x by D90 · CPM ₹100–260 · CTR 1.2–2.5% · first ad is ALWAYS the Story Testimonial (UGC ≈ 2× brand creative).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ONE PHONE VIDEO → THE CHEAPEST SALES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UGC → Ads Pipeline (9 steps)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83111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989"/>
                <a:gridCol w="3299934"/>
                <a:gridCol w="7333188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The rule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Get the content (4 sources)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creator collab · real customer + consent · your own UGC shoot · AI-labeled concept (NEVER as customer proof)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Paper trail BEFORE publishing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written consent + ad-use (₹100/use stated) saved with the file — no paper, no ad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Build the 3 cuts (CapCut, ~2 hrs)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A: 15s (hook→problem→product→CTA) · B: 30s story arc · C: ad static + "Results may vary" if B/A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Add the ad layer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hook text top-frame · brand tag · CTA card last 1.5s · her real voice (no TTS on proof)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Feed C1 as creatives #5–8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max 4 live per ad set (4 live, 4 bench)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7-day window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rank by ATC cost · kill losers · winners +30%/48h while CPA ≤ 1.2× target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Promote winners to C2/C3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warm + retargeting love UGC most (2.8–4.5× ROAS zone)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Log everything (Sheet "Ads" tab)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source / cut / campaign / spend / ATC / CPA / ROAS / status → next shoot brief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Refresh every 2 weeks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2B2B2B"/>
                          </a:solidFill>
                          <a:latin typeface="Calibri"/>
                        </a:rPr>
                        <a:t>2 fresh sources in the pipeline — the bank never runs dry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62356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Bank target: 40–60 assets by Day 90 (20 creator + 15 customer + 15 self-shoot + 10 AI-labeled concept) = your ad inventory for the scale phase.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WHERE EACH STAGE LIVES + THE SCRIPT THAT CLOSES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The Sales Funnel + GLOW DM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C0562B"/>
                </a:solidFill>
                <a:latin typeface="Calibri"/>
              </a:rPr>
              <a:t>REEL → PROFILE → TRUST → PRODUCT → WEBSITE/WHATSAPP → PURCHASE → REVIEW → REPEAT → REFERRAL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83111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626"/>
                <a:gridCol w="4949902"/>
                <a:gridCol w="4216583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Calibri"/>
                        </a:rPr>
                        <a:t>KPI target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Reel → Profile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hook stops stranger · 3-second test (bio + pins + RESULTS highlight)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profile visits = 10–15% of top-reel reach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Product → WhatsApp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hero pin = what to buy + how · bio link = WhatsApp first (3 items max)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link clicks = 25–40% of profile visits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Purchase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GLOW 5-step DM → COD order (2–4 days Gujarat)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DM→order 25–40% launch, 35–45% steady · COD fail &lt;15%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Review → Repeat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D1/7/14/28 WhatsApp touches · review request · wave-2 offer to purchasers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review 25–35% · repeat 10–15% by D60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Referral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D29: do ₹100, lo ₹100 (codes)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30">
                          <a:solidFill>
                            <a:srgbClr val="2B2B2B"/>
                          </a:solidFill>
                          <a:latin typeface="Calibri"/>
                        </a:rPr>
                        <a:t>10–20% of orders by D60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297680"/>
            <a:ext cx="111556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80" b="1">
                <a:solidFill>
                  <a:srgbClr val="C0562B"/>
                </a:solidFill>
                <a:latin typeface="Calibri"/>
              </a:rPr>
              <a:t>▪  </a:t>
            </a:r>
            <a:r>
              <a:rPr sz="980" b="1">
                <a:solidFill>
                  <a:srgbClr val="2B2B2B"/>
                </a:solidFill>
                <a:latin typeface="Calibri"/>
              </a:rPr>
              <a:t>GLOW 5-step (15-min SLA): </a:t>
            </a:r>
            <a:r>
              <a:rPr sz="980" b="0">
                <a:solidFill>
                  <a:srgbClr val="2B2B2B"/>
                </a:solidFill>
                <a:latin typeface="Calibri"/>
              </a:rPr>
              <a:t>① greet + answer with a question first ("aapka skin type?") · ② qualify + kill #1 fear (batch card + COD + 4–6 hafte) + one proof asset · ③ close ("aaj order karo toh launch me free FW mini + free shipping — naam + city + number?") + written confirmation · ④ same-day WhatsApp care card · ⑤ D1 "khol diya?" → D7 "koi redness?" → D14 "kya dikh raha hai?" → D28 "photo bhejo + 1-line review".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80" b="1">
                <a:solidFill>
                  <a:srgbClr val="C0562B"/>
                </a:solidFill>
                <a:latin typeface="Calibri"/>
              </a:rPr>
              <a:t>▪  </a:t>
            </a:r>
            <a:r>
              <a:rPr sz="980" b="1">
                <a:solidFill>
                  <a:srgbClr val="2B2B2B"/>
                </a:solidFill>
                <a:latin typeface="Calibri"/>
              </a:rPr>
              <a:t>Post roles: </a:t>
            </a:r>
            <a:r>
              <a:rPr sz="980" b="0">
                <a:solidFill>
                  <a:srgbClr val="2B2B2B"/>
                </a:solidFill>
                <a:latin typeface="Calibri"/>
              </a:rPr>
              <a:t>every post is tagged ONE job before it ships — awareness 20 / education 25 / trust 30 / conversion 20 + retention always-on. The DM is the shop floor: it is where the business actually happens.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46304" cy="146304"/>
          </a:xfrm>
          <a:prstGeom prst="rect">
            <a:avLst/>
          </a:prstGeom>
          <a:solidFill>
            <a:srgbClr val="C05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C0562B"/>
                </a:solidFill>
                <a:latin typeface="Calibri"/>
              </a:rPr>
              <a:t>THE MACHINE, 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2B2B2B"/>
                </a:solidFill>
                <a:latin typeface="Calibri"/>
              </a:rPr>
              <a:t>90-Day Plan + Daily Checklist + Red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8A7F72"/>
                </a:solidFill>
                <a:latin typeface="Calibri"/>
              </a:rPr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185855" cy="17780"/>
          </a:xfrm>
          <a:prstGeom prst="rect">
            <a:avLst/>
          </a:prstGeom>
          <a:solidFill>
            <a:srgbClr val="D9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98448"/>
          <a:ext cx="1118311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648"/>
                <a:gridCol w="2383286"/>
                <a:gridCol w="1099978"/>
                <a:gridCol w="916648"/>
                <a:gridCol w="2291621"/>
                <a:gridCol w="3574929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Orders (cum.)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Followers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Ads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880">
                          <a:solidFill>
                            <a:srgbClr val="FFFFFF"/>
                          </a:solidFill>
                          <a:latin typeface="Calibri"/>
                        </a:rPr>
                        <a:t>Other KPIs</a:t>
                      </a:r>
                    </a:p>
                  </a:txBody>
                  <a:tcPr marL="54864" marR="54864" marT="18288" marB="18288" anchor="ctr">
                    <a:solidFill>
                      <a:srgbClr val="C056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D1–30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"THE 100" — prove the machine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80–100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1–2k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C1 from D21 (₹500/day)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600–1,000 GLOW DMs · DM→order 25–40% · COD fail &lt;15% · 15 UGC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D31–60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"THE 500" — second engine (Sunscreen)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400–500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3,000+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C2 D35 · C4 D60 · ₹1,000–2,000/day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CPA ≤₹300 · repeat 10% of first cohort · 30 UGC</a:t>
                      </a:r>
                    </a:p>
                  </a:txBody>
                  <a:tcPr marL="54864" marR="54864" marT="18288" marB="18288" anchor="ctr">
                    <a:solidFill>
                      <a:srgbClr val="FBF8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D61–90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"THE MACHINE" — scale + Diwali + Night Cream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900–1,200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5–8k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full engine ₹2,000–5,000/day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2B2B2B"/>
                          </a:solidFill>
                          <a:latin typeface="Calibri"/>
                        </a:rPr>
                        <a:t>ROAS ≥3x · CPA ≤₹250 · LTV:CAC ≥2.5 · Diwali boxes 100+ · 40–60 UGC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84048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Daily checklist (10 min, every day)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60520"/>
            <a:ext cx="55778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30" b="1">
                <a:solidFill>
                  <a:srgbClr val="C0562B"/>
                </a:solidFill>
                <a:latin typeface="Calibri"/>
              </a:rPr>
              <a:t>▪  </a:t>
            </a:r>
            <a:r>
              <a:rPr sz="930" b="0">
                <a:solidFill>
                  <a:srgbClr val="2B2B2B"/>
                </a:solidFill>
                <a:latin typeface="Calibri"/>
              </a:rPr>
              <a:t>1 reel at its posting time (hook: spoken + text + face in 2s)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30" b="1">
                <a:solidFill>
                  <a:srgbClr val="C0562B"/>
                </a:solidFill>
                <a:latin typeface="Calibri"/>
              </a:rPr>
              <a:t>▪  </a:t>
            </a:r>
            <a:r>
              <a:rPr sz="930" b="0">
                <a:solidFill>
                  <a:srgbClr val="2B2B2B"/>
                </a:solidFill>
                <a:latin typeface="Calibri"/>
              </a:rPr>
              <a:t>3 story slots (8 AM / 1 PM / 8 PM) — evening ends with a DM CTA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30" b="1">
                <a:solidFill>
                  <a:srgbClr val="C0562B"/>
                </a:solidFill>
                <a:latin typeface="Calibri"/>
              </a:rPr>
              <a:t>▪  </a:t>
            </a:r>
            <a:r>
              <a:rPr sz="930" b="0">
                <a:solidFill>
                  <a:srgbClr val="2B2B2B"/>
                </a:solidFill>
                <a:latin typeface="Calibri"/>
              </a:rPr>
              <a:t>First 60 minutes: every comment replied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30" b="1">
                <a:solidFill>
                  <a:srgbClr val="C0562B"/>
                </a:solidFill>
                <a:latin typeface="Calibri"/>
              </a:rPr>
              <a:t>▪  </a:t>
            </a:r>
            <a:r>
              <a:rPr sz="930" b="0">
                <a:solidFill>
                  <a:srgbClr val="2B2B2B"/>
                </a:solidFill>
                <a:latin typeface="Calibri"/>
              </a:rPr>
              <a:t>Every GLOW answered in 15 min (7 AM–11 PM)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30" b="1">
                <a:solidFill>
                  <a:srgbClr val="C0562B"/>
                </a:solidFill>
                <a:latin typeface="Calibri"/>
              </a:rPr>
              <a:t>▪  </a:t>
            </a:r>
            <a:r>
              <a:rPr sz="930" b="0">
                <a:solidFill>
                  <a:srgbClr val="2B2B2B"/>
                </a:solidFill>
                <a:latin typeface="Calibri"/>
              </a:rPr>
              <a:t>WhatsApp Status mirrored · alt text + location + 8–15 rotated hashtags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30" b="1">
                <a:solidFill>
                  <a:srgbClr val="C0562B"/>
                </a:solidFill>
                <a:latin typeface="Calibri"/>
              </a:rPr>
              <a:t>▪  </a:t>
            </a:r>
            <a:r>
              <a:rPr sz="930" b="0">
                <a:solidFill>
                  <a:srgbClr val="2B2B2B"/>
                </a:solidFill>
                <a:latin typeface="Calibri"/>
              </a:rPr>
              <a:t>1 production block done · Sheet updated · 1 forward action for tomorrow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30" b="1">
                <a:solidFill>
                  <a:srgbClr val="C0562B"/>
                </a:solidFill>
                <a:latin typeface="Calibri"/>
              </a:rPr>
              <a:t>▪  </a:t>
            </a:r>
            <a:r>
              <a:rPr sz="930" b="0">
                <a:solidFill>
                  <a:srgbClr val="2B2B2B"/>
                </a:solidFill>
                <a:latin typeface="Calibri"/>
              </a:rPr>
              <a:t>The CEO question: which stranger buys tomorrow because of what I post today?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4048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C0562B"/>
                </a:solidFill>
                <a:latin typeface="Calibri"/>
              </a:rPr>
              <a:t>The 8 red lines (never crossed)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53035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30" b="1">
                <a:solidFill>
                  <a:srgbClr val="C0562B"/>
                </a:solidFill>
                <a:latin typeface="Calibri"/>
              </a:rPr>
              <a:t>▪  </a:t>
            </a:r>
            <a:r>
              <a:rPr sz="930" b="0">
                <a:solidFill>
                  <a:srgbClr val="2B2B2B"/>
                </a:solidFill>
                <a:latin typeface="Calibri"/>
              </a:rPr>
              <a:t>No fake reviews / testimonials / results — ever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30" b="1">
                <a:solidFill>
                  <a:srgbClr val="C0562B"/>
                </a:solidFill>
                <a:latin typeface="Calibri"/>
              </a:rPr>
              <a:t>▪  </a:t>
            </a:r>
            <a:r>
              <a:rPr sz="930" b="0">
                <a:solidFill>
                  <a:srgbClr val="2B2B2B"/>
                </a:solidFill>
                <a:latin typeface="Calibri"/>
              </a:rPr>
              <a:t>No fake before/after — only disclosed Day-1→28, "Results may vary"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30" b="1">
                <a:solidFill>
                  <a:srgbClr val="C0562B"/>
                </a:solidFill>
                <a:latin typeface="Calibri"/>
              </a:rPr>
              <a:t>▪  </a:t>
            </a:r>
            <a:r>
              <a:rPr sz="930" b="0">
                <a:solidFill>
                  <a:srgbClr val="2B2B2B"/>
                </a:solidFill>
                <a:latin typeface="Calibri"/>
              </a:rPr>
              <a:t>No fake followers or engagement — no buying, no pods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30" b="1">
                <a:solidFill>
                  <a:srgbClr val="C0562B"/>
                </a:solidFill>
                <a:latin typeface="Calibri"/>
              </a:rPr>
              <a:t>▪  </a:t>
            </a:r>
            <a:r>
              <a:rPr sz="930" b="0">
                <a:solidFill>
                  <a:srgbClr val="2B2B2B"/>
                </a:solidFill>
                <a:latin typeface="Calibri"/>
              </a:rPr>
              <a:t>No guaranteed results · no cure/remove/permanent/100% · no medical claims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30" b="1">
                <a:solidFill>
                  <a:srgbClr val="C0562B"/>
                </a:solidFill>
                <a:latin typeface="Calibri"/>
              </a:rPr>
              <a:t>▪  </a:t>
            </a:r>
            <a:r>
              <a:rPr sz="930" b="0">
                <a:solidFill>
                  <a:srgbClr val="2B2B2B"/>
                </a:solidFill>
                <a:latin typeface="Calibri"/>
              </a:rPr>
              <a:t>No unverified claims — if it’s not on the formula sheet, it’s not on the label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30" b="1">
                <a:solidFill>
                  <a:srgbClr val="C0562B"/>
                </a:solidFill>
                <a:latin typeface="Calibri"/>
              </a:rPr>
              <a:t>▪  </a:t>
            </a:r>
            <a:r>
              <a:rPr sz="930" b="0">
                <a:solidFill>
                  <a:srgbClr val="2B2B2B"/>
                </a:solidFill>
                <a:latin typeface="Calibri"/>
              </a:rPr>
              <a:t>No copyrighted downloads — Pexels/Pixabay/Unsplash B-roll only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30" b="1">
                <a:solidFill>
                  <a:srgbClr val="C0562B"/>
                </a:solidFill>
                <a:latin typeface="Calibri"/>
              </a:rPr>
              <a:t>▪  </a:t>
            </a:r>
            <a:r>
              <a:rPr sz="930" b="0">
                <a:solidFill>
                  <a:srgbClr val="2B2B2B"/>
                </a:solidFill>
                <a:latin typeface="Calibri"/>
              </a:rPr>
              <a:t>No misleading ingredient/price claims ("10%" = the formula’s 10%)</a:t>
            </a:r>
          </a:p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30" b="1">
                <a:solidFill>
                  <a:srgbClr val="C0562B"/>
                </a:solidFill>
                <a:latin typeface="Calibri"/>
              </a:rPr>
              <a:t>▪  </a:t>
            </a:r>
            <a:r>
              <a:rPr sz="930" b="0">
                <a:solidFill>
                  <a:srgbClr val="2B2B2B"/>
                </a:solidFill>
                <a:latin typeface="Calibri"/>
              </a:rPr>
              <a:t>AI labeled; AI never impersonates a customer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