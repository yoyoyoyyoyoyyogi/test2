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PREMIUM DAILY FACE CREAM / 100 g BENCH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DAYLIGHT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667512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233F"/>
                </a:solidFill>
              </a:defRPr>
            </a:pPr>
            <a:r>
              <a:t>A lightweight O/W cream engineered for immediate hydration, silky spread, soft glow and warm-climate comfort.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743200"/>
            <a:ext cx="6217920" cy="10058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A9D8F"/>
                </a:solidFill>
              </a:defRPr>
            </a:pPr>
            <a:r>
              <a:t>Evidence-led active stack • India-sourceable materials • No steroid • No hydroquinone • No miracle claims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08760"/>
            <a:ext cx="3474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36992" y="1645919"/>
            <a:ext cx="314553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7A84B"/>
                </a:solidFill>
              </a:defRPr>
            </a:pPr>
            <a:r>
              <a:t>DESIGN NORTH 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2011680"/>
            <a:ext cx="3145536" cy="25146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“Expensive” feel comes from emulsion architecture, light emollients, controlled humectancy and disciplined fragrance—not from adding every trend ingredient.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The product promise is sensory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783080"/>
            <a:ext cx="300837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A9D8F"/>
                </a:solidFill>
              </a:defRPr>
            </a:pPr>
            <a:r>
              <a:t>FIRST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48840"/>
            <a:ext cx="3008376" cy="18745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Hydrated, soft, quick slip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783080"/>
            <a:ext cx="300837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7A84B"/>
                </a:solidFill>
              </a:defRPr>
            </a:pPr>
            <a:r>
              <a:t>2–7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148840"/>
            <a:ext cx="3008376" cy="18745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Comfort + less dull-looking surface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783080"/>
            <a:ext cx="300837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2233F"/>
                </a:solidFill>
              </a:defRPr>
            </a:pPr>
            <a:r>
              <a:t>6–12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148840"/>
            <a:ext cx="3008376" cy="18745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Assess tone support with daily SPF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10789920" cy="6400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2233F"/>
                </a:solidFill>
              </a:defRPr>
            </a:pPr>
            <a:r>
              <a:t>Acne and pigmentation are not 4-day claims. A cosmetic day cream can support appearance and barrier comfort; it cannot replace medical treatment.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Formula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874519"/>
            <a:ext cx="218541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A9D8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2185416" cy="1417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Water + actives</a:t>
            </a:r>
          </a:p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70–75°C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874519"/>
            <a:ext cx="218541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7A84B"/>
                </a:solidFill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240280"/>
            <a:ext cx="2185416" cy="1417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Oil + emulsifier</a:t>
            </a:r>
          </a:p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70–75°C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373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874519"/>
            <a:ext cx="218541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2233F"/>
                </a:solidFill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40280"/>
            <a:ext cx="2185416" cy="1417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Cool-down actives</a:t>
            </a:r>
          </a:p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≤40°C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737360"/>
            <a:ext cx="2514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5752" y="1874519"/>
            <a:ext cx="218541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C8EAD"/>
                </a:solidFill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2240280"/>
            <a:ext cx="2185416" cy="1417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pH + fill</a:t>
            </a:r>
          </a:p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5.0–5.5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89120"/>
            <a:ext cx="10515600" cy="914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33F"/>
                </a:solidFill>
              </a:defRPr>
            </a:pPr>
            <a:r>
              <a:t>O/W • total lipid/emulsifier system ~10.7% • preservative 1.0% • fragrance 0.15% • final pH 5.0–5.5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Final formula / master data 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3200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17086"/>
                </a:solidFill>
              </a:defRPr>
            </a:pPr>
            <a:r>
              <a:t>100.00 g total • formula hash 9dd84162fc57 • use this table as the controlled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Final formula / master data lock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03120"/>
                <a:gridCol w="502920"/>
                <a:gridCol w="502920"/>
                <a:gridCol w="411480"/>
                <a:gridCol w="5852160"/>
              </a:tblGrid>
              <a:tr h="47382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Ingredient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INCI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Distilled / deionised water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Aqua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65.25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65.25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Solvent / continuous phase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Disodium EDTA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Disodium EDTA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Chelator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Glycerin, vegetable IP/USP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Glycerin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Humectant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Xanthan gum, clear grade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Xanthan Gum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Rheology / stabiliser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Niacinamide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Niacinamide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Barrier, tone and sebum support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Allantoin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Allantoin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Soothing / smoothing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Cetearyl olivate &amp; sorbitan olivate (Olivem 1000)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Cetearyl Olivate, Sorbitan Olivate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Primary O/W emulsifier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Cetearyl alcohol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Cetearyl Alcohol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Co-emulsifier / body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Caprylic/capric triglyceride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Caprylic/Capric Triglyceride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Light emollient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47383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Squalane, olive or sugarcane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Squalane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Light emollient / barrier lipid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Final formula / master data lock — continued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03120"/>
                <a:gridCol w="502920"/>
                <a:gridCol w="502920"/>
                <a:gridCol w="411480"/>
                <a:gridCol w="5852160"/>
              </a:tblGrid>
              <a:tr h="5212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Ingredient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INCI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marL="38100" marR="38100" marT="25400" marB="25400">
                    <a:solidFill>
                      <a:srgbClr val="12233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Tocopherol, mixed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Tocopherol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Oil antioxidant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Reserved distilled / deionised water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Aqua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10.00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10.00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Cool-down solvent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Sodium hyaluronate, cosmetic grade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Sodium Hyaluronate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Humectant / film former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Alpha-arbutin, &gt;=99% with COA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Alpha-Arbutin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1.50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1.50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Tone-evening active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Zinc PCA, cosmetic grade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Zinc PCA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Sebum / NMF support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D-panthenol 75% liquid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Panthenol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Humectant / soothing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Phenoxyethanol &amp; ethylhexylglycerin (PE 9010 type)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Phenoxyethanol, Ethylhexylglycerin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Broad-spectrum preservative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IFRA-certified facial fragrance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Parfum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Sensory</a:t>
                      </a:r>
                    </a:p>
                  </a:txBody>
                  <a:tcPr marL="38100" marR="38100" marT="25400" marB="25400">
                    <a:solidFill>
                      <a:srgbClr val="F1F6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10% lactic acid solution, q.s.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Lactic Acid, Aqua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243248"/>
                          </a:solidFill>
                        </a:defRPr>
                      </a:pPr>
                      <a:r>
                        <a:t>pH adjustment</a:t>
                      </a:r>
                    </a:p>
                  </a:txBody>
                  <a:tcPr marL="38100" marR="381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What makes it feel expensive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600200"/>
            <a:ext cx="5020055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A9D8F"/>
                </a:solidFill>
              </a:defRPr>
            </a:pPr>
            <a:r>
              <a:t>LIGHT SLIP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965960"/>
            <a:ext cx="5020055" cy="1051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CCT + squalane reduce oily drag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00200"/>
            <a:ext cx="5020055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7A84B"/>
                </a:solidFill>
              </a:defRPr>
            </a:pPr>
            <a:r>
              <a:t>SOFT CUSHION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965960"/>
            <a:ext cx="5020055" cy="1051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Olivem 1000 + 0.5% cetearyl alcohol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7472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611880"/>
            <a:ext cx="5020055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2233F"/>
                </a:solidFill>
              </a:defRPr>
            </a:pPr>
            <a:r>
              <a:t>NO 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977640"/>
            <a:ext cx="5020055" cy="1051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Humectants are balanced, not overloaded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7472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611880"/>
            <a:ext cx="5020055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C8EAD"/>
                </a:solidFill>
              </a:defRPr>
            </a:pPr>
            <a:r>
              <a:t>PREMIUM CUE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977640"/>
            <a:ext cx="5020055" cy="1051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0.15% IFRA facial fragrance—or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Ingredient → function → benefit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54480"/>
            <a:ext cx="323697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A9D8F"/>
                </a:solidFill>
              </a:defRPr>
            </a:pPr>
            <a:r>
              <a:t>NIACINAMIDE 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920240"/>
            <a:ext cx="3236976" cy="118871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Barrier + tone + sebum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23697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7A84B"/>
                </a:solidFill>
              </a:defRPr>
            </a:pPr>
            <a:r>
              <a:t>ALPHA-ARBUTIN 1.5%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20240"/>
            <a:ext cx="3236976" cy="118871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Complementary tone-evening lever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554480"/>
            <a:ext cx="323697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2233F"/>
                </a:solidFill>
              </a:defRPr>
            </a:pPr>
            <a:r>
              <a:t>PANTHENOL 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920240"/>
            <a:ext cx="3236976" cy="118871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Fast comfort + hydration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703320"/>
            <a:ext cx="323697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A9D8F"/>
                </a:solidFill>
              </a:defRPr>
            </a:pPr>
            <a:r>
              <a:t>ZINC PCA 0.5%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069080"/>
            <a:ext cx="3236976" cy="118871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Combination/oily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6616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703320"/>
            <a:ext cx="323697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7A84B"/>
                </a:solidFill>
              </a:defRPr>
            </a:pPr>
            <a:r>
              <a:t>HA 0.1% + GLYCERIN 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069080"/>
            <a:ext cx="3236976" cy="118871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Immediate water-rich glow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566160"/>
            <a:ext cx="3566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703320"/>
            <a:ext cx="323697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2233F"/>
                </a:solidFill>
              </a:defRPr>
            </a:pPr>
            <a:r>
              <a:t>EDTA + PE 9010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4069080"/>
            <a:ext cx="3236976" cy="118871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Stability + microbial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Bench recipe / critical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394960" cy="4480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43248"/>
                </a:solidFill>
              </a:defRPr>
            </a:pPr>
            <a:r>
              <a:t>1  Sanitize tools, worktop and airless pump with 70% IPA; air-dry.</a:t>
            </a:r>
          </a:p>
          <a:p>
            <a:pPr>
              <a:spcAft>
                <a:spcPts val="500"/>
              </a:spcAft>
              <a:defRPr sz="1600" b="0">
                <a:solidFill>
                  <a:srgbClr val="243248"/>
                </a:solidFill>
              </a:defRPr>
            </a:pPr>
            <a:r>
              <a:t>2  Slurry xanthan into glycerin. Heat Phase A and Phase B separately to 70–75°C.</a:t>
            </a:r>
          </a:p>
          <a:p>
            <a:pPr>
              <a:spcAft>
                <a:spcPts val="500"/>
              </a:spcAft>
              <a:defRPr sz="1600" b="0">
                <a:solidFill>
                  <a:srgbClr val="243248"/>
                </a:solidFill>
              </a:defRPr>
            </a:pPr>
            <a:r>
              <a:t>3  Pour B into A within 3–5°C; high-shear 2–3 min, then gentle mix to &lt;45°C.</a:t>
            </a:r>
          </a:p>
          <a:p>
            <a:pPr>
              <a:spcAft>
                <a:spcPts val="500"/>
              </a:spcAft>
              <a:defRPr sz="1600" b="0">
                <a:solidFill>
                  <a:srgbClr val="243248"/>
                </a:solidFill>
              </a:defRPr>
            </a:pPr>
            <a:r>
              <a:t>4  Below 45°C add HA gel + alpha-arbutin + Zinc PCA.</a:t>
            </a:r>
          </a:p>
          <a:p>
            <a:pPr>
              <a:spcAft>
                <a:spcPts val="500"/>
              </a:spcAft>
              <a:defRPr sz="1600" b="0">
                <a:solidFill>
                  <a:srgbClr val="243248"/>
                </a:solidFill>
              </a:defRPr>
            </a:pPr>
            <a:r>
              <a:t>5  Below 40°C add panthenol, then preservative. Below 35°C add fragrance.</a:t>
            </a:r>
          </a:p>
          <a:p>
            <a:pPr>
              <a:spcAft>
                <a:spcPts val="500"/>
              </a:spcAft>
              <a:defRPr sz="1600" b="0">
                <a:solidFill>
                  <a:srgbClr val="243248"/>
                </a:solidFill>
              </a:defRPr>
            </a:pPr>
            <a:r>
              <a:t>6  Adjust at 25°C to pH 5.0–5.5; fill below 30°C.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508760"/>
            <a:ext cx="48463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645919"/>
            <a:ext cx="451713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7A84B"/>
                </a:solidFill>
              </a:defRPr>
            </a:pPr>
            <a:r>
              <a:t>SEE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1112" y="2011680"/>
            <a:ext cx="4517136" cy="2240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Uniform opaque cream</a:t>
            </a:r>
          </a:p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No oil beads, no watery layer, no grit</a:t>
            </a:r>
          </a:p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Final viscosity develops over 24–48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Preservation is a safety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3891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2233F"/>
                </a:solidFill>
              </a:defRPr>
            </a:pPr>
            <a:r>
              <a:t>PE 9010-type preservative: 1.00%</a:t>
            </a:r>
          </a:p>
          <a:p>
            <a:pPr>
              <a:spcAft>
                <a:spcPts val="500"/>
              </a:spcAft>
              <a:defRPr sz="1700" b="1">
                <a:solidFill>
                  <a:srgbClr val="12233F"/>
                </a:solidFill>
              </a:defRPr>
            </a:pPr>
            <a:r>
              <a:t>Add below 40°C; mix 2 minutes.</a:t>
            </a:r>
          </a:p>
          <a:p>
            <a:pPr>
              <a:spcAft>
                <a:spcPts val="500"/>
              </a:spcAft>
              <a:defRPr sz="1700" b="1">
                <a:solidFill>
                  <a:srgbClr val="12233F"/>
                </a:solidFill>
              </a:defRPr>
            </a:pPr>
            <a:r>
              <a:t>Target pH: 5.0–5.5.</a:t>
            </a:r>
          </a:p>
          <a:p>
            <a:pPr>
              <a:spcAft>
                <a:spcPts val="500"/>
              </a:spcAft>
              <a:defRPr sz="1700" b="1">
                <a:solidFill>
                  <a:srgbClr val="12233F"/>
                </a:solidFill>
              </a:defRPr>
            </a:pPr>
            <a:r>
              <a:t>Tocopherol is an antioxidant, not a preservative.</a:t>
            </a:r>
          </a:p>
          <a:p>
            <a:pPr>
              <a:spcAft>
                <a:spcPts val="500"/>
              </a:spcAft>
              <a:defRPr sz="1700" b="1">
                <a:solidFill>
                  <a:srgbClr val="12233F"/>
                </a:solidFill>
              </a:defRPr>
            </a:pPr>
            <a:r>
              <a:t>Essential oils are not a complete preservative system.</a:t>
            </a:r>
          </a:p>
          <a:p>
            <a:pPr>
              <a:spcAft>
                <a:spcPts val="500"/>
              </a:spcAft>
              <a:defRPr sz="1700" b="1">
                <a:solidFill>
                  <a:srgbClr val="12233F"/>
                </a:solidFill>
              </a:defRPr>
            </a:pPr>
            <a:r>
              <a:t>Only a microbiology lab can confirm preservative efficacy.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554480"/>
            <a:ext cx="46634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2552" y="1691639"/>
            <a:ext cx="4334255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A9D8F"/>
                </a:solidFill>
              </a:defRPr>
            </a:pPr>
            <a:r>
              <a:t>COMMERCIAL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2552" y="2057400"/>
            <a:ext cx="4334255" cy="22402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Microbial limits + preservative challenge + stability + package compatibility + documented GMP process + compliant Indian label.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Testing plan / before commercial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737360"/>
            <a:ext cx="305409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A9D8F"/>
                </a:solidFill>
              </a:defRPr>
            </a:pPr>
            <a:r>
              <a:t>HOME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103120"/>
            <a:ext cx="3054096" cy="21488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Appearance, odour, feel, pH, colour, separation, pump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737360"/>
            <a:ext cx="305409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7A84B"/>
                </a:solidFill>
              </a:defRPr>
            </a:pPr>
            <a:r>
              <a:t>LAB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2103120"/>
            <a:ext cx="3054096" cy="21488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Microbial count, preservative challenge, stability, compatibility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3832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737360"/>
            <a:ext cx="305409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2233F"/>
                </a:solidFill>
              </a:defRPr>
            </a:pPr>
            <a:r>
              <a:t>PATCH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103120"/>
            <a:ext cx="3054096" cy="21488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Small area 24–48 h; stop for persistent burning, swelling or hives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India sourcing + Ahmedabad 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4480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43248"/>
                </a:solidFill>
              </a:defRPr>
            </a:pPr>
            <a:r>
              <a:t>Small-pack raw materials: India Beauty Raw Material • Cosmesi Global • Purenso Select • Moksha Lifestyle • TRCkem.</a:t>
            </a:r>
          </a:p>
          <a:p>
            <a:pPr>
              <a:spcAft>
                <a:spcPts val="500"/>
              </a:spcAft>
              <a:defRPr sz="1700" b="0">
                <a:solidFill>
                  <a:srgbClr val="243248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243248"/>
                </a:solidFill>
              </a:defRPr>
            </a:pPr>
            <a:r>
              <a:t>Ahmedabad / Gujarat leads to screen:</a:t>
            </a:r>
          </a:p>
          <a:p>
            <a:pPr>
              <a:spcAft>
                <a:spcPts val="500"/>
              </a:spcAft>
              <a:defRPr sz="1700" b="0">
                <a:solidFill>
                  <a:srgbClr val="243248"/>
                </a:solidFill>
              </a:defRPr>
            </a:pPr>
            <a:r>
              <a:t>KRIYAM Therapeutics — kriyam.in</a:t>
            </a:r>
          </a:p>
          <a:p>
            <a:pPr>
              <a:spcAft>
                <a:spcPts val="500"/>
              </a:spcAft>
              <a:defRPr sz="1700" b="0">
                <a:solidFill>
                  <a:srgbClr val="243248"/>
                </a:solidFill>
              </a:defRPr>
            </a:pPr>
            <a:r>
              <a:t>Aelicure Wellness — aelicurewellness.com</a:t>
            </a:r>
          </a:p>
          <a:p>
            <a:pPr>
              <a:spcAft>
                <a:spcPts val="500"/>
              </a:spcAft>
              <a:defRPr sz="1700" b="0">
                <a:solidFill>
                  <a:srgbClr val="243248"/>
                </a:solidFill>
              </a:defRPr>
            </a:pPr>
            <a:r>
              <a:t>Cosmenova — cosmenova.in</a:t>
            </a:r>
          </a:p>
          <a:p>
            <a:pPr>
              <a:spcAft>
                <a:spcPts val="500"/>
              </a:spcAft>
              <a:defRPr sz="1700" b="0">
                <a:solidFill>
                  <a:srgbClr val="243248"/>
                </a:solidFill>
              </a:defRPr>
            </a:pPr>
            <a:r>
              <a:t>Zymo Cosmetics — zymocosmetics.com</a:t>
            </a:r>
          </a:p>
          <a:p>
            <a:pPr>
              <a:spcAft>
                <a:spcPts val="500"/>
              </a:spcAft>
              <a:defRPr sz="1700" b="0">
                <a:solidFill>
                  <a:srgbClr val="243248"/>
                </a:solidFill>
              </a:defRPr>
            </a:pPr>
          </a:p>
          <a:p>
            <a:pPr>
              <a:spcAft>
                <a:spcPts val="500"/>
              </a:spcAft>
              <a:defRPr sz="1700" b="0">
                <a:solidFill>
                  <a:srgbClr val="243248"/>
                </a:solidFill>
              </a:defRPr>
            </a:pPr>
            <a:r>
              <a:t>Confirm 100–500 g sample capability, NDA, MOQ, IP ownership, COA/SDS, test scope, revisions, lead time and pricing before sharing the formula.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Prototype learning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82880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68249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A9D8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682496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Baseline after 48 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5768" y="182880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965960"/>
            <a:ext cx="168249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D7A84B"/>
                </a:solidFill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31720"/>
            <a:ext cx="1682496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Change one variable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82880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1965960"/>
            <a:ext cx="168249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2233F"/>
                </a:solidFill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2331720"/>
            <a:ext cx="1682496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Blind sensory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9208" y="182880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965960"/>
            <a:ext cx="168249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C8EAD"/>
                </a:solidFill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331720"/>
            <a:ext cx="1682496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Stability + pH 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10928" y="1828800"/>
            <a:ext cx="20116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19" y="1965960"/>
            <a:ext cx="1682496" cy="2743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A9D8F"/>
                </a:solidFill>
              </a:defRPr>
            </a:pPr>
            <a: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19" y="2331720"/>
            <a:ext cx="1682496" cy="1508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43248"/>
                </a:solidFill>
              </a:defRPr>
            </a:pPr>
            <a:r>
              <a:t>Lock a controlled variant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00600"/>
            <a:ext cx="10972800" cy="5486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2233F"/>
                </a:solidFill>
              </a:defRPr>
            </a:pPr>
            <a:r>
              <a:t>Too sticky → reduce glycerin slightly. Too greasy → reduce oil. Too thin → wait 48 h, then test tiny rheology changes. Never add random ingredients.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Final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233F"/>
                </a:solidFill>
              </a:defRPr>
            </a:pPr>
            <a:r>
              <a:t>• Cosmetic prototype only; not for sale.</a:t>
            </a:r>
          </a:p>
          <a:p>
            <a:pPr>
              <a:spcAft>
                <a:spcPts val="500"/>
              </a:spcAft>
              <a:defRPr sz="1800" b="1">
                <a:solidFill>
                  <a:srgbClr val="12233F"/>
                </a:solidFill>
              </a:defRPr>
            </a:pPr>
            <a:r>
              <a:t>• No steroid, hydroquinone, pharmacy medicine or unsafe bleaching agent.</a:t>
            </a:r>
          </a:p>
          <a:p>
            <a:pPr>
              <a:spcAft>
                <a:spcPts val="500"/>
              </a:spcAft>
              <a:defRPr sz="1800" b="1">
                <a:solidFill>
                  <a:srgbClr val="12233F"/>
                </a:solidFill>
              </a:defRPr>
            </a:pPr>
            <a:r>
              <a:t>• No guaranteed acne or pigmentation result.</a:t>
            </a:r>
          </a:p>
          <a:p>
            <a:pPr>
              <a:spcAft>
                <a:spcPts val="500"/>
              </a:spcAft>
              <a:defRPr sz="1800" b="1">
                <a:solidFill>
                  <a:srgbClr val="12233F"/>
                </a:solidFill>
              </a:defRPr>
            </a:pPr>
            <a:r>
              <a:t>• Fragrance-free variant: replace 0.15 g Parfum with 0.15 g Aqua.</a:t>
            </a:r>
          </a:p>
          <a:p>
            <a:pPr>
              <a:spcAft>
                <a:spcPts val="500"/>
              </a:spcAft>
              <a:defRPr sz="1800" b="1">
                <a:solidFill>
                  <a:srgbClr val="12233F"/>
                </a:solidFill>
              </a:defRPr>
            </a:pPr>
            <a:r>
              <a:t>• Use opaque airless packaging; store below 30°C, dark and sealed.</a:t>
            </a:r>
          </a:p>
          <a:p>
            <a:pPr>
              <a:spcAft>
                <a:spcPts val="500"/>
              </a:spcAft>
              <a:defRPr sz="1800" b="1">
                <a:solidFill>
                  <a:srgbClr val="12233F"/>
                </a:solidFill>
              </a:defRPr>
            </a:pPr>
            <a:r>
              <a:t>• Downloadable companion: complete PDF tutorial + controlled CSV master.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9D8F"/>
                </a:solidFill>
              </a:defRPr>
            </a:pPr>
            <a:r>
              <a:t>DAYLIGHT / COSMETIC 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33F"/>
                </a:solidFill>
              </a:defRPr>
            </a:pPr>
            <a:r>
              <a:t>References &amp; next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66344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43248"/>
                </a:solidFill>
              </a:defRPr>
            </a:pPr>
            <a:r>
              <a:t>CIR safety reviews • EU SCCS alpha-arbutin opinion • EU CosIng • CDSCO / India Cosmetics Rules • supplier and manufacturer websites listed in the PDF.</a:t>
            </a:r>
          </a:p>
          <a:p>
            <a:pPr>
              <a:spcAft>
                <a:spcPts val="500"/>
              </a:spcAft>
              <a:defRPr sz="1800" b="0">
                <a:solidFill>
                  <a:srgbClr val="243248"/>
                </a:solidFill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243248"/>
                </a:solidFill>
              </a:defRPr>
            </a:pPr>
            <a:r>
              <a:t>Bring this master data, a written brief, an NDA request and a list of acceptance criteria to the formulator. Ask for a small sample first, then test and iterate.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325880" cy="18288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1708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