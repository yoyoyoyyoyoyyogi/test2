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80" y="502920"/>
            <a:ext cx="2834640" cy="2834640"/>
          </a:xfrm>
          <a:prstGeom prst="ellipse">
            <a:avLst/>
          </a:prstGeom>
          <a:solidFill>
            <a:srgbClr val="DC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87968" y="749808"/>
            <a:ext cx="2340864" cy="2340864"/>
          </a:xfrm>
          <a:prstGeom prst="ellipse">
            <a:avLst/>
          </a:prstGeom>
          <a:solidFill>
            <a:srgbClr val="FB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53728" y="1115568"/>
            <a:ext cx="1609344" cy="1609344"/>
          </a:xfrm>
          <a:prstGeom prst="ellipse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28632" y="1490472"/>
            <a:ext cx="859536" cy="859536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005840" y="5257800"/>
            <a:ext cx="2468880" cy="2468880"/>
          </a:xfrm>
          <a:prstGeom prst="ellipse">
            <a:avLst/>
          </a:prstGeom>
          <a:solidFill>
            <a:srgbClr val="EE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" y="658368"/>
            <a:ext cx="1115568" cy="219456"/>
          </a:xfrm>
          <a:prstGeom prst="roundRect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693115"/>
            <a:ext cx="1042415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Aptos"/>
              </a:rPr>
              <a:t>FORMULA + TUTORIAL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298448"/>
            <a:ext cx="7132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172A24"/>
                </a:solidFill>
                <a:latin typeface="Aptos"/>
              </a:rPr>
              <a:t>DAYLIGHT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856231"/>
            <a:ext cx="7132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172A24"/>
                </a:solidFill>
                <a:latin typeface="Aptos"/>
              </a:rPr>
              <a:t>DAY CREAM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05456"/>
            <a:ext cx="70408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46653"/>
                </a:solidFill>
                <a:latin typeface="Aptos"/>
              </a:rPr>
              <a:t>A practical, data-locked 100 g home R&amp;D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1800"/>
            <a:ext cx="66294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0706A"/>
                </a:solidFill>
                <a:latin typeface="Aptos"/>
              </a:rPr>
              <a:t>Fast visible hydration, smoother feel and healthy-looking glow - with a realistic long-term path for uneven tone.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4069080"/>
            <a:ext cx="75438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25112"/>
            <a:ext cx="27432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246653"/>
                </a:solidFill>
                <a:latin typeface="Aptos"/>
              </a:rPr>
              <a:t>THE FOUR-DAY 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67665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20" b="1">
                <a:solidFill>
                  <a:srgbClr val="172A24"/>
                </a:solidFill>
                <a:latin typeface="Aptos"/>
              </a:rPr>
              <a:t>Hydrated  |  Fresh  |  Smooth  |  Comfortably glowy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46904"/>
            <a:ext cx="6858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0">
                <a:solidFill>
                  <a:srgbClr val="60706A"/>
                </a:solidFill>
                <a:latin typeface="Aptos"/>
              </a:rPr>
              <a:t>pH 5.2-5.6  |  fragrance-free  |  no steroid / hydroquinone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980176"/>
            <a:ext cx="5303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1">
                <a:solidFill>
                  <a:srgbClr val="246653"/>
                </a:solidFill>
                <a:latin typeface="Aptos"/>
              </a:rPr>
              <a:t>DAYLIGHT LAB  |  VERSION 1.0  |  01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47472" y="210312"/>
            <a:ext cx="118872" cy="118872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791" y="249631"/>
            <a:ext cx="41148" cy="41148"/>
          </a:xfrm>
          <a:prstGeom prst="ellipse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8288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1">
                <a:solidFill>
                  <a:srgbClr val="246653"/>
                </a:solidFill>
                <a:latin typeface="Aptos"/>
              </a:rPr>
              <a:t>DAYLIGHT LAB / DAY CREAM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18288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80" b="1">
                <a:solidFill>
                  <a:srgbClr val="246653"/>
                </a:solidFill>
                <a:latin typeface="Aptos"/>
              </a:rPr>
              <a:t>02  / 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84632"/>
            <a:ext cx="11494008" cy="10972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6528816"/>
            <a:ext cx="11494008" cy="9144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565392"/>
            <a:ext cx="7223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40" b="0">
                <a:solidFill>
                  <a:srgbClr val="60706A"/>
                </a:solidFill>
                <a:latin typeface="Aptos"/>
              </a:rPr>
              <a:t>Fragrance-free home R&amp;D prototype | Not a sunscreen or medical acne 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583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72A24"/>
                </a:solidFill>
                <a:latin typeface="Aptos"/>
              </a:rPr>
              <a:t>What can realistically change - and 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60704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40" b="0">
                <a:solidFill>
                  <a:srgbClr val="60706A"/>
                </a:solidFill>
                <a:latin typeface="Aptos"/>
              </a:rPr>
              <a:t>Optimise surface optics now; build a longer-term routine without promising medical outcomes.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1481328"/>
            <a:ext cx="11411712" cy="585216"/>
          </a:xfrm>
          <a:prstGeom prst="roundRect">
            <a:avLst/>
          </a:prstGeom>
          <a:solidFill>
            <a:srgbClr val="EEF5EF"/>
          </a:solidFill>
          <a:ln w="8890">
            <a:solidFill>
              <a:srgbClr val="DC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1645920"/>
            <a:ext cx="987552" cy="219456"/>
          </a:xfrm>
          <a:prstGeom prst="roundRect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680667"/>
            <a:ext cx="9144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Aptos"/>
              </a:rPr>
              <a:t>FOUR-DAY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618488"/>
            <a:ext cx="9418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0" b="0">
                <a:solidFill>
                  <a:srgbClr val="172A24"/>
                </a:solidFill>
                <a:latin typeface="Aptos"/>
              </a:rPr>
              <a:t>Humectants + light emollients can improve hydration, feel and light reflection quickly. They do not erase melanin or cure acne in four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" y="2350008"/>
            <a:ext cx="5623560" cy="1234440"/>
          </a:xfrm>
          <a:prstGeom prst="roundRect">
            <a:avLst/>
          </a:prstGeom>
          <a:solidFill>
            <a:srgbClr val="DCE9DE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7" y="2551176"/>
            <a:ext cx="987552" cy="219456"/>
          </a:xfrm>
          <a:prstGeom prst="roundRect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2585923"/>
            <a:ext cx="9144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Aptos"/>
              </a:rPr>
              <a:t>DAY 1-4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" y="2944368"/>
            <a:ext cx="518464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172A24"/>
                </a:solidFill>
                <a:latin typeface="Aptos"/>
              </a:rPr>
              <a:t>Hydrated, smoother, fresher-looking; more even light reflection. Not pigment removal or acne cure.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350008"/>
            <a:ext cx="5623560" cy="1234440"/>
          </a:xfrm>
          <a:prstGeom prst="roundRect">
            <a:avLst/>
          </a:prstGeom>
          <a:solidFill>
            <a:srgbClr val="F3E2D1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64224" y="2551176"/>
            <a:ext cx="987552" cy="219456"/>
          </a:xfrm>
          <a:prstGeom prst="roundRect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585923"/>
            <a:ext cx="9144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1">
                <a:solidFill>
                  <a:srgbClr val="172A24"/>
                </a:solidFill>
                <a:latin typeface="Aptos"/>
              </a:rPr>
              <a:t>1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944368"/>
            <a:ext cx="518464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172A24"/>
                </a:solidFill>
                <a:latin typeface="Aptos"/>
              </a:rPr>
              <a:t>Less tightness/flaking and a more comfortable feel if the formula suits the skin. Breakouts may be unchanged.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" y="3904487"/>
            <a:ext cx="5623560" cy="1234440"/>
          </a:xfrm>
          <a:prstGeom prst="round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2647" y="4105655"/>
            <a:ext cx="987552" cy="219456"/>
          </a:xfrm>
          <a:prstGeom prst="roundRect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4140403"/>
            <a:ext cx="9144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Aptos"/>
              </a:rPr>
              <a:t>2-4 WEEKS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" y="4498848"/>
            <a:ext cx="518464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172A24"/>
                </a:solidFill>
                <a:latin typeface="Aptos"/>
              </a:rPr>
              <a:t>Gradual improvement in overall tone appearance may begin. Results vary with skin, routine and UV exposure.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3904487"/>
            <a:ext cx="562356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4105655"/>
            <a:ext cx="987552" cy="219456"/>
          </a:xfrm>
          <a:prstGeom prst="roundRect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140403"/>
            <a:ext cx="9144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1">
                <a:solidFill>
                  <a:srgbClr val="172A24"/>
                </a:solidFill>
                <a:latin typeface="Aptos"/>
              </a:rPr>
              <a:t>6-12 WEEKS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4498848"/>
            <a:ext cx="518464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172A24"/>
                </a:solidFill>
                <a:latin typeface="Aptos"/>
              </a:rPr>
              <a:t>A longer-term target for uneven pigmentation. Daily sunscreen is essential; persistent acne/melasma needs a dermatologist.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3192" y="5623560"/>
            <a:ext cx="1138428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5806440"/>
            <a:ext cx="108813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>
                <a:solidFill>
                  <a:srgbClr val="246653"/>
                </a:solidFill>
                <a:latin typeface="Aptos"/>
              </a:rPr>
              <a:t>ROUTINE: apply the cream, then a broad-spectrum SPF 30+ sunscreen. Tinted iron-oxide sunscreen is useful for dark spots [3]. This cream is not SPF-tested.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47472" y="210312"/>
            <a:ext cx="118872" cy="118872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791" y="249631"/>
            <a:ext cx="41148" cy="41148"/>
          </a:xfrm>
          <a:prstGeom prst="ellipse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8288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1">
                <a:solidFill>
                  <a:srgbClr val="246653"/>
                </a:solidFill>
                <a:latin typeface="Aptos"/>
              </a:rPr>
              <a:t>DAYLIGHT LAB / DAY CREAM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18288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80" b="1">
                <a:solidFill>
                  <a:srgbClr val="246653"/>
                </a:solidFill>
                <a:latin typeface="Aptos"/>
              </a:rPr>
              <a:t>03  / 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84632"/>
            <a:ext cx="11494008" cy="10972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6528816"/>
            <a:ext cx="11494008" cy="9144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565392"/>
            <a:ext cx="7223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40" b="0">
                <a:solidFill>
                  <a:srgbClr val="60706A"/>
                </a:solidFill>
                <a:latin typeface="Aptos"/>
              </a:rPr>
              <a:t>Fragrance-free home R&amp;D prototype | Not a sunscreen or medical acne 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583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72A24"/>
                </a:solidFill>
                <a:latin typeface="Aptos"/>
              </a:rPr>
              <a:t>Design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60704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40" b="0">
                <a:solidFill>
                  <a:srgbClr val="60706A"/>
                </a:solidFill>
                <a:latin typeface="Aptos"/>
              </a:rPr>
              <a:t>A compact emulsion focused on immediate cosmetic benefits first, with well-established longer-pathway actives.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572768"/>
            <a:ext cx="2542032" cy="2331720"/>
          </a:xfrm>
          <a:prstGeom prst="roundRect">
            <a:avLst/>
          </a:prstGeom>
          <a:solidFill>
            <a:srgbClr val="DCE9DE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0160" y="1773936"/>
            <a:ext cx="777240" cy="777240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020824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43200"/>
            <a:ext cx="21762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20" b="1">
                <a:solidFill>
                  <a:srgbClr val="246653"/>
                </a:solidFill>
                <a:latin typeface="Aptos"/>
              </a:rPr>
              <a:t>WATER + HUMECTANTS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2084831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172A24"/>
                </a:solidFill>
                <a:latin typeface="Aptos"/>
              </a:rPr>
              <a:t>Glycerin 4.00%
Propanediol 3.00%
Betaine 1.00%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66744"/>
            <a:ext cx="217627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90" b="0">
                <a:solidFill>
                  <a:srgbClr val="60706A"/>
                </a:solidFill>
                <a:latin typeface="Aptos"/>
              </a:rPr>
              <a:t>Fast hydration + plump surface look</a:t>
            </a:r>
          </a:p>
        </p:txBody>
      </p:sp>
      <p:sp>
        <p:nvSpPr>
          <p:cNvPr id="17" name="Chevron 16"/>
          <p:cNvSpPr/>
          <p:nvPr/>
        </p:nvSpPr>
        <p:spPr>
          <a:xfrm>
            <a:off x="2999232" y="2514600"/>
            <a:ext cx="210312" cy="301752"/>
          </a:xfrm>
          <a:prstGeom prst="chevron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64408" y="1572768"/>
            <a:ext cx="2542032" cy="2331720"/>
          </a:xfrm>
          <a:prstGeom prst="roundRect">
            <a:avLst/>
          </a:prstGeom>
          <a:solidFill>
            <a:srgbClr val="F3E2D1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33088" y="1773936"/>
            <a:ext cx="777240" cy="777240"/>
          </a:xfrm>
          <a:prstGeom prst="ellipse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33088" y="2020824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72A24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8" y="2743200"/>
            <a:ext cx="21762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20" b="1">
                <a:solidFill>
                  <a:srgbClr val="246653"/>
                </a:solidFill>
                <a:latin typeface="Aptos"/>
              </a:rPr>
              <a:t>LIGHT EMOLLIENTS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3108960"/>
            <a:ext cx="2084831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172A24"/>
                </a:solidFill>
                <a:latin typeface="Aptos"/>
              </a:rPr>
              <a:t>CCT 4.00%
Dicaprylyl carbonate 3.00%
Squalane 2.00%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3666744"/>
            <a:ext cx="217627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90" b="0">
                <a:solidFill>
                  <a:srgbClr val="60706A"/>
                </a:solidFill>
                <a:latin typeface="Aptos"/>
              </a:rPr>
              <a:t>Slip, softness, lower-wax feel</a:t>
            </a:r>
          </a:p>
        </p:txBody>
      </p:sp>
      <p:sp>
        <p:nvSpPr>
          <p:cNvPr id="24" name="Chevron 23"/>
          <p:cNvSpPr/>
          <p:nvPr/>
        </p:nvSpPr>
        <p:spPr>
          <a:xfrm>
            <a:off x="5852160" y="2514600"/>
            <a:ext cx="210312" cy="301752"/>
          </a:xfrm>
          <a:prstGeom prst="chevron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17336" y="1572768"/>
            <a:ext cx="2542032" cy="2331720"/>
          </a:xfrm>
          <a:prstGeom prst="round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86016" y="1773936"/>
            <a:ext cx="777240" cy="777240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2020824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743200"/>
            <a:ext cx="21762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20" b="1">
                <a:solidFill>
                  <a:srgbClr val="246653"/>
                </a:solidFill>
                <a:latin typeface="Aptos"/>
              </a:rPr>
              <a:t>TONE PATHWAY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3108960"/>
            <a:ext cx="2084831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172A24"/>
                </a:solidFill>
                <a:latin typeface="Aptos"/>
              </a:rPr>
              <a:t>Niacinamide 4.00%
NAG 2.00%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3666744"/>
            <a:ext cx="217627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90" b="0">
                <a:solidFill>
                  <a:srgbClr val="60706A"/>
                </a:solidFill>
                <a:latin typeface="Aptos"/>
              </a:rPr>
              <a:t>Published combination levels [1]</a:t>
            </a:r>
          </a:p>
        </p:txBody>
      </p:sp>
      <p:sp>
        <p:nvSpPr>
          <p:cNvPr id="31" name="Chevron 30"/>
          <p:cNvSpPr/>
          <p:nvPr/>
        </p:nvSpPr>
        <p:spPr>
          <a:xfrm>
            <a:off x="8705088" y="2514600"/>
            <a:ext cx="210312" cy="301752"/>
          </a:xfrm>
          <a:prstGeom prst="chevron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70263" y="1572768"/>
            <a:ext cx="2542032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38943" y="1773936"/>
            <a:ext cx="777240" cy="777240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38943" y="2020824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3143" y="2743200"/>
            <a:ext cx="21762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20" b="1">
                <a:solidFill>
                  <a:srgbClr val="246653"/>
                </a:solidFill>
                <a:latin typeface="Aptos"/>
              </a:rPr>
              <a:t>CONTROL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3" y="3108960"/>
            <a:ext cx="2084831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172A24"/>
                </a:solidFill>
                <a:latin typeface="Aptos"/>
              </a:rPr>
              <a:t>pH 5.2-5.6
Preservative blend 1.00%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143" y="3666744"/>
            <a:ext cx="217627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90" b="0">
                <a:solidFill>
                  <a:srgbClr val="60706A"/>
                </a:solidFill>
                <a:latin typeface="Aptos"/>
              </a:rPr>
              <a:t>Comfort + controlled prototype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4315968"/>
            <a:ext cx="11384280" cy="12161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562856"/>
            <a:ext cx="182880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46653"/>
                </a:solidFill>
                <a:latin typeface="Aptos"/>
              </a:rPr>
              <a:t>WHY THIS IS FAST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855464"/>
            <a:ext cx="491947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40" b="0">
                <a:solidFill>
                  <a:srgbClr val="172A24"/>
                </a:solidFill>
                <a:latin typeface="Aptos"/>
              </a:rPr>
              <a:t>Humectants bind water in the outer skin. Light emollients smooth the micro-surface. Together they can create the fastest safe “glow” effect.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08192" y="4562856"/>
            <a:ext cx="237744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46653"/>
                </a:solidFill>
                <a:latin typeface="Aptos"/>
              </a:rPr>
              <a:t>WHY THIS IS NOT A MIRACLE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08192" y="4855464"/>
            <a:ext cx="504748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40" b="0">
                <a:solidFill>
                  <a:srgbClr val="172A24"/>
                </a:solidFill>
                <a:latin typeface="Aptos"/>
              </a:rPr>
              <a:t>Pigmentation depends on skin turnover and UV/visible-light exposure; pimples have several causes. Do not make cure claims.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769864"/>
            <a:ext cx="1316736" cy="219456"/>
          </a:xfrm>
          <a:prstGeom prst="roundRect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" y="5804611"/>
            <a:ext cx="12435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Aptos"/>
              </a:rPr>
              <a:t>FRAGRANCE-FREE DEFAULT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84248" y="5797296"/>
            <a:ext cx="886968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10" b="0">
                <a:solidFill>
                  <a:srgbClr val="60706A"/>
                </a:solidFill>
                <a:latin typeface="Aptos"/>
              </a:rPr>
              <a:t>Optional sensory variant: 0.05% IFRA-compliant cosmetic fragrance replaces 0.05% water (68.64 g total water).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47472" y="210312"/>
            <a:ext cx="118872" cy="118872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791" y="249631"/>
            <a:ext cx="41148" cy="41148"/>
          </a:xfrm>
          <a:prstGeom prst="ellipse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8288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1">
                <a:solidFill>
                  <a:srgbClr val="246653"/>
                </a:solidFill>
                <a:latin typeface="Aptos"/>
              </a:rPr>
              <a:t>DAYLIGHT LAB / MASTER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18288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80" b="1">
                <a:solidFill>
                  <a:srgbClr val="246653"/>
                </a:solidFill>
                <a:latin typeface="Aptos"/>
              </a:rPr>
              <a:t>04  / 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84632"/>
            <a:ext cx="11494008" cy="10972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6528816"/>
            <a:ext cx="11494008" cy="9144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565392"/>
            <a:ext cx="7223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40" b="0">
                <a:solidFill>
                  <a:srgbClr val="60706A"/>
                </a:solidFill>
                <a:latin typeface="Aptos"/>
              </a:rPr>
              <a:t>Fragrance-free home R&amp;D prototype | Not a sunscreen or medical acne 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583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72A24"/>
                </a:solidFill>
                <a:latin typeface="Aptos"/>
              </a:rPr>
              <a:t>Locked 100 g formula - Phase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60704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40" b="0">
                <a:solidFill>
                  <a:srgbClr val="60706A"/>
                </a:solidFill>
                <a:latin typeface="Aptos"/>
              </a:rPr>
              <a:t>Fragrance-free. Percent equals grams for this 100 g batch. Phase A heat range: 70-75 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" y="1362456"/>
            <a:ext cx="1266444" cy="219456"/>
          </a:xfrm>
          <a:prstGeom prst="roundRect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397203"/>
            <a:ext cx="11932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Aptos"/>
              </a:rPr>
              <a:t>PHASE A / WATER PHASE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1691640"/>
            <a:ext cx="10744200" cy="256032"/>
          </a:xfrm>
          <a:prstGeom prst="rect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760220"/>
            <a:ext cx="283464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" b="1">
                <a:solidFill>
                  <a:srgbClr val="FFFFFF"/>
                </a:solidFill>
                <a:latin typeface="Aptos"/>
              </a:rPr>
              <a:t>INGREDIENT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1760220"/>
            <a:ext cx="571500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" b="1">
                <a:solidFill>
                  <a:srgbClr val="FFFFFF"/>
                </a:solidFill>
                <a:latin typeface="Aptos"/>
              </a:rPr>
              <a:t>WHAT IT DOES / WHY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1760220"/>
            <a:ext cx="91440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" b="1">
                <a:solidFill>
                  <a:srgbClr val="FFFFFF"/>
                </a:solidFill>
                <a:latin typeface="Aptos"/>
              </a:rPr>
              <a:t>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77272" y="1760220"/>
            <a:ext cx="91440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" b="1">
                <a:solidFill>
                  <a:srgbClr val="FFFFFF"/>
                </a:solidFill>
                <a:latin typeface="Aptos"/>
              </a:rPr>
              <a:t>GRAMS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" y="1947672"/>
            <a:ext cx="10744200" cy="3383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" y="1993391"/>
            <a:ext cx="2825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Purified / deionized water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9564" y="1993391"/>
            <a:ext cx="570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5" b="0">
                <a:solidFill>
                  <a:srgbClr val="60706A"/>
                </a:solidFill>
                <a:latin typeface="Aptos"/>
              </a:rPr>
              <a:t>Main carrier for a clean, light emulsion.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6004" y="1993391"/>
            <a:ext cx="905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43.69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1844" y="1993391"/>
            <a:ext cx="905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43.69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" y="2286000"/>
            <a:ext cx="10744200" cy="338328"/>
          </a:xfrm>
          <a:prstGeom prst="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" y="2331720"/>
            <a:ext cx="2825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Glycerin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9564" y="2331720"/>
            <a:ext cx="570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5" b="0">
                <a:solidFill>
                  <a:srgbClr val="60706A"/>
                </a:solidFill>
                <a:latin typeface="Aptos"/>
              </a:rPr>
              <a:t>Immediate humectant; pulls water into the outer skin.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6004" y="2331720"/>
            <a:ext cx="905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4.00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1844" y="2331720"/>
            <a:ext cx="905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4.00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" y="2624328"/>
            <a:ext cx="10744200" cy="3383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" y="2670048"/>
            <a:ext cx="2825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1,3-Propanediol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9564" y="2670048"/>
            <a:ext cx="570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5" b="0">
                <a:solidFill>
                  <a:srgbClr val="60706A"/>
                </a:solidFill>
                <a:latin typeface="Aptos"/>
              </a:rPr>
              <a:t>Humectant and slip aid; helps a less tacky feel.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6004" y="2670048"/>
            <a:ext cx="905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3.00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1844" y="2670048"/>
            <a:ext cx="905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3.00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" y="2962656"/>
            <a:ext cx="10744200" cy="338328"/>
          </a:xfrm>
          <a:prstGeom prst="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" y="3008376"/>
            <a:ext cx="2825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Betaine (trimethylglycine)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9564" y="3008376"/>
            <a:ext cx="570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5" b="0">
                <a:solidFill>
                  <a:srgbClr val="60706A"/>
                </a:solidFill>
                <a:latin typeface="Aptos"/>
              </a:rPr>
              <a:t>Osmolyte humectant for comfortable hydration.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6004" y="3008376"/>
            <a:ext cx="905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1.00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1844" y="3008376"/>
            <a:ext cx="905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1.00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192" y="3300984"/>
            <a:ext cx="10744200" cy="3383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" y="3346704"/>
            <a:ext cx="2825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Allantoin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69564" y="3346704"/>
            <a:ext cx="570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5" b="0">
                <a:solidFill>
                  <a:srgbClr val="60706A"/>
                </a:solidFill>
                <a:latin typeface="Aptos"/>
              </a:rPr>
              <a:t>Skin-conditioning powder; supports a smoother feel.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6004" y="3346704"/>
            <a:ext cx="905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0.20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1844" y="3346704"/>
            <a:ext cx="905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0.20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" y="3639312"/>
            <a:ext cx="10744200" cy="338328"/>
          </a:xfrm>
          <a:prstGeom prst="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484" y="3685032"/>
            <a:ext cx="2825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Disodium EDTA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69564" y="3685032"/>
            <a:ext cx="570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5" b="0">
                <a:solidFill>
                  <a:srgbClr val="60706A"/>
                </a:solidFill>
                <a:latin typeface="Aptos"/>
              </a:rPr>
              <a:t>Chelator; supports preservative and formula stability.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6004" y="3685032"/>
            <a:ext cx="905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0.10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81844" y="3685032"/>
            <a:ext cx="905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0.10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3192" y="3977640"/>
            <a:ext cx="10744200" cy="3383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3484" y="4023360"/>
            <a:ext cx="2825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Xanthan gum (transparent grade)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69564" y="4023360"/>
            <a:ext cx="570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5" b="0">
                <a:solidFill>
                  <a:srgbClr val="60706A"/>
                </a:solidFill>
                <a:latin typeface="Aptos"/>
              </a:rPr>
              <a:t>Low-dose thickener; helps keep the emulsion stable.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76004" y="4023360"/>
            <a:ext cx="905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0.15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81844" y="4023360"/>
            <a:ext cx="905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1">
                <a:solidFill>
                  <a:srgbClr val="172A24"/>
                </a:solidFill>
                <a:latin typeface="Aptos"/>
              </a:rPr>
              <a:t>0.15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3192" y="5001768"/>
            <a:ext cx="11384280" cy="749808"/>
          </a:xfrm>
          <a:prstGeom prst="roundRect">
            <a:avLst/>
          </a:prstGeom>
          <a:solidFill>
            <a:srgbClr val="EEF5EF"/>
          </a:solidFill>
          <a:ln w="8890">
            <a:solidFill>
              <a:srgbClr val="DC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212080"/>
            <a:ext cx="10881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246653"/>
                </a:solidFill>
                <a:latin typeface="Aptos"/>
              </a:rPr>
              <a:t>PHASE A PROCESS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46811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60" b="0">
                <a:solidFill>
                  <a:srgbClr val="172A24"/>
                </a:solidFill>
                <a:latin typeface="Aptos"/>
              </a:rPr>
              <a:t>Pre-slurry xanthan in glycerin; combine with A-water, propanediol, betaine, EDTA and allantoin. Heat and hold the complete A phase at 70-75 C until uniform.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93192" y="5907024"/>
            <a:ext cx="11384280" cy="3291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648" y="6016752"/>
            <a:ext cx="10881360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0">
                <a:solidFill>
                  <a:srgbClr val="60706A"/>
                </a:solidFill>
                <a:latin typeface="Aptos"/>
              </a:rPr>
              <a:t>A-water = 43.69 g; cool-down water is listed separately in Phase C. Formula total is maintained at 100.00 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47472" y="210312"/>
            <a:ext cx="118872" cy="118872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791" y="249631"/>
            <a:ext cx="41148" cy="41148"/>
          </a:xfrm>
          <a:prstGeom prst="ellipse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8288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1">
                <a:solidFill>
                  <a:srgbClr val="246653"/>
                </a:solidFill>
                <a:latin typeface="Aptos"/>
              </a:rPr>
              <a:t>DAYLIGHT LAB / MASTER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18288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80" b="1">
                <a:solidFill>
                  <a:srgbClr val="246653"/>
                </a:solidFill>
                <a:latin typeface="Aptos"/>
              </a:rPr>
              <a:t>05  / 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84632"/>
            <a:ext cx="11494008" cy="10972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6528816"/>
            <a:ext cx="11494008" cy="9144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565392"/>
            <a:ext cx="7223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40" b="0">
                <a:solidFill>
                  <a:srgbClr val="60706A"/>
                </a:solidFill>
                <a:latin typeface="Aptos"/>
              </a:rPr>
              <a:t>Fragrance-free home R&amp;D prototype | Not a sunscreen or medical acne 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583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72A24"/>
                </a:solidFill>
                <a:latin typeface="Aptos"/>
              </a:rPr>
              <a:t>Locked 100 g formula - Phases B &amp;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60704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40" b="0">
                <a:solidFill>
                  <a:srgbClr val="60706A"/>
                </a:solidFill>
                <a:latin typeface="Aptos"/>
              </a:rPr>
              <a:t>Phase B heat range: 70-75 C. Phase C is added below 40 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" y="1325880"/>
            <a:ext cx="1165860" cy="219456"/>
          </a:xfrm>
          <a:prstGeom prst="roundRect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360627"/>
            <a:ext cx="1092707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1">
                <a:solidFill>
                  <a:srgbClr val="172A24"/>
                </a:solidFill>
                <a:latin typeface="Aptos"/>
              </a:rPr>
              <a:t>PHASE B / OIL PHASE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1627632"/>
            <a:ext cx="10744200" cy="256032"/>
          </a:xfrm>
          <a:prstGeom prst="rect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696212"/>
            <a:ext cx="283464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" b="1">
                <a:solidFill>
                  <a:srgbClr val="FFFFFF"/>
                </a:solidFill>
                <a:latin typeface="Aptos"/>
              </a:rPr>
              <a:t>INGREDIENT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1696212"/>
            <a:ext cx="571500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" b="1">
                <a:solidFill>
                  <a:srgbClr val="FFFFFF"/>
                </a:solidFill>
                <a:latin typeface="Aptos"/>
              </a:rPr>
              <a:t>WHAT IT DOES / WHY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1696212"/>
            <a:ext cx="91440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" b="1">
                <a:solidFill>
                  <a:srgbClr val="FFFFFF"/>
                </a:solidFill>
                <a:latin typeface="Aptos"/>
              </a:rPr>
              <a:t>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77272" y="1696212"/>
            <a:ext cx="91440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" b="1">
                <a:solidFill>
                  <a:srgbClr val="FFFFFF"/>
                </a:solidFill>
                <a:latin typeface="Aptos"/>
              </a:rPr>
              <a:t>GRAMS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" y="1883664"/>
            <a:ext cx="10744200" cy="283464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" y="1929384"/>
            <a:ext cx="2825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Caprylic/Capric Triglyceride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9564" y="1929384"/>
            <a:ext cx="570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" b="0">
                <a:solidFill>
                  <a:srgbClr val="60706A"/>
                </a:solidFill>
                <a:latin typeface="Aptos"/>
              </a:rPr>
              <a:t>Light emollient for softness without a waxy film.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6004" y="1929384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4.00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1844" y="1929384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4.00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" y="2167128"/>
            <a:ext cx="10744200" cy="283464"/>
          </a:xfrm>
          <a:prstGeom prst="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" y="2212848"/>
            <a:ext cx="2825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Dicaprylyl Carbonate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9564" y="2212848"/>
            <a:ext cx="570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" b="0">
                <a:solidFill>
                  <a:srgbClr val="60706A"/>
                </a:solidFill>
                <a:latin typeface="Aptos"/>
              </a:rPr>
              <a:t>Fast-spreading dry emollient for quick absorption.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6004" y="2212848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3.00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1844" y="2212848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3.00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" y="2450592"/>
            <a:ext cx="10744200" cy="283464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" y="2496312"/>
            <a:ext cx="2825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Squalane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9564" y="2496312"/>
            <a:ext cx="570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" b="0">
                <a:solidFill>
                  <a:srgbClr val="60706A"/>
                </a:solidFill>
                <a:latin typeface="Aptos"/>
              </a:rPr>
              <a:t>Stable, skin-compatible emollient; supports softness and barrier feel.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6004" y="2496312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2.00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1844" y="2496312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2.00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" y="2734056"/>
            <a:ext cx="10744200" cy="283464"/>
          </a:xfrm>
          <a:prstGeom prst="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" y="2779776"/>
            <a:ext cx="2825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Olivem 1000 (Cetearyl Olivate and Sorbitan Olivate)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9564" y="2779776"/>
            <a:ext cx="570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" b="0">
                <a:solidFill>
                  <a:srgbClr val="60706A"/>
                </a:solidFill>
                <a:latin typeface="Aptos"/>
              </a:rPr>
              <a:t>Primary emulsifier; binds water and oils into cream.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6004" y="2779776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4.50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1844" y="2779776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4.50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192" y="3017520"/>
            <a:ext cx="10744200" cy="283464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" y="3063240"/>
            <a:ext cx="2825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Cetearyl alcohol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69564" y="3063240"/>
            <a:ext cx="570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" b="0">
                <a:solidFill>
                  <a:srgbClr val="60706A"/>
                </a:solidFill>
                <a:latin typeface="Aptos"/>
              </a:rPr>
              <a:t>Co-emulsifier; gives cushion, body and stability.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6004" y="3063240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0.70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1844" y="3063240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0.70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" y="3300984"/>
            <a:ext cx="10744200" cy="283464"/>
          </a:xfrm>
          <a:prstGeom prst="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484" y="3346704"/>
            <a:ext cx="2825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Mixed tocopherol (min. 70% active)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69564" y="3346704"/>
            <a:ext cx="570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" b="0">
                <a:solidFill>
                  <a:srgbClr val="60706A"/>
                </a:solidFill>
                <a:latin typeface="Aptos"/>
              </a:rPr>
              <a:t>Oil-phase antioxidant; protects the emollient phase.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6004" y="3346704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0.20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81844" y="3346704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72A24"/>
                </a:solidFill>
                <a:latin typeface="Aptos"/>
              </a:rPr>
              <a:t>0.20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3192" y="3749039"/>
            <a:ext cx="2322576" cy="219456"/>
          </a:xfrm>
          <a:prstGeom prst="roundRect">
            <a:avLst/>
          </a:prstGeom>
          <a:solidFill>
            <a:srgbClr val="6CB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8" y="3783787"/>
            <a:ext cx="22494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Aptos"/>
              </a:rPr>
              <a:t>PHASE C / COOL-DOWN ACTIVES + PRESERVATION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3192" y="4041648"/>
            <a:ext cx="10744200" cy="256032"/>
          </a:xfrm>
          <a:prstGeom prst="rect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4110228"/>
            <a:ext cx="283464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" b="1">
                <a:solidFill>
                  <a:srgbClr val="FFFFFF"/>
                </a:solidFill>
                <a:latin typeface="Aptos"/>
              </a:rPr>
              <a:t>INGREDIENT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64992" y="4110228"/>
            <a:ext cx="571500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" b="1">
                <a:solidFill>
                  <a:srgbClr val="FFFFFF"/>
                </a:solidFill>
                <a:latin typeface="Aptos"/>
              </a:rPr>
              <a:t>WHAT IT DOES / WHY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71432" y="4110228"/>
            <a:ext cx="91440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" b="1">
                <a:solidFill>
                  <a:srgbClr val="FFFFFF"/>
                </a:solidFill>
                <a:latin typeface="Aptos"/>
              </a:rPr>
              <a:t>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77272" y="4110228"/>
            <a:ext cx="91440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" b="1">
                <a:solidFill>
                  <a:srgbClr val="FFFFFF"/>
                </a:solidFill>
                <a:latin typeface="Aptos"/>
              </a:rPr>
              <a:t>GRAMS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3192" y="4297680"/>
            <a:ext cx="10744200" cy="2286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3484" y="4343400"/>
            <a:ext cx="28254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Purified / deionized water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69564" y="4343400"/>
            <a:ext cx="57058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" b="0">
                <a:solidFill>
                  <a:srgbClr val="60706A"/>
                </a:solidFill>
                <a:latin typeface="Aptos"/>
              </a:rPr>
              <a:t>Cool-down carrier for dissolved actives.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76004" y="43434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25.00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81844" y="43434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25.00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3192" y="4526280"/>
            <a:ext cx="10744200" cy="228600"/>
          </a:xfrm>
          <a:prstGeom prst="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3484" y="4572000"/>
            <a:ext cx="28254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Niacinamide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69564" y="4572000"/>
            <a:ext cx="57058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" b="0">
                <a:solidFill>
                  <a:srgbClr val="60706A"/>
                </a:solidFill>
                <a:latin typeface="Aptos"/>
              </a:rPr>
              <a:t>Tone + barrier support.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76004" y="45720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4.00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81844" y="45720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4.00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3192" y="4754880"/>
            <a:ext cx="10744200" cy="2286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3484" y="4800600"/>
            <a:ext cx="28254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N-Acetyl Glucosamine (NAG)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69564" y="4800600"/>
            <a:ext cx="57058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" b="0">
                <a:solidFill>
                  <a:srgbClr val="60706A"/>
                </a:solidFill>
                <a:latin typeface="Aptos"/>
              </a:rPr>
              <a:t>Tone-evenness support.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76004" y="48006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2.00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81844" y="48006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2.00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93192" y="4983480"/>
            <a:ext cx="10744200" cy="228600"/>
          </a:xfrm>
          <a:prstGeom prst="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3484" y="5029200"/>
            <a:ext cx="28254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D-Panthenol (min. 98% powder)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69564" y="5029200"/>
            <a:ext cx="57058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" b="0">
                <a:solidFill>
                  <a:srgbClr val="60706A"/>
                </a:solidFill>
                <a:latin typeface="Aptos"/>
              </a:rPr>
              <a:t>Hydration + skin comfort.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76004" y="50292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1.00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81844" y="50292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1.00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3192" y="5212080"/>
            <a:ext cx="10744200" cy="2286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3484" y="5257800"/>
            <a:ext cx="28254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Zinc PCA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69564" y="5257800"/>
            <a:ext cx="57058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" b="0">
                <a:solidFill>
                  <a:srgbClr val="60706A"/>
                </a:solidFill>
                <a:latin typeface="Aptos"/>
              </a:rPr>
              <a:t>Blemish/oil support; not medicine.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76004" y="52578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0.30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81844" y="52578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0.30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93192" y="5440680"/>
            <a:ext cx="10744200" cy="228600"/>
          </a:xfrm>
          <a:prstGeom prst="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3484" y="5486400"/>
            <a:ext cx="28254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Trisodium citrate dihydrate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69564" y="5486400"/>
            <a:ext cx="57058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" b="0">
                <a:solidFill>
                  <a:srgbClr val="60706A"/>
                </a:solidFill>
                <a:latin typeface="Aptos"/>
              </a:rPr>
              <a:t>Citrate buffer.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76004" y="54864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0.11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81844" y="54864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0.11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93192" y="5669280"/>
            <a:ext cx="10744200" cy="2286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43484" y="5715000"/>
            <a:ext cx="28254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Citric acid, anhydrous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69564" y="5715000"/>
            <a:ext cx="57058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" b="0">
                <a:solidFill>
                  <a:srgbClr val="60706A"/>
                </a:solidFill>
                <a:latin typeface="Aptos"/>
              </a:rPr>
              <a:t>Citrate buffer.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76004" y="57150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0.05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81844" y="57150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0.05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93192" y="5897880"/>
            <a:ext cx="10744200" cy="228600"/>
          </a:xfrm>
          <a:prstGeom prst="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43484" y="5943600"/>
            <a:ext cx="28254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Phenoxyethanol (and) Ethylhexylglycerin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69564" y="5943600"/>
            <a:ext cx="57058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" b="0">
                <a:solidFill>
                  <a:srgbClr val="60706A"/>
                </a:solidFill>
                <a:latin typeface="Aptos"/>
              </a:rPr>
              <a:t>Preservative blend.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76004" y="59436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1.00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181844" y="59436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9" b="1">
                <a:solidFill>
                  <a:srgbClr val="172A24"/>
                </a:solidFill>
                <a:latin typeface="Aptos"/>
              </a:rPr>
              <a:t>1.00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480" y="6345936"/>
            <a:ext cx="10972800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30" b="1">
                <a:solidFill>
                  <a:srgbClr val="246653"/>
                </a:solidFill>
                <a:latin typeface="Aptos"/>
              </a:rPr>
              <a:t>Data lock: total 100.00 g | target pH 5.2-5.6 (aim 5.4 at 25 C) | Phenoxyethanol (and) Ethylhexylglycerin blend = 1.00%.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47472" y="210312"/>
            <a:ext cx="118872" cy="118872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791" y="249631"/>
            <a:ext cx="41148" cy="41148"/>
          </a:xfrm>
          <a:prstGeom prst="ellipse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8288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1">
                <a:solidFill>
                  <a:srgbClr val="246653"/>
                </a:solidFill>
                <a:latin typeface="Aptos"/>
              </a:rPr>
              <a:t>DAYLIGHT LAB / DAY CREAM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18288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80" b="1">
                <a:solidFill>
                  <a:srgbClr val="246653"/>
                </a:solidFill>
                <a:latin typeface="Aptos"/>
              </a:rPr>
              <a:t>06  / 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84632"/>
            <a:ext cx="11494008" cy="10972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6528816"/>
            <a:ext cx="11494008" cy="9144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565392"/>
            <a:ext cx="7223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40" b="0">
                <a:solidFill>
                  <a:srgbClr val="60706A"/>
                </a:solidFill>
                <a:latin typeface="Aptos"/>
              </a:rPr>
              <a:t>Fragrance-free home R&amp;D prototype | Not a sunscreen or medical acne 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583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72A24"/>
                </a:solidFill>
                <a:latin typeface="Aptos"/>
              </a:rPr>
              <a:t>Manufacturing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60704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40" b="0">
                <a:solidFill>
                  <a:srgbClr val="60706A"/>
                </a:solidFill>
                <a:latin typeface="Aptos"/>
              </a:rPr>
              <a:t>Use a 0.01 g scale, calibrated pH meter, thermometer, two heat-safe beakers, stick blender, gloves and opaque airless pump.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517904"/>
            <a:ext cx="3438144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8" y="1719072"/>
            <a:ext cx="420624" cy="420624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847088"/>
            <a:ext cx="420624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6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737360"/>
            <a:ext cx="2423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1">
                <a:solidFill>
                  <a:srgbClr val="246653"/>
                </a:solidFill>
                <a:latin typeface="Aptos"/>
              </a:rPr>
              <a:t>SANITIZE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304288"/>
            <a:ext cx="2971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172A24"/>
                </a:solidFill>
                <a:latin typeface="Aptos"/>
              </a:rPr>
              <a:t>70% IPA on tools and pack; air-dry. Purified water only.</a:t>
            </a:r>
          </a:p>
        </p:txBody>
      </p:sp>
      <p:sp>
        <p:nvSpPr>
          <p:cNvPr id="16" name="Chevron 15"/>
          <p:cNvSpPr/>
          <p:nvPr/>
        </p:nvSpPr>
        <p:spPr>
          <a:xfrm>
            <a:off x="3922776" y="2139696"/>
            <a:ext cx="201168" cy="256032"/>
          </a:xfrm>
          <a:prstGeom prst="chevron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97096" y="1517904"/>
            <a:ext cx="3438144" cy="1508760"/>
          </a:xfrm>
          <a:prstGeom prst="round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98264" y="1719072"/>
            <a:ext cx="420624" cy="420624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8264" y="1847088"/>
            <a:ext cx="420624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6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8616" y="1737360"/>
            <a:ext cx="2423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1">
                <a:solidFill>
                  <a:srgbClr val="246653"/>
                </a:solidFill>
                <a:latin typeface="Aptos"/>
              </a:rPr>
              <a:t>PHASE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2304288"/>
            <a:ext cx="2971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172A24"/>
                </a:solidFill>
                <a:latin typeface="Aptos"/>
              </a:rPr>
              <a:t>Pre-slurry xanthan in glycerin. Combine A and heat to 70-75 C.</a:t>
            </a:r>
          </a:p>
        </p:txBody>
      </p:sp>
      <p:sp>
        <p:nvSpPr>
          <p:cNvPr id="22" name="Chevron 21"/>
          <p:cNvSpPr/>
          <p:nvPr/>
        </p:nvSpPr>
        <p:spPr>
          <a:xfrm>
            <a:off x="7708392" y="2139696"/>
            <a:ext cx="201168" cy="256032"/>
          </a:xfrm>
          <a:prstGeom prst="chevron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82711" y="1517904"/>
            <a:ext cx="3438144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83879" y="1719072"/>
            <a:ext cx="420624" cy="420624"/>
          </a:xfrm>
          <a:prstGeom prst="ellipse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1847088"/>
            <a:ext cx="420624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60" b="1">
                <a:solidFill>
                  <a:srgbClr val="172A24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4232" y="1737360"/>
            <a:ext cx="2423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1">
                <a:solidFill>
                  <a:srgbClr val="246653"/>
                </a:solidFill>
                <a:latin typeface="Aptos"/>
              </a:rPr>
              <a:t>PHASE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304288"/>
            <a:ext cx="2971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172A24"/>
                </a:solidFill>
                <a:latin typeface="Aptos"/>
              </a:rPr>
              <a:t>Combine oils + emulsifier. Heat to 70-75 C until melted.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511296"/>
            <a:ext cx="3438144" cy="1508760"/>
          </a:xfrm>
          <a:prstGeom prst="round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12648" y="3712463"/>
            <a:ext cx="420624" cy="420624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3840480"/>
            <a:ext cx="420624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6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730752"/>
            <a:ext cx="2423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1">
                <a:solidFill>
                  <a:srgbClr val="246653"/>
                </a:solidFill>
                <a:latin typeface="Aptos"/>
              </a:rPr>
              <a:t>EMULSIFY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4297680"/>
            <a:ext cx="2971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172A24"/>
                </a:solidFill>
                <a:latin typeface="Aptos"/>
              </a:rPr>
              <a:t>A/B within 3 C. Add B into A; blend 60-90 sec in short pulses.</a:t>
            </a:r>
          </a:p>
        </p:txBody>
      </p:sp>
      <p:sp>
        <p:nvSpPr>
          <p:cNvPr id="33" name="Chevron 32"/>
          <p:cNvSpPr/>
          <p:nvPr/>
        </p:nvSpPr>
        <p:spPr>
          <a:xfrm>
            <a:off x="3922776" y="4133087"/>
            <a:ext cx="201168" cy="256032"/>
          </a:xfrm>
          <a:prstGeom prst="chevron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197096" y="3511296"/>
            <a:ext cx="3438144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398264" y="3712463"/>
            <a:ext cx="420624" cy="420624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98264" y="3840480"/>
            <a:ext cx="420624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6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8616" y="3730752"/>
            <a:ext cx="2423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1">
                <a:solidFill>
                  <a:srgbClr val="246653"/>
                </a:solidFill>
                <a:latin typeface="Aptos"/>
              </a:rPr>
              <a:t>COOL + 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98264" y="4297680"/>
            <a:ext cx="2971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172A24"/>
                </a:solidFill>
                <a:latin typeface="Aptos"/>
              </a:rPr>
              <a:t>Cool below 40 C. Dissolve C actives in 25.00 g C-water; add with preservative.</a:t>
            </a:r>
          </a:p>
        </p:txBody>
      </p:sp>
      <p:sp>
        <p:nvSpPr>
          <p:cNvPr id="39" name="Chevron 38"/>
          <p:cNvSpPr/>
          <p:nvPr/>
        </p:nvSpPr>
        <p:spPr>
          <a:xfrm>
            <a:off x="7708392" y="4133087"/>
            <a:ext cx="201168" cy="256032"/>
          </a:xfrm>
          <a:prstGeom prst="chevron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982711" y="3511296"/>
            <a:ext cx="3438144" cy="1508760"/>
          </a:xfrm>
          <a:prstGeom prst="round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183879" y="3712463"/>
            <a:ext cx="420624" cy="420624"/>
          </a:xfrm>
          <a:prstGeom prst="ellipse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83879" y="3840480"/>
            <a:ext cx="420624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60" b="1">
                <a:solidFill>
                  <a:srgbClr val="172A24"/>
                </a:solidFill>
                <a:latin typeface="Aptos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14232" y="3730752"/>
            <a:ext cx="2423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1">
                <a:solidFill>
                  <a:srgbClr val="246653"/>
                </a:solidFill>
                <a:latin typeface="Aptos"/>
              </a:rPr>
              <a:t>pH + FILL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4297680"/>
            <a:ext cx="2971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172A24"/>
                </a:solidFill>
                <a:latin typeface="Aptos"/>
              </a:rPr>
              <a:t>Mix 5 min; check pH after 10 min. Fill below 30 C into an airless pump.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5669280"/>
            <a:ext cx="11365992" cy="530352"/>
          </a:xfrm>
          <a:prstGeom prst="roundRect">
            <a:avLst/>
          </a:prstGeom>
          <a:solidFill>
            <a:srgbClr val="F3E2D1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843016"/>
            <a:ext cx="10908792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40" b="1">
                <a:solidFill>
                  <a:srgbClr val="172A24"/>
                </a:solidFill>
                <a:latin typeface="Aptos"/>
              </a:rPr>
              <a:t>NON-NEGOTIABLE: do not heat phase C actives or preservative; do not fill a batch that is gritty, separated, incorrectly pH-adjusted or visibly aerated.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47472" y="210312"/>
            <a:ext cx="118872" cy="118872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791" y="249631"/>
            <a:ext cx="41148" cy="41148"/>
          </a:xfrm>
          <a:prstGeom prst="ellipse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8288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1">
                <a:solidFill>
                  <a:srgbClr val="246653"/>
                </a:solidFill>
                <a:latin typeface="Aptos"/>
              </a:rPr>
              <a:t>DAYLIGHT LAB / DAY CREAM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18288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80" b="1">
                <a:solidFill>
                  <a:srgbClr val="246653"/>
                </a:solidFill>
                <a:latin typeface="Aptos"/>
              </a:rPr>
              <a:t>07  / 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84632"/>
            <a:ext cx="11494008" cy="10972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6528816"/>
            <a:ext cx="11494008" cy="9144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565392"/>
            <a:ext cx="7223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40" b="0">
                <a:solidFill>
                  <a:srgbClr val="60706A"/>
                </a:solidFill>
                <a:latin typeface="Aptos"/>
              </a:rPr>
              <a:t>Fragrance-free home R&amp;D prototype | Not a sunscreen or medical acne 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583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72A24"/>
                </a:solidFill>
                <a:latin typeface="Aptos"/>
              </a:rPr>
              <a:t>Critical controls: pH, preservation &amp; stability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60704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40" b="0">
                <a:solidFill>
                  <a:srgbClr val="60706A"/>
                </a:solidFill>
                <a:latin typeface="Aptos"/>
              </a:rPr>
              <a:t>A beautiful prototype still needs measurement, packaging discipline and a no-sale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517904"/>
            <a:ext cx="3438144" cy="1490472"/>
          </a:xfrm>
          <a:prstGeom prst="roundRect">
            <a:avLst/>
          </a:prstGeom>
          <a:solidFill>
            <a:srgbClr val="DCE9DE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737360"/>
            <a:ext cx="297180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1">
                <a:solidFill>
                  <a:srgbClr val="246653"/>
                </a:solidFill>
                <a:latin typeface="Aptos"/>
              </a:rPr>
              <a:t>pH 5.2-5.6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93976"/>
            <a:ext cx="295351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45" b="0">
                <a:solidFill>
                  <a:srgbClr val="172A24"/>
                </a:solidFill>
                <a:latin typeface="Aptos"/>
              </a:rPr>
              <a:t>Measure at 25 C after 10 min rest. Calibrate meter pH 4.01 / 7.00. Fixed citrate buffer helps; raw lots can differ.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7096" y="1517904"/>
            <a:ext cx="3438144" cy="1490472"/>
          </a:xfrm>
          <a:prstGeom prst="roundRect">
            <a:avLst/>
          </a:prstGeom>
          <a:solidFill>
            <a:srgbClr val="F3E2D1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737360"/>
            <a:ext cx="297180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1">
                <a:solidFill>
                  <a:srgbClr val="246653"/>
                </a:solidFill>
                <a:latin typeface="Aptos"/>
              </a:rPr>
              <a:t>1.00% preservative blend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093976"/>
            <a:ext cx="295351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45" b="0">
                <a:solidFill>
                  <a:srgbClr val="172A24"/>
                </a:solidFill>
                <a:latin typeface="Aptos"/>
              </a:rPr>
              <a:t>Phenoxyethanol (and) Ethylhexylglycerin. It is a starting system, not a challenge-test result [4,5].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2711" y="1517904"/>
            <a:ext cx="3438144" cy="1490472"/>
          </a:xfrm>
          <a:prstGeom prst="round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3" y="1737360"/>
            <a:ext cx="297180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1">
                <a:solidFill>
                  <a:srgbClr val="246653"/>
                </a:solidFill>
                <a:latin typeface="Aptos"/>
              </a:rPr>
              <a:t>AIRLESS, 15-25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3" y="2093976"/>
            <a:ext cx="295351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45" b="0">
                <a:solidFill>
                  <a:srgbClr val="172A24"/>
                </a:solidFill>
                <a:latin typeface="Aptos"/>
              </a:rPr>
              <a:t>Fill below 30 C. Use opaque airless pack, not a finger-dip jar. Store dry, away from sun.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483863"/>
            <a:ext cx="3438144" cy="1490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703320"/>
            <a:ext cx="297180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1">
                <a:solidFill>
                  <a:srgbClr val="246653"/>
                </a:solidFill>
                <a:latin typeface="Aptos"/>
              </a:rPr>
              <a:t>4-WEEK HOME LIMIT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4059935"/>
            <a:ext cx="295351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45" b="0">
                <a:solidFill>
                  <a:srgbClr val="172A24"/>
                </a:solidFill>
                <a:latin typeface="Aptos"/>
              </a:rPr>
              <a:t>No challenge test = make only 100 g and use within 4 weeks after opening. No sale / no shelf-life claim.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97096" y="3483863"/>
            <a:ext cx="3438144" cy="1490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3703320"/>
            <a:ext cx="297180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1">
                <a:solidFill>
                  <a:srgbClr val="246653"/>
                </a:solidFill>
                <a:latin typeface="Aptos"/>
              </a:rPr>
              <a:t>4-WEEK SCREEN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059935"/>
            <a:ext cx="295351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45" b="0">
                <a:solidFill>
                  <a:srgbClr val="172A24"/>
                </a:solidFill>
                <a:latin typeface="Aptos"/>
              </a:rPr>
              <a:t>Hold samples at room temperature, 4 C and 40 C. Check weekly: pH, odour, colour, separation and pump.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82711" y="3483863"/>
            <a:ext cx="3438144" cy="1490472"/>
          </a:xfrm>
          <a:prstGeom prst="roundRect">
            <a:avLst/>
          </a:prstGeom>
          <a:solidFill>
            <a:srgbClr val="F3E2D1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3" y="3703320"/>
            <a:ext cx="297180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1">
                <a:solidFill>
                  <a:srgbClr val="B25048"/>
                </a:solidFill>
                <a:latin typeface="Aptos"/>
              </a:rPr>
              <a:t>FAIL / DISCARD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023" y="4059935"/>
            <a:ext cx="295351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45" b="0">
                <a:solidFill>
                  <a:srgbClr val="172A24"/>
                </a:solidFill>
                <a:latin typeface="Aptos"/>
              </a:rPr>
              <a:t>Mould, gas, odd odour, colour shift, watery thinning, separation, crystals, swelling or unexpected irritation.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559552"/>
            <a:ext cx="11365992" cy="530352"/>
          </a:xfrm>
          <a:prstGeom prst="roundRect">
            <a:avLst/>
          </a:prstGeom>
          <a:solidFill>
            <a:srgbClr val="EEF5EF"/>
          </a:solidFill>
          <a:ln w="8890">
            <a:solidFill>
              <a:srgbClr val="DC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733288"/>
            <a:ext cx="10908792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00" b="1">
                <a:solidFill>
                  <a:srgbClr val="246653"/>
                </a:solidFill>
                <a:latin typeface="Aptos"/>
              </a:rPr>
              <a:t>IF pH IS HIGH: titrate 10% citric-acid solution one drop at a time, rest 10 min, recheck and record. Rebalance water by that amount in the next batch. IF LOW: do not add unmeasured alkali.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47472" y="210312"/>
            <a:ext cx="118872" cy="118872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791" y="249631"/>
            <a:ext cx="41148" cy="41148"/>
          </a:xfrm>
          <a:prstGeom prst="ellipse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8288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1">
                <a:solidFill>
                  <a:srgbClr val="246653"/>
                </a:solidFill>
                <a:latin typeface="Aptos"/>
              </a:rPr>
              <a:t>DAYLIGHT LAB / DAY CREAM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18288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80" b="1">
                <a:solidFill>
                  <a:srgbClr val="246653"/>
                </a:solidFill>
                <a:latin typeface="Aptos"/>
              </a:rPr>
              <a:t>08  / 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84632"/>
            <a:ext cx="11494008" cy="10972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6528816"/>
            <a:ext cx="11494008" cy="9144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565392"/>
            <a:ext cx="7223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40" b="0">
                <a:solidFill>
                  <a:srgbClr val="60706A"/>
                </a:solidFill>
                <a:latin typeface="Aptos"/>
              </a:rPr>
              <a:t>Fragrance-free home R&amp;D prototype | Not a sunscreen or medical acne 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583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72A24"/>
                </a:solidFill>
                <a:latin typeface="Aptos"/>
              </a:rPr>
              <a:t>India sourcing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60704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40" b="0">
                <a:solidFill>
                  <a:srgbClr val="60706A"/>
                </a:solidFill>
                <a:latin typeface="Aptos"/>
              </a:rPr>
              <a:t>Purchase exact INCI materials only from cosmetic raw-material suppliers that provide COA, SDS, batch and expiry.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517904"/>
            <a:ext cx="5486400" cy="1572768"/>
          </a:xfrm>
          <a:prstGeom prst="roundRect">
            <a:avLst/>
          </a:prstGeom>
          <a:solidFill>
            <a:srgbClr val="DCE9DE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1709928"/>
            <a:ext cx="987552" cy="219456"/>
          </a:xfrm>
          <a:prstGeom prst="roundRect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744675"/>
            <a:ext cx="9144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Aptos"/>
              </a:rPr>
              <a:t>ACTIVES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066543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172A24"/>
                </a:solidFill>
                <a:latin typeface="Aptos"/>
              </a:rPr>
              <a:t>Niacinamide &gt;=99%, NAG &gt;=98%, D-Panthenol &gt;=98%, Zinc PCA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505456"/>
            <a:ext cx="49560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65" b="0">
                <a:solidFill>
                  <a:srgbClr val="60706A"/>
                </a:solidFill>
                <a:latin typeface="Aptos"/>
              </a:rPr>
              <a:t>ASES lists niacinamide 99.5% / 100 g around Rs 240. Cosmesi Global lists Zinc PCA; 100 g around Rs 750. Confirm current COA / stock.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517904"/>
            <a:ext cx="5486400" cy="1572768"/>
          </a:xfrm>
          <a:prstGeom prst="roundRect">
            <a:avLst/>
          </a:prstGeom>
          <a:solidFill>
            <a:srgbClr val="F3E2D1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5936" y="1709928"/>
            <a:ext cx="987552" cy="219456"/>
          </a:xfrm>
          <a:prstGeom prst="roundRect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744675"/>
            <a:ext cx="9144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1">
                <a:solidFill>
                  <a:srgbClr val="172A24"/>
                </a:solidFill>
                <a:latin typeface="Aptos"/>
              </a:rPr>
              <a:t>EMULSION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066543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172A24"/>
                </a:solidFill>
                <a:latin typeface="Aptos"/>
              </a:rPr>
              <a:t>Olivem 1000, cetearyl alcohol, CCT, dicaprylyl carbonate, squalane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505456"/>
            <a:ext cx="49560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65" b="0">
                <a:solidFill>
                  <a:srgbClr val="60706A"/>
                </a:solidFill>
                <a:latin typeface="Aptos"/>
              </a:rPr>
              <a:t>Euroasia Cosmetics and other Indian cosmetic raw suppliers list these categories. Verify exact INCI and cosmetic grade.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438144"/>
            <a:ext cx="5486400" cy="1572768"/>
          </a:xfrm>
          <a:prstGeom prst="round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630168"/>
            <a:ext cx="987552" cy="219456"/>
          </a:xfrm>
          <a:prstGeom prst="roundRect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3664915"/>
            <a:ext cx="9144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Aptos"/>
              </a:rPr>
              <a:t>SUPPORT 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3986783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172A24"/>
                </a:solidFill>
                <a:latin typeface="Aptos"/>
              </a:rPr>
              <a:t>DI water, USP glycerin, 1,3-propanediol, betaine, allantoin, EDTA, transparent xanthan, citrate salts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" y="4425696"/>
            <a:ext cx="49560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65" b="0">
                <a:solidFill>
                  <a:srgbClr val="60706A"/>
                </a:solidFill>
                <a:latin typeface="Aptos"/>
              </a:rPr>
              <a:t>Buy 25-100 g packs with documents. Do not use unknown food or pharmacy powders as substitutes.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3438144"/>
            <a:ext cx="5486400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45936" y="3630168"/>
            <a:ext cx="987552" cy="219456"/>
          </a:xfrm>
          <a:prstGeom prst="roundRect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3664915"/>
            <a:ext cx="9144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Aptos"/>
              </a:rPr>
              <a:t>PRESERVATIVE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3986783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172A24"/>
                </a:solidFill>
                <a:latin typeface="Aptos"/>
              </a:rPr>
              <a:t>Phenoxyethanol (and) Ethylhexylglycerin (e.g., Euxyl PE 9010)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4425696"/>
            <a:ext cx="49560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65" b="0">
                <a:solidFill>
                  <a:srgbClr val="60706A"/>
                </a:solidFill>
                <a:latin typeface="Aptos"/>
              </a:rPr>
              <a:t>Use a verified blend with correct INCI. Follow its technical sheet. Do not substitute a finished medicine or omit preservation.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596128"/>
            <a:ext cx="11365992" cy="521207"/>
          </a:xfrm>
          <a:prstGeom prst="roundRect">
            <a:avLst/>
          </a:prstGeom>
          <a:solidFill>
            <a:srgbClr val="F3E2D1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5769864"/>
            <a:ext cx="10908792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5" b="1">
                <a:solidFill>
                  <a:srgbClr val="172A24"/>
                </a:solidFill>
                <a:latin typeface="Aptos"/>
              </a:rPr>
              <a:t>FIRST KIT BUDGET: roughly Rs 3,500-6,000 before tools/shipping because of small-pack MOQs. Never save money by omitting the preservative, pH meter or clean airless pack.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47472" y="210312"/>
            <a:ext cx="118872" cy="118872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791" y="249631"/>
            <a:ext cx="41148" cy="41148"/>
          </a:xfrm>
          <a:prstGeom prst="ellipse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8288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1">
                <a:solidFill>
                  <a:srgbClr val="246653"/>
                </a:solidFill>
                <a:latin typeface="Aptos"/>
              </a:rPr>
              <a:t>DAYLIGHT LAB / DAY CREAM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18288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80" b="1">
                <a:solidFill>
                  <a:srgbClr val="246653"/>
                </a:solidFill>
                <a:latin typeface="Aptos"/>
              </a:rPr>
              <a:t>09  / 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84632"/>
            <a:ext cx="11494008" cy="10972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6528816"/>
            <a:ext cx="11494008" cy="9144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565392"/>
            <a:ext cx="7223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40" b="0">
                <a:solidFill>
                  <a:srgbClr val="60706A"/>
                </a:solidFill>
                <a:latin typeface="Aptos"/>
              </a:rPr>
              <a:t>Fragrance-free home R&amp;D prototype | Not a sunscreen or medical acne 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583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72A24"/>
                </a:solidFill>
                <a:latin typeface="Aptos"/>
              </a:rPr>
              <a:t>Cost orientation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60704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40" b="0">
                <a:solidFill>
                  <a:srgbClr val="60706A"/>
                </a:solidFill>
                <a:latin typeface="Aptos"/>
              </a:rPr>
              <a:t>Indicative India small-batch costs. Includes ingredient allowance and airless pack / label, but excludes labour, tools, shipping, GST and testing.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1645920"/>
            <a:ext cx="9829800" cy="256032"/>
          </a:xfrm>
          <a:prstGeom prst="rect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714500"/>
            <a:ext cx="132588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" b="1">
                <a:solidFill>
                  <a:srgbClr val="FFFFFF"/>
                </a:solidFill>
                <a:latin typeface="Aptos"/>
              </a:rPr>
              <a:t>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1714500"/>
            <a:ext cx="256032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" b="1">
                <a:solidFill>
                  <a:srgbClr val="FFFFFF"/>
                </a:solidFill>
                <a:latin typeface="Aptos"/>
              </a:rPr>
              <a:t>RAW MATERIALS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1714500"/>
            <a:ext cx="28803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" b="1">
                <a:solidFill>
                  <a:srgbClr val="FFFFFF"/>
                </a:solidFill>
                <a:latin typeface="Aptos"/>
              </a:rPr>
              <a:t>AIRLESS PACK + 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2" y="1714500"/>
            <a:ext cx="2697479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" b="1">
                <a:solidFill>
                  <a:srgbClr val="FFFFFF"/>
                </a:solidFill>
                <a:latin typeface="Aptos"/>
              </a:rPr>
              <a:t>ESTIMATED 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1901952"/>
            <a:ext cx="98298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" y="1947672"/>
            <a:ext cx="131673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72A24"/>
                </a:solidFill>
                <a:latin typeface="Aptos"/>
              </a:rPr>
              <a:t>100 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2284" y="1947672"/>
            <a:ext cx="255117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5" b="0">
                <a:solidFill>
                  <a:srgbClr val="60706A"/>
                </a:solidFill>
                <a:latin typeface="Aptos"/>
              </a:rPr>
              <a:t>Rs 65-110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4044" y="1947672"/>
            <a:ext cx="287121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72A24"/>
                </a:solidFill>
                <a:latin typeface="Aptos"/>
              </a:rPr>
              <a:t>Rs 40-90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5844" y="1947672"/>
            <a:ext cx="268833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72A24"/>
                </a:solidFill>
                <a:latin typeface="Aptos"/>
              </a:rPr>
              <a:t>Rs 105-200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2468880"/>
            <a:ext cx="9829800" cy="566928"/>
          </a:xfrm>
          <a:prstGeom prst="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" y="2514600"/>
            <a:ext cx="131673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72A24"/>
                </a:solidFill>
                <a:latin typeface="Aptos"/>
              </a:rPr>
              <a:t>500 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72284" y="2514600"/>
            <a:ext cx="255117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5" b="0">
                <a:solidFill>
                  <a:srgbClr val="60706A"/>
                </a:solidFill>
                <a:latin typeface="Aptos"/>
              </a:rPr>
              <a:t>Rs 280-450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4044" y="2514600"/>
            <a:ext cx="287121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72A24"/>
                </a:solidFill>
                <a:latin typeface="Aptos"/>
              </a:rPr>
              <a:t>Rs 200-450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5844" y="2514600"/>
            <a:ext cx="268833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72A24"/>
                </a:solidFill>
                <a:latin typeface="Aptos"/>
              </a:rPr>
              <a:t>Rs 480-900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" y="3035808"/>
            <a:ext cx="98298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" y="3081528"/>
            <a:ext cx="131673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72A24"/>
                </a:solidFill>
                <a:latin typeface="Aptos"/>
              </a:rPr>
              <a:t>1 kg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72284" y="3081528"/>
            <a:ext cx="255117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5" b="0">
                <a:solidFill>
                  <a:srgbClr val="60706A"/>
                </a:solidFill>
                <a:latin typeface="Aptos"/>
              </a:rPr>
              <a:t>Rs 520-800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24044" y="3081528"/>
            <a:ext cx="287121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72A24"/>
                </a:solidFill>
                <a:latin typeface="Aptos"/>
              </a:rPr>
              <a:t>Rs 400-900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5844" y="3081528"/>
            <a:ext cx="268833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72A24"/>
                </a:solidFill>
                <a:latin typeface="Aptos"/>
              </a:rPr>
              <a:t>Rs 920-1,700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" y="3803904"/>
            <a:ext cx="9829800" cy="1124712"/>
          </a:xfrm>
          <a:prstGeom prst="roundRect">
            <a:avLst/>
          </a:prstGeom>
          <a:solidFill>
            <a:srgbClr val="EEF5EF"/>
          </a:solidFill>
          <a:ln w="8890">
            <a:solidFill>
              <a:srgbClr val="DC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5" y="4050791"/>
            <a:ext cx="9326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1">
                <a:solidFill>
                  <a:srgbClr val="246653"/>
                </a:solidFill>
                <a:latin typeface="Aptos"/>
              </a:rPr>
              <a:t>HOW TO READ THIS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5" y="4352544"/>
            <a:ext cx="9098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0" b="0">
                <a:solidFill>
                  <a:srgbClr val="172A24"/>
                </a:solidFill>
                <a:latin typeface="Aptos"/>
              </a:rPr>
              <a:t>Costs decrease at 1 kg because pack price falls. The first 100 g test is not the same as commercial COGS: preservation challenge test, stability, compatibility, regulatory review and production controls are not included.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330952"/>
            <a:ext cx="365760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60" b="1">
                <a:solidFill>
                  <a:srgbClr val="246653"/>
                </a:solidFill>
                <a:latin typeface="Aptos"/>
              </a:rPr>
              <a:t>SPEND PRIORITY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" y="5641848"/>
            <a:ext cx="2057400" cy="310896"/>
          </a:xfrm>
          <a:prstGeom prst="rect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" y="5742432"/>
            <a:ext cx="1965960" cy="91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Identity + COA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07791" y="5641848"/>
            <a:ext cx="2560320" cy="310896"/>
          </a:xfrm>
          <a:prstGeom prst="rect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53511" y="5742432"/>
            <a:ext cx="2468879" cy="91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550" b="1">
                <a:solidFill>
                  <a:srgbClr val="172A24"/>
                </a:solidFill>
                <a:latin typeface="Aptos"/>
              </a:rPr>
              <a:t>Actives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13831" y="5641848"/>
            <a:ext cx="1554480" cy="310896"/>
          </a:xfrm>
          <a:prstGeom prst="rect">
            <a:avLst/>
          </a:prstGeom>
          <a:solidFill>
            <a:srgbClr val="6CB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59551" y="5742432"/>
            <a:ext cx="1463039" cy="91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Pack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14031" y="5641848"/>
            <a:ext cx="3108960" cy="310896"/>
          </a:xfrm>
          <a:prstGeom prst="rect">
            <a:avLst/>
          </a:prstGeom>
          <a:solidFill>
            <a:srgbClr val="DC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9751" y="5742432"/>
            <a:ext cx="3017520" cy="91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550" b="1">
                <a:solidFill>
                  <a:srgbClr val="172A24"/>
                </a:solidFill>
                <a:latin typeface="Aptos"/>
              </a:rPr>
              <a:t>Testing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6144768"/>
            <a:ext cx="9784080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0">
                <a:solidFill>
                  <a:srgbClr val="60706A"/>
                </a:solidFill>
                <a:latin typeface="Aptos"/>
              </a:rPr>
              <a:t>For a product to sell: professional preservation challenge testing and stability testing are required expenditures, not optional marketing extras.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47472" y="210312"/>
            <a:ext cx="118872" cy="118872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791" y="249631"/>
            <a:ext cx="41148" cy="41148"/>
          </a:xfrm>
          <a:prstGeom prst="ellipse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8288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1">
                <a:solidFill>
                  <a:srgbClr val="246653"/>
                </a:solidFill>
                <a:latin typeface="Aptos"/>
              </a:rPr>
              <a:t>DAYLIGHT LAB / DAY CREAM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18288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80" b="1">
                <a:solidFill>
                  <a:srgbClr val="246653"/>
                </a:solidFill>
                <a:latin typeface="Aptos"/>
              </a:rPr>
              <a:t>10  / 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84632"/>
            <a:ext cx="11494008" cy="10972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6528816"/>
            <a:ext cx="11494008" cy="9144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565392"/>
            <a:ext cx="7223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40" b="0">
                <a:solidFill>
                  <a:srgbClr val="60706A"/>
                </a:solidFill>
                <a:latin typeface="Aptos"/>
              </a:rPr>
              <a:t>Fragrance-free home R&amp;D prototype | Not a sunscreen or medical acne 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583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72A24"/>
                </a:solidFill>
                <a:latin typeface="Aptos"/>
              </a:rPr>
              <a:t>Safety and routine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60704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40" b="0">
                <a:solidFill>
                  <a:srgbClr val="60706A"/>
                </a:solidFill>
                <a:latin typeface="Aptos"/>
              </a:rPr>
              <a:t>The goal is visible cosmetic improvement without unsafe shortcuts.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508760"/>
            <a:ext cx="3438144" cy="1481328"/>
          </a:xfrm>
          <a:prstGeom prst="round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8" y="1719072"/>
            <a:ext cx="384048" cy="384048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837943"/>
            <a:ext cx="384048" cy="91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1737360"/>
            <a:ext cx="2487168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60" b="1">
                <a:solidFill>
                  <a:srgbClr val="246653"/>
                </a:solidFill>
                <a:latin typeface="Aptos"/>
              </a:rPr>
              <a:t>PATCH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221991"/>
            <a:ext cx="294436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5" b="0">
                <a:solidFill>
                  <a:srgbClr val="172A24"/>
                </a:solidFill>
                <a:latin typeface="Aptos"/>
              </a:rPr>
              <a:t>Use a rice-grain amount for 2-3 days on inner forearm / behind ear. Stop for burning, swelling, rash or persistent itch.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7096" y="1508760"/>
            <a:ext cx="3438144" cy="14813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98264" y="1719072"/>
            <a:ext cx="384048" cy="384048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8264" y="1837943"/>
            <a:ext cx="384048" cy="91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1737360"/>
            <a:ext cx="2487168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60" b="1">
                <a:solidFill>
                  <a:srgbClr val="246653"/>
                </a:solidFill>
                <a:latin typeface="Aptos"/>
              </a:rPr>
              <a:t>DO NOT IMPROVISE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2221991"/>
            <a:ext cx="294436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5" b="0">
                <a:solidFill>
                  <a:srgbClr val="172A24"/>
                </a:solidFill>
                <a:latin typeface="Aptos"/>
              </a:rPr>
              <a:t>Do not add raw acids, L-ascorbic acid, benzoyl peroxide, retinoids, essential oils or drug powders into this base.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1" y="1508760"/>
            <a:ext cx="3438144" cy="1481328"/>
          </a:xfrm>
          <a:prstGeom prst="round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83879" y="1719072"/>
            <a:ext cx="384048" cy="384048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1837943"/>
            <a:ext cx="384048" cy="91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737360"/>
            <a:ext cx="2487168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60" b="1">
                <a:solidFill>
                  <a:srgbClr val="246653"/>
                </a:solidFill>
                <a:latin typeface="Aptos"/>
              </a:rPr>
              <a:t>SUNSCREEN REQUIRED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221991"/>
            <a:ext cx="294436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5" b="0">
                <a:solidFill>
                  <a:srgbClr val="172A24"/>
                </a:solidFill>
                <a:latin typeface="Aptos"/>
              </a:rPr>
              <a:t>Morning cream first; broad-spectrum SPF 30+ sunscreen second. Tinted iron oxides help pigment-prone skin [3].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465576"/>
            <a:ext cx="3438144" cy="14813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2648" y="3675888"/>
            <a:ext cx="384048" cy="384048"/>
          </a:xfrm>
          <a:prstGeom prst="ellipse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3794760"/>
            <a:ext cx="384048" cy="91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20" b="1">
                <a:solidFill>
                  <a:srgbClr val="172A24"/>
                </a:solidFill>
                <a:latin typeface="Aptos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" y="3694176"/>
            <a:ext cx="2487168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60" b="1">
                <a:solidFill>
                  <a:srgbClr val="246653"/>
                </a:solidFill>
                <a:latin typeface="Aptos"/>
              </a:rPr>
              <a:t>NATURAL IS NOT A SAFETY CLAIM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4178808"/>
            <a:ext cx="294436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5" b="0">
                <a:solidFill>
                  <a:srgbClr val="172A24"/>
                </a:solidFill>
                <a:latin typeface="Aptos"/>
              </a:rPr>
              <a:t>Natural fragrance and plant waters can sensitise or introduce microbes. Safety is identity + dose + preservation + testing.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97096" y="3465576"/>
            <a:ext cx="3438144" cy="1481328"/>
          </a:xfrm>
          <a:prstGeom prst="roundRect">
            <a:avLst/>
          </a:prstGeom>
          <a:solidFill>
            <a:srgbClr val="EEF5E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98264" y="3675888"/>
            <a:ext cx="384048" cy="384048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98264" y="3794760"/>
            <a:ext cx="384048" cy="91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9472" y="3694176"/>
            <a:ext cx="2487168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60" b="1">
                <a:solidFill>
                  <a:srgbClr val="B25048"/>
                </a:solidFill>
                <a:latin typeface="Aptos"/>
              </a:rPr>
              <a:t>DOCTOR FIRST WHEN NEEDED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98264" y="4178808"/>
            <a:ext cx="294436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5" b="0">
                <a:solidFill>
                  <a:srgbClr val="172A24"/>
                </a:solidFill>
                <a:latin typeface="Aptos"/>
              </a:rPr>
              <a:t>Cystic/painful acne, scarring, sudden pigmentation, melasma, eczema or reactions require medical advice.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82711" y="3465576"/>
            <a:ext cx="3438144" cy="14813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83879" y="3675888"/>
            <a:ext cx="384048" cy="384048"/>
          </a:xfrm>
          <a:prstGeom prst="ellipse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79" y="3794760"/>
            <a:ext cx="384048" cy="91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20" b="1">
                <a:solidFill>
                  <a:srgbClr val="172A24"/>
                </a:solidFill>
                <a:latin typeface="Aptos"/>
              </a:rPr>
              <a:t>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5088" y="3694176"/>
            <a:ext cx="2487168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60" b="1">
                <a:solidFill>
                  <a:srgbClr val="246653"/>
                </a:solidFill>
                <a:latin typeface="Aptos"/>
              </a:rPr>
              <a:t>NOT FOR SALE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4178808"/>
            <a:ext cx="294436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5" b="0">
                <a:solidFill>
                  <a:srgbClr val="172A24"/>
                </a:solidFill>
                <a:latin typeface="Aptos"/>
              </a:rPr>
              <a:t>This unchallenged 100 g prototype is personal R&amp;D only. Product sale needs formal safety, stability, microbiology and regulatory work.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5577840"/>
            <a:ext cx="11365992" cy="530352"/>
          </a:xfrm>
          <a:prstGeom prst="roundRect">
            <a:avLst/>
          </a:prstGeom>
          <a:solidFill>
            <a:srgbClr val="F3E2D1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" y="5751576"/>
            <a:ext cx="109087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5" b="1">
                <a:solidFill>
                  <a:srgbClr val="172A24"/>
                </a:solidFill>
                <a:latin typeface="Aptos"/>
              </a:rPr>
              <a:t>SAFE POSITIONING: moisturising / glow / fresh-looking / supports an even-looking tone. Do not claim to treat acne, melasma or pigmentation disease.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47472" y="210312"/>
            <a:ext cx="118872" cy="118872"/>
          </a:xfrm>
          <a:prstGeom prst="ellipse">
            <a:avLst/>
          </a:prstGeom>
          <a:solidFill>
            <a:srgbClr val="2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791" y="249631"/>
            <a:ext cx="41148" cy="41148"/>
          </a:xfrm>
          <a:prstGeom prst="ellipse">
            <a:avLst/>
          </a:prstGeom>
          <a:solidFill>
            <a:srgbClr val="C49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8288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1">
                <a:solidFill>
                  <a:srgbClr val="246653"/>
                </a:solidFill>
                <a:latin typeface="Aptos"/>
              </a:rPr>
              <a:t>DAYLIGHT LAB / DAY CREAM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18288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80" b="1">
                <a:solidFill>
                  <a:srgbClr val="246653"/>
                </a:solidFill>
                <a:latin typeface="Aptos"/>
              </a:rPr>
              <a:t>11  / 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84632"/>
            <a:ext cx="11494008" cy="10972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6528816"/>
            <a:ext cx="11494008" cy="9144"/>
          </a:xfrm>
          <a:prstGeom prst="rect">
            <a:avLst/>
          </a:prstGeom>
          <a:solidFill>
            <a:srgbClr val="D6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565392"/>
            <a:ext cx="7223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40" b="0">
                <a:solidFill>
                  <a:srgbClr val="60706A"/>
                </a:solidFill>
                <a:latin typeface="Aptos"/>
              </a:rPr>
              <a:t>Fragrance-free home R&amp;D prototype | Not a sunscreen or medical acne 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583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72A24"/>
                </a:solidFill>
                <a:latin typeface="Aptos"/>
              </a:rPr>
              <a:t>Evidence base &amp; data 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60704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40" b="0">
                <a:solidFill>
                  <a:srgbClr val="60706A"/>
                </a:solidFill>
                <a:latin typeface="Aptos"/>
              </a:rPr>
              <a:t>The PDF and this deck are generated from the same master formula data 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481328"/>
            <a:ext cx="11365992" cy="713232"/>
          </a:xfrm>
          <a:prstGeom prst="roundRect">
            <a:avLst/>
          </a:prstGeom>
          <a:solidFill>
            <a:srgbClr val="DCE9DE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109087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5" b="1">
                <a:solidFill>
                  <a:srgbClr val="246653"/>
                </a:solidFill>
                <a:latin typeface="Aptos"/>
              </a:rPr>
              <a:t>DATA LOCK  |  Total 100.00 g  |  pH 5.2-5.6 (aim 5.4)  |  A/B 70-75 C  |  C below 40 C  |  fill below 30 C  |  preservative blend 1.00%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38528"/>
            <a:ext cx="10908792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50" b="0">
                <a:solidFill>
                  <a:srgbClr val="60706A"/>
                </a:solidFill>
                <a:latin typeface="Aptos"/>
              </a:rPr>
              <a:t>Formula is fragrance-free. Optional scented variant only: 0.05% IFRA-compliant fragrance replaces 0.05% water; total water 68.64 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487168"/>
            <a:ext cx="11365992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596896"/>
            <a:ext cx="10972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15" b="0">
                <a:solidFill>
                  <a:srgbClr val="172A24"/>
                </a:solidFill>
                <a:latin typeface="Aptos"/>
              </a:rPr>
              <a:t>[1] Bissett DL et al. J Cosmet Dermatol. 2007;6:20-26. 2% NAG, with greater effect in a 2% NAG + 4% niacinamide study after 8 weeks. PMID 17348991. https://pubmed.ncbi.nlm.nih.gov/17348991/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45536"/>
            <a:ext cx="11365992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3255264"/>
            <a:ext cx="10972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15" b="0">
                <a:solidFill>
                  <a:srgbClr val="172A24"/>
                </a:solidFill>
                <a:latin typeface="Aptos"/>
              </a:rPr>
              <a:t>[2] Hakozaki T et al. Br J Dermatol. 2002;147:20-31. Topical niacinamide and melanosome transfer / pigmentation appearance. DOI 10.1046/j.1365-2133.2002.04834.x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803904"/>
            <a:ext cx="11365992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3913632"/>
            <a:ext cx="10972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15" b="0">
                <a:solidFill>
                  <a:srgbClr val="172A24"/>
                </a:solidFill>
                <a:latin typeface="Aptos"/>
              </a:rPr>
              <a:t>[3] American Academy of Dermatology. Dark spots: tinted iron-oxide sunscreen, broad spectrum, water resistant, SPF 30+; reapply every two hours. https://www.aad.org/public/everyday-care/skin-care-secrets/routine/fade-dark-spots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462272"/>
            <a:ext cx="11365992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4572000"/>
            <a:ext cx="10972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15" b="0">
                <a:solidFill>
                  <a:srgbClr val="172A24"/>
                </a:solidFill>
                <a:latin typeface="Aptos"/>
              </a:rPr>
              <a:t>[4] SCCS/1575/16 (2016). Phenoxyethanol considered safe as a preservative in cosmetics at a maximum 1.0%. https://ec.europa.eu/health/scientific_committees/consumer_safety/docs/sccs_o_195.pdf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120640"/>
            <a:ext cx="11365992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5230368"/>
            <a:ext cx="10972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15" b="0">
                <a:solidFill>
                  <a:srgbClr val="172A24"/>
                </a:solidFill>
                <a:latin typeface="Aptos"/>
              </a:rPr>
              <a:t>[5] FDA Cosmetic Microbiological Safety (2012). A preservative efficacy / challenge test is used to confirm preservation for the actual formula and pack. https://downloads.regulations.gov/FDA-2011-N-0770-0009/attachment_1.pdf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852160"/>
            <a:ext cx="11365992" cy="310896"/>
          </a:xfrm>
          <a:prstGeom prst="roundRect">
            <a:avLst/>
          </a:prstGeom>
          <a:solidFill>
            <a:srgbClr val="EEF5EF"/>
          </a:solidFill>
          <a:ln w="8890">
            <a:solidFill>
              <a:srgbClr val="DC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5952744"/>
            <a:ext cx="10927080" cy="1005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20" b="1">
                <a:solidFill>
                  <a:srgbClr val="246653"/>
                </a:solidFill>
                <a:latin typeface="Aptos"/>
              </a:rPr>
              <a:t>Source claims are used for formulation rationale, not as a performance guarantee. Current supplier price examples are orientation only; verify at checkout.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Daylight Day Cream - Formula Presentation</dc:title>
  <dc:subject>100 g fragrance-free day cream R&amp;D prototype</dc:subject>
  <dc:creator>Daylight Lab</dc:creator>
  <cp:keywords>cosmetic formulation, niacinamide, N-acetyl glucosamine, day cream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